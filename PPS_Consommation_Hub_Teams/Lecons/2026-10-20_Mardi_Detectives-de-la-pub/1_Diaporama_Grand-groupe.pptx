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ccueil" id="{552154a8-0ae1-b963-76b7-8806740f76e8}">
          <p14:sldIdLst>
            <p14:sldId id="256"/>
            <p14:sldId id="257"/>
            <p14:sldId id="258"/>
          </p14:sldIdLst>
        </p14:section>
        <p14:section name="Causerie" id="{6b54f286-9bd3-9d2c-08d7-10d1a0170da9}">
          <p14:sldIdLst>
            <p14:sldId id="259"/>
            <p14:sldId id="260"/>
          </p14:sldIdLst>
        </p14:section>
        <p14:section name="Enquêtes" id="{92faf263-adfc-a2ab-ccc0-d8b304b74071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Consolidation" id="{d6afa22e-b792-9381-0538-7e57719bf02b}">
          <p14:sldIdLst>
            <p14:sldId id="268"/>
            <p14:sldId id="269"/>
          </p14:sldIdLst>
        </p14:section>
        <p14:section name="Atelier" id="{532817d7-b2ac-64fc-aeca-186f04925bf9}">
          <p14:sldIdLst>
            <p14:sldId id="270"/>
            <p14:sldId id="271"/>
          </p14:sldIdLst>
        </p14:section>
        <p14:section name="Galerie" id="{02b8ccb9-1170-d5e5-40f8-8e6a93125106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Suite de « Estimer, c'est rusé ! ». Aujourd'hui, le renard affronte un adversaire aussi rusé que lui : la publicité.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déroulement. Annoncer le défi final : chaque équipe créera une pub capable de piéger le renard.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Lien avec le programme : influence de la publicité, risques de la sollicitation (pièges, pratiques abusives et frauduleuses), refus d'une offre sous 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Prévoir des circulaires pour les élèves qui n'ont rien apporté. Ne pas juger les choix : on cherche à comprendre ce qui donne envie. Cahier p.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attendu : la pression des amis (« tous tes amis en boivent ») et l'urgence (« aujourd'hui seulement »). Question clé : « Qu'est-ce que la pub veut de toi ? » Réponses : mon argent, mon attention, mes informations, que j'en parle.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Mêmes façons de faire que la semaine passée. Donner la pub suivante dès qu'une enquête est réussie. Répondre aux questions par des questions : « Qu'est-ce que l'étoile veut dire ? », « Combien en un an 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: Combien vais-je payer à la caisse, avec les taxes ? Ruses attendues : 1. Tout le monde l'a, 3. La vedette, 5. Le prix magique. Vrai prix : 89,99 $ ≈ 90 $, + taxes ≈ 13,50 $ → environ 103,50 $ (exact : 103,47 $)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: Est-ce un besoin ? Combien avec les taxes ? Ruses attendues : 6. Tu seras plus heureux, 2. Vite, vite !, 5. Le prix magique, 4. Les petits caractères. Vrai prix : 49,99 $ ≈ 50 $, + taxes ≈ 7,50 $ → environ 57,50 $ (exact : 57,48 $). Et l'effet n'est même pas garanti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: Lis les petits caractères. Combien paierais-je en 2 ans ? Ruses attendues : 4. Les petits caractères, 2. Vite, vite !. Vrai prix : 65 $ × 24 mois = 1 560 $, + 50 $ d'activation = environ 1 610 $ (plus les taxes). Pas gratuit du tout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: Que se passe-t-il si je ne paie pas tout en 12 mois ? Ruses attendues : 7. Payez plus tard, 4. Les petits caractères, 6. Tu seras plus heureux. Vrai prix : Si je ne paie pas tout en 12 mois : 999 $ ≈ 1 000 $, + 30 % ≈ 300 $ → environ 1 300 $.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: Combien ça coûte en 1 an si j'oublie d'annuler ? Ruses attendues : 4. Les petits caractères, 1. Tout le monde l'a, 2. Vite, vite !. Vrai prix : 14,99 $ ≈ 15 $ par mois × 12 mois = environ 180 $ par année (exact : 179,88 $), si j'oublie d'annuler.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: Est-ce que je donne ma carte de crédit ? Que dois-je faire ? Ruses attendues : 8. Le cadeau piège, 2. Vite, vite !. Vrai prix : Impossible à savoir : c'est une ARNAQUE. Avec ma carte de crédit, on peut vider mon compte. Je ne clique pas, je ne réponds pas, j'en parle à quelqu'un de confiance.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D'abord l'affiche de classe avec les mots des élèves, ensuite cette diapo pour comparer. Les ruses 4, 7 et 8 sont les plus coûteuses : petits caractères, crédit, arnaque. 1. Tout le monde l'a : La pub me fait croire que je serai mis de côté si je ne l'achète pas. 2. Vite, vite ! : La pub me presse pour que je n'aie pas le temps de réfléchir. 3. La vedette : Une personne connue est payée pour dire qu'elle aime le produit. 4. Les petits caractères : L'étoile * cache le vrai prix ou une condition, écrite tout petit. 5. Le prix magique : 9,99 $ semble moins cher que 10 $. Mais c'est presque pareil ! 6. Tu seras plus heureux : La pub me promet du bonheur. Elle crée un faux besoin. 7. Payez plus tard : Je paie quand même… souvent plus cher, avec les intérêts. 8. Le cadeau piège : On veut mes informations ou mon argent : c'est une arnaque.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L'espace du cahier est libre (p. 3). Dessin, pictogramme ou dictée à un pair acceptés.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Duos ou trios formés par l'enseignante. Pour simplifier : donner 4 cartes-ruses et en choisir 3. Les produits farfelus évitent de faire la promotion de vraies marques et rendent les ruses plus visibles.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Fichier : 3_Atelier-ordi_Piege-le-renard.html (fonctionne sans Internet). Le bouton « Mode détective » permet à une autre équipe de deviner les ruses directement à l'écran.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de fin de galerie : « Quelle ruse était la plus difficile à voir ? Pourquoi ? » C'est souvent les petits caractères : bon moment pour rappeler qu'on cherche toujours l'étoile.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Pratiquer la phrase de refus à voix haute en duo : un élève joue le vendeur insistant, l'autre refuse. Cahier p. 5. Remettre la carte portefeuille « Le bouclier du renard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R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U0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U1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ONTENU2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58521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E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Détectives de la pub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Mardi matin · 2 h 15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Piège le renard… si tu peux !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Notre matinée</a:t>
            </a:r>
            <a:endParaRPr lang="en-US" sz="3000" dirty="0"/>
          </a:p>
        </p:txBody>
      </p:sp>
      <p:sp>
        <p:nvSpPr>
          <p:cNvPr id="3" name="étape 1"/>
          <p:cNvSpPr/>
          <p:nvPr/>
        </p:nvSpPr>
        <p:spPr>
          <a:xfrm>
            <a:off x="640080" y="1234440"/>
            <a:ext cx="2514600" cy="13716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234440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musée des pubs</a:t>
            </a:r>
            <a:endParaRPr lang="en-US" sz="1500" dirty="0"/>
          </a:p>
        </p:txBody>
      </p:sp>
      <p:sp>
        <p:nvSpPr>
          <p:cNvPr id="7" name="étape 2"/>
          <p:cNvSpPr/>
          <p:nvPr/>
        </p:nvSpPr>
        <p:spPr>
          <a:xfrm>
            <a:off x="3337560" y="1234440"/>
            <a:ext cx="2514600" cy="13716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234440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enquêtes en classe collabo-réflexive</a:t>
            </a:r>
            <a:endParaRPr lang="en-US" sz="1500" dirty="0"/>
          </a:p>
        </p:txBody>
      </p:sp>
      <p:sp>
        <p:nvSpPr>
          <p:cNvPr id="11" name="étape 3"/>
          <p:cNvSpPr/>
          <p:nvPr/>
        </p:nvSpPr>
        <p:spPr>
          <a:xfrm>
            <a:off x="6035040" y="1234440"/>
            <a:ext cx="2514600" cy="13716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234440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8 ruses de la pub</a:t>
            </a:r>
            <a:endParaRPr lang="en-US" sz="1500" dirty="0"/>
          </a:p>
        </p:txBody>
      </p:sp>
      <p:sp>
        <p:nvSpPr>
          <p:cNvPr id="15" name="étape 4"/>
          <p:cNvSpPr/>
          <p:nvPr/>
        </p:nvSpPr>
        <p:spPr>
          <a:xfrm>
            <a:off x="640080" y="2834640"/>
            <a:ext cx="2514600" cy="13716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2834640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Piège le renard !</a:t>
            </a:r>
            <a:endParaRPr lang="en-US" sz="1500" dirty="0"/>
          </a:p>
        </p:txBody>
      </p:sp>
      <p:sp>
        <p:nvSpPr>
          <p:cNvPr id="19" name="étape 5"/>
          <p:cNvSpPr/>
          <p:nvPr/>
        </p:nvSpPr>
        <p:spPr>
          <a:xfrm>
            <a:off x="3337560" y="2834640"/>
            <a:ext cx="2514600" cy="13716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2044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2834640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galerie</a:t>
            </a:r>
            <a:endParaRPr lang="en-US" sz="1500" dirty="0"/>
          </a:p>
        </p:txBody>
      </p:sp>
      <p:sp>
        <p:nvSpPr>
          <p:cNvPr id="23" name="étape 6"/>
          <p:cNvSpPr/>
          <p:nvPr/>
        </p:nvSpPr>
        <p:spPr>
          <a:xfrm>
            <a:off x="6035040" y="2834640"/>
            <a:ext cx="2514600" cy="13716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2834640"/>
            <a:ext cx="16459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bouclier du renard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Aujourd'hui, j'apprends à…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234440"/>
            <a:ext cx="5760720" cy="914400"/>
          </a:xfrm>
          <a:prstGeom prst="roundRect">
            <a:avLst>
              <a:gd name="adj" fmla="val 1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356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35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904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280160"/>
            <a:ext cx="4754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RECONNAÎTRE les ruses de la pub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garder le contrôle de mes choix.</a:t>
            </a:r>
            <a:endParaRPr lang="en-US" sz="1700" dirty="0"/>
          </a:p>
        </p:txBody>
      </p:sp>
      <p:sp>
        <p:nvSpPr>
          <p:cNvPr id="7" name="carte"/>
          <p:cNvSpPr/>
          <p:nvPr/>
        </p:nvSpPr>
        <p:spPr>
          <a:xfrm>
            <a:off x="640080" y="2331720"/>
            <a:ext cx="5760720" cy="914400"/>
          </a:xfrm>
          <a:prstGeom prst="roundRect">
            <a:avLst>
              <a:gd name="adj" fmla="val 1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5328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904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CALCULER le vrai prix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truc du renard : j'arrondis, je regroupe, je compare.</a:t>
            </a:r>
            <a:endParaRPr lang="en-US" sz="1700" dirty="0"/>
          </a:p>
        </p:txBody>
      </p:sp>
      <p:sp>
        <p:nvSpPr>
          <p:cNvPr id="11" name="carte"/>
          <p:cNvSpPr/>
          <p:nvPr/>
        </p:nvSpPr>
        <p:spPr>
          <a:xfrm>
            <a:off x="640080" y="3429000"/>
            <a:ext cx="5760720" cy="914400"/>
          </a:xfrm>
          <a:prstGeom prst="roundRect">
            <a:avLst>
              <a:gd name="adj" fmla="val 1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63016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30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904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474720"/>
            <a:ext cx="4754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 PROTÉGER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 non, attendre, ne jamais donner ma carte.</a:t>
            </a:r>
            <a:endParaRPr lang="en-US" sz="1700" dirty="0"/>
          </a:p>
        </p:txBody>
      </p:sp>
      <p:pic>
        <p:nvPicPr>
          <p:cNvPr id="15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94560"/>
            <a:ext cx="1920240" cy="18338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musée des pubs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234440"/>
            <a:ext cx="2514600" cy="2011680"/>
          </a:xfrm>
          <a:prstGeom prst="roundRect">
            <a:avLst>
              <a:gd name="adj" fmla="val 818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5146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J'affiche ma pub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celle que j'ai apportée</a:t>
            </a:r>
            <a:endParaRPr lang="en-US" sz="1400" dirty="0"/>
          </a:p>
        </p:txBody>
      </p:sp>
      <p:sp>
        <p:nvSpPr>
          <p:cNvPr id="7" name="carte"/>
          <p:cNvSpPr/>
          <p:nvPr/>
        </p:nvSpPr>
        <p:spPr>
          <a:xfrm>
            <a:off x="3337560" y="1234440"/>
            <a:ext cx="2514600" cy="2011680"/>
          </a:xfrm>
          <a:prstGeom prst="roundRect">
            <a:avLst>
              <a:gd name="adj" fmla="val 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37560" y="1280160"/>
            <a:ext cx="25146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 circule en silence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</a:t>
            </a:r>
            <a:endParaRPr lang="en-US" sz="1400" dirty="0"/>
          </a:p>
        </p:txBody>
      </p:sp>
      <p:sp>
        <p:nvSpPr>
          <p:cNvPr id="11" name="carte"/>
          <p:cNvSpPr/>
          <p:nvPr/>
        </p:nvSpPr>
        <p:spPr>
          <a:xfrm>
            <a:off x="6035040" y="1234440"/>
            <a:ext cx="2514600" cy="2011680"/>
          </a:xfrm>
          <a:prstGeom prst="roundRect">
            <a:avLst>
              <a:gd name="adj" fmla="val 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035040" y="1280160"/>
            <a:ext cx="25146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 colle mon point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pub qui me donne le PLUS envie</a:t>
            </a:r>
            <a:endParaRPr lang="en-US" sz="1400" dirty="0"/>
          </a:p>
        </p:txBody>
      </p:sp>
      <p:sp>
        <p:nvSpPr>
          <p:cNvPr id="15" name="bulle"/>
          <p:cNvSpPr/>
          <p:nvPr/>
        </p:nvSpPr>
        <p:spPr>
          <a:xfrm>
            <a:off x="640080" y="3566160"/>
            <a:ext cx="77724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566160"/>
            <a:ext cx="7772400" cy="914400"/>
          </a:xfrm>
          <a:prstGeom prst="roundRect">
            <a:avLst>
              <a:gd name="adj" fmla="val 18000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611880"/>
            <a:ext cx="75895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pub a reçu le plus de points ? Qu'est-ce qu'elle a de spécial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Vous souvenez-vous de ZOOM ! ?</a:t>
            </a:r>
            <a:endParaRPr lang="en-US" sz="3000" dirty="0"/>
          </a:p>
        </p:txBody>
      </p:sp>
      <p:pic>
        <p:nvPicPr>
          <p:cNvPr id="3" name="Image 0" descr="La fausse publicité ZOOM de la semaine passé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572000" cy="2571750"/>
          </a:xfrm>
          <a:prstGeom prst="rect">
            <a:avLst/>
          </a:prstGeom>
        </p:spPr>
      </p:pic>
      <p:sp>
        <p:nvSpPr>
          <p:cNvPr id="4" name="bulle"/>
          <p:cNvSpPr/>
          <p:nvPr/>
        </p:nvSpPr>
        <p:spPr>
          <a:xfrm>
            <a:off x="5486400" y="1188720"/>
            <a:ext cx="3017520" cy="128016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0" y="1188720"/>
            <a:ext cx="3017520" cy="1280160"/>
          </a:xfrm>
          <a:prstGeom prst="roundRect">
            <a:avLst>
              <a:gd name="adj" fmla="val 12857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0" y="1234440"/>
            <a:ext cx="283464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trucs avions-nous trouvés ?</a:t>
            </a:r>
            <a:endParaRPr lang="en-US" sz="1700" dirty="0"/>
          </a:p>
        </p:txBody>
      </p:sp>
      <p:sp>
        <p:nvSpPr>
          <p:cNvPr id="7" name="bulle"/>
          <p:cNvSpPr/>
          <p:nvPr/>
        </p:nvSpPr>
        <p:spPr>
          <a:xfrm>
            <a:off x="5486400" y="2697480"/>
            <a:ext cx="301752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2697480"/>
            <a:ext cx="3017520" cy="1051560"/>
          </a:xfrm>
          <a:prstGeom prst="roundRect">
            <a:avLst>
              <a:gd name="adj" fmla="val 15652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0" y="2743200"/>
            <a:ext cx="283464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pub veut de TOI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 classe collabo-réflexive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188720"/>
            <a:ext cx="2514600" cy="1600200"/>
          </a:xfrm>
          <a:prstGeom prst="roundRect">
            <a:avLst>
              <a:gd name="adj" fmla="val 10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73352" y="1298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7335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0512"/>
            <a:ext cx="2514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équipe de 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76272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Formées par l'enseignante.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3337560" y="1188720"/>
            <a:ext cx="2514600" cy="1600200"/>
          </a:xfrm>
          <a:prstGeom prst="roundRect">
            <a:avLst>
              <a:gd name="adj" fmla="val 10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298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7083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1810512"/>
            <a:ext cx="2514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seul crayon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76272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change de main à chaque pub.</a:t>
            </a:r>
            <a:endParaRPr lang="en-US" sz="1300" dirty="0"/>
          </a:p>
        </p:txBody>
      </p:sp>
      <p:sp>
        <p:nvSpPr>
          <p:cNvPr id="13" name="carte"/>
          <p:cNvSpPr/>
          <p:nvPr/>
        </p:nvSpPr>
        <p:spPr>
          <a:xfrm>
            <a:off x="6035040" y="1188720"/>
            <a:ext cx="2514600" cy="1600200"/>
          </a:xfrm>
          <a:prstGeom prst="roundRect">
            <a:avLst>
              <a:gd name="adj" fmla="val 10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68312" y="1298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6831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1810512"/>
            <a:ext cx="2514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n'efface pas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176272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barre : nos essais sont des traces.</a:t>
            </a:r>
            <a:endParaRPr lang="en-US" sz="1300" dirty="0"/>
          </a:p>
        </p:txBody>
      </p:sp>
      <p:sp>
        <p:nvSpPr>
          <p:cNvPr id="18" name="carte"/>
          <p:cNvSpPr/>
          <p:nvPr/>
        </p:nvSpPr>
        <p:spPr>
          <a:xfrm>
            <a:off x="640080" y="2971800"/>
            <a:ext cx="2514600" cy="1600200"/>
          </a:xfrm>
          <a:prstGeom prst="roundRect">
            <a:avLst>
              <a:gd name="adj" fmla="val 102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3291840"/>
            <a:ext cx="2514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Les ruses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pub donne-t-elle envie ?</a:t>
            </a:r>
            <a:endParaRPr lang="en-US" sz="1300" dirty="0"/>
          </a:p>
        </p:txBody>
      </p:sp>
      <p:sp>
        <p:nvSpPr>
          <p:cNvPr id="21" name="carte"/>
          <p:cNvSpPr/>
          <p:nvPr/>
        </p:nvSpPr>
        <p:spPr>
          <a:xfrm>
            <a:off x="3337560" y="2971800"/>
            <a:ext cx="2514600" cy="1600200"/>
          </a:xfrm>
          <a:prstGeom prst="roundRect">
            <a:avLst>
              <a:gd name="adj" fmla="val 10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337560" y="3291840"/>
            <a:ext cx="2514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Le vrai prix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combien, VRAIMENT ?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6035040" y="2971800"/>
            <a:ext cx="2514600" cy="1600200"/>
          </a:xfrm>
          <a:prstGeom prst="roundRect">
            <a:avLst>
              <a:gd name="adj" fmla="val 10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035040" y="3291840"/>
            <a:ext cx="2514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Besoin ou désir 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justifie.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usse publicité 1 : Les espadrilles SUPER-SOUPL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3760" y="137160"/>
            <a:ext cx="178308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223760" y="137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1 / 6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usse publicité 2 : La crème GLOW+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3760" y="137160"/>
            <a:ext cx="178308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223760" y="137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2 / 6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usse publicité 3 : Le cellulaire X12 « gratuit »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3760" y="137160"/>
            <a:ext cx="178308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223760" y="137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3 / 6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usse publicité 4 : Le divan NUAG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3760" y="137160"/>
            <a:ext cx="178308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223760" y="137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4 / 6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usse publicité 5 : L'abonnement GALAXIA PAS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3760" y="137160"/>
            <a:ext cx="178308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223760" y="137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5 / 6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usse publicité 6 : Le texto « Tu as gagné ! »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3760" y="137160"/>
            <a:ext cx="178308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223760" y="137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6 / 6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8 ruses de la pub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188720"/>
            <a:ext cx="1874520" cy="16459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53312" y="12801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5331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2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32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55648"/>
            <a:ext cx="1874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Tout le monde l'a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Tous tes amis l'ont déjà ! »</a:t>
            </a:r>
            <a:endParaRPr lang="en-US" sz="1100" dirty="0"/>
          </a:p>
        </p:txBody>
      </p:sp>
      <p:sp>
        <p:nvSpPr>
          <p:cNvPr id="8" name="carte"/>
          <p:cNvSpPr/>
          <p:nvPr/>
        </p:nvSpPr>
        <p:spPr>
          <a:xfrm>
            <a:off x="2651760" y="1188720"/>
            <a:ext cx="1874520" cy="16459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64992" y="12801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499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2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32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755648"/>
            <a:ext cx="1874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Vite, vite !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Aujourd'hui seulement ! Il en reste 3 ! »</a:t>
            </a:r>
            <a:endParaRPr lang="en-US" sz="1100" dirty="0"/>
          </a:p>
        </p:txBody>
      </p:sp>
      <p:sp>
        <p:nvSpPr>
          <p:cNvPr id="13" name="carte"/>
          <p:cNvSpPr/>
          <p:nvPr/>
        </p:nvSpPr>
        <p:spPr>
          <a:xfrm>
            <a:off x="4663440" y="1188720"/>
            <a:ext cx="1874520" cy="16459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76672" y="12801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7667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2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32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1755648"/>
            <a:ext cx="1874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vedette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Max, le champion, l'adore ! »</a:t>
            </a:r>
            <a:endParaRPr lang="en-US" sz="1100" dirty="0"/>
          </a:p>
        </p:txBody>
      </p:sp>
      <p:sp>
        <p:nvSpPr>
          <p:cNvPr id="18" name="carte"/>
          <p:cNvSpPr/>
          <p:nvPr/>
        </p:nvSpPr>
        <p:spPr>
          <a:xfrm>
            <a:off x="6675120" y="1188720"/>
            <a:ext cx="1874520" cy="16459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88352" y="128016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8835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2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32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1755648"/>
            <a:ext cx="1874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 petits caractères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48272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GRATUIT* »</a:t>
            </a:r>
            <a:endParaRPr lang="en-US" sz="1100" dirty="0"/>
          </a:p>
        </p:txBody>
      </p:sp>
      <p:sp>
        <p:nvSpPr>
          <p:cNvPr id="23" name="carte"/>
          <p:cNvSpPr/>
          <p:nvPr/>
        </p:nvSpPr>
        <p:spPr>
          <a:xfrm>
            <a:off x="640080" y="2971800"/>
            <a:ext cx="1874520" cy="16459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53312" y="3063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53312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2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632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538728"/>
            <a:ext cx="1874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prix magique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9,99 $ »</a:t>
            </a:r>
            <a:endParaRPr lang="en-US" sz="1100" dirty="0"/>
          </a:p>
        </p:txBody>
      </p:sp>
      <p:sp>
        <p:nvSpPr>
          <p:cNvPr id="28" name="carte"/>
          <p:cNvSpPr/>
          <p:nvPr/>
        </p:nvSpPr>
        <p:spPr>
          <a:xfrm>
            <a:off x="2651760" y="2971800"/>
            <a:ext cx="1874520" cy="16459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64992" y="3063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64992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2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632" dirty="0"/>
          </a:p>
        </p:txBody>
      </p:sp>
      <p:sp>
        <p:nvSpPr>
          <p:cNvPr id="31" name="Text 29"/>
          <p:cNvSpPr txBox="1"/>
          <p:nvPr/>
        </p:nvSpPr>
        <p:spPr>
          <a:xfrm>
            <a:off x="2651760" y="3538728"/>
            <a:ext cx="1874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 seras plus heureux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724912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Deviens beau, fort, populaire ! »</a:t>
            </a:r>
            <a:endParaRPr lang="en-US" sz="1100" dirty="0"/>
          </a:p>
        </p:txBody>
      </p:sp>
      <p:sp>
        <p:nvSpPr>
          <p:cNvPr id="33" name="carte"/>
          <p:cNvSpPr/>
          <p:nvPr/>
        </p:nvSpPr>
        <p:spPr>
          <a:xfrm>
            <a:off x="4663440" y="2971800"/>
            <a:ext cx="1874520" cy="16459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76672" y="3063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76672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2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632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3538728"/>
            <a:ext cx="1874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Payez plus tard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736592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0 $ aujourd'hui ! »</a:t>
            </a:r>
            <a:endParaRPr lang="en-US" sz="1100" dirty="0"/>
          </a:p>
        </p:txBody>
      </p:sp>
      <p:sp>
        <p:nvSpPr>
          <p:cNvPr id="38" name="carte"/>
          <p:cNvSpPr/>
          <p:nvPr/>
        </p:nvSpPr>
        <p:spPr>
          <a:xfrm>
            <a:off x="6675120" y="2971800"/>
            <a:ext cx="1874520" cy="16459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88352" y="306324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88352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32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632" dirty="0"/>
          </a:p>
        </p:txBody>
      </p:sp>
      <p:sp>
        <p:nvSpPr>
          <p:cNvPr id="41" name="Text 39"/>
          <p:cNvSpPr txBox="1"/>
          <p:nvPr/>
        </p:nvSpPr>
        <p:spPr>
          <a:xfrm>
            <a:off x="6675120" y="3538728"/>
            <a:ext cx="1874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 cadeau piège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748272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Tu as gagné ! Clique ici ! »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Notes pour mon moi du futur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280160"/>
            <a:ext cx="7863840" cy="219456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 idées pour commencer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ruse qui me piège le plus, et pourquoi · ma phrase anti-pub · une pub que j'ai vue cette semaine · un dessin pour m'en souvenir.</a:t>
            </a:r>
            <a:endParaRPr lang="en-US" sz="2000" dirty="0"/>
          </a:p>
        </p:txBody>
      </p:sp>
      <p:sp>
        <p:nvSpPr>
          <p:cNvPr id="5" name="bulle"/>
          <p:cNvSpPr/>
          <p:nvPr/>
        </p:nvSpPr>
        <p:spPr>
          <a:xfrm>
            <a:off x="640080" y="3703320"/>
            <a:ext cx="7772400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703320"/>
            <a:ext cx="7772400" cy="822960"/>
          </a:xfrm>
          <a:prstGeom prst="roundRect">
            <a:avLst>
              <a:gd name="adj" fmla="val 20000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749040"/>
            <a:ext cx="75895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phrase anti-pub : « Une étoile * ? Je cherche la suite avant d'acheter ! 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Mission : piège le renard !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234440"/>
            <a:ext cx="1874520" cy="2377440"/>
          </a:xfrm>
          <a:prstGeom prst="roundRect">
            <a:avLst>
              <a:gd name="adj" fmla="val 878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07592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0759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4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8745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 reçois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16916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carte-produit farfelue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2651760" y="1234440"/>
            <a:ext cx="1874520" cy="2377440"/>
          </a:xfrm>
          <a:prstGeom prst="roundRect">
            <a:avLst>
              <a:gd name="adj" fmla="val 878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9272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927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4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103120"/>
            <a:ext cx="18745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 planifie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560320"/>
            <a:ext cx="16916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p. 4 : slogan, prix, au moins 3 ruses</a:t>
            </a:r>
            <a:endParaRPr lang="en-US" sz="1300" dirty="0"/>
          </a:p>
        </p:txBody>
      </p:sp>
      <p:sp>
        <p:nvSpPr>
          <p:cNvPr id="13" name="carte"/>
          <p:cNvSpPr/>
          <p:nvPr/>
        </p:nvSpPr>
        <p:spPr>
          <a:xfrm>
            <a:off x="4663440" y="1234440"/>
            <a:ext cx="1874520" cy="2377440"/>
          </a:xfrm>
          <a:prstGeom prst="roundRect">
            <a:avLst>
              <a:gd name="adj" fmla="val 878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30952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3095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4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103120"/>
            <a:ext cx="18745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 fabrique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560320"/>
            <a:ext cx="16916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pub à l'ordi ou sur papier</a:t>
            </a:r>
            <a:endParaRPr lang="en-US" sz="1300" dirty="0"/>
          </a:p>
        </p:txBody>
      </p:sp>
      <p:sp>
        <p:nvSpPr>
          <p:cNvPr id="18" name="carte"/>
          <p:cNvSpPr/>
          <p:nvPr/>
        </p:nvSpPr>
        <p:spPr>
          <a:xfrm>
            <a:off x="6675120" y="1234440"/>
            <a:ext cx="1874520" cy="2377440"/>
          </a:xfrm>
          <a:prstGeom prst="roundRect">
            <a:avLst>
              <a:gd name="adj" fmla="val 878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42632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4263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4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103120"/>
            <a:ext cx="18745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 cache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560320"/>
            <a:ext cx="16916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ruses… le renard est rusé !</a:t>
            </a:r>
            <a:endParaRPr lang="en-US" sz="1300" dirty="0"/>
          </a:p>
        </p:txBody>
      </p:sp>
      <p:sp>
        <p:nvSpPr>
          <p:cNvPr id="23" name="bulle"/>
          <p:cNvSpPr/>
          <p:nvPr/>
        </p:nvSpPr>
        <p:spPr>
          <a:xfrm>
            <a:off x="640080" y="3886200"/>
            <a:ext cx="7818120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886200"/>
            <a:ext cx="7818120" cy="685800"/>
          </a:xfrm>
          <a:prstGeom prst="roundRect">
            <a:avLst>
              <a:gd name="adj" fmla="val 24000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931920"/>
            <a:ext cx="763524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est inutile ? Parfait ! Ta pub doit quand même donner envie : c'est ça, le défi.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Deux ateliers au choix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188720"/>
            <a:ext cx="3749040" cy="27432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carte"/>
          <p:cNvSpPr/>
          <p:nvPr/>
        </p:nvSpPr>
        <p:spPr>
          <a:xfrm>
            <a:off x="4663440" y="1188720"/>
            <a:ext cx="3749040" cy="27432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325880"/>
            <a:ext cx="338328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À l'ordinateur</a:t>
            </a:r>
            <a:endParaRPr lang="en-US" sz="2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« Piège le renard ! »</a:t>
            </a:r>
            <a:endParaRPr lang="en-US" sz="2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choisis mes ruses, mes couleurs, mon prix. Je télécharge l'image et je la publie dans le canal Teams.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325880"/>
            <a:ext cx="3383280" cy="2468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Sur papier</a:t>
            </a:r>
            <a:endParaRPr lang="en-US" sz="2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 + étiquettes-ruses</a:t>
            </a:r>
            <a:endParaRPr lang="en-US" sz="2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dessine mon produit, je colle mes étiquettes, j'écris les petits caractères.</a:t>
            </a:r>
            <a:endParaRPr lang="en-US" sz="2200" dirty="0"/>
          </a:p>
        </p:txBody>
      </p:sp>
      <p:sp>
        <p:nvSpPr>
          <p:cNvPr id="7" name="bulle"/>
          <p:cNvSpPr/>
          <p:nvPr/>
        </p:nvSpPr>
        <p:spPr>
          <a:xfrm>
            <a:off x="640080" y="4114800"/>
            <a:ext cx="777240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4114800"/>
            <a:ext cx="7772400" cy="548640"/>
          </a:xfrm>
          <a:prstGeom prst="roundRect">
            <a:avLst>
              <a:gd name="adj" fmla="val 30000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L'atelier en ligne peut lire ta pub à voix haute.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 galerie : le renard résiste !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188720"/>
            <a:ext cx="5852160" cy="868680"/>
          </a:xfrm>
          <a:prstGeom prst="roundRect">
            <a:avLst>
              <a:gd name="adj" fmla="val 1894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548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34440"/>
            <a:ext cx="50292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montre sa pub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(affiche ou image dans Teams)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40080" y="2194560"/>
            <a:ext cx="5852160" cy="868680"/>
          </a:xfrm>
          <a:prstGeom prst="roundRect">
            <a:avLst>
              <a:gd name="adj" fmla="val 1894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548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40280"/>
            <a:ext cx="50292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détectives lèvent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carte-loupe de chaque ruse vue</a:t>
            </a:r>
            <a:endParaRPr lang="en-US" sz="1600" dirty="0"/>
          </a:p>
        </p:txBody>
      </p:sp>
      <p:sp>
        <p:nvSpPr>
          <p:cNvPr id="9" name="carte"/>
          <p:cNvSpPr/>
          <p:nvPr/>
        </p:nvSpPr>
        <p:spPr>
          <a:xfrm>
            <a:off x="640080" y="3200400"/>
            <a:ext cx="5852160" cy="868680"/>
          </a:xfrm>
          <a:prstGeom prst="roundRect">
            <a:avLst>
              <a:gd name="adj" fmla="val 1894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200400"/>
            <a:ext cx="548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46120"/>
            <a:ext cx="50292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ruse non trouvée 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pour l'équipe créatrice !</a:t>
            </a:r>
            <a:endParaRPr lang="en-US" sz="1600" dirty="0"/>
          </a:p>
        </p:txBody>
      </p:sp>
      <p:pic>
        <p:nvPicPr>
          <p:cNvPr id="12" name="renard" descr="Ren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103120"/>
            <a:ext cx="1828800" cy="17465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 bouclier du renard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40080" y="1188720"/>
            <a:ext cx="2514600" cy="1737360"/>
          </a:xfrm>
          <a:prstGeom prst="roundRect">
            <a:avLst>
              <a:gd name="adj" fmla="val 947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5146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ou désir ?</a:t>
            </a:r>
            <a:endParaRPr lang="en-US" sz="1700" dirty="0"/>
          </a:p>
        </p:txBody>
      </p:sp>
      <p:sp>
        <p:nvSpPr>
          <p:cNvPr id="6" name="carte"/>
          <p:cNvSpPr/>
          <p:nvPr/>
        </p:nvSpPr>
        <p:spPr>
          <a:xfrm>
            <a:off x="3337560" y="1188720"/>
            <a:ext cx="2514600" cy="1737360"/>
          </a:xfrm>
          <a:prstGeom prst="roundRect">
            <a:avLst>
              <a:gd name="adj" fmla="val 947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37560" y="1234440"/>
            <a:ext cx="25146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ça coûte VRAIMENT ?</a:t>
            </a:r>
            <a:endParaRPr lang="en-US" sz="1700" dirty="0"/>
          </a:p>
        </p:txBody>
      </p:sp>
      <p:sp>
        <p:nvSpPr>
          <p:cNvPr id="9" name="carte"/>
          <p:cNvSpPr/>
          <p:nvPr/>
        </p:nvSpPr>
        <p:spPr>
          <a:xfrm>
            <a:off x="6035040" y="1188720"/>
            <a:ext cx="2514600" cy="1737360"/>
          </a:xfrm>
          <a:prstGeom prst="roundRect">
            <a:avLst>
              <a:gd name="adj" fmla="val 947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35040" y="1234440"/>
            <a:ext cx="25146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Puis-je attendre 24 heures ?</a:t>
            </a:r>
            <a:endParaRPr lang="en-US" sz="1700" dirty="0"/>
          </a:p>
        </p:txBody>
      </p:sp>
      <p:sp>
        <p:nvSpPr>
          <p:cNvPr id="12" name="refus"/>
          <p:cNvSpPr/>
          <p:nvPr/>
        </p:nvSpPr>
        <p:spPr>
          <a:xfrm>
            <a:off x="640080" y="3154680"/>
            <a:ext cx="7818120" cy="1463040"/>
          </a:xfrm>
          <a:prstGeom prst="roundRect">
            <a:avLst>
              <a:gd name="adj" fmla="val 112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BFCFCC">
                <a:alpha val="10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200400"/>
            <a:ext cx="74523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« Non merci. Je vais y penser. »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Tu as gagné ! » → je ne clique pas, je ne donne jamais ma carte, j'en parle à quelqu'un de confiance.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nard pastel">
  <a:themeElements>
    <a:clrScheme name="Renard pastel">
      <a:dk1>
        <a:srgbClr val="4A4F55"/>
      </a:dk1>
      <a:lt1>
        <a:srgbClr val="FFFFFF"/>
      </a:lt1>
      <a:dk2>
        <a:srgbClr val="3B2A22"/>
      </a:dk2>
      <a:lt2>
        <a:srgbClr val="FFFDF9"/>
      </a:lt2>
      <a:accent1>
        <a:srgbClr val="C9733A"/>
      </a:accent1>
      <a:accent2>
        <a:srgbClr val="E3BF6A"/>
      </a:accent2>
      <a:accent3>
        <a:srgbClr val="F6D1D6"/>
      </a:accent3>
      <a:accent4>
        <a:srgbClr val="DDF5F2"/>
      </a:accent4>
      <a:accent5>
        <a:srgbClr val="BFCFCC"/>
      </a:accent5>
      <a:accent6>
        <a:srgbClr val="D8C7BB"/>
      </a:accent6>
      <a:hlink>
        <a:srgbClr val="C9733A"/>
      </a:hlink>
      <a:folHlink>
        <a:srgbClr val="8A6A55"/>
      </a:folHlink>
    </a:clrScheme>
    <a:fontScheme name="Renard pastel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Détectives de la pub · Piège le renard !</dc:title>
  <dc:subject>PptxGenJS Presentation</dc:subject>
  <dc:creator>Participation sociale · Budget et consommation</dc:creator>
  <cp:lastModifiedBy>Participation sociale · Budget et consommation</cp:lastModifiedBy>
  <cp:revision>1</cp:revision>
  <dcterms:created xsi:type="dcterms:W3CDTF">2026-10-12T21:38:01Z</dcterms:created>
  <dcterms:modified xsi:type="dcterms:W3CDTF">2026-10-12T21:38:01Z</dcterms:modified>
</cp:coreProperties>
</file>