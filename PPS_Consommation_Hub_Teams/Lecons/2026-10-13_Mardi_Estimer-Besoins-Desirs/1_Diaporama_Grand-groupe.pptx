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ccueil" id="{883be596-771b-60b4-ed35-aa7908790176}">
          <p14:sldIdLst>
            <p14:sldId id="256"/>
            <p14:sldId id="257"/>
            <p14:sldId id="258"/>
          </p14:sldIdLst>
        </p14:section>
        <p14:section name="Amorce" id="{0da47a37-0a94-c1a7-a874-e54a5c7b99a8}">
          <p14:sldIdLst>
            <p14:sldId id="259"/>
            <p14:sldId id="260"/>
          </p14:sldIdLst>
        </p14:section>
        <p14:section name="Classe collabo-réflexive" id="{8bfc44f5-b047-8626-14f1-084a0d256aac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Consolidation" id="{ac9d9aae-13a1-84df-f776-ed2a501dd6b2}">
          <p14:sldIdLst>
            <p14:sldId id="269"/>
            <p14:sldId id="270"/>
            <p14:sldId id="271"/>
            <p14:sldId id="272"/>
            <p14:sldId id="273"/>
          </p14:sldIdLst>
        </p14:section>
        <p14:section name="Ateliers" id="{c563f9cc-2537-e3c1-a223-77f330b0e62d}">
          <p14:sldIdLst>
            <p14:sldId id="274"/>
          </p14:sldIdLst>
        </p14:section>
        <p14:section name="Besoin ou désir" id="{0c62553c-e39f-1339-ce05-717460dbe434}">
          <p14:sldIdLst>
            <p14:sldId id="275"/>
            <p14:sldId id="276"/>
            <p14:sldId id="277"/>
            <p14:sldId id="278"/>
          </p14:sldIdLst>
        </p14:section>
        <p14:section name="Détectives de la pub" id="{8329ba9a-69fb-01d3-2b31-e0809b4e0a34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Accueil. Le renard est le personnage du jour : il ne calcule pas tout au sou près, il estime.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 déroulement. La pause sera décidée selon le groupe.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d'ouverture : « Vous est-il déjà arrivé de ne pas savoir si vous aviez assez d'argent à la caisse ? » Accueillir 2 ou 3 histoires.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les 5 vrais articles avec leur étiquette pendant 30 secondes (ou cette diapo), puis cacher. Le temps court empêche le calcul exact : il faut estimer. Chacun écrit son estimation (cahier p. 1). Total du reçu : 21,75 $. Faire voter : moins de 20 $ ? entre 20 et 25 $ ? plus de 25 $ 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Recueillir les démarches sans les juger. Stratégies attendues (Van de Walle) : les dollars d'abord (6 + 3 + 2 + 2 + 5 = 18, puis environ 4 $ avec les cents → environ 22 $); arrondir chaque prix (6 + 4 + 2 + 3 + 6 = 21); regrouper des prix qui font 10 $. On y reviendra à la consolidation.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Modélisation à deux voix avant de commencer : l'enseignante et la CP résolvent ensemble un défi au tableau (ex. : environ combien pour 3 articles à 4,95 $ ?). Elles pensent à voix haute, ne sont pas d'accord tout de suite, barrent un essai et en essaient un autre. Montrer la collaboration, pas la bonne réponse.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Défi hors cursus : il sert à apprendre le fonctionnement de la classe collabo-réflexive. Plusieurs réponses et plusieurs démarches sont possibles. Relance : « Comment pourriez-vous vérifier ? » Indice (en dernier recours) : Commencez par ceux qui donnent 0 ou 1. Réponse : Plusieurs réponses : 0 = 44 − 44 · 1 = 44 ÷ 44 · 2 = 4 ÷ 4 + 4 ÷ 4 · 3 = (4 + 4 + 4) ÷ 4 · 4 = 4 + (4 − 4) × 4 · 5 = (4 × 4 + 4) ÷ 4 · 6 = 4 + (4 + 4) ÷ 4 · 7 = 44 ÷ 4 − 4 · 8 = 4 + 4 + 4 − 4 · 9 = 4 + 4 + 4 ÷ 4 · 10 = (44 − 4) ÷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Relance : « Comment pourriez-vous vérifier ? » Indice (en dernier recours) : 2,85 $, c'est plus proche de 2 $ ou de 3 $ ? Réponse : 3 $ + 3 $ = environ 6 $ (exact : 5,95 $).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Relance : « Comment pourriez-vous vérifier ? » Indice (en dernier recours) : Pouvez-vous faire un paquet de 10 $ ? Réponse : 5 + 2 + 7 + 1 : (7 + 2 + 1) + 5 = environ 15 $ (exact : 14,98 $).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Relance : « Comment pourriez-vous vérifier ? » Indice (en dernier recours) : Si je veux être certain·e d'avoir assez, j'arrondis vers le haut ou vers le bas ? Réponse : Vers le haut : 4 + 5 + 8 + 6 = 23 $ : pas assez (exact : 21,62 $). Il manque environ 2 $.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élèves ne savent pas encore ce qu'est une taxe : c'est voulu. Laisser chercher, puis remettre le reçu-indice. Relance : « Comment pourriez-vous vérifier ? » Indice (en dernier recours) : Regardez le reçu-indice : que se passe-t-il entre le sous-total et le total ? Réponse : Au plus proche : 6 + 4 + 2 = 12 $; prudent (vers le haut) : 7 + 4 + 3 = 14 $. Taxes ≈ 15 %, soit environ 1,50 $ par 10 $ → environ 2 $. Total ≈ 14 à 16 $ : assez (exact : 12,57 $ + TPS 0,63 $ + TVQ 1,25 $ = 14,45 $).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Relance : « Comment pourriez-vous vérifier ? » Indice (en dernier recours) : Faites des paquets de 10 $. Ensuite : qu'est-ce qui est vraiment nécessaire ? Réponse : Au plus proche : 12 + 9 + 3 + 3 + 6 + 5 + 4 + 8 + 3 = 53 $; prudent : 13 + 9 + 3 + 4 + 6 + 5 + 5 + 8 + 4 = 57 $. Dans les deux cas, plus de 50 $ : pas assez (exact : 54,47 $). Sans croustilles, gâteau et boisson : 38,70 $. C'est le pont vers besoin et désir.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Relance : « Comment pourriez-vous vérifier ? » Indice (en dernier recours) : 1,95 $, c'est presque combien ? Réponse : 9 × 2 $ = 18 $, donc un peu moins de 18 $. Ou : 10 × 1,95 $ = 19,50 $, moins un article ≈ 17,50 $ (exact : 17,55 $).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Construire l'arrondi avec la droite numérique plutôt qu'avec une règle. Questions : « Entre quels dollars se trouve 2,85 $ ? » « Où est le milieu ? » « De quel côté est 2,85 $ ? » « Combien manque-t-il pour 3 $ ? » Lien avec la monnaie : 2,85 $, c'est 2 $ et 85 ¢; avec 15 ¢ de plus, on a 3 $. Refaire avec 3,10 $ (plus proche de 3 $) et 4,49 $ (plus proche de 4 $).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Nombres compatibles : on cherche les nombres qui vont bien ensemble pour faire 10. Montrer les traces des équipes qui ont regroupé autrement (5 + 5, par exemple) : il y a plusieurs bonnes façons.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Défi 3 : 3,49 $, 4,99 $, 7,89 $, 5,25 $. Vers le haut : 4 + 5 + 8 + 6 = 23 $ &gt; 20 $ : pas assez (exact : 21,62 $). La question posée change la stratégie : pour savoir si on a assez, on surestime volontairement.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découvrir à partir du reçu : « Que se passe-t-il entre le sous-total et le total ? » TPS 5 % + TVQ 9,975 % ≈ 15 %. Repère : 10 % de 10 $ = 1 $, la moitié de ça = 0,50 $, donc environ 1,50 $ par 10 $.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notes sont libres (espace vide dans le cahier, p. 2). Les suggestions à l'écran aident ceux qui ne savent pas par où commencer. Dessin, pictogramme ou dictée à un pair acceptés.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Rotation (3 × 6 min) ou atelier au choix, selon le groupe. Atelier A : lien du jeu déposé dans Teams. Atelier B : produits de la maison avec étiquettes et rabats. Atelier C : cartes et corrigé dans le matériel. Observer avec la grille.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Lien avec le programme : besoins prioritaires et besoins secondaires.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un article à la fois. Réponses attendues : Du pain = besoin; Mes médicaments = besoin; Mon loyer = besoin; Du savon = besoin; Ma passe d'autobus = besoin; Un manteau d'hiver = besoin. Cas « ça dépend » : « Ça dépend de quoi ?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un article à la fois. Réponses attendues : Un nouveau jeu vidéo = désir; Une boisson énergisante = désir; Une 5e casquette = désir; Un gâteau = désir; Un cellulaire = ça dépend; Un café au resto = ça dépend. Cas « ça dépend » : « Ça dépend de quoi ?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équipe : classer chaque article, enlever d'abord les désirs (croustilles, gâteau, boisson énergisante), ré-estimer : 38,70 $. Question bonus : « Avec ce qui reste, que ferais-tu ?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secondes en silence. « As-tu envie de l'acheter ? Pourquoi ? » Repérer 2 trucs : la pression des amis et l'urgence. Besoin ou désir 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Réflexion et billet de sortie dans le cahier (p. 5), pas à l'écran.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R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U0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ONTENU1-image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CONTENU2-image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43000"/>
            <a:ext cx="58521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49377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73152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73152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73152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E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4300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Estimer, c'est rusé !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Mardi 13 octobre · 2 h 15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Budget et consommation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Notre matinée</a:t>
            </a:r>
            <a:endParaRPr lang="en-US" sz="3000" dirty="0"/>
          </a:p>
        </p:txBody>
      </p:sp>
      <p:sp>
        <p:nvSpPr>
          <p:cNvPr id="3" name="étape 1"/>
          <p:cNvSpPr/>
          <p:nvPr/>
        </p:nvSpPr>
        <p:spPr>
          <a:xfrm>
            <a:off x="640080" y="1234440"/>
            <a:ext cx="2514600" cy="1371600"/>
          </a:xfrm>
          <a:prstGeom prst="roundRect">
            <a:avLst>
              <a:gd name="adj" fmla="val 12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234440"/>
            <a:ext cx="164592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 sac d'épicerie</a:t>
            </a:r>
            <a:endParaRPr lang="en-US" sz="1600" dirty="0"/>
          </a:p>
        </p:txBody>
      </p:sp>
      <p:sp>
        <p:nvSpPr>
          <p:cNvPr id="7" name="étape 2"/>
          <p:cNvSpPr/>
          <p:nvPr/>
        </p:nvSpPr>
        <p:spPr>
          <a:xfrm>
            <a:off x="3337560" y="1234440"/>
            <a:ext cx="2514600" cy="13716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520440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1234440"/>
            <a:ext cx="164592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classe collabo-réflexive</a:t>
            </a:r>
            <a:endParaRPr lang="en-US" sz="1600" dirty="0"/>
          </a:p>
        </p:txBody>
      </p:sp>
      <p:sp>
        <p:nvSpPr>
          <p:cNvPr id="11" name="étape 3"/>
          <p:cNvSpPr/>
          <p:nvPr/>
        </p:nvSpPr>
        <p:spPr>
          <a:xfrm>
            <a:off x="6035040" y="1234440"/>
            <a:ext cx="2514600" cy="13716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812280" y="1234440"/>
            <a:ext cx="164592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 truc du renard</a:t>
            </a:r>
            <a:endParaRPr lang="en-US" sz="1600" dirty="0"/>
          </a:p>
        </p:txBody>
      </p:sp>
      <p:sp>
        <p:nvSpPr>
          <p:cNvPr id="15" name="étape 4"/>
          <p:cNvSpPr/>
          <p:nvPr/>
        </p:nvSpPr>
        <p:spPr>
          <a:xfrm>
            <a:off x="640080" y="2834640"/>
            <a:ext cx="2514600" cy="1371600"/>
          </a:xfrm>
          <a:prstGeom prst="roundRect">
            <a:avLst>
              <a:gd name="adj" fmla="val 12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32918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2834640"/>
            <a:ext cx="164592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Les ateliers</a:t>
            </a:r>
            <a:endParaRPr lang="en-US" sz="1600" dirty="0"/>
          </a:p>
        </p:txBody>
      </p:sp>
      <p:sp>
        <p:nvSpPr>
          <p:cNvPr id="19" name="étape 5"/>
          <p:cNvSpPr/>
          <p:nvPr/>
        </p:nvSpPr>
        <p:spPr>
          <a:xfrm>
            <a:off x="3337560" y="2834640"/>
            <a:ext cx="2514600" cy="1371600"/>
          </a:xfrm>
          <a:prstGeom prst="roundRect">
            <a:avLst>
              <a:gd name="adj" fmla="val 12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520440" y="32918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204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114800" y="2834640"/>
            <a:ext cx="164592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Besoin ou désir ?</a:t>
            </a:r>
            <a:endParaRPr lang="en-US" sz="1600" dirty="0"/>
          </a:p>
        </p:txBody>
      </p:sp>
      <p:sp>
        <p:nvSpPr>
          <p:cNvPr id="23" name="étape 6"/>
          <p:cNvSpPr/>
          <p:nvPr/>
        </p:nvSpPr>
        <p:spPr>
          <a:xfrm>
            <a:off x="6035040" y="2834640"/>
            <a:ext cx="2514600" cy="13716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32918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812280" y="2834640"/>
            <a:ext cx="164592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Détectives de la pub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Aujourd'hui, j'apprends à…</a:t>
            </a:r>
            <a:endParaRPr lang="en-US" sz="3000" dirty="0"/>
          </a:p>
        </p:txBody>
      </p:sp>
      <p:sp>
        <p:nvSpPr>
          <p:cNvPr id="3" name="carte"/>
          <p:cNvSpPr/>
          <p:nvPr/>
        </p:nvSpPr>
        <p:spPr>
          <a:xfrm>
            <a:off x="640080" y="1234440"/>
            <a:ext cx="5760720" cy="914400"/>
          </a:xfrm>
          <a:prstGeom prst="roundRect">
            <a:avLst>
              <a:gd name="adj" fmla="val 18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43560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35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4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904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280160"/>
            <a:ext cx="475488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ESTIMER un total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savoir si j'ai assez d'argent.</a:t>
            </a:r>
            <a:endParaRPr lang="en-US" sz="1800" dirty="0"/>
          </a:p>
        </p:txBody>
      </p:sp>
      <p:sp>
        <p:nvSpPr>
          <p:cNvPr id="7" name="carte"/>
          <p:cNvSpPr/>
          <p:nvPr/>
        </p:nvSpPr>
        <p:spPr>
          <a:xfrm>
            <a:off x="640080" y="2331720"/>
            <a:ext cx="5760720" cy="914400"/>
          </a:xfrm>
          <a:prstGeom prst="roundRect">
            <a:avLst>
              <a:gd name="adj" fmla="val 1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53288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5328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4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904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377440"/>
            <a:ext cx="475488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EXPLIQUER comment j'ai fait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comparer avec les autres.</a:t>
            </a:r>
            <a:endParaRPr lang="en-US" sz="1800" dirty="0"/>
          </a:p>
        </p:txBody>
      </p:sp>
      <p:sp>
        <p:nvSpPr>
          <p:cNvPr id="11" name="carte"/>
          <p:cNvSpPr/>
          <p:nvPr/>
        </p:nvSpPr>
        <p:spPr>
          <a:xfrm>
            <a:off x="640080" y="3429000"/>
            <a:ext cx="5760720" cy="914400"/>
          </a:xfrm>
          <a:prstGeom prst="roundRect">
            <a:avLst>
              <a:gd name="adj" fmla="val 18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363016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630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4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904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474720"/>
            <a:ext cx="475488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CHOISIR entre besoin et désir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décider quoi acheter en premier.</a:t>
            </a:r>
            <a:endParaRPr lang="en-US" sz="1800" dirty="0"/>
          </a:p>
        </p:txBody>
      </p:sp>
      <p:pic>
        <p:nvPicPr>
          <p:cNvPr id="15" name="renard" descr="Ren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2194560"/>
            <a:ext cx="1920240" cy="183382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Le sac d'épicerie : 30 secondes</a:t>
            </a:r>
            <a:endParaRPr lang="en-US" sz="3000" dirty="0"/>
          </a:p>
        </p:txBody>
      </p:sp>
      <p:pic>
        <p:nvPicPr>
          <p:cNvPr id="3" name="Image 0" descr="Étiquette de prix d'un article du sac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180000">
            <a:off x="548640" y="1143000"/>
            <a:ext cx="2377440" cy="1345131"/>
          </a:xfrm>
          <a:prstGeom prst="rect">
            <a:avLst/>
          </a:prstGeom>
        </p:spPr>
      </p:pic>
      <p:pic>
        <p:nvPicPr>
          <p:cNvPr id="4" name="Image 1" descr="Étiquette de prix d'un article du sac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0000">
            <a:off x="3429000" y="1051560"/>
            <a:ext cx="2377440" cy="1345131"/>
          </a:xfrm>
          <a:prstGeom prst="rect">
            <a:avLst/>
          </a:prstGeom>
        </p:spPr>
      </p:pic>
      <p:pic>
        <p:nvPicPr>
          <p:cNvPr id="5" name="Image 2" descr="Étiquette de prix d'un article du sac.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20000">
            <a:off x="6309360" y="1188720"/>
            <a:ext cx="2377440" cy="1345131"/>
          </a:xfrm>
          <a:prstGeom prst="rect">
            <a:avLst/>
          </a:prstGeom>
        </p:spPr>
      </p:pic>
      <p:pic>
        <p:nvPicPr>
          <p:cNvPr id="6" name="Image 3" descr="Étiquette de prix d'un article du sac.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0000">
            <a:off x="1737360" y="2971800"/>
            <a:ext cx="2377440" cy="1345131"/>
          </a:xfrm>
          <a:prstGeom prst="rect">
            <a:avLst/>
          </a:prstGeom>
        </p:spPr>
      </p:pic>
      <p:pic>
        <p:nvPicPr>
          <p:cNvPr id="7" name="Image 4" descr="Étiquette de prix d'un article du sac.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4937760" y="3017520"/>
            <a:ext cx="2377440" cy="1345131"/>
          </a:xfrm>
          <a:prstGeom prst="rect">
            <a:avLst/>
          </a:prstGeom>
        </p:spPr>
      </p:pic>
      <p:sp>
        <p:nvSpPr>
          <p:cNvPr id="8" name="Text 1"/>
          <p:cNvSpPr txBox="1"/>
          <p:nvPr/>
        </p:nvSpPr>
        <p:spPr>
          <a:xfrm>
            <a:off x="640080" y="4526280"/>
            <a:ext cx="78638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 combien pour tout le sac 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Comment as-tu fait ?</a:t>
            </a:r>
            <a:endParaRPr lang="en-US" sz="3000" dirty="0"/>
          </a:p>
        </p:txBody>
      </p:sp>
      <p:sp>
        <p:nvSpPr>
          <p:cNvPr id="3" name="carte"/>
          <p:cNvSpPr/>
          <p:nvPr/>
        </p:nvSpPr>
        <p:spPr>
          <a:xfrm>
            <a:off x="640080" y="1280160"/>
            <a:ext cx="2468880" cy="2377440"/>
          </a:xfrm>
          <a:prstGeom prst="roundRect">
            <a:avLst>
              <a:gd name="adj" fmla="val 692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24688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Stratégie 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228600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idées de la classe</a:t>
            </a:r>
            <a:endParaRPr lang="en-US" sz="1300" dirty="0"/>
          </a:p>
        </p:txBody>
      </p:sp>
      <p:sp>
        <p:nvSpPr>
          <p:cNvPr id="6" name="carte"/>
          <p:cNvSpPr/>
          <p:nvPr/>
        </p:nvSpPr>
        <p:spPr>
          <a:xfrm>
            <a:off x="3337560" y="1280160"/>
            <a:ext cx="2468880" cy="2377440"/>
          </a:xfrm>
          <a:prstGeom prst="roundRect">
            <a:avLst>
              <a:gd name="adj" fmla="val 692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337560" y="1371600"/>
            <a:ext cx="24688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Stratégie B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2011680"/>
            <a:ext cx="228600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idées de la classe</a:t>
            </a:r>
            <a:endParaRPr lang="en-US" sz="1300" dirty="0"/>
          </a:p>
        </p:txBody>
      </p:sp>
      <p:sp>
        <p:nvSpPr>
          <p:cNvPr id="9" name="carte"/>
          <p:cNvSpPr/>
          <p:nvPr/>
        </p:nvSpPr>
        <p:spPr>
          <a:xfrm>
            <a:off x="6035040" y="1280160"/>
            <a:ext cx="2468880" cy="2377440"/>
          </a:xfrm>
          <a:prstGeom prst="roundRect">
            <a:avLst>
              <a:gd name="adj" fmla="val 692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035040" y="1371600"/>
            <a:ext cx="24688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Stratégie C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2011680"/>
            <a:ext cx="228600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idées de la classe</a:t>
            </a:r>
            <a:endParaRPr lang="en-US" sz="1300" dirty="0"/>
          </a:p>
        </p:txBody>
      </p:sp>
      <p:sp>
        <p:nvSpPr>
          <p:cNvPr id="12" name="bulle"/>
          <p:cNvSpPr/>
          <p:nvPr/>
        </p:nvSpPr>
        <p:spPr>
          <a:xfrm>
            <a:off x="640080" y="3931920"/>
            <a:ext cx="7772400" cy="6858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931920"/>
            <a:ext cx="7772400" cy="685800"/>
          </a:xfrm>
          <a:prstGeom prst="roundRect">
            <a:avLst>
              <a:gd name="adj" fmla="val 24000"/>
            </a:avLst>
          </a:prstGeom>
          <a:ln w="254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977640"/>
            <a:ext cx="758952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n'avons-nous pas tous la même estimation ? Qui est le plus proche ? Comment le sais-tu 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La classe collabo-réflexive</a:t>
            </a:r>
            <a:endParaRPr lang="en-US" sz="3000" dirty="0"/>
          </a:p>
        </p:txBody>
      </p:sp>
      <p:sp>
        <p:nvSpPr>
          <p:cNvPr id="3" name="carte"/>
          <p:cNvSpPr/>
          <p:nvPr/>
        </p:nvSpPr>
        <p:spPr>
          <a:xfrm>
            <a:off x="640080" y="1188720"/>
            <a:ext cx="2514600" cy="1600200"/>
          </a:xfrm>
          <a:prstGeom prst="roundRect">
            <a:avLst>
              <a:gd name="adj" fmla="val 1028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673352" y="129844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73352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10512"/>
            <a:ext cx="25146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 équipe de 3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76272"/>
            <a:ext cx="233172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équipes sont formées par l'enseignante.</a:t>
            </a:r>
            <a:endParaRPr lang="en-US" sz="1300" dirty="0"/>
          </a:p>
        </p:txBody>
      </p:sp>
      <p:sp>
        <p:nvSpPr>
          <p:cNvPr id="8" name="carte"/>
          <p:cNvSpPr/>
          <p:nvPr/>
        </p:nvSpPr>
        <p:spPr>
          <a:xfrm>
            <a:off x="3337560" y="1188720"/>
            <a:ext cx="2514600" cy="1600200"/>
          </a:xfrm>
          <a:prstGeom prst="roundRect">
            <a:avLst>
              <a:gd name="adj" fmla="val 1028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70832" y="129844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70832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1810512"/>
            <a:ext cx="25146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Debout, au tableau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176272"/>
            <a:ext cx="233172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le monde voit le travail des autres.</a:t>
            </a:r>
            <a:endParaRPr lang="en-US" sz="1300" dirty="0"/>
          </a:p>
        </p:txBody>
      </p:sp>
      <p:sp>
        <p:nvSpPr>
          <p:cNvPr id="13" name="carte"/>
          <p:cNvSpPr/>
          <p:nvPr/>
        </p:nvSpPr>
        <p:spPr>
          <a:xfrm>
            <a:off x="6035040" y="1188720"/>
            <a:ext cx="2514600" cy="1600200"/>
          </a:xfrm>
          <a:prstGeom prst="roundRect">
            <a:avLst>
              <a:gd name="adj" fmla="val 1028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068312" y="129844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68312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1810512"/>
            <a:ext cx="25146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seul crayon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2176272"/>
            <a:ext cx="233172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change de main à chaque défi.</a:t>
            </a:r>
            <a:endParaRPr lang="en-US" sz="1300" dirty="0"/>
          </a:p>
        </p:txBody>
      </p:sp>
      <p:sp>
        <p:nvSpPr>
          <p:cNvPr id="18" name="carte"/>
          <p:cNvSpPr/>
          <p:nvPr/>
        </p:nvSpPr>
        <p:spPr>
          <a:xfrm>
            <a:off x="640080" y="2971800"/>
            <a:ext cx="2514600" cy="1600200"/>
          </a:xfrm>
          <a:prstGeom prst="roundRect">
            <a:avLst>
              <a:gd name="adj" fmla="val 1028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673352" y="30815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673352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593592"/>
            <a:ext cx="25146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 n'efface pas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3959352"/>
            <a:ext cx="233172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barre d'un trait : nos essais sont des traces.</a:t>
            </a:r>
            <a:endParaRPr lang="en-US" sz="1300" dirty="0"/>
          </a:p>
        </p:txBody>
      </p:sp>
      <p:sp>
        <p:nvSpPr>
          <p:cNvPr id="23" name="carte"/>
          <p:cNvSpPr/>
          <p:nvPr/>
        </p:nvSpPr>
        <p:spPr>
          <a:xfrm>
            <a:off x="3337560" y="2971800"/>
            <a:ext cx="2514600" cy="1600200"/>
          </a:xfrm>
          <a:prstGeom prst="roundRect">
            <a:avLst>
              <a:gd name="adj" fmla="val 1028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370832" y="30815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370832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3337560" y="3593592"/>
            <a:ext cx="25146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 se parle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429000" y="3959352"/>
            <a:ext cx="233172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Celui qui écrit écoute les autres.</a:t>
            </a:r>
            <a:endParaRPr lang="en-US" sz="1300" dirty="0"/>
          </a:p>
        </p:txBody>
      </p:sp>
      <p:sp>
        <p:nvSpPr>
          <p:cNvPr id="28" name="carte"/>
          <p:cNvSpPr/>
          <p:nvPr/>
        </p:nvSpPr>
        <p:spPr>
          <a:xfrm>
            <a:off x="6035040" y="2971800"/>
            <a:ext cx="2514600" cy="1600200"/>
          </a:xfrm>
          <a:prstGeom prst="roundRect">
            <a:avLst>
              <a:gd name="adj" fmla="val 1028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068312" y="30815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068312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6035040" y="3593592"/>
            <a:ext cx="25146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 peut regarder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126480" y="3959352"/>
            <a:ext cx="233172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autres équipes pour s'inspirer.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Défi 0 · Échauffement : les quatre 4</a:t>
            </a:r>
            <a:endParaRPr lang="en-US" sz="3000" dirty="0"/>
          </a:p>
        </p:txBody>
      </p:sp>
      <p:sp>
        <p:nvSpPr>
          <p:cNvPr id="3" name="défi"/>
          <p:cNvSpPr/>
          <p:nvPr/>
        </p:nvSpPr>
        <p:spPr>
          <a:xfrm>
            <a:off x="640080" y="1188720"/>
            <a:ext cx="5852160" cy="3429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5852160" cy="3429000"/>
          </a:xfrm>
          <a:prstGeom prst="roundRect">
            <a:avLst>
              <a:gd name="adj" fmla="val 4800"/>
            </a:avLst>
          </a:prstGeom>
          <a:ln w="508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325880"/>
            <a:ext cx="539496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</a:t>
            </a:r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fois le chiffre 4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les signes + − × ÷ (et des parenthèses), fabriquez le plus de nombres possible entre 0 et 10.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97480"/>
            <a:ext cx="5394960" cy="1737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4 + 4 − 4 − 4 = 0. Combien de nombres trouverez-vous ? Y a-t-il plusieurs façons d'en obtenir un 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812280" y="128016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68312" y="1280160"/>
            <a:ext cx="182880" cy="182880"/>
          </a:xfrm>
          <a:prstGeom prst="ellipse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24344" y="1280160"/>
            <a:ext cx="182880" cy="182880"/>
          </a:xfrm>
          <a:prstGeom prst="ellipse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0376" y="1280160"/>
            <a:ext cx="182880" cy="182880"/>
          </a:xfrm>
          <a:prstGeom prst="ellipse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36408" y="1280160"/>
            <a:ext cx="182880" cy="182880"/>
          </a:xfrm>
          <a:prstGeom prst="ellipse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92440" y="1280160"/>
            <a:ext cx="182880" cy="182880"/>
          </a:xfrm>
          <a:prstGeom prst="ellipse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48472" y="1280160"/>
            <a:ext cx="182880" cy="182880"/>
          </a:xfrm>
          <a:prstGeom prst="ellipse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pic>
        <p:nvPicPr>
          <p:cNvPr id="14" name="renard" descr="Ren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2834640"/>
            <a:ext cx="1600200" cy="152819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Défi 1 · Le café</a:t>
            </a:r>
            <a:endParaRPr lang="en-US" sz="3000" dirty="0"/>
          </a:p>
        </p:txBody>
      </p:sp>
      <p:sp>
        <p:nvSpPr>
          <p:cNvPr id="3" name="défi"/>
          <p:cNvSpPr/>
          <p:nvPr/>
        </p:nvSpPr>
        <p:spPr>
          <a:xfrm>
            <a:off x="640080" y="1188720"/>
            <a:ext cx="5852160" cy="3429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5852160" cy="3429000"/>
          </a:xfrm>
          <a:prstGeom prst="roundRect">
            <a:avLst>
              <a:gd name="adj" fmla="val 4800"/>
            </a:avLst>
          </a:prstGeom>
          <a:ln w="508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325880"/>
            <a:ext cx="539496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café du coin :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2011680"/>
          <a:ext cx="3657600" cy="914400"/>
        </p:xfrm>
        <a:graphic>
          <a:graphicData uri="http://schemas.openxmlformats.org/drawingml/2006/table">
            <a:tbl>
              <a:tblPr/>
              <a:tblGrid>
                <a:gridCol w="2267712"/>
                <a:gridCol w="1389888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Café</a:t>
                      </a:r>
                      <a:endParaRPr lang="en-US" sz="2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2,85 $</a:t>
                      </a:r>
                      <a:endParaRPr lang="en-US" sz="2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Muffin</a:t>
                      </a:r>
                      <a:endParaRPr lang="en-US" sz="2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3,10 $</a:t>
                      </a:r>
                      <a:endParaRPr lang="en-US" sz="2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463040" y="1965960"/>
            <a:ext cx="36576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1463040" y="2788920"/>
            <a:ext cx="36576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868680" y="2926080"/>
            <a:ext cx="539496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 combien pour les deux ?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812280" y="128016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068312" y="128016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24344" y="1280160"/>
            <a:ext cx="182880" cy="182880"/>
          </a:xfrm>
          <a:prstGeom prst="ellipse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580376" y="1280160"/>
            <a:ext cx="182880" cy="182880"/>
          </a:xfrm>
          <a:prstGeom prst="ellipse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836408" y="1280160"/>
            <a:ext cx="182880" cy="182880"/>
          </a:xfrm>
          <a:prstGeom prst="ellipse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092440" y="1280160"/>
            <a:ext cx="182880" cy="182880"/>
          </a:xfrm>
          <a:prstGeom prst="ellipse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48472" y="1280160"/>
            <a:ext cx="182880" cy="182880"/>
          </a:xfrm>
          <a:prstGeom prst="ellipse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pic>
        <p:nvPicPr>
          <p:cNvPr id="17" name="renard" descr="Ren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2834640"/>
            <a:ext cx="1600200" cy="152819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Défi 2 · Au dépanneur</a:t>
            </a:r>
            <a:endParaRPr lang="en-US" sz="3000" dirty="0"/>
          </a:p>
        </p:txBody>
      </p:sp>
      <p:sp>
        <p:nvSpPr>
          <p:cNvPr id="3" name="défi"/>
          <p:cNvSpPr/>
          <p:nvPr/>
        </p:nvSpPr>
        <p:spPr>
          <a:xfrm>
            <a:off x="640080" y="1188720"/>
            <a:ext cx="5852160" cy="3429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5852160" cy="3429000"/>
          </a:xfrm>
          <a:prstGeom prst="roundRect">
            <a:avLst>
              <a:gd name="adj" fmla="val 4800"/>
            </a:avLst>
          </a:prstGeom>
          <a:ln w="508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325880"/>
            <a:ext cx="539496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dépanneur :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2011680"/>
          <a:ext cx="3657600" cy="914400"/>
        </p:xfrm>
        <a:graphic>
          <a:graphicData uri="http://schemas.openxmlformats.org/drawingml/2006/table">
            <a:tbl>
              <a:tblPr/>
              <a:tblGrid>
                <a:gridCol w="2267712"/>
                <a:gridCol w="1389888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Lait</a:t>
                      </a:r>
                      <a:endParaRPr lang="en-US" sz="2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4,79 $</a:t>
                      </a:r>
                      <a:endParaRPr lang="en-US" sz="2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Bananes</a:t>
                      </a:r>
                      <a:endParaRPr lang="en-US" sz="2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2,15 $</a:t>
                      </a:r>
                      <a:endParaRPr lang="en-US" sz="2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Fromage</a:t>
                      </a:r>
                      <a:endParaRPr lang="en-US" sz="2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6,99 $</a:t>
                      </a:r>
                      <a:endParaRPr lang="en-US" sz="2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Gomme</a:t>
                      </a:r>
                      <a:endParaRPr lang="en-US" sz="2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1,05 $</a:t>
                      </a:r>
                      <a:endParaRPr lang="en-US" sz="2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463040" y="1965960"/>
            <a:ext cx="36576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1463040" y="3520440"/>
            <a:ext cx="36576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868680" y="3657600"/>
            <a:ext cx="539496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 combien en tout ?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812280" y="128016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068312" y="128016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24344" y="128016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580376" y="1280160"/>
            <a:ext cx="182880" cy="182880"/>
          </a:xfrm>
          <a:prstGeom prst="ellipse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836408" y="1280160"/>
            <a:ext cx="182880" cy="182880"/>
          </a:xfrm>
          <a:prstGeom prst="ellipse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092440" y="1280160"/>
            <a:ext cx="182880" cy="182880"/>
          </a:xfrm>
          <a:prstGeom prst="ellipse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48472" y="1280160"/>
            <a:ext cx="182880" cy="182880"/>
          </a:xfrm>
          <a:prstGeom prst="ellipse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pic>
        <p:nvPicPr>
          <p:cNvPr id="17" name="renard" descr="Ren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2834640"/>
            <a:ext cx="1600200" cy="152819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Défi 3 · Assez ou pas assez ?</a:t>
            </a:r>
            <a:endParaRPr lang="en-US" sz="3000" dirty="0"/>
          </a:p>
        </p:txBody>
      </p:sp>
      <p:sp>
        <p:nvSpPr>
          <p:cNvPr id="3" name="défi"/>
          <p:cNvSpPr/>
          <p:nvPr/>
        </p:nvSpPr>
        <p:spPr>
          <a:xfrm>
            <a:off x="640080" y="1188720"/>
            <a:ext cx="5852160" cy="3429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5852160" cy="3429000"/>
          </a:xfrm>
          <a:prstGeom prst="roundRect">
            <a:avLst>
              <a:gd name="adj" fmla="val 4800"/>
            </a:avLst>
          </a:prstGeom>
          <a:ln w="50800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325880"/>
            <a:ext cx="539496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J'ai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20 $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dans mon portefeuille.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2011680"/>
          <a:ext cx="3657600" cy="914400"/>
        </p:xfrm>
        <a:graphic>
          <a:graphicData uri="http://schemas.openxmlformats.org/drawingml/2006/table">
            <a:tbl>
              <a:tblPr/>
              <a:tblGrid>
                <a:gridCol w="2267712"/>
                <a:gridCol w="1389888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Pain</a:t>
                      </a:r>
                      <a:endParaRPr lang="en-US" sz="2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3,49 $</a:t>
                      </a:r>
                      <a:endParaRPr lang="en-US" sz="2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Lait</a:t>
                      </a:r>
                      <a:endParaRPr lang="en-US" sz="2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4,99 $</a:t>
                      </a:r>
                      <a:endParaRPr lang="en-US" sz="2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Fromage</a:t>
                      </a:r>
                      <a:endParaRPr lang="en-US" sz="2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7,89 $</a:t>
                      </a:r>
                      <a:endParaRPr lang="en-US" sz="2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Fruits</a:t>
                      </a:r>
                      <a:endParaRPr lang="en-US" sz="2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5,25 $</a:t>
                      </a:r>
                      <a:endParaRPr lang="en-US" sz="2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463040" y="1965960"/>
            <a:ext cx="36576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1463040" y="3520440"/>
            <a:ext cx="36576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868680" y="3657600"/>
            <a:ext cx="539496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Est-ce que j'ai assez d'argent ?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812280" y="128016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068312" y="128016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24344" y="128016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580376" y="128016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836408" y="1280160"/>
            <a:ext cx="182880" cy="182880"/>
          </a:xfrm>
          <a:prstGeom prst="ellipse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092440" y="1280160"/>
            <a:ext cx="182880" cy="182880"/>
          </a:xfrm>
          <a:prstGeom prst="ellipse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48472" y="1280160"/>
            <a:ext cx="182880" cy="182880"/>
          </a:xfrm>
          <a:prstGeom prst="ellipse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pic>
        <p:nvPicPr>
          <p:cNvPr id="17" name="renard" descr="Ren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2834640"/>
            <a:ext cx="1600200" cy="152819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Défi 4 · Le piège des taxes</a:t>
            </a:r>
            <a:endParaRPr lang="en-US" sz="3000" dirty="0"/>
          </a:p>
        </p:txBody>
      </p:sp>
      <p:sp>
        <p:nvSpPr>
          <p:cNvPr id="3" name="défi"/>
          <p:cNvSpPr/>
          <p:nvPr/>
        </p:nvSpPr>
        <p:spPr>
          <a:xfrm>
            <a:off x="640080" y="1188720"/>
            <a:ext cx="5852160" cy="3429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5852160" cy="3429000"/>
          </a:xfrm>
          <a:prstGeom prst="roundRect">
            <a:avLst>
              <a:gd name="adj" fmla="val 4800"/>
            </a:avLst>
          </a:prstGeom>
          <a:ln w="508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325880"/>
            <a:ext cx="539496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J'ai un billet de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20 $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À la caisse, il y a des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taxes en plus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2011680"/>
          <a:ext cx="3657600" cy="914400"/>
        </p:xfrm>
        <a:graphic>
          <a:graphicData uri="http://schemas.openxmlformats.org/drawingml/2006/table">
            <a:tbl>
              <a:tblPr/>
              <a:tblGrid>
                <a:gridCol w="2267712"/>
                <a:gridCol w="1389888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Shampoing</a:t>
                      </a:r>
                      <a:endParaRPr lang="en-US" sz="2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6,49 $</a:t>
                      </a:r>
                      <a:endParaRPr lang="en-US" sz="2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Dentifrice</a:t>
                      </a:r>
                      <a:endParaRPr lang="en-US" sz="2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3,79 $</a:t>
                      </a:r>
                      <a:endParaRPr lang="en-US" sz="2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Savon</a:t>
                      </a:r>
                      <a:endParaRPr lang="en-US" sz="2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2,29 $</a:t>
                      </a:r>
                      <a:endParaRPr lang="en-US" sz="2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463040" y="1965960"/>
            <a:ext cx="36576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1463040" y="3154680"/>
            <a:ext cx="36576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868680" y="3291840"/>
            <a:ext cx="539496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Est-ce assez ?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812280" y="128016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068312" y="128016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24344" y="128016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580376" y="128016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836408" y="128016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092440" y="1280160"/>
            <a:ext cx="182880" cy="182880"/>
          </a:xfrm>
          <a:prstGeom prst="ellipse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48472" y="1280160"/>
            <a:ext cx="182880" cy="182880"/>
          </a:xfrm>
          <a:prstGeom prst="ellipse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pic>
        <p:nvPicPr>
          <p:cNvPr id="17" name="renard" descr="Ren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2834640"/>
            <a:ext cx="1600200" cy="152819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Défi 5 · La liste de Maya</a:t>
            </a:r>
            <a:endParaRPr lang="en-US" sz="3000" dirty="0"/>
          </a:p>
        </p:txBody>
      </p:sp>
      <p:sp>
        <p:nvSpPr>
          <p:cNvPr id="3" name="défi"/>
          <p:cNvSpPr/>
          <p:nvPr/>
        </p:nvSpPr>
        <p:spPr>
          <a:xfrm>
            <a:off x="640080" y="1188720"/>
            <a:ext cx="5852160" cy="3429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5852160" cy="3429000"/>
          </a:xfrm>
          <a:prstGeom prst="roundRect">
            <a:avLst>
              <a:gd name="adj" fmla="val 4800"/>
            </a:avLst>
          </a:prstGeom>
          <a:ln w="508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325880"/>
            <a:ext cx="539496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 a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50 $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 son épicerie de la semaine.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2011680"/>
          <a:ext cx="3657600" cy="914400"/>
        </p:xfrm>
        <a:graphic>
          <a:graphicData uri="http://schemas.openxmlformats.org/drawingml/2006/table">
            <a:tbl>
              <a:tblPr/>
              <a:tblGrid>
                <a:gridCol w="2267712"/>
                <a:gridCol w="1389888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Poulet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12,49 $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Légumes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8,75 $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Pâtes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2,99 $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Sauce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3,49 $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Céréales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5,99 $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Lait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4,99 $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Croustilles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4,49 $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Gâteau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7,99 $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Boisson énergisante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3,29 $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463040" y="1965960"/>
            <a:ext cx="36576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1463040" y="4032504"/>
            <a:ext cx="36576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868680" y="4169664"/>
            <a:ext cx="539496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Est-ce assez ? Sinon, que devrait-elle enlever ?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812280" y="128016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068312" y="128016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24344" y="128016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580376" y="128016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836408" y="128016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092440" y="128016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48472" y="1280160"/>
            <a:ext cx="182880" cy="182880"/>
          </a:xfrm>
          <a:prstGeom prst="ellipse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pic>
        <p:nvPicPr>
          <p:cNvPr id="17" name="renard" descr="Ren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2834640"/>
            <a:ext cx="1600200" cy="152819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Défi 6 · Le défi du renard</a:t>
            </a:r>
            <a:endParaRPr lang="en-US" sz="3000" dirty="0"/>
          </a:p>
        </p:txBody>
      </p:sp>
      <p:sp>
        <p:nvSpPr>
          <p:cNvPr id="3" name="défi"/>
          <p:cNvSpPr/>
          <p:nvPr/>
        </p:nvSpPr>
        <p:spPr>
          <a:xfrm>
            <a:off x="640080" y="1188720"/>
            <a:ext cx="5852160" cy="3429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5852160" cy="3429000"/>
          </a:xfrm>
          <a:prstGeom prst="roundRect">
            <a:avLst>
              <a:gd name="adj" fmla="val 4800"/>
            </a:avLst>
          </a:prstGeom>
          <a:ln w="508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325880"/>
            <a:ext cx="539496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 achète </a:t>
            </a:r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articles à 1,95 $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chacun.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97480"/>
            <a:ext cx="5394960" cy="1737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 combien ? Trouvez </a:t>
            </a:r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façons différentes</a:t>
            </a:r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l'estimer.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812280" y="128016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68312" y="128016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24344" y="128016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0376" y="128016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36408" y="128016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92440" y="128016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48472" y="128016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renard" descr="Ren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2834640"/>
            <a:ext cx="1600200" cy="152819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Arrondir au dollar le plus proche</a:t>
            </a:r>
            <a:endParaRPr lang="en-US" sz="3000" dirty="0"/>
          </a:p>
        </p:txBody>
      </p:sp>
      <p:pic>
        <p:nvPicPr>
          <p:cNvPr id="3" name="Image 0" descr="Droite numérique de 2 $ à 3 $ graduée aux 10 cents, avec le repère de mi-chemin à 2,50 $. Le point 2,85 $ est dans la zone plus proche de 3 $ : il manque seulement 0,15 $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7863840" cy="344043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Regrouper : des paquets de 10 $</a:t>
            </a:r>
            <a:endParaRPr lang="en-US" sz="3000" dirty="0"/>
          </a:p>
        </p:txBody>
      </p:sp>
      <p:pic>
        <p:nvPicPr>
          <p:cNvPr id="3" name="Image 0" descr="Défi 2 : 4,79 $, 2,15 $, 6,99 $ et 1,05 $ deviennent 5, 2, 7 et 1. On regroupe 7 + 2 + 1 pour faire un paquet de 10 $, plus 5 : environ 15 $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7863840" cy="314553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Comparer : est-ce que j'ai assez ?</a:t>
            </a:r>
            <a:endParaRPr lang="en-US" sz="3000" dirty="0"/>
          </a:p>
        </p:txBody>
      </p:sp>
      <p:pic>
        <p:nvPicPr>
          <p:cNvPr id="3" name="Image 0" descr="Barre de 20 $ pour mon argent, barre d'environ 23 $ pour mon estimation : il manque environ 3 $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7863840" cy="2555748"/>
          </a:xfrm>
          <a:prstGeom prst="rect">
            <a:avLst/>
          </a:prstGeom>
        </p:spPr>
      </p:pic>
      <p:sp>
        <p:nvSpPr>
          <p:cNvPr id="4" name="prudence"/>
          <p:cNvSpPr/>
          <p:nvPr/>
        </p:nvSpPr>
        <p:spPr>
          <a:xfrm>
            <a:off x="640080" y="3886200"/>
            <a:ext cx="7863840" cy="777240"/>
          </a:xfrm>
          <a:prstGeom prst="roundRect">
            <a:avLst>
              <a:gd name="adj" fmla="val 2117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22960" y="3886200"/>
            <a:ext cx="749808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Prudent·e 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je veux savoir si j'ai assez, j'arrondis vers le HAUT. Si ça rentre, je suis tranquille.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Le piège des taxes</a:t>
            </a:r>
            <a:endParaRPr lang="en-US" sz="3000" dirty="0"/>
          </a:p>
        </p:txBody>
      </p:sp>
      <p:pic>
        <p:nvPicPr>
          <p:cNvPr id="3" name="Image 0" descr="Reçu : shampoing 6,49 $, dentifrice 3,79 $, savon 2,29 $. Sous-total 12,57 $, TPS 0,63 $, TVQ 1,25 $, total 14,45 $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3566160" cy="2638958"/>
          </a:xfrm>
          <a:prstGeom prst="rect">
            <a:avLst/>
          </a:prstGeom>
        </p:spPr>
      </p:pic>
      <p:sp>
        <p:nvSpPr>
          <p:cNvPr id="4" name="carte"/>
          <p:cNvSpPr/>
          <p:nvPr/>
        </p:nvSpPr>
        <p:spPr>
          <a:xfrm>
            <a:off x="4526280" y="1188720"/>
            <a:ext cx="3977640" cy="1463040"/>
          </a:xfrm>
          <a:prstGeom prst="roundRect">
            <a:avLst>
              <a:gd name="adj" fmla="val 1125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4663440" y="1234440"/>
            <a:ext cx="370332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TPS + TVQ ≈ 15 %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 1,50 $ pour chaque 10 $</a:t>
            </a:r>
            <a:endParaRPr lang="en-US" sz="2200" dirty="0"/>
          </a:p>
        </p:txBody>
      </p:sp>
      <p:sp>
        <p:nvSpPr>
          <p:cNvPr id="6" name="carte"/>
          <p:cNvSpPr/>
          <p:nvPr/>
        </p:nvSpPr>
        <p:spPr>
          <a:xfrm>
            <a:off x="4526280" y="2834640"/>
            <a:ext cx="3977640" cy="1188720"/>
          </a:xfrm>
          <a:prstGeom prst="roundRect">
            <a:avLst>
              <a:gd name="adj" fmla="val 1384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4663440" y="2880360"/>
            <a:ext cx="370332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Beaucoup d'aliments de base ne sont pas taxés. Le shampoing, le savon et les croustilles, oui.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Le truc du renard</a:t>
            </a:r>
            <a:endParaRPr lang="en-US" sz="3000" dirty="0"/>
          </a:p>
        </p:txBody>
      </p:sp>
      <p:sp>
        <p:nvSpPr>
          <p:cNvPr id="3" name="carte"/>
          <p:cNvSpPr/>
          <p:nvPr/>
        </p:nvSpPr>
        <p:spPr>
          <a:xfrm>
            <a:off x="640080" y="1188720"/>
            <a:ext cx="2148840" cy="1828800"/>
          </a:xfrm>
          <a:prstGeom prst="roundRect">
            <a:avLst>
              <a:gd name="adj" fmla="val 9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81328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81328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21488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J'ARRONDIS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94560"/>
            <a:ext cx="196596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dollar le plus proche</a:t>
            </a:r>
            <a:endParaRPr lang="en-US" sz="1300" dirty="0"/>
          </a:p>
        </p:txBody>
      </p:sp>
      <p:sp>
        <p:nvSpPr>
          <p:cNvPr id="8" name="carte"/>
          <p:cNvSpPr/>
          <p:nvPr/>
        </p:nvSpPr>
        <p:spPr>
          <a:xfrm>
            <a:off x="2971800" y="1188720"/>
            <a:ext cx="2148840" cy="1828800"/>
          </a:xfrm>
          <a:prstGeom prst="roundRect">
            <a:avLst>
              <a:gd name="adj" fmla="val 9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13048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13048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2971800" y="1783080"/>
            <a:ext cx="21488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 REGROUPE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2194560"/>
            <a:ext cx="196596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paquets de 10 $</a:t>
            </a:r>
            <a:endParaRPr lang="en-US" sz="1300" dirty="0"/>
          </a:p>
        </p:txBody>
      </p:sp>
      <p:sp>
        <p:nvSpPr>
          <p:cNvPr id="13" name="carte"/>
          <p:cNvSpPr/>
          <p:nvPr/>
        </p:nvSpPr>
        <p:spPr>
          <a:xfrm>
            <a:off x="5303520" y="1188720"/>
            <a:ext cx="2148840" cy="1828800"/>
          </a:xfrm>
          <a:prstGeom prst="roundRect">
            <a:avLst>
              <a:gd name="adj" fmla="val 9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44768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44768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303520" y="1783080"/>
            <a:ext cx="21488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 COMPARE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394960" y="2194560"/>
            <a:ext cx="196596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mon argent (vers le haut si je veux être prudent·e)</a:t>
            </a:r>
            <a:endParaRPr lang="en-US" sz="1300" dirty="0"/>
          </a:p>
        </p:txBody>
      </p:sp>
      <p:pic>
        <p:nvPicPr>
          <p:cNvPr id="18" name="renard" descr="Ren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463040"/>
            <a:ext cx="1143000" cy="1091565"/>
          </a:xfrm>
          <a:prstGeom prst="rect">
            <a:avLst/>
          </a:prstGeom>
        </p:spPr>
      </p:pic>
      <p:sp>
        <p:nvSpPr>
          <p:cNvPr id="19" name="notes"/>
          <p:cNvSpPr/>
          <p:nvPr/>
        </p:nvSpPr>
        <p:spPr>
          <a:xfrm>
            <a:off x="640080" y="3246120"/>
            <a:ext cx="786384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40080" y="3246120"/>
            <a:ext cx="7863840" cy="1371600"/>
          </a:xfrm>
          <a:prstGeom prst="roundRect">
            <a:avLst>
              <a:gd name="adj" fmla="val 12000"/>
            </a:avLst>
          </a:prstGeom>
          <a:ln w="254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2960" y="3291840"/>
            <a:ext cx="749808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Notes pour mon moi du futur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idées : un exemple que j'ai réussi · le truc dans mes mots · une erreur à éviter · un dessin pour m'en souvenir.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Les ateliers</a:t>
            </a:r>
            <a:endParaRPr lang="en-US" sz="3000" dirty="0"/>
          </a:p>
        </p:txBody>
      </p:sp>
      <p:sp>
        <p:nvSpPr>
          <p:cNvPr id="3" name="carte"/>
          <p:cNvSpPr/>
          <p:nvPr/>
        </p:nvSpPr>
        <p:spPr>
          <a:xfrm>
            <a:off x="640080" y="1188720"/>
            <a:ext cx="2514600" cy="2834640"/>
          </a:xfrm>
          <a:prstGeom prst="roundRect">
            <a:avLst>
              <a:gd name="adj" fmla="val 654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600200" y="13258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00200" y="1325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221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25146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· Ordinateur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224028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« Estime-moi ça ! »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haut-parleur lit les questions.</a:t>
            </a:r>
            <a:endParaRPr lang="en-US" sz="1400" dirty="0"/>
          </a:p>
        </p:txBody>
      </p:sp>
      <p:sp>
        <p:nvSpPr>
          <p:cNvPr id="8" name="carte"/>
          <p:cNvSpPr/>
          <p:nvPr/>
        </p:nvSpPr>
        <p:spPr>
          <a:xfrm>
            <a:off x="3337560" y="1188720"/>
            <a:ext cx="2514600" cy="2834640"/>
          </a:xfrm>
          <a:prstGeom prst="roundRect">
            <a:avLst>
              <a:gd name="adj" fmla="val 654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97680" y="13258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97680" y="1325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221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2011680"/>
            <a:ext cx="25146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 · Le juste prix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606040"/>
            <a:ext cx="224028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Vrais produits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J'estime le panier, puis je soulève les rabats.</a:t>
            </a:r>
            <a:endParaRPr lang="en-US" sz="1400" dirty="0"/>
          </a:p>
        </p:txBody>
      </p:sp>
      <p:sp>
        <p:nvSpPr>
          <p:cNvPr id="13" name="carte"/>
          <p:cNvSpPr/>
          <p:nvPr/>
        </p:nvSpPr>
        <p:spPr>
          <a:xfrm>
            <a:off x="6035040" y="1188720"/>
            <a:ext cx="2514600" cy="2834640"/>
          </a:xfrm>
          <a:prstGeom prst="roundRect">
            <a:avLst>
              <a:gd name="adj" fmla="val 654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995160" y="13258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95160" y="1325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</a:t>
            </a:r>
            <a:endParaRPr lang="en-US" sz="221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2011680"/>
            <a:ext cx="25146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 · Assez ou pas assez ?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2606040"/>
            <a:ext cx="224028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cartes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Pouce en haut ou en bas, puis on vérifie.</a:t>
            </a:r>
            <a:endParaRPr lang="en-US" sz="1400" dirty="0"/>
          </a:p>
        </p:txBody>
      </p:sp>
      <p:sp>
        <p:nvSpPr>
          <p:cNvPr id="18" name="bulle"/>
          <p:cNvSpPr/>
          <p:nvPr/>
        </p:nvSpPr>
        <p:spPr>
          <a:xfrm>
            <a:off x="640080" y="4206240"/>
            <a:ext cx="781812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4206240"/>
            <a:ext cx="7818120" cy="548640"/>
          </a:xfrm>
          <a:prstGeom prst="roundRect">
            <a:avLst>
              <a:gd name="adj" fmla="val 30000"/>
            </a:avLst>
          </a:prstGeom>
          <a:ln w="254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4251960"/>
            <a:ext cx="76352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mon cahier (p. 3), je colorie le cercle qui me décrit : vert, jaune ou rouge.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Besoin ou désir ?</a:t>
            </a:r>
            <a:endParaRPr lang="en-US" sz="3000" dirty="0"/>
          </a:p>
        </p:txBody>
      </p:sp>
      <p:sp>
        <p:nvSpPr>
          <p:cNvPr id="3" name="besoin"/>
          <p:cNvSpPr/>
          <p:nvPr/>
        </p:nvSpPr>
        <p:spPr>
          <a:xfrm>
            <a:off x="640080" y="1188720"/>
            <a:ext cx="3749040" cy="2377440"/>
          </a:xfrm>
          <a:prstGeom prst="roundRect">
            <a:avLst>
              <a:gd name="adj" fmla="val 6923"/>
            </a:avLst>
          </a:prstGeom>
          <a:solidFill>
            <a:srgbClr val="D7EEDD"/>
          </a:solidFill>
          <a:ln w="12700">
            <a:solidFill>
              <a:srgbClr val="D7EEDD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4" name="désir"/>
          <p:cNvSpPr/>
          <p:nvPr/>
        </p:nvSpPr>
        <p:spPr>
          <a:xfrm>
            <a:off x="4663440" y="1188720"/>
            <a:ext cx="3749040" cy="2377440"/>
          </a:xfrm>
          <a:prstGeom prst="roundRect">
            <a:avLst>
              <a:gd name="adj" fmla="val 692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325880"/>
            <a:ext cx="3383280" cy="2103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BESOIN</a:t>
            </a:r>
            <a:endParaRPr lang="en-US" sz="28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J'en ai besoin pour vivre, être en santé ou en sécurité. C'est prioritaire.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325880"/>
            <a:ext cx="3383280" cy="2103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DÉSIR</a:t>
            </a:r>
            <a:endParaRPr lang="en-US" sz="28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agréable, mais je peux vivre sans. Il peut attendre.</a:t>
            </a:r>
            <a:endParaRPr lang="en-US" sz="2800" dirty="0"/>
          </a:p>
        </p:txBody>
      </p:sp>
      <p:sp>
        <p:nvSpPr>
          <p:cNvPr id="7" name="bulle"/>
          <p:cNvSpPr/>
          <p:nvPr/>
        </p:nvSpPr>
        <p:spPr>
          <a:xfrm>
            <a:off x="640080" y="3794760"/>
            <a:ext cx="7772400" cy="8229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3794760"/>
            <a:ext cx="7772400" cy="822960"/>
          </a:xfrm>
          <a:prstGeom prst="roundRect">
            <a:avLst>
              <a:gd name="adj" fmla="val 20000"/>
            </a:avLst>
          </a:prstGeom>
          <a:ln w="254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840480"/>
            <a:ext cx="758952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lève mon carton : VERT = besoin, ROSE = désir. Si je ne suis pas sûr·e, je lève les deux.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On vote (1)</a:t>
            </a:r>
            <a:endParaRPr lang="en-US" sz="3000" dirty="0"/>
          </a:p>
        </p:txBody>
      </p:sp>
      <p:sp>
        <p:nvSpPr>
          <p:cNvPr id="3" name="carte"/>
          <p:cNvSpPr/>
          <p:nvPr/>
        </p:nvSpPr>
        <p:spPr>
          <a:xfrm>
            <a:off x="640080" y="1188720"/>
            <a:ext cx="2514600" cy="1600200"/>
          </a:xfrm>
          <a:prstGeom prst="roundRect">
            <a:avLst>
              <a:gd name="adj" fmla="val 10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2514600" cy="1600200"/>
          </a:xfrm>
          <a:prstGeom prst="roundRect">
            <a:avLst>
              <a:gd name="adj" fmla="val 10286"/>
            </a:avLst>
          </a:prstGeom>
          <a:ln w="254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188720"/>
            <a:ext cx="2331720" cy="1600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 pain</a:t>
            </a:r>
            <a:endParaRPr lang="en-US" sz="2000" dirty="0"/>
          </a:p>
        </p:txBody>
      </p:sp>
      <p:sp>
        <p:nvSpPr>
          <p:cNvPr id="6" name="carte"/>
          <p:cNvSpPr/>
          <p:nvPr/>
        </p:nvSpPr>
        <p:spPr>
          <a:xfrm>
            <a:off x="3337560" y="1188720"/>
            <a:ext cx="2514600" cy="1600200"/>
          </a:xfrm>
          <a:prstGeom prst="roundRect">
            <a:avLst>
              <a:gd name="adj" fmla="val 10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337560" y="1188720"/>
            <a:ext cx="2514600" cy="1600200"/>
          </a:xfrm>
          <a:prstGeom prst="roundRect">
            <a:avLst>
              <a:gd name="adj" fmla="val 10286"/>
            </a:avLst>
          </a:prstGeom>
          <a:ln w="254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188720"/>
            <a:ext cx="2331720" cy="1600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 médicaments</a:t>
            </a:r>
            <a:endParaRPr lang="en-US" sz="2000" dirty="0"/>
          </a:p>
        </p:txBody>
      </p:sp>
      <p:sp>
        <p:nvSpPr>
          <p:cNvPr id="9" name="carte"/>
          <p:cNvSpPr/>
          <p:nvPr/>
        </p:nvSpPr>
        <p:spPr>
          <a:xfrm>
            <a:off x="6035040" y="1188720"/>
            <a:ext cx="2514600" cy="1600200"/>
          </a:xfrm>
          <a:prstGeom prst="roundRect">
            <a:avLst>
              <a:gd name="adj" fmla="val 10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35040" y="1188720"/>
            <a:ext cx="2514600" cy="1600200"/>
          </a:xfrm>
          <a:prstGeom prst="roundRect">
            <a:avLst>
              <a:gd name="adj" fmla="val 10286"/>
            </a:avLst>
          </a:prstGeom>
          <a:ln w="254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1188720"/>
            <a:ext cx="2331720" cy="1600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 loyer</a:t>
            </a:r>
            <a:endParaRPr lang="en-US" sz="2000" dirty="0"/>
          </a:p>
        </p:txBody>
      </p:sp>
      <p:sp>
        <p:nvSpPr>
          <p:cNvPr id="12" name="carte"/>
          <p:cNvSpPr/>
          <p:nvPr/>
        </p:nvSpPr>
        <p:spPr>
          <a:xfrm>
            <a:off x="640080" y="2971800"/>
            <a:ext cx="2514600" cy="1600200"/>
          </a:xfrm>
          <a:prstGeom prst="roundRect">
            <a:avLst>
              <a:gd name="adj" fmla="val 10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971800"/>
            <a:ext cx="2514600" cy="1600200"/>
          </a:xfrm>
          <a:prstGeom prst="roundRect">
            <a:avLst>
              <a:gd name="adj" fmla="val 10286"/>
            </a:avLst>
          </a:prstGeom>
          <a:ln w="254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2971800"/>
            <a:ext cx="2331720" cy="1600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 savon</a:t>
            </a:r>
            <a:endParaRPr lang="en-US" sz="2000" dirty="0"/>
          </a:p>
        </p:txBody>
      </p:sp>
      <p:sp>
        <p:nvSpPr>
          <p:cNvPr id="15" name="carte"/>
          <p:cNvSpPr/>
          <p:nvPr/>
        </p:nvSpPr>
        <p:spPr>
          <a:xfrm>
            <a:off x="3337560" y="2971800"/>
            <a:ext cx="2514600" cy="1600200"/>
          </a:xfrm>
          <a:prstGeom prst="roundRect">
            <a:avLst>
              <a:gd name="adj" fmla="val 10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37560" y="2971800"/>
            <a:ext cx="2514600" cy="1600200"/>
          </a:xfrm>
          <a:prstGeom prst="roundRect">
            <a:avLst>
              <a:gd name="adj" fmla="val 10286"/>
            </a:avLst>
          </a:prstGeom>
          <a:ln w="254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29000" y="2971800"/>
            <a:ext cx="2331720" cy="1600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 passe d'autobus</a:t>
            </a:r>
            <a:endParaRPr lang="en-US" sz="2000" dirty="0"/>
          </a:p>
        </p:txBody>
      </p:sp>
      <p:sp>
        <p:nvSpPr>
          <p:cNvPr id="18" name="carte"/>
          <p:cNvSpPr/>
          <p:nvPr/>
        </p:nvSpPr>
        <p:spPr>
          <a:xfrm>
            <a:off x="6035040" y="2971800"/>
            <a:ext cx="2514600" cy="1600200"/>
          </a:xfrm>
          <a:prstGeom prst="roundRect">
            <a:avLst>
              <a:gd name="adj" fmla="val 10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2971800"/>
            <a:ext cx="2514600" cy="1600200"/>
          </a:xfrm>
          <a:prstGeom prst="roundRect">
            <a:avLst>
              <a:gd name="adj" fmla="val 10286"/>
            </a:avLst>
          </a:prstGeom>
          <a:ln w="25400">
            <a:solidFill>
              <a:schemeClr val="accent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0" y="2971800"/>
            <a:ext cx="2331720" cy="1600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manteau d'hiver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On vote (2)</a:t>
            </a:r>
            <a:endParaRPr lang="en-US" sz="3000" dirty="0"/>
          </a:p>
        </p:txBody>
      </p:sp>
      <p:sp>
        <p:nvSpPr>
          <p:cNvPr id="3" name="carte"/>
          <p:cNvSpPr/>
          <p:nvPr/>
        </p:nvSpPr>
        <p:spPr>
          <a:xfrm>
            <a:off x="640080" y="1188720"/>
            <a:ext cx="2514600" cy="1600200"/>
          </a:xfrm>
          <a:prstGeom prst="roundRect">
            <a:avLst>
              <a:gd name="adj" fmla="val 10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2514600" cy="1600200"/>
          </a:xfrm>
          <a:prstGeom prst="roundRect">
            <a:avLst>
              <a:gd name="adj" fmla="val 10286"/>
            </a:avLst>
          </a:prstGeom>
          <a:ln w="254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188720"/>
            <a:ext cx="2331720" cy="1600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nouveau jeu vidéo</a:t>
            </a:r>
            <a:endParaRPr lang="en-US" sz="2000" dirty="0"/>
          </a:p>
        </p:txBody>
      </p:sp>
      <p:sp>
        <p:nvSpPr>
          <p:cNvPr id="6" name="carte"/>
          <p:cNvSpPr/>
          <p:nvPr/>
        </p:nvSpPr>
        <p:spPr>
          <a:xfrm>
            <a:off x="3337560" y="1188720"/>
            <a:ext cx="2514600" cy="1600200"/>
          </a:xfrm>
          <a:prstGeom prst="roundRect">
            <a:avLst>
              <a:gd name="adj" fmla="val 10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337560" y="1188720"/>
            <a:ext cx="2514600" cy="1600200"/>
          </a:xfrm>
          <a:prstGeom prst="roundRect">
            <a:avLst>
              <a:gd name="adj" fmla="val 10286"/>
            </a:avLst>
          </a:prstGeom>
          <a:ln w="254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188720"/>
            <a:ext cx="2331720" cy="1600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Une boisson énergisante</a:t>
            </a:r>
            <a:endParaRPr lang="en-US" sz="2000" dirty="0"/>
          </a:p>
        </p:txBody>
      </p:sp>
      <p:sp>
        <p:nvSpPr>
          <p:cNvPr id="9" name="carte"/>
          <p:cNvSpPr/>
          <p:nvPr/>
        </p:nvSpPr>
        <p:spPr>
          <a:xfrm>
            <a:off x="6035040" y="1188720"/>
            <a:ext cx="2514600" cy="1600200"/>
          </a:xfrm>
          <a:prstGeom prst="roundRect">
            <a:avLst>
              <a:gd name="adj" fmla="val 10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35040" y="1188720"/>
            <a:ext cx="2514600" cy="1600200"/>
          </a:xfrm>
          <a:prstGeom prst="roundRect">
            <a:avLst>
              <a:gd name="adj" fmla="val 10286"/>
            </a:avLst>
          </a:prstGeom>
          <a:ln w="254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1188720"/>
            <a:ext cx="2331720" cy="1600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Une 5e casquette</a:t>
            </a:r>
            <a:endParaRPr lang="en-US" sz="2000" dirty="0"/>
          </a:p>
        </p:txBody>
      </p:sp>
      <p:sp>
        <p:nvSpPr>
          <p:cNvPr id="12" name="carte"/>
          <p:cNvSpPr/>
          <p:nvPr/>
        </p:nvSpPr>
        <p:spPr>
          <a:xfrm>
            <a:off x="640080" y="2971800"/>
            <a:ext cx="2514600" cy="1600200"/>
          </a:xfrm>
          <a:prstGeom prst="roundRect">
            <a:avLst>
              <a:gd name="adj" fmla="val 10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971800"/>
            <a:ext cx="2514600" cy="1600200"/>
          </a:xfrm>
          <a:prstGeom prst="roundRect">
            <a:avLst>
              <a:gd name="adj" fmla="val 10286"/>
            </a:avLst>
          </a:prstGeom>
          <a:ln w="254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2971800"/>
            <a:ext cx="2331720" cy="1600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gâteau</a:t>
            </a:r>
            <a:endParaRPr lang="en-US" sz="2000" dirty="0"/>
          </a:p>
        </p:txBody>
      </p:sp>
      <p:sp>
        <p:nvSpPr>
          <p:cNvPr id="15" name="carte"/>
          <p:cNvSpPr/>
          <p:nvPr/>
        </p:nvSpPr>
        <p:spPr>
          <a:xfrm>
            <a:off x="3337560" y="2971800"/>
            <a:ext cx="2514600" cy="1600200"/>
          </a:xfrm>
          <a:prstGeom prst="roundRect">
            <a:avLst>
              <a:gd name="adj" fmla="val 10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37560" y="2971800"/>
            <a:ext cx="2514600" cy="1600200"/>
          </a:xfrm>
          <a:prstGeom prst="roundRect">
            <a:avLst>
              <a:gd name="adj" fmla="val 10286"/>
            </a:avLst>
          </a:prstGeom>
          <a:ln w="254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29000" y="2971800"/>
            <a:ext cx="2331720" cy="1600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cellulaire</a:t>
            </a:r>
            <a:endParaRPr lang="en-US" sz="2000" dirty="0"/>
          </a:p>
        </p:txBody>
      </p:sp>
      <p:sp>
        <p:nvSpPr>
          <p:cNvPr id="18" name="carte"/>
          <p:cNvSpPr/>
          <p:nvPr/>
        </p:nvSpPr>
        <p:spPr>
          <a:xfrm>
            <a:off x="6035040" y="2971800"/>
            <a:ext cx="2514600" cy="1600200"/>
          </a:xfrm>
          <a:prstGeom prst="roundRect">
            <a:avLst>
              <a:gd name="adj" fmla="val 10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2971800"/>
            <a:ext cx="2514600" cy="1600200"/>
          </a:xfrm>
          <a:prstGeom prst="roundRect">
            <a:avLst>
              <a:gd name="adj" fmla="val 10286"/>
            </a:avLst>
          </a:prstGeom>
          <a:ln w="25400">
            <a:solidFill>
              <a:schemeClr val="accent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0" y="2971800"/>
            <a:ext cx="2331720" cy="1600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café au resto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Le panier de Maya : 50 $</a:t>
            </a:r>
            <a:endParaRPr lang="en-US" sz="3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280160"/>
          <a:ext cx="4023360" cy="914400"/>
        </p:xfrm>
        <a:graphic>
          <a:graphicData uri="http://schemas.openxmlformats.org/drawingml/2006/table">
            <a:tbl>
              <a:tblPr/>
              <a:tblGrid>
                <a:gridCol w="2494483"/>
                <a:gridCol w="1528877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Poulet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12,49 $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Légumes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8,75 $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Pâtes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2,99 $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Sauce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3,49 $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Céréales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5,99 $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Lait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4,99 $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Croustilles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4,49 $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Gâteau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7,99 $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Boisson énergisante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3,29 $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DF9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22960" y="1234440"/>
            <a:ext cx="40233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</p:sp>
      <p:sp>
        <p:nvSpPr>
          <p:cNvPr id="5" name="Shape 2"/>
          <p:cNvSpPr/>
          <p:nvPr/>
        </p:nvSpPr>
        <p:spPr>
          <a:xfrm>
            <a:off x="822960" y="3630168"/>
            <a:ext cx="40233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</p:sp>
      <p:sp>
        <p:nvSpPr>
          <p:cNvPr id="6" name="bulle"/>
          <p:cNvSpPr/>
          <p:nvPr/>
        </p:nvSpPr>
        <p:spPr>
          <a:xfrm>
            <a:off x="5212080" y="1280160"/>
            <a:ext cx="329184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212080" y="1280160"/>
            <a:ext cx="3291840" cy="1554480"/>
          </a:xfrm>
          <a:prstGeom prst="roundRect">
            <a:avLst>
              <a:gd name="adj" fmla="val 10588"/>
            </a:avLst>
          </a:prstGeom>
          <a:ln w="254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303520" y="1325880"/>
            <a:ext cx="3108960" cy="1463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panier dépasse 50 $. Qu'est-ce que Maya enlève EN PREMIER ? Pourquoi ?</a:t>
            </a:r>
            <a:endParaRPr lang="en-US" sz="1600" dirty="0"/>
          </a:p>
        </p:txBody>
      </p:sp>
      <p:pic>
        <p:nvPicPr>
          <p:cNvPr id="9" name="renard" descr="Ren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3017520"/>
            <a:ext cx="1463040" cy="139720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usse publicité pour une boisson énergisante ZOOM à 3,99 $, « L'énergie des GAGNANTS », offre limitée aujourd'hui seulemen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La semaine prochaine…</a:t>
            </a:r>
            <a:endParaRPr lang="en-US" sz="3000" dirty="0"/>
          </a:p>
        </p:txBody>
      </p:sp>
      <p:pic>
        <p:nvPicPr>
          <p:cNvPr id="3" name="renard" descr="Ren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2011680" cy="192115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108960" y="1280160"/>
            <a:ext cx="5394960" cy="2926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600" b="1" dirty="0">
                <a:solidFill>
                  <a:schemeClr val="accent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Nous devenons détectives de la pub.</a:t>
            </a:r>
            <a:endParaRPr lang="en-US" sz="2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a-t-on autant envie de nos désirs ?</a:t>
            </a:r>
            <a:endParaRPr lang="en-US" sz="2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veut qu'on les désire ?</a:t>
            </a:r>
            <a:endParaRPr lang="en-US" sz="2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: rapporte une pub qui t'a donné envie d'acheter.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nard pastel">
  <a:themeElements>
    <a:clrScheme name="Renard pastel">
      <a:dk1>
        <a:srgbClr val="4A4F55"/>
      </a:dk1>
      <a:lt1>
        <a:srgbClr val="FFFFFF"/>
      </a:lt1>
      <a:dk2>
        <a:srgbClr val="3B2A22"/>
      </a:dk2>
      <a:lt2>
        <a:srgbClr val="FFFDF9"/>
      </a:lt2>
      <a:accent1>
        <a:srgbClr val="C9733A"/>
      </a:accent1>
      <a:accent2>
        <a:srgbClr val="E3BF6A"/>
      </a:accent2>
      <a:accent3>
        <a:srgbClr val="F6D1D6"/>
      </a:accent3>
      <a:accent4>
        <a:srgbClr val="DDF5F2"/>
      </a:accent4>
      <a:accent5>
        <a:srgbClr val="BFCFCC"/>
      </a:accent5>
      <a:accent6>
        <a:srgbClr val="D8C7BB"/>
      </a:accent6>
      <a:hlink>
        <a:srgbClr val="C9733A"/>
      </a:hlink>
      <a:folHlink>
        <a:srgbClr val="8A6A55"/>
      </a:folHlink>
    </a:clrScheme>
    <a:fontScheme name="Renard pastel">
      <a:majorFont>
        <a:latin typeface="Century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Estimer, c'est rusé ! · Besoin ou désir</dc:title>
  <dc:subject>PptxGenJS Presentation</dc:subject>
  <dc:creator>Participation sociale · Budget et consommation</dc:creator>
  <cp:lastModifiedBy>Participation sociale · Budget et consommation</cp:lastModifiedBy>
  <cp:revision>1</cp:revision>
  <dcterms:created xsi:type="dcterms:W3CDTF">2026-10-12T21:35:19Z</dcterms:created>
  <dcterms:modified xsi:type="dcterms:W3CDTF">2026-10-12T21:35:19Z</dcterms:modified>
</cp:coreProperties>
</file>