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d030cae1-422a-27aa-2fe3-baaae45b67aa}">
          <p14:sldIdLst>
            <p14:sldId id="256"/>
            <p14:sldId id="257"/>
            <p14:sldId id="258"/>
          </p14:sldIdLst>
        </p14:section>
        <p14:section name="Causerie" id="{d24f52d6-e68b-fbe4-d41b-d02a83b1bd66}">
          <p14:sldIdLst>
            <p14:sldId id="259"/>
            <p14:sldId id="260"/>
          </p14:sldIdLst>
        </p14:section>
        <p14:section name="Défis collabo-réflexifs" id="{89a1618c-81bb-ad02-16ec-50e769a48d62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Synthèse" id="{8514796e-be21-1c20-27ca-c7a62be28c82}">
          <p14:sldIdLst>
            <p14:sldId id="268"/>
            <p14:sldId id="269"/>
          </p14:sldIdLst>
        </p14:section>
        <p14:section name="Pause" id="{c7c4986c-be14-7f3b-3231-6e6699e91a21}">
          <p14:sldIdLst>
            <p14:sldId id="270"/>
          </p14:sldIdLst>
        </p14:section>
        <p14:section name="Stations" id="{e83ac5d3-ffa8-af11-1d96-eacd4f700324}">
          <p14:sldIdLst>
            <p14:sldId id="271"/>
          </p14:sldIdLst>
        </p14:section>
        <p14:section name="Besoin ou désir" id="{a2385c61-23f8-3391-03f6-aaf56eae1be1}">
          <p14:sldIdLst>
            <p14:sldId id="272"/>
            <p14:sldId id="273"/>
            <p14:sldId id="274"/>
            <p14:sldId id="275"/>
          </p14:sldIdLst>
        </p14:section>
        <p14:section name="Détectives de la pub" id="{21e0e924-b82c-b3be-e982-a7f5dff1faf5}">
          <p14:sldIdLst>
            <p14:sldId id="276"/>
            <p14:sldId id="277"/>
          </p14:sldIdLst>
        </p14:section>
        <p14:section name="Fermeture" id="{7968f194-2090-54f4-153c-bdeafa3118be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Accueillir les élèves pendant que la diapo est affichée. Le renard est le personnage du jour : il est rusé, il ne calcule pas tout au sou près, il ESTIME.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déroulement. Pour les élèves qui ont besoin de prévisibilité : on peut imprimer cette diapo et la cocher au fil de l'avant-midi.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l'intention à voix haute. Question : « Quand est-ce que ça vous arrive de ne pas savoir si vous avez assez d'argent à la caisse ? » Accueillir 2 ou 3 histoires.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Sortir les articles un par un en montrant le prix. Chaque élève écrit une estimation (ardoise ou cahier p. 1). On ne dévoile le vrai total qu'après. Faire voter : qui pense moins de 20 $ ? Entre 20 et 30 $ ? Plus de 30 $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Recueillir les stratégies SANS les juger (Van de Walle : les élèves construisent la stratégie). Typiquement : arrondir, compter seulement les dollars, regrouper 2 prix pour faire 5 $ ou 10 $. Écrire au tableau ou dans les cases. On y reviendra à la synthèse.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 collabo-réflexive (inspirée de Liljedahl, Building Thinking Classrooms). Former les équipes avec les cartes à piger (matériel p. 1). Placer les équipes debout devant une surface verticale effaçable. Répondre aux questions par des questions : « Qu'est-ce que tu sais déjà ? », « Est-ce qu'on a besoin du montant exact ? ». Donner le défi suivant dès qu'une équipe réussit : chaque équipe avance à son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relance : « Est-ce qu'on a besoin du montant exact ? » Indice (en dernier recours) : Arrondis chaque prix au dollar le plus proche. Réponse attendue : 3 $ + 3 $ = environ 6 $ (exact : 5,95 $)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relance : « Est-ce qu'on a besoin du montant exact ? » Indice (en dernier recours) : Fais des paquets qui donnent 10 $ : 7 + 3 ? 5 + 5 ? Réponse attendue : 5 + 2 + 7 + 1 = environ 15 $ (exact : 14,98 $)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relance : « Est-ce qu'on a besoin du montant exact ? » Indice (en dernier recours) : Pour savoir si j'ai assez, j'arrondis vers le HAUT : je suis prudent·e. Réponse attendue : 4 + 5 + 8 + 6 = 23 $ : pas assez (exact : 21,62 $). Il manque environ 2 $.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relance : « Est-ce qu'on a besoin du montant exact ? » Indice (en dernier recours) : Taxes : environ 1,50 $ pour chaque 10 $. Réponse attendue : 7 + 4 + 3 = 14 $, plus environ 2 $ de taxes = 16 $ : oui, assez (exact : 14,45 $ avec taxes).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relance : « Est-ce qu'on a besoin du montant exact ? » Indice (en dernier recours) : Fais des paquets de 10 $. Puis regarde : qu'est-ce qui est vraiment nécessaire ? Réponse attendue : Environ 12 + 9 + 3 + 3,50 + 6 + 5 + 4,50 + 8 + 3,50 ≈ 55 $ : pas assez (exact : 54,47 $). Sans croustilles, gâteau et boisson : 38,70 $. C'est le pont vers les besoins et les désirs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relance : « Est-ce qu'on a besoin du montant exact ? » Indice (en dernier recours) : 1,95 $, c'est presque 2 $. Réponse attendue : 9 × 2 $ = 18 $, donc un peu moins de 18 $ (exact : 17,55 $).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d'abord la visite des tableaux : « Qu'est-ce qui est pareil ? différent ? ». Ensuite, révéler les 3 étapes en les reliant aux stratégies de la diapo 5. Les élèves doivent reconnaître LEURS idées dans le truc du renard. Règle de prudence : à la caisse, mieux vaut surestimer. Repère pour les taxes (TPS + TVQ ≈ 15 %) : environ 1,50 $ par 10 $; beaucoup d'aliments de base ne sont pas taxés.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Cahier p. 2. Les notes sont écrites APRÈS la synthèse, pour l'élève lui-même dans une semaine : « Si tu oublies tout, qu'est-ce que tu veux te rappeler ? ». Permettre le dessin, les pictogrammes ou la dictée à un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installer les 3 stations (ordinateurs avec le jeu ouvert, table de produits avec étiquettes à rabat, paquets de cartes « Assez ou pas assez ?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A : fichier 3_Jeu-ordi_Estime-moi-ca.html, fonctionne sans Internet (double-clic, s'ouvre dans le navigateur). Station B : produits ou emballages vides avec étiquettes à rabat (matériel). L'élève estime le total d'un panier de 3 produits avant de soulever. Station C : cartes « Assez ou pas assez ? », prix taxes incluses; corrigé dans le matériel à imprimer. Observer : qui arrondit ? qui compte tout au sou près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Distribuer les cartons de vote (matériel). Préciser que certains articles « dépendent » : c'est là que la discussion devient intéressante. Lien avec le programme : besoins prioritaires et besoins secondaires.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un article à la fois (pointer). Vote avec les cartons. Réponses attendues : Du pain = besoin; Mes médicaments = besoin; Mon loyer = besoin; Du savon = besoin; Ma passe d'autobus = besoin; Un manteau d'hiver = besoin. Pour les cas « ça dépend », demander : « Ça dépend de quoi ? » (cellulaire pour le travail ou la sécurité; dernier modèle = désir; café au resto = petit plaisir).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un article à la fois (pointer). Vote avec les cartons. Réponses attendues : Un nouveau jeu vidéo = désir; Une boisson énergisante = désir; Une 5e casquette = désir; Un gâteau = désir; Un cellulaire = ça dépend; Un café au resto = ça dépend. Pour les cas « ça dépend », demander : « Ça dépend de quoi ? » (cellulaire pour le travail ou la sécurité; dernier modèle = désir; café au resto = petit plaisir).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équipe : reprendre la liste du défi 5. Classer chaque article (besoin ou désir), enlever d'abord les désirs, ré-estimer. Sans croustilles, gâteau et boisson : 38,70 $ (≈ 39 $). Question bonus : « Avec les 11 $ qui restent, que ferais-tu ? » (épargne, autre besoin…). Cahier p.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Laisser la pub à l'écran 20 secondes en silence. Puis : « Qu'est-ce que tu ressens ? As-tu envie de l'acheter ? Pourquoi ? » Repérer ensemble 2 trucs : la pression des amis (« tous tes amis en boivent ») et l'urgence (« aujourd'hui seulement »). Bonus : besoin ou désir ? Et est-ce bon pour la santé (saines habitudes)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Réflexion individuelle (cahier p. 5). Annoncer la mission de la semaine pour créer l'attente. Les élèves qui n'ont pas de téléphone peuvent apporter une circulaire ou décrire une pub vue à la télé.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Cahier p. 5, en bas. Le feu de circulation sert à planifier la différenciation de la prochaine rencontre. Ranger les stations avec les élèves.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U0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U1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CONTENU2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58521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E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Estimer, c'est rusé !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Mardi matin · 2 h 15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Budget et consommation · Besoin ou désir 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Notre menu ce matin</a:t>
            </a:r>
            <a:endParaRPr lang="en-US" sz="3000" dirty="0"/>
          </a:p>
        </p:txBody>
      </p:sp>
      <p:sp>
        <p:nvSpPr>
          <p:cNvPr id="3" name="étape 1"/>
          <p:cNvSpPr/>
          <p:nvPr/>
        </p:nvSpPr>
        <p:spPr>
          <a:xfrm>
            <a:off x="640080" y="123444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4416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sac mystère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5856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groupe</a:t>
            </a:r>
            <a:endParaRPr lang="en-US" sz="1200" dirty="0"/>
          </a:p>
        </p:txBody>
      </p:sp>
      <p:sp>
        <p:nvSpPr>
          <p:cNvPr id="7" name="étape 2"/>
          <p:cNvSpPr/>
          <p:nvPr/>
        </p:nvSpPr>
        <p:spPr>
          <a:xfrm>
            <a:off x="2651760" y="123444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651760" y="134416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défis debout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25856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équipe</a:t>
            </a:r>
            <a:endParaRPr lang="en-US" sz="1200" dirty="0"/>
          </a:p>
        </p:txBody>
      </p:sp>
      <p:sp>
        <p:nvSpPr>
          <p:cNvPr id="11" name="étape 3"/>
          <p:cNvSpPr/>
          <p:nvPr/>
        </p:nvSpPr>
        <p:spPr>
          <a:xfrm>
            <a:off x="4663440" y="123444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63440" y="134416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🦊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 truc du renard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25856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groupe</a:t>
            </a:r>
            <a:endParaRPr lang="en-US" sz="1200" dirty="0"/>
          </a:p>
        </p:txBody>
      </p:sp>
      <p:sp>
        <p:nvSpPr>
          <p:cNvPr id="15" name="étape 4"/>
          <p:cNvSpPr/>
          <p:nvPr/>
        </p:nvSpPr>
        <p:spPr>
          <a:xfrm>
            <a:off x="6675120" y="123444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75120" y="134416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187452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Pause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225856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9" name="étape 5"/>
          <p:cNvSpPr/>
          <p:nvPr/>
        </p:nvSpPr>
        <p:spPr>
          <a:xfrm>
            <a:off x="640080" y="292608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03580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56616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stations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95020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 · manipulation · cartes</a:t>
            </a:r>
            <a:endParaRPr lang="en-US" sz="1200" dirty="0"/>
          </a:p>
        </p:txBody>
      </p:sp>
      <p:sp>
        <p:nvSpPr>
          <p:cNvPr id="23" name="étape 6"/>
          <p:cNvSpPr/>
          <p:nvPr/>
        </p:nvSpPr>
        <p:spPr>
          <a:xfrm>
            <a:off x="2651760" y="292608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651760" y="303580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🌱✨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356616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Besoin ou désir ?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395020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</p:txBody>
      </p:sp>
      <p:sp>
        <p:nvSpPr>
          <p:cNvPr id="27" name="étape 7"/>
          <p:cNvSpPr/>
          <p:nvPr/>
        </p:nvSpPr>
        <p:spPr>
          <a:xfrm>
            <a:off x="4663440" y="2926080"/>
            <a:ext cx="1828800" cy="1463040"/>
          </a:xfrm>
          <a:prstGeom prst="roundRect">
            <a:avLst>
              <a:gd name="adj" fmla="val 112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4663440" y="3035808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🕵️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3566160"/>
            <a:ext cx="18288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Détectives de la pub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663440" y="3950208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Aujourd'hui, j'apprends à…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234440"/>
            <a:ext cx="5760720" cy="914400"/>
          </a:xfrm>
          <a:prstGeom prst="roundRect">
            <a:avLst>
              <a:gd name="adj" fmla="val 18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234440"/>
            <a:ext cx="73152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280160"/>
            <a:ext cx="4754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ESTIMER un total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savoir si j'ai assez d'argent.</a:t>
            </a:r>
            <a:endParaRPr lang="en-US" sz="1800" dirty="0"/>
          </a:p>
        </p:txBody>
      </p:sp>
      <p:sp>
        <p:nvSpPr>
          <p:cNvPr id="6" name="carte"/>
          <p:cNvSpPr/>
          <p:nvPr/>
        </p:nvSpPr>
        <p:spPr>
          <a:xfrm>
            <a:off x="640080" y="2331720"/>
            <a:ext cx="5760720" cy="914400"/>
          </a:xfrm>
          <a:prstGeom prst="roundRect">
            <a:avLst>
              <a:gd name="adj" fmla="val 1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331720"/>
            <a:ext cx="73152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77440"/>
            <a:ext cx="4754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CHOISIR entre besoin et désir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décider quoi acheter en premier.</a:t>
            </a:r>
            <a:endParaRPr lang="en-US" sz="1800" dirty="0"/>
          </a:p>
        </p:txBody>
      </p:sp>
      <p:sp>
        <p:nvSpPr>
          <p:cNvPr id="9" name="carte"/>
          <p:cNvSpPr/>
          <p:nvPr/>
        </p:nvSpPr>
        <p:spPr>
          <a:xfrm>
            <a:off x="640080" y="3429000"/>
            <a:ext cx="5760720" cy="914400"/>
          </a:xfrm>
          <a:prstGeom prst="roundRect">
            <a:avLst>
              <a:gd name="adj" fmla="val 18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429000"/>
            <a:ext cx="73152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🕵️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474720"/>
            <a:ext cx="4754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 QUESTIONNER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ai-je envie d'acheter ?</a:t>
            </a:r>
            <a:endParaRPr lang="en-US" sz="1800" dirty="0"/>
          </a:p>
        </p:txBody>
      </p:sp>
      <p:pic>
        <p:nvPicPr>
          <p:cNvPr id="12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94560"/>
            <a:ext cx="1920240" cy="183382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sac mystère 🛍️</a:t>
            </a:r>
            <a:endParaRPr lang="en-US" sz="3000" dirty="0"/>
          </a:p>
        </p:txBody>
      </p:sp>
      <p:sp>
        <p:nvSpPr>
          <p:cNvPr id="3" name="sac"/>
          <p:cNvSpPr/>
          <p:nvPr/>
        </p:nvSpPr>
        <p:spPr>
          <a:xfrm>
            <a:off x="640080" y="1188720"/>
            <a:ext cx="4754880" cy="329184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4754880" cy="2286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?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articles d'épicerie</a:t>
            </a:r>
            <a:endParaRPr lang="en-US" sz="2200" dirty="0"/>
          </a:p>
        </p:txBody>
      </p:sp>
      <p:sp>
        <p:nvSpPr>
          <p:cNvPr id="6" name="bulle"/>
          <p:cNvSpPr/>
          <p:nvPr/>
        </p:nvSpPr>
        <p:spPr>
          <a:xfrm>
            <a:off x="5669280" y="1280160"/>
            <a:ext cx="29260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0" y="1280160"/>
            <a:ext cx="2926080" cy="1371600"/>
          </a:xfrm>
          <a:prstGeom prst="roundRect">
            <a:avLst>
              <a:gd name="adj" fmla="val 12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0" y="1325880"/>
            <a:ext cx="274320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 combien coûte tout le sac ? Écris ton estimation. Pas de calculatrice !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bas ? Trop haut ? Juste 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Comment as-tu fait ?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280160"/>
            <a:ext cx="2468880" cy="2377440"/>
          </a:xfrm>
          <a:prstGeom prst="roundRect">
            <a:avLst>
              <a:gd name="adj" fmla="val 692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Stratégie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228600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 écrit ici les idées de la classe)</a:t>
            </a:r>
            <a:endParaRPr lang="en-US" sz="1300" dirty="0"/>
          </a:p>
        </p:txBody>
      </p:sp>
      <p:sp>
        <p:nvSpPr>
          <p:cNvPr id="6" name="carte"/>
          <p:cNvSpPr/>
          <p:nvPr/>
        </p:nvSpPr>
        <p:spPr>
          <a:xfrm>
            <a:off x="3337560" y="1280160"/>
            <a:ext cx="2468880" cy="2377440"/>
          </a:xfrm>
          <a:prstGeom prst="roundRect">
            <a:avLst>
              <a:gd name="adj" fmla="val 692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3756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Stratégie 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011680"/>
            <a:ext cx="228600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 écrit ici les idées de la classe)</a:t>
            </a:r>
            <a:endParaRPr lang="en-US" sz="1300" dirty="0"/>
          </a:p>
        </p:txBody>
      </p:sp>
      <p:sp>
        <p:nvSpPr>
          <p:cNvPr id="9" name="carte"/>
          <p:cNvSpPr/>
          <p:nvPr/>
        </p:nvSpPr>
        <p:spPr>
          <a:xfrm>
            <a:off x="6035040" y="1280160"/>
            <a:ext cx="2468880" cy="2377440"/>
          </a:xfrm>
          <a:prstGeom prst="roundRect">
            <a:avLst>
              <a:gd name="adj" fmla="val 692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Stratégie 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011680"/>
            <a:ext cx="228600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 écrit ici les idées de la classe)</a:t>
            </a:r>
            <a:endParaRPr lang="en-US" sz="1300" dirty="0"/>
          </a:p>
        </p:txBody>
      </p:sp>
      <p:sp>
        <p:nvSpPr>
          <p:cNvPr id="12" name="bulle"/>
          <p:cNvSpPr/>
          <p:nvPr/>
        </p:nvSpPr>
        <p:spPr>
          <a:xfrm>
            <a:off x="640080" y="3931920"/>
            <a:ext cx="7772400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931920"/>
            <a:ext cx="7772400" cy="685800"/>
          </a:xfrm>
          <a:prstGeom prst="roundRect">
            <a:avLst>
              <a:gd name="adj" fmla="val 24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977640"/>
            <a:ext cx="758952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n'y a pas UNE bonne façon. Qu'est-ce qui est pareil ? Qu'est-ce qui est différent 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Les règles des défis debout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051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Équipe au hasard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pige sa carte.</a:t>
            </a:r>
            <a:endParaRPr lang="en-US" sz="1300" dirty="0"/>
          </a:p>
        </p:txBody>
      </p:sp>
      <p:sp>
        <p:nvSpPr>
          <p:cNvPr id="7" name="carte"/>
          <p:cNvSpPr/>
          <p:nvPr/>
        </p:nvSpPr>
        <p:spPr>
          <a:xfrm>
            <a:off x="333756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37560" y="126187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🧍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181051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Debout au tableau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écrit sur le mur, on peut effacer.</a:t>
            </a:r>
            <a:endParaRPr lang="en-US" sz="1300" dirty="0"/>
          </a:p>
        </p:txBody>
      </p:sp>
      <p:sp>
        <p:nvSpPr>
          <p:cNvPr id="11" name="carte"/>
          <p:cNvSpPr/>
          <p:nvPr/>
        </p:nvSpPr>
        <p:spPr>
          <a:xfrm>
            <a:off x="603504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035040" y="126187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81051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seul crayon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7627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change de main à chaque défi.</a:t>
            </a:r>
            <a:endParaRPr lang="en-US" sz="1300" dirty="0"/>
          </a:p>
        </p:txBody>
      </p:sp>
      <p:sp>
        <p:nvSpPr>
          <p:cNvPr id="15" name="carte"/>
          <p:cNvSpPr/>
          <p:nvPr/>
        </p:nvSpPr>
        <p:spPr>
          <a:xfrm>
            <a:off x="64008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304495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9359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parle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95935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qui écrit écoute les autres.</a:t>
            </a:r>
            <a:endParaRPr lang="en-US" sz="1300" dirty="0"/>
          </a:p>
        </p:txBody>
      </p:sp>
      <p:sp>
        <p:nvSpPr>
          <p:cNvPr id="19" name="carte"/>
          <p:cNvSpPr/>
          <p:nvPr/>
        </p:nvSpPr>
        <p:spPr>
          <a:xfrm>
            <a:off x="333756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337560" y="304495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359359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peut regarder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95935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autres équipes : c'est permis !</a:t>
            </a:r>
            <a:endParaRPr lang="en-US" sz="1300" dirty="0"/>
          </a:p>
        </p:txBody>
      </p:sp>
      <p:sp>
        <p:nvSpPr>
          <p:cNvPr id="23" name="carte"/>
          <p:cNvSpPr/>
          <p:nvPr/>
        </p:nvSpPr>
        <p:spPr>
          <a:xfrm>
            <a:off x="603504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035040" y="3044952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593592"/>
            <a:ext cx="2514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Défi réussi ?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59352"/>
            <a:ext cx="233172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reçoit le suivant.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 1 · Le café</a:t>
            </a:r>
            <a:endParaRPr lang="en-US" sz="3000" dirty="0"/>
          </a:p>
        </p:txBody>
      </p:sp>
      <p:sp>
        <p:nvSpPr>
          <p:cNvPr id="3" name="défi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ln w="508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5394960" cy="3017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café coûte </a:t>
            </a:r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2,85 $</a:t>
            </a:r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 muffin coûte </a:t>
            </a:r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3,10 $</a:t>
            </a:r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 combien pour les deux 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0608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43216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5824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28432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/ 6</a:t>
            </a:r>
            <a:endParaRPr lang="en-US" sz="1200" dirty="0"/>
          </a:p>
        </p:txBody>
      </p:sp>
      <p:pic>
        <p:nvPicPr>
          <p:cNvPr id="13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834640"/>
            <a:ext cx="1600200" cy="15281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 2 · Au dépanneur</a:t>
            </a:r>
            <a:endParaRPr lang="en-US" sz="3000" dirty="0"/>
          </a:p>
        </p:txBody>
      </p:sp>
      <p:sp>
        <p:nvSpPr>
          <p:cNvPr id="3" name="défi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ln w="508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5394960" cy="3017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4,79 $ · 2,15 $ · 6,99 $ · 1,05 $</a:t>
            </a:r>
            <a:pPr indent="0" marL="0">
              <a:spcAft>
                <a:spcPts val="600"/>
              </a:spcAft>
              <a:buNone/>
            </a:pP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 combien en tout 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0608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43216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5824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28432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/ 6</a:t>
            </a:r>
            <a:endParaRPr lang="en-US" sz="1200" dirty="0"/>
          </a:p>
        </p:txBody>
      </p:sp>
      <p:pic>
        <p:nvPicPr>
          <p:cNvPr id="13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834640"/>
            <a:ext cx="1600200" cy="15281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 3 · Assez ou pas assez ?</a:t>
            </a:r>
            <a:endParaRPr lang="en-US" sz="3000" dirty="0"/>
          </a:p>
        </p:txBody>
      </p:sp>
      <p:sp>
        <p:nvSpPr>
          <p:cNvPr id="3" name="défi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ln w="508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5394960" cy="3017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J'ai </a:t>
            </a:r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20 $</a:t>
            </a:r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Pain 3,49 $ · lait 4,99 $ · fromage 7,89 $ · fruits 5,25 $.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Est-ce que j'ai assez d'argent 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0608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43216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5824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28432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/ 6</a:t>
            </a:r>
            <a:endParaRPr lang="en-US" sz="1200" dirty="0"/>
          </a:p>
        </p:txBody>
      </p:sp>
      <p:pic>
        <p:nvPicPr>
          <p:cNvPr id="13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834640"/>
            <a:ext cx="1600200" cy="15281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 4 · Le piège des taxes</a:t>
            </a:r>
            <a:endParaRPr lang="en-US" sz="3000" dirty="0"/>
          </a:p>
        </p:txBody>
      </p:sp>
      <p:sp>
        <p:nvSpPr>
          <p:cNvPr id="3" name="défi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ln w="508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5394960" cy="3017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Shampoing 6,49 $ · dentifrice 3,79 $ · savon 2,29 $ (taxes en plus).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billet de 20 $, est-ce assez 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0608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43216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5824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28432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4 / 6</a:t>
            </a:r>
            <a:endParaRPr lang="en-US" sz="1200" dirty="0"/>
          </a:p>
        </p:txBody>
      </p:sp>
      <p:pic>
        <p:nvPicPr>
          <p:cNvPr id="13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834640"/>
            <a:ext cx="1600200" cy="15281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 5 · La liste de Maya</a:t>
            </a:r>
            <a:endParaRPr lang="en-US" sz="3000" dirty="0"/>
          </a:p>
        </p:txBody>
      </p:sp>
      <p:sp>
        <p:nvSpPr>
          <p:cNvPr id="3" name="défi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ln w="508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5394960" cy="3017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a </a:t>
            </a:r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50 $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pour son épicerie de la semaine :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poulet 12,49 $ · légumes 8,75 $ · pâtes 2,99 $ · sauce 3,49 $ · céréales 5,99 $ · lait 4,99 $ · croustilles 4,49 $ · gâteau 7,99 $ · boisson énergisante 3,29 $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Est-ce assez ? Sinon, que devrait-elle enlever 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0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0608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43216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5824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28432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1280160"/>
            <a:ext cx="201168" cy="201168"/>
          </a:xfrm>
          <a:prstGeom prst="ellipse">
            <a:avLst/>
          </a:prstGeom>
          <a:solidFill>
            <a:srgbClr val="E8E8E8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5 / 6</a:t>
            </a:r>
            <a:endParaRPr lang="en-US" sz="1200" dirty="0"/>
          </a:p>
        </p:txBody>
      </p:sp>
      <p:pic>
        <p:nvPicPr>
          <p:cNvPr id="13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834640"/>
            <a:ext cx="1600200" cy="15281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 6 · Défi du renard</a:t>
            </a:r>
            <a:endParaRPr lang="en-US" sz="3000" dirty="0"/>
          </a:p>
        </p:txBody>
      </p:sp>
      <p:sp>
        <p:nvSpPr>
          <p:cNvPr id="3" name="défi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5852160" cy="3383280"/>
          </a:xfrm>
          <a:prstGeom prst="roundRect">
            <a:avLst>
              <a:gd name="adj" fmla="val 4865"/>
            </a:avLst>
          </a:prstGeom>
          <a:ln w="508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5394960" cy="3017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articles à 1,95 $ chacun.</a:t>
            </a:r>
            <a:pPr indent="0" marL="0">
              <a:spcAft>
                <a:spcPts val="600"/>
              </a:spcAft>
              <a:buNone/>
            </a:pP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 combien ? Trouve-le </a:t>
            </a:r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écrire</a:t>
            </a:r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50608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43216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5824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28432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1280160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6 / 6</a:t>
            </a:r>
            <a:endParaRPr lang="en-US" sz="1200" dirty="0"/>
          </a:p>
        </p:txBody>
      </p:sp>
      <p:pic>
        <p:nvPicPr>
          <p:cNvPr id="13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834640"/>
            <a:ext cx="1600200" cy="15281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truc du renard 🦊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2148840" cy="2103120"/>
          </a:xfrm>
          <a:prstGeom prst="roundRect">
            <a:avLst>
              <a:gd name="adj" fmla="val 782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21488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1488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J'ARRONDIS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4884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2,85 $ → 3 $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9202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8" name="carte"/>
          <p:cNvSpPr/>
          <p:nvPr/>
        </p:nvSpPr>
        <p:spPr>
          <a:xfrm>
            <a:off x="2971800" y="1188720"/>
            <a:ext cx="2148840" cy="2103120"/>
          </a:xfrm>
          <a:prstGeom prst="roundRect">
            <a:avLst>
              <a:gd name="adj" fmla="val 782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71800" y="1234440"/>
            <a:ext cx="21488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1874520"/>
            <a:ext cx="21488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 REGROUPE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423160"/>
            <a:ext cx="214884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3 $ + 3 $ = 6 $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19202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3" name="carte"/>
          <p:cNvSpPr/>
          <p:nvPr/>
        </p:nvSpPr>
        <p:spPr>
          <a:xfrm>
            <a:off x="5303520" y="1188720"/>
            <a:ext cx="2148840" cy="2103120"/>
          </a:xfrm>
          <a:prstGeom prst="roundRect">
            <a:avLst>
              <a:gd name="adj" fmla="val 782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303520" y="1234440"/>
            <a:ext cx="21488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1874520"/>
            <a:ext cx="21488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JE COMPARE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303520" y="2423160"/>
            <a:ext cx="214884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6 $ &lt; 10 $ : assez !</a:t>
            </a:r>
            <a:endParaRPr lang="en-US" sz="1600" dirty="0"/>
          </a:p>
        </p:txBody>
      </p:sp>
      <p:sp>
        <p:nvSpPr>
          <p:cNvPr id="17" name="prudence"/>
          <p:cNvSpPr/>
          <p:nvPr/>
        </p:nvSpPr>
        <p:spPr>
          <a:xfrm>
            <a:off x="640080" y="3520440"/>
            <a:ext cx="6812280" cy="1143000"/>
          </a:xfrm>
          <a:prstGeom prst="roundRect">
            <a:avLst>
              <a:gd name="adj" fmla="val 144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3566160"/>
            <a:ext cx="6492240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Prudent·e 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savoir si j'ai assez, j'arrondis vers le HAUT.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 1,50 $ de plus pour chaque 10 $.</a:t>
            </a:r>
            <a:endParaRPr lang="en-US" sz="1700" dirty="0"/>
          </a:p>
        </p:txBody>
      </p:sp>
      <p:pic>
        <p:nvPicPr>
          <p:cNvPr id="19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3017520"/>
            <a:ext cx="1234440" cy="1178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Notes pour mon moi du futur ✍️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3749040" cy="1554480"/>
          </a:xfrm>
          <a:prstGeom prst="roundRect">
            <a:avLst>
              <a:gd name="adj" fmla="val 1058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25880"/>
            <a:ext cx="30175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exemple que j'ai réussi</a:t>
            </a:r>
            <a:endParaRPr lang="en-US" sz="1800" dirty="0"/>
          </a:p>
        </p:txBody>
      </p:sp>
      <p:sp>
        <p:nvSpPr>
          <p:cNvPr id="6" name="carte"/>
          <p:cNvSpPr/>
          <p:nvPr/>
        </p:nvSpPr>
        <p:spPr>
          <a:xfrm>
            <a:off x="4572000" y="1188720"/>
            <a:ext cx="3749040" cy="1554480"/>
          </a:xfrm>
          <a:prstGeom prst="roundRect">
            <a:avLst>
              <a:gd name="adj" fmla="val 1058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6344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1325880"/>
            <a:ext cx="30175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truc du renard, dans mes mots</a:t>
            </a:r>
            <a:endParaRPr lang="en-US" sz="1800" dirty="0"/>
          </a:p>
        </p:txBody>
      </p:sp>
      <p:sp>
        <p:nvSpPr>
          <p:cNvPr id="9" name="carte"/>
          <p:cNvSpPr/>
          <p:nvPr/>
        </p:nvSpPr>
        <p:spPr>
          <a:xfrm>
            <a:off x="640080" y="2926080"/>
            <a:ext cx="3749040" cy="1554480"/>
          </a:xfrm>
          <a:prstGeom prst="roundRect">
            <a:avLst>
              <a:gd name="adj" fmla="val 1058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63240"/>
            <a:ext cx="30175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à éviter</a:t>
            </a:r>
            <a:endParaRPr lang="en-US" sz="1800" dirty="0"/>
          </a:p>
        </p:txBody>
      </p:sp>
      <p:sp>
        <p:nvSpPr>
          <p:cNvPr id="12" name="carte"/>
          <p:cNvSpPr/>
          <p:nvPr/>
        </p:nvSpPr>
        <p:spPr>
          <a:xfrm>
            <a:off x="4572000" y="2926080"/>
            <a:ext cx="3749040" cy="1554480"/>
          </a:xfrm>
          <a:prstGeom prst="roundRect">
            <a:avLst>
              <a:gd name="adj" fmla="val 1058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63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3063240"/>
            <a:ext cx="30175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dessin ou un symbole pour m'en souvenir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ard" descr="Renard qui d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097280"/>
            <a:ext cx="2926080" cy="279440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65760"/>
            <a:ext cx="786384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Pause !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renard fait dodo · retour dans 15 minutes</a:t>
            </a:r>
            <a:endParaRPr lang="en-US" sz="2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 stations · 8 minutes chacune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2514600" cy="2834640"/>
          </a:xfrm>
          <a:prstGeom prst="roundRect">
            <a:avLst>
              <a:gd name="adj" fmla="val 654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51460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25146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· Ordinateur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224028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« Estime-moi ça ! »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bouton 🔊 lit la question.</a:t>
            </a:r>
            <a:endParaRPr lang="en-US" sz="1500" dirty="0"/>
          </a:p>
        </p:txBody>
      </p:sp>
      <p:sp>
        <p:nvSpPr>
          <p:cNvPr id="7" name="carte"/>
          <p:cNvSpPr/>
          <p:nvPr/>
        </p:nvSpPr>
        <p:spPr>
          <a:xfrm>
            <a:off x="3337560" y="1188720"/>
            <a:ext cx="2514600" cy="2834640"/>
          </a:xfrm>
          <a:prstGeom prst="roundRect">
            <a:avLst>
              <a:gd name="adj" fmla="val 6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37560" y="1280160"/>
            <a:ext cx="251460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011680"/>
            <a:ext cx="25146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 · Le juste prix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560320"/>
            <a:ext cx="224028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 produits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J'estime, puis je soulève l'étiquette.</a:t>
            </a:r>
            <a:endParaRPr lang="en-US" sz="1500" dirty="0"/>
          </a:p>
        </p:txBody>
      </p:sp>
      <p:sp>
        <p:nvSpPr>
          <p:cNvPr id="11" name="carte"/>
          <p:cNvSpPr/>
          <p:nvPr/>
        </p:nvSpPr>
        <p:spPr>
          <a:xfrm>
            <a:off x="6035040" y="1188720"/>
            <a:ext cx="2514600" cy="2834640"/>
          </a:xfrm>
          <a:prstGeom prst="roundRect">
            <a:avLst>
              <a:gd name="adj" fmla="val 654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035040" y="1280160"/>
            <a:ext cx="251460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👍👎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011680"/>
            <a:ext cx="25146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 · Assez ou pas assez 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560320"/>
            <a:ext cx="224028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cartes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secondes pour décider !</a:t>
            </a:r>
            <a:endParaRPr lang="en-US" sz="1500" dirty="0"/>
          </a:p>
        </p:txBody>
      </p:sp>
      <p:sp>
        <p:nvSpPr>
          <p:cNvPr id="15" name="bulle"/>
          <p:cNvSpPr/>
          <p:nvPr/>
        </p:nvSpPr>
        <p:spPr>
          <a:xfrm>
            <a:off x="640080" y="4206240"/>
            <a:ext cx="78181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4206240"/>
            <a:ext cx="7818120" cy="548640"/>
          </a:xfrm>
          <a:prstGeom prst="roundRect">
            <a:avLst>
              <a:gd name="adj" fmla="val 30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251960"/>
            <a:ext cx="7635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À la cloche, on change de station. Note tes points dans ton cahier (p. 3).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Besoin ou désir ?</a:t>
            </a:r>
            <a:endParaRPr lang="en-US" sz="3000" dirty="0"/>
          </a:p>
        </p:txBody>
      </p:sp>
      <p:sp>
        <p:nvSpPr>
          <p:cNvPr id="3" name="besoin"/>
          <p:cNvSpPr/>
          <p:nvPr/>
        </p:nvSpPr>
        <p:spPr>
          <a:xfrm>
            <a:off x="640080" y="1188720"/>
            <a:ext cx="3749040" cy="2377440"/>
          </a:xfrm>
          <a:prstGeom prst="roundRect">
            <a:avLst>
              <a:gd name="adj" fmla="val 6923"/>
            </a:avLst>
          </a:prstGeom>
          <a:solidFill>
            <a:srgbClr val="D7EEDD"/>
          </a:solidFill>
          <a:ln w="12700">
            <a:solidFill>
              <a:srgbClr val="D7EEDD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désir"/>
          <p:cNvSpPr/>
          <p:nvPr/>
        </p:nvSpPr>
        <p:spPr>
          <a:xfrm>
            <a:off x="4663440" y="1188720"/>
            <a:ext cx="3749040" cy="2377440"/>
          </a:xfrm>
          <a:prstGeom prst="roundRect">
            <a:avLst>
              <a:gd name="adj" fmla="val 692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338328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🌱 BESOIN</a:t>
            </a:r>
            <a:endParaRPr lang="en-US" sz="26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J'en ai besoin pour vivre, être en santé ou en sécurité.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325880"/>
            <a:ext cx="338328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✨ DÉSIR</a:t>
            </a:r>
            <a:endParaRPr lang="en-US" sz="26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agréable, mais je peux vivre sans.</a:t>
            </a:r>
            <a:endParaRPr lang="en-US" sz="2600" dirty="0"/>
          </a:p>
        </p:txBody>
      </p:sp>
      <p:sp>
        <p:nvSpPr>
          <p:cNvPr id="7" name="bulle"/>
          <p:cNvSpPr/>
          <p:nvPr/>
        </p:nvSpPr>
        <p:spPr>
          <a:xfrm>
            <a:off x="640080" y="3794760"/>
            <a:ext cx="777240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794760"/>
            <a:ext cx="7772400" cy="822960"/>
          </a:xfrm>
          <a:prstGeom prst="roundRect">
            <a:avLst>
              <a:gd name="adj" fmla="val 20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840480"/>
            <a:ext cx="7589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lève mon carton : VERT = besoin, ROSE = désir. Et si je ne suis pas sûr·e ? Je lève les deux 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Vote ! (1)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🍞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 pain</a:t>
            </a:r>
            <a:endParaRPr lang="en-US" sz="1700" dirty="0"/>
          </a:p>
        </p:txBody>
      </p:sp>
      <p:sp>
        <p:nvSpPr>
          <p:cNvPr id="7" name="carte"/>
          <p:cNvSpPr/>
          <p:nvPr/>
        </p:nvSpPr>
        <p:spPr>
          <a:xfrm>
            <a:off x="333756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337560" y="118872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28016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 médicaments</a:t>
            </a:r>
            <a:endParaRPr lang="en-US" sz="1700" dirty="0"/>
          </a:p>
        </p:txBody>
      </p:sp>
      <p:sp>
        <p:nvSpPr>
          <p:cNvPr id="11" name="carte"/>
          <p:cNvSpPr/>
          <p:nvPr/>
        </p:nvSpPr>
        <p:spPr>
          <a:xfrm>
            <a:off x="603504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35040" y="118872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28016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 loyer</a:t>
            </a:r>
            <a:endParaRPr lang="en-US" sz="1700" dirty="0"/>
          </a:p>
        </p:txBody>
      </p:sp>
      <p:sp>
        <p:nvSpPr>
          <p:cNvPr id="15" name="carte"/>
          <p:cNvSpPr/>
          <p:nvPr/>
        </p:nvSpPr>
        <p:spPr>
          <a:xfrm>
            <a:off x="64008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97180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🧼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8620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 savon</a:t>
            </a:r>
            <a:endParaRPr lang="en-US" sz="1700" dirty="0"/>
          </a:p>
        </p:txBody>
      </p:sp>
      <p:sp>
        <p:nvSpPr>
          <p:cNvPr id="19" name="carte"/>
          <p:cNvSpPr/>
          <p:nvPr/>
        </p:nvSpPr>
        <p:spPr>
          <a:xfrm>
            <a:off x="333756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37560" y="297180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3756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388620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 passe d'autobus</a:t>
            </a:r>
            <a:endParaRPr lang="en-US" sz="1700" dirty="0"/>
          </a:p>
        </p:txBody>
      </p:sp>
      <p:sp>
        <p:nvSpPr>
          <p:cNvPr id="23" name="carte"/>
          <p:cNvSpPr/>
          <p:nvPr/>
        </p:nvSpPr>
        <p:spPr>
          <a:xfrm>
            <a:off x="603504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35040" y="297180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🧥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88620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manteau d'hiver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Vote ! (2)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nouveau jeu vidéo</a:t>
            </a:r>
            <a:endParaRPr lang="en-US" sz="1700" dirty="0"/>
          </a:p>
        </p:txBody>
      </p:sp>
      <p:sp>
        <p:nvSpPr>
          <p:cNvPr id="7" name="carte"/>
          <p:cNvSpPr/>
          <p:nvPr/>
        </p:nvSpPr>
        <p:spPr>
          <a:xfrm>
            <a:off x="333756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337560" y="118872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28016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🥤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Une boisson énergisante</a:t>
            </a:r>
            <a:endParaRPr lang="en-US" sz="1700" dirty="0"/>
          </a:p>
        </p:txBody>
      </p:sp>
      <p:sp>
        <p:nvSpPr>
          <p:cNvPr id="11" name="carte"/>
          <p:cNvSpPr/>
          <p:nvPr/>
        </p:nvSpPr>
        <p:spPr>
          <a:xfrm>
            <a:off x="6035040" y="118872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35040" y="118872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28016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🧢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Une 5e casquette</a:t>
            </a:r>
            <a:endParaRPr lang="en-US" sz="1700" dirty="0"/>
          </a:p>
        </p:txBody>
      </p:sp>
      <p:sp>
        <p:nvSpPr>
          <p:cNvPr id="15" name="carte"/>
          <p:cNvSpPr/>
          <p:nvPr/>
        </p:nvSpPr>
        <p:spPr>
          <a:xfrm>
            <a:off x="64008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97180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🍰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8620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gâteau</a:t>
            </a:r>
            <a:endParaRPr lang="en-US" sz="1700" dirty="0"/>
          </a:p>
        </p:txBody>
      </p:sp>
      <p:sp>
        <p:nvSpPr>
          <p:cNvPr id="19" name="carte"/>
          <p:cNvSpPr/>
          <p:nvPr/>
        </p:nvSpPr>
        <p:spPr>
          <a:xfrm>
            <a:off x="333756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37560" y="297180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3756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388620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cellulaire</a:t>
            </a:r>
            <a:endParaRPr lang="en-US" sz="1700" dirty="0"/>
          </a:p>
        </p:txBody>
      </p:sp>
      <p:sp>
        <p:nvSpPr>
          <p:cNvPr id="23" name="carte"/>
          <p:cNvSpPr/>
          <p:nvPr/>
        </p:nvSpPr>
        <p:spPr>
          <a:xfrm>
            <a:off x="6035040" y="2971800"/>
            <a:ext cx="25146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35040" y="2971800"/>
            <a:ext cx="2514600" cy="1600200"/>
          </a:xfrm>
          <a:prstGeom prst="roundRect">
            <a:avLst>
              <a:gd name="adj" fmla="val 10286"/>
            </a:avLst>
          </a:prstGeom>
          <a:ln w="254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063240"/>
            <a:ext cx="2514600" cy="777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886200"/>
            <a:ext cx="25146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café au resto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panier de Maya : 50 $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40080" y="118872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Poulet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12,49 $</a:t>
            </a:r>
            <a:endParaRPr lang="en-US" sz="1400" dirty="0"/>
          </a:p>
        </p:txBody>
      </p:sp>
      <p:sp>
        <p:nvSpPr>
          <p:cNvPr id="5" name="carte"/>
          <p:cNvSpPr/>
          <p:nvPr/>
        </p:nvSpPr>
        <p:spPr>
          <a:xfrm>
            <a:off x="2560320" y="118872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2560320" y="118872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Légumes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8,75 $</a:t>
            </a:r>
            <a:endParaRPr lang="en-US" sz="1400" dirty="0"/>
          </a:p>
        </p:txBody>
      </p:sp>
      <p:sp>
        <p:nvSpPr>
          <p:cNvPr id="7" name="carte"/>
          <p:cNvSpPr/>
          <p:nvPr/>
        </p:nvSpPr>
        <p:spPr>
          <a:xfrm>
            <a:off x="4480560" y="118872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80560" y="118872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Pâtes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2,99 $</a:t>
            </a:r>
            <a:endParaRPr lang="en-US" sz="1400" dirty="0"/>
          </a:p>
        </p:txBody>
      </p:sp>
      <p:sp>
        <p:nvSpPr>
          <p:cNvPr id="9" name="carte"/>
          <p:cNvSpPr/>
          <p:nvPr/>
        </p:nvSpPr>
        <p:spPr>
          <a:xfrm>
            <a:off x="640080" y="214884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14884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3,49 $</a:t>
            </a:r>
            <a:endParaRPr lang="en-US" sz="1400" dirty="0"/>
          </a:p>
        </p:txBody>
      </p:sp>
      <p:sp>
        <p:nvSpPr>
          <p:cNvPr id="11" name="carte"/>
          <p:cNvSpPr/>
          <p:nvPr/>
        </p:nvSpPr>
        <p:spPr>
          <a:xfrm>
            <a:off x="2560320" y="214884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560320" y="214884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Céréales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5,99 $</a:t>
            </a:r>
            <a:endParaRPr lang="en-US" sz="1400" dirty="0"/>
          </a:p>
        </p:txBody>
      </p:sp>
      <p:sp>
        <p:nvSpPr>
          <p:cNvPr id="13" name="carte"/>
          <p:cNvSpPr/>
          <p:nvPr/>
        </p:nvSpPr>
        <p:spPr>
          <a:xfrm>
            <a:off x="4480560" y="214884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80560" y="214884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4,99 $</a:t>
            </a:r>
            <a:endParaRPr lang="en-US" sz="1400" dirty="0"/>
          </a:p>
        </p:txBody>
      </p:sp>
      <p:sp>
        <p:nvSpPr>
          <p:cNvPr id="15" name="carte"/>
          <p:cNvSpPr/>
          <p:nvPr/>
        </p:nvSpPr>
        <p:spPr>
          <a:xfrm>
            <a:off x="640080" y="310896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310896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Croustilles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4,49 $</a:t>
            </a:r>
            <a:endParaRPr lang="en-US" sz="1400" dirty="0"/>
          </a:p>
        </p:txBody>
      </p:sp>
      <p:sp>
        <p:nvSpPr>
          <p:cNvPr id="17" name="carte"/>
          <p:cNvSpPr/>
          <p:nvPr/>
        </p:nvSpPr>
        <p:spPr>
          <a:xfrm>
            <a:off x="2560320" y="310896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2560320" y="310896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Gâteau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7,99 $</a:t>
            </a:r>
            <a:endParaRPr lang="en-US" sz="1400" dirty="0"/>
          </a:p>
        </p:txBody>
      </p:sp>
      <p:sp>
        <p:nvSpPr>
          <p:cNvPr id="19" name="carte"/>
          <p:cNvSpPr/>
          <p:nvPr/>
        </p:nvSpPr>
        <p:spPr>
          <a:xfrm>
            <a:off x="4480560" y="3108960"/>
            <a:ext cx="1783080" cy="82296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480560" y="3108960"/>
            <a:ext cx="17830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Boisson énergisante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3,29 $</a:t>
            </a:r>
            <a:endParaRPr lang="en-US" sz="1400" dirty="0"/>
          </a:p>
        </p:txBody>
      </p:sp>
      <p:sp>
        <p:nvSpPr>
          <p:cNvPr id="21" name="bulle"/>
          <p:cNvSpPr/>
          <p:nvPr/>
        </p:nvSpPr>
        <p:spPr>
          <a:xfrm>
            <a:off x="6537960" y="1188720"/>
            <a:ext cx="2011680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37960" y="1188720"/>
            <a:ext cx="2011680" cy="1828800"/>
          </a:xfrm>
          <a:prstGeom prst="roundRect">
            <a:avLst>
              <a:gd name="adj" fmla="val 9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9400" y="1234440"/>
            <a:ext cx="18288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≈ 55 $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a 50 $.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Qu'enlève-t-elle EN PREMIER ?</a:t>
            </a:r>
            <a:endParaRPr lang="en-US" sz="1500" dirty="0"/>
          </a:p>
        </p:txBody>
      </p:sp>
      <p:pic>
        <p:nvPicPr>
          <p:cNvPr id="24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3246120"/>
            <a:ext cx="1325880" cy="126621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usse publicité pour une boisson énergisante nommée ZOOM, à 3,99 $, avec le slogan « L'énergie des GAGNANTS » et « Offre limitée : aujourd'hui seulement »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 semaine prochaine…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2011680" cy="2011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🕵️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2834640" y="1280160"/>
            <a:ext cx="5577840" cy="2926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devient détectives de la pub !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a-t-on autant envie des désirs ?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veut qu'on les désire ?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: rapporte une pub qui t'a donné envie d'acheter (photo, dépliant, capture d'écran).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Mon billet de sortie 🚦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31520" cy="731520"/>
          </a:xfrm>
          <a:prstGeom prst="ellipse">
            <a:avLst/>
          </a:prstGeom>
          <a:solidFill>
            <a:srgbClr val="D7EEDD"/>
          </a:solidFill>
          <a:ln w="12700">
            <a:solidFill>
              <a:srgbClr val="D7EED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645920" y="1188720"/>
            <a:ext cx="48463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suis capable d'estimer seul·e.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731520" cy="731520"/>
          </a:xfrm>
          <a:prstGeom prst="ellipse">
            <a:avLst/>
          </a:prstGeom>
          <a:solidFill>
            <a:srgbClr val="FBEFC9"/>
          </a:solidFill>
          <a:ln w="12700">
            <a:solidFill>
              <a:srgbClr val="FBEF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J'y arrive avec le truc du renard.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731520" cy="731520"/>
          </a:xfrm>
          <a:prstGeom prst="ellipse">
            <a:avLst/>
          </a:prstGeom>
          <a:solidFill>
            <a:srgbClr val="F3D0D0"/>
          </a:solidFill>
          <a:ln w="12700">
            <a:solidFill>
              <a:srgbClr val="F3D0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J'ai encore besoin d'aide.</a:t>
            </a:r>
            <a:endParaRPr lang="en-US" sz="1800" dirty="0"/>
          </a:p>
        </p:txBody>
      </p:sp>
      <p:sp>
        <p:nvSpPr>
          <p:cNvPr id="9" name="bulle"/>
          <p:cNvSpPr/>
          <p:nvPr/>
        </p:nvSpPr>
        <p:spPr>
          <a:xfrm>
            <a:off x="640080" y="3977640"/>
            <a:ext cx="5852160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BFCFCC">
                <a:alpha val="1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977640"/>
            <a:ext cx="5852160" cy="685800"/>
          </a:xfrm>
          <a:prstGeom prst="roundRect">
            <a:avLst>
              <a:gd name="adj" fmla="val 24000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023360"/>
            <a:ext cx="566928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que j'ai acheté cette semaine, et un désir.</a:t>
            </a:r>
            <a:endParaRPr lang="en-US" sz="1600" dirty="0"/>
          </a:p>
        </p:txBody>
      </p:sp>
      <p:pic>
        <p:nvPicPr>
          <p:cNvPr id="12" name="renard" descr="Ren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94560"/>
            <a:ext cx="1920240" cy="183382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nard pastel">
  <a:themeElements>
    <a:clrScheme name="Renard pastel">
      <a:dk1>
        <a:srgbClr val="4A4F55"/>
      </a:dk1>
      <a:lt1>
        <a:srgbClr val="FFFFFF"/>
      </a:lt1>
      <a:dk2>
        <a:srgbClr val="3B2A22"/>
      </a:dk2>
      <a:lt2>
        <a:srgbClr val="FFFDF9"/>
      </a:lt2>
      <a:accent1>
        <a:srgbClr val="C9733A"/>
      </a:accent1>
      <a:accent2>
        <a:srgbClr val="E3BF6A"/>
      </a:accent2>
      <a:accent3>
        <a:srgbClr val="F6D1D6"/>
      </a:accent3>
      <a:accent4>
        <a:srgbClr val="DDF5F2"/>
      </a:accent4>
      <a:accent5>
        <a:srgbClr val="BFCFCC"/>
      </a:accent5>
      <a:accent6>
        <a:srgbClr val="D8C7BB"/>
      </a:accent6>
      <a:hlink>
        <a:srgbClr val="C9733A"/>
      </a:hlink>
      <a:folHlink>
        <a:srgbClr val="8A6A55"/>
      </a:folHlink>
    </a:clrScheme>
    <a:fontScheme name="Renard pastel">
      <a:majorFont>
        <a:latin typeface="Century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Estimer, c'est rusé ! · Besoin ou désir</dc:title>
  <dc:subject>PptxGenJS Presentation</dc:subject>
  <dc:creator>Participation sociale · Budget et consommation</dc:creator>
  <cp:lastModifiedBy>Participation sociale · Budget et consommation</cp:lastModifiedBy>
  <cp:revision>1</cp:revision>
  <dcterms:created xsi:type="dcterms:W3CDTF">2026-10-09T16:42:51Z</dcterms:created>
  <dcterms:modified xsi:type="dcterms:W3CDTF">2026-10-09T16:42:51Z</dcterms:modified>
</cp:coreProperties>
</file>