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532cc7e-cbbe-2c01-b8ad-a4f5a158b6c9}">
          <p14:sldIdLst>
            <p14:sldId id="256"/>
            <p14:sldId id="257"/>
            <p14:sldId id="258"/>
          </p14:sldIdLst>
        </p14:section>
        <p14:section name="Échauffement" id="{5247a460-a520-0874-bb39-85f4c0280087}">
          <p14:sldIdLst>
            <p14:sldId id="259"/>
            <p14:sldId id="260"/>
            <p14:sldId id="261"/>
            <p14:sldId id="262"/>
          </p14:sldIdLst>
        </p14:section>
        <p14:section name="Le manuel du tricheur" id="{087c79b5-bb2c-d709-c17d-aa934c1b0316}">
          <p14:sldIdLst>
            <p14:sldId id="263"/>
            <p14:sldId id="264"/>
            <p14:sldId id="265"/>
            <p14:sldId id="266"/>
            <p14:sldId id="267"/>
            <p14:sldId id="268"/>
            <p14:sldId id="269"/>
          </p14:sldIdLst>
        </p14:section>
        <p14:section name="Le bestiaire" id="{af62c3d9-4985-51c9-0aba-0bd58433ce26}">
          <p14:sldIdLst>
            <p14:sldId id="270"/>
            <p14:sldId id="271"/>
            <p14:sldId id="272"/>
            <p14:sldId id="273"/>
            <p14:sldId id="274"/>
            <p14:sldId id="275"/>
            <p14:sldId id="276"/>
            <p14:sldId id="277"/>
            <p14:sldId id="278"/>
          </p14:sldIdLst>
        </p14:section>
        <p14:section name="Ateliers d'écriture" id="{d767f0f5-3d20-9001-42d1-3add359cf0f5}">
          <p14:sldIdLst>
            <p14:sldId id="279"/>
            <p14:sldId id="280"/>
            <p14:sldId id="281"/>
            <p14:sldId id="282"/>
          </p14:sldIdLst>
        </p14:section>
        <p14:section name="L'arène agréable" id="{6377adf2-8935-22a6-f528-faa2b65afe03}">
          <p14:sldIdLst>
            <p14:sldId id="283"/>
            <p14:sldId id="284"/>
            <p14:sldId id="285"/>
          </p14:sldIdLst>
        </p14:section>
        <p14:section name="Sortie" id="{4df5c2d4-ae5e-d9c1-6b52-3c2a4d844a82}">
          <p14:sldIdLst>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Le visuel s'inspire du New Games Book (1976) : « Play hard, play fair, nobody hurt ». Notre pari : transposer cette éthique du jeu coopératif au débat. On va apprendre les coups bas de Schopenhauer pour les reconnaître, puis pratiquer un débat ferme ET agréable. Durée totale : environ 3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d'amorce, anonyme. Le mur des cicatrices sert de fil rouge : à la fin, chacun choisit un papillon et propose ce qu'il aurait fallu faire autrement.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Aperçu de la séance. Prévoir une pause entre le bestiaire et les ateliers d'écriture. Public : adultes volontaires de tout acabit, sans prérequis. Annoncer la règle du joker dès le départ, et choisir des sujets qui font réfléchir sans viser l'identité ou le vécu intime des personnes présentes.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Distribuer le PDF du zine imprimé recto seulement, taille réelle. Démontrer le pliage une fois, puis laisser les participants s'entraider : premier geste de coopération.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participants se placent physiquement sur une ligne imaginaire au sol. Chaque déplacement doit être justifié : « Qui t'a fait bouger, et avec quoi? » Le « Change de bord! » prépare l'atelier homme d'acier.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Sujet : reprendre un énoncé de la ligne qui bouge. Les accords doivent porter sur le sujet, pas sur la météo. Le « Trop facile! » rend le jeu exigeant et drôle. Inclusion : pour une personne à mobilité réduite, le duo avance un jeton sur une piste dessinée au tableau. Retour : quel accord vous a le plus surpris? Lequel a été le plus difficile à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livre comme un vaccin : connaître les ruses pour les désamorcer. Question à la salle : est-ce éthique d'enseigner ces ruses? Que se passe-t-il si on ne les enseigne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Distinction inspirée de la négociation raisonnée (Fisher et Ury) : dur sur le fond, doux avec les personnes. L'agréabilité est une compétence de fermeté, pas de complaisance. Demander : dans quelle case vous retrouvez-vous quand vous êtes fatigués?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numéros correspondent aux stratagèmes de Schopenhauer. Les surnoms sont les nôtres, pour qu'on les retienne. Ces 9 cartes deviennent la grille de bingo de l'activité du bestiaire.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aux participants de compléter le tableau avec leurs propres exemples, anonymisés. Où les entendez-vous le plus? Lesquels utilisez-vous vous-même sans vous en rendre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Hiérarchie du désaccord de Paul Graham (2008). Plus on monte, plus le débat est agréable pour les personnes et dangereux pour les mauvaises idées. Défi : nommer son étage avant de répondre.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Anatol Rapoport, mathématicien et théoricien des jeux (stratégie « donnant-donnant »). Daniel Dennett a formulé ces règles dans Intuition Pumps (2013). Faire le lien : ces 4 règles sont l'antidote direct des stratagèmes 1, 29 et 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Aperçu : on reconnaît chaque créature d'abord à sa phrase-signature. Insister : personne n'est une seule créature. On change selon la fatigue, le sujet, le public. Les 4 diapos suivantes sont des fiches d'identité à imprimer : elles servent de cartes-rôles pour le bal masqué.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les 4 diapos « Fiches d'identité » et les couper en deux : 8 cartes-rôles. Débat en aquarium : 5 au centre, le reste en observation. L'étape 5 (rejouer en Bâtisseurs) est la plus importante : faire nommer la différence d'ambiance.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grille reprend la page 4 du zine. La case étoile oriente l'attention vers les bons comportements : on finit sur ce qui construit.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Réflexion individuelle silencieuse, puis partage volontaire en dyade. Le but est la métacognition : reconnaître ses propres réflexes sous 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Utiliser la page 5 du zine. Lecture à voix haute : faire sentir physiquement la différence de ton. Variante : réécrire un commentaire de réseau social fictif.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écrite de la règle 1 de Rapoport. Le moment de la signature est souvent émouvant : être bien compris désarme. Afficher les feuilles signées au mur.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finale du séminaire. On compile les stratagèmes du groupe dans un « Manuel du débat loyal » numéroté à partir de 39 : le zine nº 2 du groupe. Page 7 du zine.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Dispositif en aquarium (fishbowl). Les jetons peuvent être des trombones ou des cartes. Le prix « girouette courageuse » renverse le stigmate : changer d'avis devient un exploit.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afficher au travail, sur le frigo, ou à garder dans son portefeuille. La dernière phrase (Céder) est la plus difficile et la plus puissante. Défi de la semaine : l'utiliser une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Retour sur la question d'ouverture. Les papillons réécrits peuvent devenir une affiche collective.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Clôture. Remettre la devise du New Games Book transposée au débat. Inviter les participants à repartir avec leur zine signé.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680960" cy="3840480"/>
          </a:xfrm>
          <a:prstGeom prst="rect">
            <a:avLst/>
          </a:prstGeom>
          <a:noFill/>
          <a:ln/>
        </p:spPr>
        <p:txBody>
          <a:bodyPr wrap="square" rtlCol="0"/>
          <a:lstStyle>
            <a:lvl1pPr algn="l" indent="0" marL="0">
              <a:lnSpc>
                <a:spcPct val="85000"/>
              </a:lnSpc>
              <a:buNone/>
              <a:defRPr lang="en-US" sz="6600" dirty="0">
                <a:solidFill>
                  <a:schemeClr val="accent1"/>
                </a:solidFill>
              </a:defRPr>
            </a:lvl1pPr>
          </a:lstStyle>
          <a:p>
            <a:pPr algn="l" indent="0" marL="0">
              <a:lnSpc>
                <a:spcPct val="85000"/>
              </a:lnSpc>
              <a:buNone/>
            </a:pPr>
            <a:endParaRPr lang="en-US" sz="6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91840"/>
            <a:ext cx="7498080" cy="2194560"/>
          </a:xfrm>
          <a:prstGeom prst="rect">
            <a:avLst/>
          </a:prstGeom>
          <a:noFill/>
          <a:ln/>
        </p:spPr>
        <p:txBody>
          <a:bodyPr wrap="square" rtlCol="0"/>
          <a:lstStyle>
            <a:lvl1pPr algn="l" indent="0" marL="0">
              <a:buNone/>
              <a:defRPr lang="en-US" sz="5400" dirty="0">
                <a:solidFill>
                  <a:schemeClr val="bg2"/>
                </a:solidFill>
              </a:defRPr>
            </a:lvl1pPr>
          </a:lstStyle>
          <a:p>
            <a:pPr algn="l" indent="0" marL="0">
              <a:buNone/>
            </a:pPr>
            <a:endParaRPr lang="en-US" sz="5400" dirty="0"/>
          </a:p>
        </p:txBody>
      </p:sp>
      <p:sp>
        <p:nvSpPr>
          <p:cNvPr id="3" name="Text 0"/>
          <p:cNvSpPr/>
          <p:nvPr>
            <p:ph idx="101" type="body" hasCustomPrompt="1"/>
          </p:nvPr>
        </p:nvSpPr>
        <p:spPr>
          <a:xfrm>
            <a:off x="548640" y="5486400"/>
            <a:ext cx="7498080" cy="7315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rtlCol="0"/>
          <a:lstStyle>
            <a:lvl1pPr algn="l" indent="0" marL="0">
              <a:buNone/>
              <a:defRPr lang="en-US" sz="3600" dirty="0">
                <a:solidFill>
                  <a:schemeClr val="accent1"/>
                </a:solidFill>
              </a:defRPr>
            </a:lvl1pPr>
          </a:lstStyle>
          <a:p>
            <a:pPr algn="l" indent="0" marL="0">
              <a:buNone/>
            </a:pPr>
            <a:endParaRPr lang="en-US" sz="36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LE NOUVEAU LIVRE DU DÉBAT</a:t>
            </a:r>
            <a:endParaRPr lang="en-US" sz="9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UI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rtlCol="0"/>
          <a:lstStyle>
            <a:lvl1pPr algn="l" indent="0" marL="0">
              <a:buNone/>
              <a:defRPr lang="en-US" sz="3600" dirty="0">
                <a:solidFill>
                  <a:schemeClr val="accent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4.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6400800" cy="365760"/>
          </a:xfrm>
          <a:prstGeom prst="rect">
            <a:avLst/>
          </a:prstGeom>
          <a:noFill/>
          <a:ln/>
        </p:spPr>
        <p:txBody>
          <a:bodyPr wrap="square" lIns="0" tIns="0" rIns="0" bIns="0" rtlCol="0" anchor="t"/>
          <a:lstStyle/>
          <a:p>
            <a:pPr indent="0" marL="0">
              <a:buNone/>
            </a:pPr>
            <a:r>
              <a:rPr lang="en-US" sz="1400" b="1" spc="300" kern="0" dirty="0">
                <a:solidFill>
                  <a:schemeClr val="tx1"/>
                </a:solidFill>
                <a:latin typeface="Arial" pitchFamily="34" charset="0"/>
                <a:ea typeface="Arial" pitchFamily="34" charset="-122"/>
                <a:cs typeface="Arial" pitchFamily="34" charset="-120"/>
              </a:rPr>
              <a:t>SÉMINAIRE · LA CONFRONTATION AGRÉABLE</a:t>
            </a:r>
            <a:endParaRPr lang="en-US" sz="1400" dirty="0"/>
          </a:p>
        </p:txBody>
      </p:sp>
      <p:sp>
        <p:nvSpPr>
          <p:cNvPr id="3" name="Text 0"/>
          <p:cNvSpPr/>
          <p:nvPr>
            <p:ph idx="100" type="title" hasCustomPrompt="1"/>
          </p:nvPr>
        </p:nvSpPr>
        <p:spPr>
          <a:xfrm>
            <a:off x="548640" y="2103120"/>
            <a:ext cx="7680960" cy="3840480"/>
          </a:xfrm>
          <a:prstGeom prst="rect">
            <a:avLst/>
          </a:prstGeom>
          <a:noFill/>
          <a:ln/>
        </p:spPr>
        <p:txBody>
          <a:bodyPr wrap="square" lIns="0" tIns="0" rIns="0" bIns="0" rtlCol="0" anchor="t"/>
          <a:lstStyle/>
          <a:p>
            <a:pPr algn="l" indent="0" marL="0">
              <a:lnSpc>
                <a:spcPct val="85000"/>
              </a:lnSpc>
              <a:buNone/>
            </a:pPr>
            <a:r>
              <a:rPr lang="en-US" sz="6600" dirty="0">
                <a:solidFill>
                  <a:schemeClr val="accent1"/>
                </a:solidFill>
              </a:rPr>
              <a:t>LE NOUVEAU</a:t>
            </a:r>
            <a:endParaRPr lang="en-US" sz="6600" dirty="0"/>
          </a:p>
          <a:p>
            <a:pPr algn="l" indent="0" marL="0">
              <a:lnSpc>
                <a:spcPct val="85000"/>
              </a:lnSpc>
              <a:buNone/>
            </a:pPr>
            <a:r>
              <a:rPr lang="en-US" sz="6600" dirty="0">
                <a:solidFill>
                  <a:schemeClr val="accent1"/>
                </a:solidFill>
              </a:rPr>
              <a:t>LIVRE DU</a:t>
            </a:r>
            <a:endParaRPr lang="en-US" sz="6600" dirty="0"/>
          </a:p>
          <a:p>
            <a:pPr algn="l" indent="0" marL="0">
              <a:lnSpc>
                <a:spcPct val="85000"/>
              </a:lnSpc>
              <a:buNone/>
            </a:pPr>
            <a:r>
              <a:rPr lang="en-US" sz="6600" dirty="0">
                <a:solidFill>
                  <a:schemeClr val="accent1"/>
                </a:solidFill>
              </a:rPr>
              <a:t>DÉBAT</a:t>
            </a:r>
            <a:endParaRPr lang="en-US" sz="6600" dirty="0"/>
          </a:p>
        </p:txBody>
      </p:sp>
      <p:pic>
        <p:nvPicPr>
          <p:cNvPr id="4" name="sauteur" descr="preencoded.png">    </p:cNvPr>
          <p:cNvPicPr>
            <a:picLocks noChangeAspect="1"/>
          </p:cNvPicPr>
          <p:nvPr/>
        </p:nvPicPr>
        <p:blipFill>
          <a:blip r:embed="rId1"/>
          <a:stretch>
            <a:fillRect/>
          </a:stretch>
        </p:blipFill>
        <p:spPr>
          <a:xfrm rot="480000">
            <a:off x="7589520" y="182880"/>
            <a:ext cx="4206240" cy="5074920"/>
          </a:xfrm>
          <a:prstGeom prst="rect">
            <a:avLst/>
          </a:prstGeom>
        </p:spPr>
      </p:pic>
      <p:sp>
        <p:nvSpPr>
          <p:cNvPr id="5" name="Text 2"/>
          <p:cNvSpPr txBox="1"/>
          <p:nvPr/>
        </p:nvSpPr>
        <p:spPr>
          <a:xfrm>
            <a:off x="8778240" y="5257800"/>
            <a:ext cx="2926080" cy="1097280"/>
          </a:xfrm>
          <a:prstGeom prst="rect">
            <a:avLst/>
          </a:prstGeom>
          <a:noFill/>
          <a:ln/>
        </p:spPr>
        <p:txBody>
          <a:bodyPr wrap="square" lIns="0" tIns="0" rIns="0" bIns="0" rtlCol="0" anchor="t"/>
          <a:lstStyle/>
          <a:p>
            <a:pPr algn="l" indent="0" marL="0">
              <a:buNone/>
            </a:pPr>
            <a:r>
              <a:rPr lang="en-US" sz="1800" b="1" dirty="0">
                <a:solidFill>
                  <a:schemeClr val="tx1"/>
                </a:solidFill>
                <a:latin typeface="Arial" pitchFamily="34" charset="0"/>
                <a:ea typeface="Arial" pitchFamily="34" charset="-122"/>
                <a:cs typeface="Arial" pitchFamily="34" charset="-120"/>
              </a:rPr>
              <a:t>Débattre fort</a:t>
            </a:r>
            <a:endParaRPr lang="en-US" sz="1800" dirty="0"/>
          </a:p>
          <a:p>
            <a:pPr algn="l" indent="0" marL="0">
              <a:buNone/>
            </a:pPr>
            <a:r>
              <a:rPr lang="en-US" sz="1800" b="1" dirty="0">
                <a:solidFill>
                  <a:schemeClr val="tx1"/>
                </a:solidFill>
                <a:latin typeface="Arial" pitchFamily="34" charset="0"/>
                <a:ea typeface="Arial" pitchFamily="34" charset="-122"/>
                <a:cs typeface="Arial" pitchFamily="34" charset="-120"/>
              </a:rPr>
              <a:t>Débattre juste</a:t>
            </a:r>
            <a:endParaRPr lang="en-US" sz="1800" dirty="0"/>
          </a:p>
          <a:p>
            <a:pPr algn="l" indent="0" marL="0">
              <a:buNone/>
            </a:pPr>
            <a:r>
              <a:rPr lang="en-US" sz="1800" b="1" dirty="0">
                <a:solidFill>
                  <a:schemeClr val="tx1"/>
                </a:solidFill>
                <a:latin typeface="Arial" pitchFamily="34" charset="0"/>
                <a:ea typeface="Arial" pitchFamily="34" charset="-122"/>
                <a:cs typeface="Arial" pitchFamily="34" charset="-120"/>
              </a:rPr>
              <a:t>Personne blessé·e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2"/>
                </a:solidFill>
              </a:rPr>
              <a:t>Question d'entrée</a:t>
            </a:r>
            <a:endParaRPr lang="en-US" sz="3600" dirty="0"/>
          </a:p>
        </p:txBody>
      </p:sp>
      <p:sp>
        <p:nvSpPr>
          <p:cNvPr id="3" name="Text 1"/>
          <p:cNvSpPr txBox="1"/>
          <p:nvPr/>
        </p:nvSpPr>
        <p:spPr>
          <a:xfrm>
            <a:off x="548640" y="1737360"/>
            <a:ext cx="7863840" cy="2377440"/>
          </a:xfrm>
          <a:prstGeom prst="rect">
            <a:avLst/>
          </a:prstGeom>
          <a:noFill/>
          <a:ln/>
        </p:spPr>
        <p:txBody>
          <a:bodyPr wrap="square" lIns="0" tIns="0" rIns="0" bIns="0" rtlCol="0" anchor="t"/>
          <a:lstStyle/>
          <a:p>
            <a:pPr indent="0" marL="0">
              <a:lnSpc>
                <a:spcPct val="95000"/>
              </a:lnSpc>
              <a:buNone/>
            </a:pPr>
            <a:r>
              <a:rPr lang="en-US" sz="4800" dirty="0">
                <a:solidFill>
                  <a:schemeClr val="bg2"/>
                </a:solidFill>
                <a:latin typeface="Rockwell Extra Bold" pitchFamily="34" charset="0"/>
                <a:ea typeface="Rockwell Extra Bold" pitchFamily="34" charset="-122"/>
                <a:cs typeface="Rockwell Extra Bold" pitchFamily="34" charset="-120"/>
              </a:rPr>
              <a:t>As-tu déjà gagné un débat…</a:t>
            </a:r>
            <a:endParaRPr lang="en-US" sz="4800" dirty="0"/>
          </a:p>
          <a:p>
            <a:pPr indent="0" marL="0">
              <a:lnSpc>
                <a:spcPct val="95000"/>
              </a:lnSpc>
              <a:buNone/>
            </a:pPr>
            <a:r>
              <a:rPr lang="en-US" sz="4800" dirty="0">
                <a:solidFill>
                  <a:schemeClr val="bg2"/>
                </a:solidFill>
                <a:latin typeface="Rockwell Extra Bold" pitchFamily="34" charset="0"/>
                <a:ea typeface="Rockwell Extra Bold" pitchFamily="34" charset="-122"/>
                <a:cs typeface="Rockwell Extra Bold" pitchFamily="34" charset="-120"/>
              </a:rPr>
              <a:t>et perdu un ami?</a:t>
            </a:r>
            <a:endParaRPr lang="en-US" sz="4800" dirty="0"/>
          </a:p>
        </p:txBody>
      </p:sp>
      <p:sp>
        <p:nvSpPr>
          <p:cNvPr id="4" name="Text 2"/>
          <p:cNvSpPr txBox="1"/>
          <p:nvPr/>
        </p:nvSpPr>
        <p:spPr>
          <a:xfrm>
            <a:off x="548640" y="4754880"/>
            <a:ext cx="6949440" cy="82296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Écris ta réponse sur un papillon adhésif. Pas de nom. On les colle sur le « mur des cicatrices », on les relira à la fin.</a:t>
            </a:r>
            <a:endParaRPr lang="en-US" sz="1600" dirty="0"/>
          </a:p>
        </p:txBody>
      </p:sp>
      <p:pic>
        <p:nvPicPr>
          <p:cNvPr id="5" name="Image 0" descr="preencoded.png">    </p:cNvPr>
          <p:cNvPicPr>
            <a:picLocks noChangeAspect="1"/>
          </p:cNvPicPr>
          <p:nvPr/>
        </p:nvPicPr>
        <p:blipFill>
          <a:blip r:embed="rId1"/>
          <a:stretch>
            <a:fillRect/>
          </a:stretch>
        </p:blipFill>
        <p:spPr>
          <a:xfrm>
            <a:off x="8503920" y="1463040"/>
            <a:ext cx="1600200" cy="1920240"/>
          </a:xfrm>
          <a:prstGeom prst="rect">
            <a:avLst/>
          </a:prstGeom>
        </p:spPr>
      </p:pic>
      <p:pic>
        <p:nvPicPr>
          <p:cNvPr id="6" name="Image 1" descr="preencoded.png">    </p:cNvPr>
          <p:cNvPicPr>
            <a:picLocks noChangeAspect="1"/>
          </p:cNvPicPr>
          <p:nvPr/>
        </p:nvPicPr>
        <p:blipFill>
          <a:blip r:embed="rId2"/>
          <a:stretch>
            <a:fillRect/>
          </a:stretch>
        </p:blipFill>
        <p:spPr>
          <a:xfrm>
            <a:off x="10058400" y="1463040"/>
            <a:ext cx="1600200" cy="1920240"/>
          </a:xfrm>
          <a:prstGeom prst="rect">
            <a:avLst/>
          </a:prstGeom>
        </p:spPr>
      </p:pic>
      <p:pic>
        <p:nvPicPr>
          <p:cNvPr id="7" name="Image 2" descr="preencoded.png">    </p:cNvPr>
          <p:cNvPicPr>
            <a:picLocks noChangeAspect="1"/>
          </p:cNvPicPr>
          <p:nvPr/>
        </p:nvPicPr>
        <p:blipFill>
          <a:blip r:embed="rId3"/>
          <a:stretch>
            <a:fillRect/>
          </a:stretch>
        </p:blipFill>
        <p:spPr>
          <a:xfrm>
            <a:off x="9281160" y="3657600"/>
            <a:ext cx="1600200" cy="1920240"/>
          </a:xfrm>
          <a:prstGeom prst="rect">
            <a:avLst/>
          </a:prstGeom>
        </p:spPr>
      </p:pic>
      <p:sp>
        <p:nvSpPr>
          <p:cNvPr id="8" name="Shape 3"/>
          <p:cNvSpPr/>
          <p:nvPr/>
        </p:nvSpPr>
        <p:spPr>
          <a:xfrm>
            <a:off x="9966960" y="411480"/>
            <a:ext cx="1645920" cy="457200"/>
          </a:xfrm>
          <a:prstGeom prst="roundRect">
            <a:avLst>
              <a:gd name="adj" fmla="val 50000"/>
            </a:avLst>
          </a:prstGeom>
          <a:solidFill>
            <a:schemeClr val="accent2"/>
          </a:solidFill>
          <a:ln/>
        </p:spPr>
      </p:sp>
      <p:sp>
        <p:nvSpPr>
          <p:cNvPr id="9" name="Text 4"/>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tx1"/>
                </a:solidFill>
              </a:rPr>
              <a:t>⏱ 3 min</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parcours de la séance</a:t>
            </a:r>
            <a:endParaRPr lang="en-US" sz="3600" dirty="0"/>
          </a:p>
        </p:txBody>
      </p:sp>
      <p:sp>
        <p:nvSpPr>
          <p:cNvPr id="3" name="Shape 1"/>
          <p:cNvSpPr/>
          <p:nvPr/>
        </p:nvSpPr>
        <p:spPr>
          <a:xfrm>
            <a:off x="1143000" y="1600200"/>
            <a:ext cx="640080" cy="640080"/>
          </a:xfrm>
          <a:prstGeom prst="ellipse">
            <a:avLst/>
          </a:prstGeom>
          <a:solidFill>
            <a:schemeClr val="accent1"/>
          </a:solidFill>
          <a:ln w="19050">
            <a:solidFill>
              <a:schemeClr val="tx1"/>
            </a:solidFill>
            <a:prstDash val="solid"/>
          </a:ln>
        </p:spPr>
      </p:sp>
      <p:sp>
        <p:nvSpPr>
          <p:cNvPr id="4" name="Text 2"/>
          <p:cNvSpPr txBox="1"/>
          <p:nvPr/>
        </p:nvSpPr>
        <p:spPr>
          <a:xfrm>
            <a:off x="114300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0</a:t>
            </a:r>
            <a:endParaRPr lang="en-US" sz="2400" dirty="0"/>
          </a:p>
        </p:txBody>
      </p:sp>
      <p:sp>
        <p:nvSpPr>
          <p:cNvPr id="5" name="Shape 3"/>
          <p:cNvSpPr/>
          <p:nvPr/>
        </p:nvSpPr>
        <p:spPr>
          <a:xfrm>
            <a:off x="1828800" y="1920240"/>
            <a:ext cx="1234440" cy="0"/>
          </a:xfrm>
          <a:prstGeom prst="line">
            <a:avLst/>
          </a:prstGeom>
          <a:noFill/>
          <a:ln w="25400">
            <a:solidFill>
              <a:schemeClr val="tx1"/>
            </a:solidFill>
            <a:prstDash val="dash"/>
          </a:ln>
        </p:spPr>
      </p:sp>
      <p:sp>
        <p:nvSpPr>
          <p:cNvPr id="6" name="Shape 4"/>
          <p:cNvSpPr/>
          <p:nvPr/>
        </p:nvSpPr>
        <p:spPr>
          <a:xfrm>
            <a:off x="548640" y="2514600"/>
            <a:ext cx="1691640" cy="3017520"/>
          </a:xfrm>
          <a:prstGeom prst="rect">
            <a:avLst/>
          </a:prstGeom>
          <a:solidFill>
            <a:schemeClr val="bg1"/>
          </a:solidFill>
          <a:ln w="25400">
            <a:solidFill>
              <a:schemeClr val="tx1"/>
            </a:solidFill>
            <a:prstDash val="solid"/>
          </a:ln>
        </p:spPr>
      </p:sp>
      <p:sp>
        <p:nvSpPr>
          <p:cNvPr id="7" name="Text 5"/>
          <p:cNvSpPr txBox="1"/>
          <p:nvPr/>
        </p:nvSpPr>
        <p:spPr>
          <a:xfrm>
            <a:off x="68580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Échauffement</a:t>
            </a:r>
            <a:endParaRPr lang="en-US" sz="1500" dirty="0"/>
          </a:p>
        </p:txBody>
      </p:sp>
      <p:sp>
        <p:nvSpPr>
          <p:cNvPr id="8" name="Text 6"/>
          <p:cNvSpPr txBox="1"/>
          <p:nvPr/>
        </p:nvSpPr>
        <p:spPr>
          <a:xfrm>
            <a:off x="68580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Zine, ligne qui bouge, course à trois jambes</a:t>
            </a:r>
            <a:endParaRPr lang="en-US" sz="1300" dirty="0"/>
          </a:p>
        </p:txBody>
      </p:sp>
      <p:sp>
        <p:nvSpPr>
          <p:cNvPr id="9" name="Text 7"/>
          <p:cNvSpPr txBox="1"/>
          <p:nvPr/>
        </p:nvSpPr>
        <p:spPr>
          <a:xfrm>
            <a:off x="68580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30 min</a:t>
            </a:r>
            <a:endParaRPr lang="en-US" sz="1400" dirty="0"/>
          </a:p>
        </p:txBody>
      </p:sp>
      <p:sp>
        <p:nvSpPr>
          <p:cNvPr id="10" name="Shape 8"/>
          <p:cNvSpPr/>
          <p:nvPr/>
        </p:nvSpPr>
        <p:spPr>
          <a:xfrm>
            <a:off x="3017520" y="1600200"/>
            <a:ext cx="640080" cy="640080"/>
          </a:xfrm>
          <a:prstGeom prst="ellipse">
            <a:avLst/>
          </a:prstGeom>
          <a:solidFill>
            <a:schemeClr val="accent2"/>
          </a:solidFill>
          <a:ln w="19050">
            <a:solidFill>
              <a:schemeClr val="tx1"/>
            </a:solidFill>
            <a:prstDash val="solid"/>
          </a:ln>
        </p:spPr>
      </p:sp>
      <p:sp>
        <p:nvSpPr>
          <p:cNvPr id="11" name="Text 9"/>
          <p:cNvSpPr txBox="1"/>
          <p:nvPr/>
        </p:nvSpPr>
        <p:spPr>
          <a:xfrm>
            <a:off x="301752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1</a:t>
            </a:r>
            <a:endParaRPr lang="en-US" sz="2400" dirty="0"/>
          </a:p>
        </p:txBody>
      </p:sp>
      <p:sp>
        <p:nvSpPr>
          <p:cNvPr id="12" name="Shape 10"/>
          <p:cNvSpPr/>
          <p:nvPr/>
        </p:nvSpPr>
        <p:spPr>
          <a:xfrm>
            <a:off x="3703320" y="1920240"/>
            <a:ext cx="1234440" cy="0"/>
          </a:xfrm>
          <a:prstGeom prst="line">
            <a:avLst/>
          </a:prstGeom>
          <a:noFill/>
          <a:ln w="25400">
            <a:solidFill>
              <a:schemeClr val="tx1"/>
            </a:solidFill>
            <a:prstDash val="dash"/>
          </a:ln>
        </p:spPr>
      </p:sp>
      <p:sp>
        <p:nvSpPr>
          <p:cNvPr id="13" name="Shape 11"/>
          <p:cNvSpPr/>
          <p:nvPr/>
        </p:nvSpPr>
        <p:spPr>
          <a:xfrm>
            <a:off x="2423160" y="2514600"/>
            <a:ext cx="1691640" cy="3017520"/>
          </a:xfrm>
          <a:prstGeom prst="rect">
            <a:avLst/>
          </a:prstGeom>
          <a:solidFill>
            <a:schemeClr val="bg1"/>
          </a:solidFill>
          <a:ln w="25400">
            <a:solidFill>
              <a:schemeClr val="tx1"/>
            </a:solidFill>
            <a:prstDash val="solid"/>
          </a:ln>
        </p:spPr>
      </p:sp>
      <p:sp>
        <p:nvSpPr>
          <p:cNvPr id="14" name="Text 12"/>
          <p:cNvSpPr txBox="1"/>
          <p:nvPr/>
        </p:nvSpPr>
        <p:spPr>
          <a:xfrm>
            <a:off x="256032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manuel du tricheur</a:t>
            </a:r>
            <a:endParaRPr lang="en-US" sz="1500" dirty="0"/>
          </a:p>
        </p:txBody>
      </p:sp>
      <p:sp>
        <p:nvSpPr>
          <p:cNvPr id="15" name="Text 13"/>
          <p:cNvSpPr txBox="1"/>
          <p:nvPr/>
        </p:nvSpPr>
        <p:spPr>
          <a:xfrm>
            <a:off x="256032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Schopenhauer, coups bas, pyramide, Rapoport</a:t>
            </a:r>
            <a:endParaRPr lang="en-US" sz="1300" dirty="0"/>
          </a:p>
        </p:txBody>
      </p:sp>
      <p:sp>
        <p:nvSpPr>
          <p:cNvPr id="16" name="Text 14"/>
          <p:cNvSpPr txBox="1"/>
          <p:nvPr/>
        </p:nvSpPr>
        <p:spPr>
          <a:xfrm>
            <a:off x="256032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35 min</a:t>
            </a:r>
            <a:endParaRPr lang="en-US" sz="1400" dirty="0"/>
          </a:p>
        </p:txBody>
      </p:sp>
      <p:sp>
        <p:nvSpPr>
          <p:cNvPr id="17" name="Shape 15"/>
          <p:cNvSpPr/>
          <p:nvPr/>
        </p:nvSpPr>
        <p:spPr>
          <a:xfrm>
            <a:off x="4892040" y="1600200"/>
            <a:ext cx="640080" cy="640080"/>
          </a:xfrm>
          <a:prstGeom prst="ellipse">
            <a:avLst/>
          </a:prstGeom>
          <a:solidFill>
            <a:schemeClr val="accent1"/>
          </a:solidFill>
          <a:ln w="19050">
            <a:solidFill>
              <a:schemeClr val="tx1"/>
            </a:solidFill>
            <a:prstDash val="solid"/>
          </a:ln>
        </p:spPr>
      </p:sp>
      <p:sp>
        <p:nvSpPr>
          <p:cNvPr id="18" name="Text 16"/>
          <p:cNvSpPr txBox="1"/>
          <p:nvPr/>
        </p:nvSpPr>
        <p:spPr>
          <a:xfrm>
            <a:off x="489204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2</a:t>
            </a:r>
            <a:endParaRPr lang="en-US" sz="2400" dirty="0"/>
          </a:p>
        </p:txBody>
      </p:sp>
      <p:sp>
        <p:nvSpPr>
          <p:cNvPr id="19" name="Shape 17"/>
          <p:cNvSpPr/>
          <p:nvPr/>
        </p:nvSpPr>
        <p:spPr>
          <a:xfrm>
            <a:off x="5577840" y="1920240"/>
            <a:ext cx="1234440" cy="0"/>
          </a:xfrm>
          <a:prstGeom prst="line">
            <a:avLst/>
          </a:prstGeom>
          <a:noFill/>
          <a:ln w="25400">
            <a:solidFill>
              <a:schemeClr val="tx1"/>
            </a:solidFill>
            <a:prstDash val="dash"/>
          </a:ln>
        </p:spPr>
      </p:sp>
      <p:sp>
        <p:nvSpPr>
          <p:cNvPr id="20" name="Shape 18"/>
          <p:cNvSpPr/>
          <p:nvPr/>
        </p:nvSpPr>
        <p:spPr>
          <a:xfrm>
            <a:off x="4297680" y="2514600"/>
            <a:ext cx="1691640" cy="3017520"/>
          </a:xfrm>
          <a:prstGeom prst="rect">
            <a:avLst/>
          </a:prstGeom>
          <a:solidFill>
            <a:schemeClr val="bg1"/>
          </a:solidFill>
          <a:ln w="25400">
            <a:solidFill>
              <a:schemeClr val="tx1"/>
            </a:solidFill>
            <a:prstDash val="solid"/>
          </a:ln>
        </p:spPr>
      </p:sp>
      <p:sp>
        <p:nvSpPr>
          <p:cNvPr id="21" name="Text 19"/>
          <p:cNvSpPr txBox="1"/>
          <p:nvPr/>
        </p:nvSpPr>
        <p:spPr>
          <a:xfrm>
            <a:off x="443484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bestiaire</a:t>
            </a:r>
            <a:endParaRPr lang="en-US" sz="1500" dirty="0"/>
          </a:p>
        </p:txBody>
      </p:sp>
      <p:sp>
        <p:nvSpPr>
          <p:cNvPr id="22" name="Text 20"/>
          <p:cNvSpPr txBox="1"/>
          <p:nvPr/>
        </p:nvSpPr>
        <p:spPr>
          <a:xfrm>
            <a:off x="443484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Bal masqué des débatteurs, bingo</a:t>
            </a:r>
            <a:endParaRPr lang="en-US" sz="1300" dirty="0"/>
          </a:p>
        </p:txBody>
      </p:sp>
      <p:sp>
        <p:nvSpPr>
          <p:cNvPr id="23" name="Text 21"/>
          <p:cNvSpPr txBox="1"/>
          <p:nvPr/>
        </p:nvSpPr>
        <p:spPr>
          <a:xfrm>
            <a:off x="443484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40 min</a:t>
            </a:r>
            <a:endParaRPr lang="en-US" sz="1400" dirty="0"/>
          </a:p>
        </p:txBody>
      </p:sp>
      <p:sp>
        <p:nvSpPr>
          <p:cNvPr id="24" name="Shape 22"/>
          <p:cNvSpPr/>
          <p:nvPr/>
        </p:nvSpPr>
        <p:spPr>
          <a:xfrm>
            <a:off x="6766560" y="1600200"/>
            <a:ext cx="640080" cy="640080"/>
          </a:xfrm>
          <a:prstGeom prst="ellipse">
            <a:avLst/>
          </a:prstGeom>
          <a:solidFill>
            <a:schemeClr val="accent2"/>
          </a:solidFill>
          <a:ln w="19050">
            <a:solidFill>
              <a:schemeClr val="tx1"/>
            </a:solidFill>
            <a:prstDash val="solid"/>
          </a:ln>
        </p:spPr>
      </p:sp>
      <p:sp>
        <p:nvSpPr>
          <p:cNvPr id="25" name="Text 23"/>
          <p:cNvSpPr txBox="1"/>
          <p:nvPr/>
        </p:nvSpPr>
        <p:spPr>
          <a:xfrm>
            <a:off x="676656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3</a:t>
            </a:r>
            <a:endParaRPr lang="en-US" sz="2400" dirty="0"/>
          </a:p>
        </p:txBody>
      </p:sp>
      <p:sp>
        <p:nvSpPr>
          <p:cNvPr id="26" name="Shape 24"/>
          <p:cNvSpPr/>
          <p:nvPr/>
        </p:nvSpPr>
        <p:spPr>
          <a:xfrm>
            <a:off x="7452360" y="1920240"/>
            <a:ext cx="1234440" cy="0"/>
          </a:xfrm>
          <a:prstGeom prst="line">
            <a:avLst/>
          </a:prstGeom>
          <a:noFill/>
          <a:ln w="25400">
            <a:solidFill>
              <a:schemeClr val="tx1"/>
            </a:solidFill>
            <a:prstDash val="dash"/>
          </a:ln>
        </p:spPr>
      </p:sp>
      <p:sp>
        <p:nvSpPr>
          <p:cNvPr id="27" name="Shape 25"/>
          <p:cNvSpPr/>
          <p:nvPr/>
        </p:nvSpPr>
        <p:spPr>
          <a:xfrm>
            <a:off x="6172200" y="2514600"/>
            <a:ext cx="1691640" cy="3017520"/>
          </a:xfrm>
          <a:prstGeom prst="rect">
            <a:avLst/>
          </a:prstGeom>
          <a:solidFill>
            <a:schemeClr val="bg1"/>
          </a:solidFill>
          <a:ln w="25400">
            <a:solidFill>
              <a:schemeClr val="tx1"/>
            </a:solidFill>
            <a:prstDash val="solid"/>
          </a:ln>
        </p:spPr>
      </p:sp>
      <p:sp>
        <p:nvSpPr>
          <p:cNvPr id="28" name="Text 26"/>
          <p:cNvSpPr txBox="1"/>
          <p:nvPr/>
        </p:nvSpPr>
        <p:spPr>
          <a:xfrm>
            <a:off x="630936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Ateliers d'écriture</a:t>
            </a:r>
            <a:endParaRPr lang="en-US" sz="1500" dirty="0"/>
          </a:p>
        </p:txBody>
      </p:sp>
      <p:sp>
        <p:nvSpPr>
          <p:cNvPr id="29" name="Text 27"/>
          <p:cNvSpPr txBox="1"/>
          <p:nvPr/>
        </p:nvSpPr>
        <p:spPr>
          <a:xfrm>
            <a:off x="630936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Ascenseur, homme d'acier, 39ᵉ stratagème</a:t>
            </a:r>
            <a:endParaRPr lang="en-US" sz="1300" dirty="0"/>
          </a:p>
        </p:txBody>
      </p:sp>
      <p:sp>
        <p:nvSpPr>
          <p:cNvPr id="30" name="Text 28"/>
          <p:cNvSpPr txBox="1"/>
          <p:nvPr/>
        </p:nvSpPr>
        <p:spPr>
          <a:xfrm>
            <a:off x="630936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45 min</a:t>
            </a:r>
            <a:endParaRPr lang="en-US" sz="1400" dirty="0"/>
          </a:p>
        </p:txBody>
      </p:sp>
      <p:sp>
        <p:nvSpPr>
          <p:cNvPr id="31" name="Shape 29"/>
          <p:cNvSpPr/>
          <p:nvPr/>
        </p:nvSpPr>
        <p:spPr>
          <a:xfrm>
            <a:off x="8641080" y="1600200"/>
            <a:ext cx="640080" cy="640080"/>
          </a:xfrm>
          <a:prstGeom prst="ellipse">
            <a:avLst/>
          </a:prstGeom>
          <a:solidFill>
            <a:schemeClr val="accent1"/>
          </a:solidFill>
          <a:ln w="19050">
            <a:solidFill>
              <a:schemeClr val="tx1"/>
            </a:solidFill>
            <a:prstDash val="solid"/>
          </a:ln>
        </p:spPr>
      </p:sp>
      <p:sp>
        <p:nvSpPr>
          <p:cNvPr id="32" name="Text 30"/>
          <p:cNvSpPr txBox="1"/>
          <p:nvPr/>
        </p:nvSpPr>
        <p:spPr>
          <a:xfrm>
            <a:off x="864108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4</a:t>
            </a:r>
            <a:endParaRPr lang="en-US" sz="2400" dirty="0"/>
          </a:p>
        </p:txBody>
      </p:sp>
      <p:sp>
        <p:nvSpPr>
          <p:cNvPr id="33" name="Shape 31"/>
          <p:cNvSpPr/>
          <p:nvPr/>
        </p:nvSpPr>
        <p:spPr>
          <a:xfrm>
            <a:off x="9326880" y="1920240"/>
            <a:ext cx="1234440" cy="0"/>
          </a:xfrm>
          <a:prstGeom prst="line">
            <a:avLst/>
          </a:prstGeom>
          <a:noFill/>
          <a:ln w="25400">
            <a:solidFill>
              <a:schemeClr val="tx1"/>
            </a:solidFill>
            <a:prstDash val="dash"/>
          </a:ln>
        </p:spPr>
      </p:sp>
      <p:sp>
        <p:nvSpPr>
          <p:cNvPr id="34" name="Shape 32"/>
          <p:cNvSpPr/>
          <p:nvPr/>
        </p:nvSpPr>
        <p:spPr>
          <a:xfrm>
            <a:off x="8046720" y="2514600"/>
            <a:ext cx="1691640" cy="3017520"/>
          </a:xfrm>
          <a:prstGeom prst="rect">
            <a:avLst/>
          </a:prstGeom>
          <a:solidFill>
            <a:schemeClr val="bg1"/>
          </a:solidFill>
          <a:ln w="25400">
            <a:solidFill>
              <a:schemeClr val="tx1"/>
            </a:solidFill>
            <a:prstDash val="solid"/>
          </a:ln>
        </p:spPr>
      </p:sp>
      <p:sp>
        <p:nvSpPr>
          <p:cNvPr id="35" name="Text 33"/>
          <p:cNvSpPr txBox="1"/>
          <p:nvPr/>
        </p:nvSpPr>
        <p:spPr>
          <a:xfrm>
            <a:off x="818388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L'arène agréable</a:t>
            </a:r>
            <a:endParaRPr lang="en-US" sz="1500" dirty="0"/>
          </a:p>
        </p:txBody>
      </p:sp>
      <p:sp>
        <p:nvSpPr>
          <p:cNvPr id="36" name="Text 34"/>
          <p:cNvSpPr txBox="1"/>
          <p:nvPr/>
        </p:nvSpPr>
        <p:spPr>
          <a:xfrm>
            <a:off x="818388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Aquarium à jetons de reformulation</a:t>
            </a:r>
            <a:endParaRPr lang="en-US" sz="1300" dirty="0"/>
          </a:p>
        </p:txBody>
      </p:sp>
      <p:sp>
        <p:nvSpPr>
          <p:cNvPr id="37" name="Text 35"/>
          <p:cNvSpPr txBox="1"/>
          <p:nvPr/>
        </p:nvSpPr>
        <p:spPr>
          <a:xfrm>
            <a:off x="818388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25 min</a:t>
            </a:r>
            <a:endParaRPr lang="en-US" sz="1400" dirty="0"/>
          </a:p>
        </p:txBody>
      </p:sp>
      <p:sp>
        <p:nvSpPr>
          <p:cNvPr id="38" name="Shape 36"/>
          <p:cNvSpPr/>
          <p:nvPr/>
        </p:nvSpPr>
        <p:spPr>
          <a:xfrm>
            <a:off x="10515600" y="1600200"/>
            <a:ext cx="640080" cy="640080"/>
          </a:xfrm>
          <a:prstGeom prst="ellipse">
            <a:avLst/>
          </a:prstGeom>
          <a:solidFill>
            <a:schemeClr val="accent2"/>
          </a:solidFill>
          <a:ln w="19050">
            <a:solidFill>
              <a:schemeClr val="tx1"/>
            </a:solidFill>
            <a:prstDash val="solid"/>
          </a:ln>
        </p:spPr>
      </p:sp>
      <p:sp>
        <p:nvSpPr>
          <p:cNvPr id="39" name="Text 37"/>
          <p:cNvSpPr txBox="1"/>
          <p:nvPr/>
        </p:nvSpPr>
        <p:spPr>
          <a:xfrm>
            <a:off x="1051560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5</a:t>
            </a:r>
            <a:endParaRPr lang="en-US" sz="2400" dirty="0"/>
          </a:p>
        </p:txBody>
      </p:sp>
      <p:sp>
        <p:nvSpPr>
          <p:cNvPr id="40" name="Shape 38"/>
          <p:cNvSpPr/>
          <p:nvPr/>
        </p:nvSpPr>
        <p:spPr>
          <a:xfrm>
            <a:off x="9921240" y="2514600"/>
            <a:ext cx="1691640" cy="3017520"/>
          </a:xfrm>
          <a:prstGeom prst="rect">
            <a:avLst/>
          </a:prstGeom>
          <a:solidFill>
            <a:schemeClr val="bg1"/>
          </a:solidFill>
          <a:ln w="25400">
            <a:solidFill>
              <a:schemeClr val="tx1"/>
            </a:solidFill>
            <a:prstDash val="solid"/>
          </a:ln>
        </p:spPr>
      </p:sp>
      <p:sp>
        <p:nvSpPr>
          <p:cNvPr id="41" name="Text 39"/>
          <p:cNvSpPr txBox="1"/>
          <p:nvPr/>
        </p:nvSpPr>
        <p:spPr>
          <a:xfrm>
            <a:off x="1005840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Sortie</a:t>
            </a:r>
            <a:endParaRPr lang="en-US" sz="1500" dirty="0"/>
          </a:p>
        </p:txBody>
      </p:sp>
      <p:sp>
        <p:nvSpPr>
          <p:cNvPr id="42" name="Text 40"/>
          <p:cNvSpPr txBox="1"/>
          <p:nvPr/>
        </p:nvSpPr>
        <p:spPr>
          <a:xfrm>
            <a:off x="1005840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Billet 3-2-1, mur des cicatrices</a:t>
            </a:r>
            <a:endParaRPr lang="en-US" sz="1300" dirty="0"/>
          </a:p>
        </p:txBody>
      </p:sp>
      <p:sp>
        <p:nvSpPr>
          <p:cNvPr id="43" name="Text 41"/>
          <p:cNvSpPr txBox="1"/>
          <p:nvPr/>
        </p:nvSpPr>
        <p:spPr>
          <a:xfrm>
            <a:off x="1005840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10 min</a:t>
            </a:r>
            <a:endParaRPr lang="en-US" sz="1400" dirty="0"/>
          </a:p>
        </p:txBody>
      </p:sp>
      <p:sp>
        <p:nvSpPr>
          <p:cNvPr id="44" name="Text 42"/>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Règle du joker : </a:t>
            </a:r>
            <a:pPr indent="0" marL="0">
              <a:buNone/>
            </a:pPr>
            <a:r>
              <a:rPr lang="en-US" sz="1500" dirty="0">
                <a:solidFill>
                  <a:schemeClr val="tx1"/>
                </a:solidFill>
                <a:latin typeface="Arial" pitchFamily="34" charset="0"/>
                <a:ea typeface="Arial" pitchFamily="34" charset="-122"/>
                <a:cs typeface="Arial" pitchFamily="34" charset="-120"/>
              </a:rPr>
              <a:t>chacun peut passer son tour, à tout moment, sans se justifier.</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0</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Échauffement</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Trois activités pour entrer dans le jeu sans entrer en guerre</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1 · Plie ton zine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7 min</a:t>
            </a:r>
            <a:endParaRPr lang="en-US" sz="1400" dirty="0"/>
          </a:p>
        </p:txBody>
      </p:sp>
      <p:sp>
        <p:nvSpPr>
          <p:cNvPr id="5" name="Shape 3"/>
          <p:cNvSpPr/>
          <p:nvPr/>
        </p:nvSpPr>
        <p:spPr>
          <a:xfrm>
            <a:off x="548640" y="1508760"/>
            <a:ext cx="2194560" cy="1737360"/>
          </a:xfrm>
          <a:prstGeom prst="rect">
            <a:avLst/>
          </a:prstGeom>
          <a:solidFill>
            <a:schemeClr val="bg1"/>
          </a:solidFill>
          <a:ln w="25400">
            <a:solidFill>
              <a:schemeClr val="tx1"/>
            </a:solidFill>
            <a:prstDash val="solid"/>
          </a:ln>
        </p:spPr>
      </p:sp>
      <p:sp>
        <p:nvSpPr>
          <p:cNvPr id="6" name="Shape 4"/>
          <p:cNvSpPr/>
          <p:nvPr/>
        </p:nvSpPr>
        <p:spPr>
          <a:xfrm>
            <a:off x="685800" y="1645920"/>
            <a:ext cx="502920" cy="502920"/>
          </a:xfrm>
          <a:prstGeom prst="ellipse">
            <a:avLst/>
          </a:prstGeom>
          <a:solidFill>
            <a:schemeClr val="accent1"/>
          </a:solidFill>
          <a:ln w="19050">
            <a:solidFill>
              <a:schemeClr val="tx1"/>
            </a:solidFill>
            <a:prstDash val="solid"/>
          </a:ln>
        </p:spPr>
      </p:sp>
      <p:sp>
        <p:nvSpPr>
          <p:cNvPr id="7" name="Text 5"/>
          <p:cNvSpPr txBox="1"/>
          <p:nvPr/>
        </p:nvSpPr>
        <p:spPr>
          <a:xfrm>
            <a:off x="68580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1</a:t>
            </a:r>
            <a:endParaRPr lang="en-US" sz="1800" dirty="0"/>
          </a:p>
        </p:txBody>
      </p:sp>
      <p:sp>
        <p:nvSpPr>
          <p:cNvPr id="8" name="Text 6"/>
          <p:cNvSpPr txBox="1"/>
          <p:nvPr/>
        </p:nvSpPr>
        <p:spPr>
          <a:xfrm>
            <a:off x="68580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Plier en deux sur la longueur</a:t>
            </a:r>
            <a:endParaRPr lang="en-US" sz="1500" dirty="0"/>
          </a:p>
        </p:txBody>
      </p:sp>
      <p:sp>
        <p:nvSpPr>
          <p:cNvPr id="9" name="Shape 7"/>
          <p:cNvSpPr/>
          <p:nvPr/>
        </p:nvSpPr>
        <p:spPr>
          <a:xfrm>
            <a:off x="2926080" y="1508760"/>
            <a:ext cx="2194560" cy="1737360"/>
          </a:xfrm>
          <a:prstGeom prst="rect">
            <a:avLst/>
          </a:prstGeom>
          <a:solidFill>
            <a:schemeClr val="bg1"/>
          </a:solidFill>
          <a:ln w="25400">
            <a:solidFill>
              <a:schemeClr val="tx1"/>
            </a:solidFill>
            <a:prstDash val="solid"/>
          </a:ln>
        </p:spPr>
      </p:sp>
      <p:sp>
        <p:nvSpPr>
          <p:cNvPr id="10" name="Shape 8"/>
          <p:cNvSpPr/>
          <p:nvPr/>
        </p:nvSpPr>
        <p:spPr>
          <a:xfrm>
            <a:off x="3063240" y="1645920"/>
            <a:ext cx="502920" cy="502920"/>
          </a:xfrm>
          <a:prstGeom prst="ellipse">
            <a:avLst/>
          </a:prstGeom>
          <a:solidFill>
            <a:schemeClr val="accent1"/>
          </a:solidFill>
          <a:ln w="19050">
            <a:solidFill>
              <a:schemeClr val="tx1"/>
            </a:solidFill>
            <a:prstDash val="solid"/>
          </a:ln>
        </p:spPr>
      </p:sp>
      <p:sp>
        <p:nvSpPr>
          <p:cNvPr id="11" name="Text 9"/>
          <p:cNvSpPr txBox="1"/>
          <p:nvPr/>
        </p:nvSpPr>
        <p:spPr>
          <a:xfrm>
            <a:off x="306324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2</a:t>
            </a:r>
            <a:endParaRPr lang="en-US" sz="1800" dirty="0"/>
          </a:p>
        </p:txBody>
      </p:sp>
      <p:sp>
        <p:nvSpPr>
          <p:cNvPr id="12" name="Text 10"/>
          <p:cNvSpPr txBox="1"/>
          <p:nvPr/>
        </p:nvSpPr>
        <p:spPr>
          <a:xfrm>
            <a:off x="306324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Plier en 4 sur la largeur : 8 cases</a:t>
            </a:r>
            <a:endParaRPr lang="en-US" sz="1500" dirty="0"/>
          </a:p>
        </p:txBody>
      </p:sp>
      <p:sp>
        <p:nvSpPr>
          <p:cNvPr id="13" name="Shape 11"/>
          <p:cNvSpPr/>
          <p:nvPr/>
        </p:nvSpPr>
        <p:spPr>
          <a:xfrm>
            <a:off x="5303520" y="1508760"/>
            <a:ext cx="2194560" cy="1737360"/>
          </a:xfrm>
          <a:prstGeom prst="rect">
            <a:avLst/>
          </a:prstGeom>
          <a:solidFill>
            <a:schemeClr val="bg1"/>
          </a:solidFill>
          <a:ln w="25400">
            <a:solidFill>
              <a:schemeClr val="tx1"/>
            </a:solidFill>
            <a:prstDash val="solid"/>
          </a:ln>
        </p:spPr>
      </p:sp>
      <p:sp>
        <p:nvSpPr>
          <p:cNvPr id="14" name="Shape 12"/>
          <p:cNvSpPr/>
          <p:nvPr/>
        </p:nvSpPr>
        <p:spPr>
          <a:xfrm>
            <a:off x="5440680" y="1645920"/>
            <a:ext cx="502920" cy="502920"/>
          </a:xfrm>
          <a:prstGeom prst="ellipse">
            <a:avLst/>
          </a:prstGeom>
          <a:solidFill>
            <a:schemeClr val="accent1"/>
          </a:solidFill>
          <a:ln w="19050">
            <a:solidFill>
              <a:schemeClr val="tx1"/>
            </a:solidFill>
            <a:prstDash val="solid"/>
          </a:ln>
        </p:spPr>
      </p:sp>
      <p:sp>
        <p:nvSpPr>
          <p:cNvPr id="15" name="Text 13"/>
          <p:cNvSpPr txBox="1"/>
          <p:nvPr/>
        </p:nvSpPr>
        <p:spPr>
          <a:xfrm>
            <a:off x="544068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3</a:t>
            </a:r>
            <a:endParaRPr lang="en-US" sz="1800" dirty="0"/>
          </a:p>
        </p:txBody>
      </p:sp>
      <p:sp>
        <p:nvSpPr>
          <p:cNvPr id="16" name="Text 14"/>
          <p:cNvSpPr txBox="1"/>
          <p:nvPr/>
        </p:nvSpPr>
        <p:spPr>
          <a:xfrm>
            <a:off x="544068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Couper la fente centrale</a:t>
            </a:r>
            <a:endParaRPr lang="en-US" sz="1500" dirty="0"/>
          </a:p>
        </p:txBody>
      </p:sp>
      <p:sp>
        <p:nvSpPr>
          <p:cNvPr id="17" name="Shape 15"/>
          <p:cNvSpPr/>
          <p:nvPr/>
        </p:nvSpPr>
        <p:spPr>
          <a:xfrm>
            <a:off x="548640" y="3474720"/>
            <a:ext cx="2194560" cy="1737360"/>
          </a:xfrm>
          <a:prstGeom prst="rect">
            <a:avLst/>
          </a:prstGeom>
          <a:solidFill>
            <a:schemeClr val="bg1"/>
          </a:solidFill>
          <a:ln w="25400">
            <a:solidFill>
              <a:schemeClr val="tx1"/>
            </a:solidFill>
            <a:prstDash val="solid"/>
          </a:ln>
        </p:spPr>
      </p:sp>
      <p:sp>
        <p:nvSpPr>
          <p:cNvPr id="18" name="Shape 16"/>
          <p:cNvSpPr/>
          <p:nvPr/>
        </p:nvSpPr>
        <p:spPr>
          <a:xfrm>
            <a:off x="685800" y="3611880"/>
            <a:ext cx="502920" cy="502920"/>
          </a:xfrm>
          <a:prstGeom prst="ellipse">
            <a:avLst/>
          </a:prstGeom>
          <a:solidFill>
            <a:schemeClr val="accent1"/>
          </a:solidFill>
          <a:ln w="19050">
            <a:solidFill>
              <a:schemeClr val="tx1"/>
            </a:solidFill>
            <a:prstDash val="solid"/>
          </a:ln>
        </p:spPr>
      </p:sp>
      <p:sp>
        <p:nvSpPr>
          <p:cNvPr id="19" name="Text 17"/>
          <p:cNvSpPr txBox="1"/>
          <p:nvPr/>
        </p:nvSpPr>
        <p:spPr>
          <a:xfrm>
            <a:off x="68580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4</a:t>
            </a:r>
            <a:endParaRPr lang="en-US" sz="1800" dirty="0"/>
          </a:p>
        </p:txBody>
      </p:sp>
      <p:sp>
        <p:nvSpPr>
          <p:cNvPr id="20" name="Text 18"/>
          <p:cNvSpPr txBox="1"/>
          <p:nvPr/>
        </p:nvSpPr>
        <p:spPr>
          <a:xfrm>
            <a:off x="68580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Pousser vers le centre : losange</a:t>
            </a:r>
            <a:endParaRPr lang="en-US" sz="1500" dirty="0"/>
          </a:p>
        </p:txBody>
      </p:sp>
      <p:sp>
        <p:nvSpPr>
          <p:cNvPr id="21" name="Shape 19"/>
          <p:cNvSpPr/>
          <p:nvPr/>
        </p:nvSpPr>
        <p:spPr>
          <a:xfrm>
            <a:off x="2926080" y="3474720"/>
            <a:ext cx="2194560" cy="1737360"/>
          </a:xfrm>
          <a:prstGeom prst="rect">
            <a:avLst/>
          </a:prstGeom>
          <a:solidFill>
            <a:schemeClr val="bg1"/>
          </a:solidFill>
          <a:ln w="25400">
            <a:solidFill>
              <a:schemeClr val="tx1"/>
            </a:solidFill>
            <a:prstDash val="solid"/>
          </a:ln>
        </p:spPr>
      </p:sp>
      <p:sp>
        <p:nvSpPr>
          <p:cNvPr id="22" name="Shape 20"/>
          <p:cNvSpPr/>
          <p:nvPr/>
        </p:nvSpPr>
        <p:spPr>
          <a:xfrm>
            <a:off x="3063240" y="3611880"/>
            <a:ext cx="502920" cy="502920"/>
          </a:xfrm>
          <a:prstGeom prst="ellipse">
            <a:avLst/>
          </a:prstGeom>
          <a:solidFill>
            <a:schemeClr val="accent1"/>
          </a:solidFill>
          <a:ln w="19050">
            <a:solidFill>
              <a:schemeClr val="tx1"/>
            </a:solidFill>
            <a:prstDash val="solid"/>
          </a:ln>
        </p:spPr>
      </p:sp>
      <p:sp>
        <p:nvSpPr>
          <p:cNvPr id="23" name="Text 21"/>
          <p:cNvSpPr txBox="1"/>
          <p:nvPr/>
        </p:nvSpPr>
        <p:spPr>
          <a:xfrm>
            <a:off x="306324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5</a:t>
            </a:r>
            <a:endParaRPr lang="en-US" sz="1800" dirty="0"/>
          </a:p>
        </p:txBody>
      </p:sp>
      <p:sp>
        <p:nvSpPr>
          <p:cNvPr id="24" name="Text 22"/>
          <p:cNvSpPr txBox="1"/>
          <p:nvPr/>
        </p:nvSpPr>
        <p:spPr>
          <a:xfrm>
            <a:off x="306324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Rabattre en livret</a:t>
            </a:r>
            <a:endParaRPr lang="en-US" sz="1500" dirty="0"/>
          </a:p>
        </p:txBody>
      </p:sp>
      <p:sp>
        <p:nvSpPr>
          <p:cNvPr id="25" name="Shape 23"/>
          <p:cNvSpPr/>
          <p:nvPr/>
        </p:nvSpPr>
        <p:spPr>
          <a:xfrm>
            <a:off x="5303520" y="3474720"/>
            <a:ext cx="2194560" cy="1737360"/>
          </a:xfrm>
          <a:prstGeom prst="rect">
            <a:avLst/>
          </a:prstGeom>
          <a:solidFill>
            <a:schemeClr val="bg1"/>
          </a:solidFill>
          <a:ln w="25400">
            <a:solidFill>
              <a:schemeClr val="tx1"/>
            </a:solidFill>
            <a:prstDash val="solid"/>
          </a:ln>
        </p:spPr>
      </p:sp>
      <p:sp>
        <p:nvSpPr>
          <p:cNvPr id="26" name="Shape 24"/>
          <p:cNvSpPr/>
          <p:nvPr/>
        </p:nvSpPr>
        <p:spPr>
          <a:xfrm>
            <a:off x="5440680" y="3611880"/>
            <a:ext cx="502920" cy="502920"/>
          </a:xfrm>
          <a:prstGeom prst="ellipse">
            <a:avLst/>
          </a:prstGeom>
          <a:solidFill>
            <a:schemeClr val="accent1"/>
          </a:solidFill>
          <a:ln w="19050">
            <a:solidFill>
              <a:schemeClr val="tx1"/>
            </a:solidFill>
            <a:prstDash val="solid"/>
          </a:ln>
        </p:spPr>
      </p:sp>
      <p:sp>
        <p:nvSpPr>
          <p:cNvPr id="27" name="Text 25"/>
          <p:cNvSpPr txBox="1"/>
          <p:nvPr/>
        </p:nvSpPr>
        <p:spPr>
          <a:xfrm>
            <a:off x="544068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6</a:t>
            </a:r>
            <a:endParaRPr lang="en-US" sz="1800" dirty="0"/>
          </a:p>
        </p:txBody>
      </p:sp>
      <p:sp>
        <p:nvSpPr>
          <p:cNvPr id="28" name="Text 26"/>
          <p:cNvSpPr txBox="1"/>
          <p:nvPr/>
        </p:nvSpPr>
        <p:spPr>
          <a:xfrm>
            <a:off x="544068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Couverture sur le dessus</a:t>
            </a:r>
            <a:endParaRPr lang="en-US" sz="1500" dirty="0"/>
          </a:p>
        </p:txBody>
      </p:sp>
      <p:sp>
        <p:nvSpPr>
          <p:cNvPr id="29" name="Shape 27"/>
          <p:cNvSpPr/>
          <p:nvPr/>
        </p:nvSpPr>
        <p:spPr>
          <a:xfrm>
            <a:off x="7955280" y="1508760"/>
            <a:ext cx="3657600" cy="3840480"/>
          </a:xfrm>
          <a:prstGeom prst="rect">
            <a:avLst/>
          </a:prstGeom>
          <a:solidFill>
            <a:schemeClr val="tx1"/>
          </a:solidFill>
          <a:ln w="25400">
            <a:solidFill>
              <a:schemeClr val="tx1"/>
            </a:solidFill>
            <a:prstDash val="solid"/>
          </a:ln>
        </p:spPr>
      </p:sp>
      <p:sp>
        <p:nvSpPr>
          <p:cNvPr id="30" name="Text 28"/>
          <p:cNvSpPr txBox="1"/>
          <p:nvPr/>
        </p:nvSpPr>
        <p:spPr>
          <a:xfrm>
            <a:off x="8183880" y="1691640"/>
            <a:ext cx="3200400" cy="82296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Pourquoi commencer par du papier?</a:t>
            </a:r>
            <a:endParaRPr lang="en-US" sz="1800" dirty="0"/>
          </a:p>
        </p:txBody>
      </p:sp>
      <p:sp>
        <p:nvSpPr>
          <p:cNvPr id="31" name="Text 29"/>
          <p:cNvSpPr txBox="1"/>
          <p:nvPr/>
        </p:nvSpPr>
        <p:spPr>
          <a:xfrm>
            <a:off x="8183880" y="2606040"/>
            <a:ext cx="3200400" cy="256032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Un geste manuel ralentit la salle, crée un objet commun et donne à chacun un « passeport » qu'on remplira en cours de route (pages 3, 4, 5 et 7).</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2 · La ligne qui bouge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13 min</a:t>
            </a:r>
            <a:endParaRPr lang="en-US" sz="1400" dirty="0"/>
          </a:p>
        </p:txBody>
      </p:sp>
      <p:sp>
        <p:nvSpPr>
          <p:cNvPr id="5" name="Shape 3"/>
          <p:cNvSpPr/>
          <p:nvPr/>
        </p:nvSpPr>
        <p:spPr>
          <a:xfrm>
            <a:off x="822960" y="2331720"/>
            <a:ext cx="10515600" cy="0"/>
          </a:xfrm>
          <a:prstGeom prst="line">
            <a:avLst/>
          </a:prstGeom>
          <a:noFill/>
          <a:ln w="50800">
            <a:solidFill>
              <a:schemeClr val="tx1"/>
            </a:solidFill>
            <a:prstDash val="solid"/>
            <a:headEnd type="triangle"/>
            <a:tailEnd type="triangle"/>
          </a:ln>
        </p:spPr>
      </p:sp>
      <p:sp>
        <p:nvSpPr>
          <p:cNvPr id="6" name="Text 4"/>
          <p:cNvSpPr txBox="1"/>
          <p:nvPr/>
        </p:nvSpPr>
        <p:spPr>
          <a:xfrm>
            <a:off x="548640" y="1508760"/>
            <a:ext cx="3657600" cy="36576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TOTALEMENT D'ACCORD</a:t>
            </a:r>
            <a:endParaRPr lang="en-US" sz="1300" dirty="0"/>
          </a:p>
        </p:txBody>
      </p:sp>
      <p:sp>
        <p:nvSpPr>
          <p:cNvPr id="7" name="Text 5"/>
          <p:cNvSpPr txBox="1"/>
          <p:nvPr/>
        </p:nvSpPr>
        <p:spPr>
          <a:xfrm>
            <a:off x="8869680" y="1508760"/>
            <a:ext cx="2743200" cy="365760"/>
          </a:xfrm>
          <a:prstGeom prst="rect">
            <a:avLst/>
          </a:prstGeom>
          <a:noFill/>
          <a:ln/>
        </p:spPr>
        <p:txBody>
          <a:bodyPr wrap="square" lIns="0" tIns="0" rIns="0" bIns="0" rtlCol="0" anchor="t"/>
          <a:lstStyle/>
          <a:p>
            <a:pPr algn="r" indent="0" marL="0">
              <a:buNone/>
            </a:pPr>
            <a:r>
              <a:rPr lang="en-US" sz="1300" b="1" dirty="0">
                <a:solidFill>
                  <a:schemeClr val="accent1"/>
                </a:solidFill>
                <a:latin typeface="Arial" pitchFamily="34" charset="0"/>
                <a:ea typeface="Arial" pitchFamily="34" charset="-122"/>
                <a:cs typeface="Arial" pitchFamily="34" charset="-120"/>
              </a:rPr>
              <a:t>PAS DU TOUT</a:t>
            </a:r>
            <a:endParaRPr lang="en-US" sz="1300" dirty="0"/>
          </a:p>
        </p:txBody>
      </p:sp>
      <p:sp>
        <p:nvSpPr>
          <p:cNvPr id="8" name="Text 6"/>
          <p:cNvSpPr txBox="1"/>
          <p:nvPr/>
        </p:nvSpPr>
        <p:spPr>
          <a:xfrm>
            <a:off x="548640" y="2743200"/>
            <a:ext cx="548640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Énoncés possibles</a:t>
            </a:r>
            <a:endParaRPr lang="en-US" sz="1800" dirty="0"/>
          </a:p>
        </p:txBody>
      </p:sp>
      <p:sp>
        <p:nvSpPr>
          <p:cNvPr id="9" name="Text 7"/>
          <p:cNvSpPr txBox="1"/>
          <p:nvPr/>
        </p:nvSpPr>
        <p:spPr>
          <a:xfrm>
            <a:off x="548640" y="3200400"/>
            <a:ext cx="566928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Le télétravail devrait être un droit.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On devrait pouvoir parler politique au souper de famille.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Un bon argument peut toujours être dit poliment.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Changer d'avis, c'est perdre la face. »</a:t>
            </a:r>
            <a:endParaRPr lang="en-US" sz="1600" dirty="0"/>
          </a:p>
        </p:txBody>
      </p:sp>
      <p:sp>
        <p:nvSpPr>
          <p:cNvPr id="10" name="Shape 8"/>
          <p:cNvSpPr/>
          <p:nvPr/>
        </p:nvSpPr>
        <p:spPr>
          <a:xfrm>
            <a:off x="6675120" y="2743200"/>
            <a:ext cx="4937760" cy="3017520"/>
          </a:xfrm>
          <a:prstGeom prst="rect">
            <a:avLst/>
          </a:prstGeom>
          <a:solidFill>
            <a:schemeClr val="tx1"/>
          </a:solidFill>
          <a:ln w="25400">
            <a:solidFill>
              <a:schemeClr val="tx1"/>
            </a:solidFill>
            <a:prstDash val="solid"/>
          </a:ln>
        </p:spPr>
      </p:sp>
      <p:sp>
        <p:nvSpPr>
          <p:cNvPr id="11" name="Text 9"/>
          <p:cNvSpPr txBox="1"/>
          <p:nvPr/>
        </p:nvSpPr>
        <p:spPr>
          <a:xfrm>
            <a:off x="6903720" y="2926080"/>
            <a:ext cx="4572000" cy="457200"/>
          </a:xfrm>
          <a:prstGeom prst="rect">
            <a:avLst/>
          </a:prstGeom>
          <a:noFill/>
          <a:ln/>
        </p:spPr>
        <p:txBody>
          <a:bodyPr wrap="square" lIns="0" tIns="0" rIns="0" bIns="0" rtlCol="0" anchor="t"/>
          <a:lstStyle/>
          <a:p>
            <a:pPr indent="0" marL="0">
              <a:buNone/>
            </a:pPr>
            <a:r>
              <a:rPr lang="en-US" sz="2000" dirty="0">
                <a:solidFill>
                  <a:schemeClr val="accent2"/>
                </a:solidFill>
                <a:latin typeface="Rockwell Extra Bold" pitchFamily="34" charset="0"/>
                <a:ea typeface="Rockwell Extra Bold" pitchFamily="34" charset="-122"/>
                <a:cs typeface="Rockwell Extra Bold" pitchFamily="34" charset="-120"/>
              </a:rPr>
              <a:t>La règle surprise</a:t>
            </a:r>
            <a:endParaRPr lang="en-US" sz="2000" dirty="0"/>
          </a:p>
        </p:txBody>
      </p:sp>
      <p:sp>
        <p:nvSpPr>
          <p:cNvPr id="12" name="Text 10"/>
          <p:cNvSpPr txBox="1"/>
          <p:nvPr/>
        </p:nvSpPr>
        <p:spPr>
          <a:xfrm>
            <a:off x="6903720" y="3474720"/>
            <a:ext cx="4480560" cy="210312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On ne peut bouger que si quelqu'un d'autre nous a fait bouger. Puis, au signal « Change de bord! », chacun va défendre la position opposée à la sienne pendant 1 minute.</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3 · La course à trois jambes</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12 min</a:t>
            </a:r>
            <a:endParaRPr lang="en-US" sz="1400" dirty="0"/>
          </a:p>
        </p:txBody>
      </p:sp>
      <p:sp>
        <p:nvSpPr>
          <p:cNvPr id="5" name="Shape 3"/>
          <p:cNvSpPr/>
          <p:nvPr/>
        </p:nvSpPr>
        <p:spPr>
          <a:xfrm>
            <a:off x="548640" y="1325880"/>
            <a:ext cx="548640" cy="548640"/>
          </a:xfrm>
          <a:prstGeom prst="ellipse">
            <a:avLst/>
          </a:prstGeom>
          <a:solidFill>
            <a:schemeClr val="accent1"/>
          </a:solidFill>
          <a:ln w="19050">
            <a:solidFill>
              <a:schemeClr val="tx1"/>
            </a:solidFill>
            <a:prstDash val="solid"/>
          </a:ln>
        </p:spPr>
      </p:sp>
      <p:sp>
        <p:nvSpPr>
          <p:cNvPr id="6" name="Text 4"/>
          <p:cNvSpPr txBox="1"/>
          <p:nvPr/>
        </p:nvSpPr>
        <p:spPr>
          <a:xfrm>
            <a:off x="548640" y="132588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7" name="Text 5"/>
          <p:cNvSpPr txBox="1"/>
          <p:nvPr/>
        </p:nvSpPr>
        <p:spPr>
          <a:xfrm>
            <a:off x="1280160" y="1344168"/>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Duos opposés</a:t>
            </a:r>
            <a:endParaRPr lang="en-US" sz="1700" dirty="0"/>
          </a:p>
        </p:txBody>
      </p:sp>
      <p:sp>
        <p:nvSpPr>
          <p:cNvPr id="8" name="Text 6"/>
          <p:cNvSpPr txBox="1"/>
          <p:nvPr/>
        </p:nvSpPr>
        <p:spPr>
          <a:xfrm>
            <a:off x="3566160" y="1289304"/>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Un de chaque bout de la ligne qui bouge. Bras dessus, bras dessous.</a:t>
            </a:r>
            <a:endParaRPr lang="en-US" sz="1400" dirty="0"/>
          </a:p>
        </p:txBody>
      </p:sp>
      <p:sp>
        <p:nvSpPr>
          <p:cNvPr id="9" name="Shape 7"/>
          <p:cNvSpPr/>
          <p:nvPr/>
        </p:nvSpPr>
        <p:spPr>
          <a:xfrm>
            <a:off x="548640" y="2258568"/>
            <a:ext cx="548640" cy="548640"/>
          </a:xfrm>
          <a:prstGeom prst="ellipse">
            <a:avLst/>
          </a:prstGeom>
          <a:solidFill>
            <a:schemeClr val="accent1"/>
          </a:solidFill>
          <a:ln w="19050">
            <a:solidFill>
              <a:schemeClr val="tx1"/>
            </a:solidFill>
            <a:prstDash val="solid"/>
          </a:ln>
        </p:spPr>
      </p:sp>
      <p:sp>
        <p:nvSpPr>
          <p:cNvPr id="10" name="Text 8"/>
          <p:cNvSpPr txBox="1"/>
          <p:nvPr/>
        </p:nvSpPr>
        <p:spPr>
          <a:xfrm>
            <a:off x="548640" y="2258568"/>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1" name="Text 9"/>
          <p:cNvSpPr txBox="1"/>
          <p:nvPr/>
        </p:nvSpPr>
        <p:spPr>
          <a:xfrm>
            <a:off x="1280160" y="2276856"/>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Départ</a:t>
            </a:r>
            <a:endParaRPr lang="en-US" sz="1700" dirty="0"/>
          </a:p>
        </p:txBody>
      </p:sp>
      <p:sp>
        <p:nvSpPr>
          <p:cNvPr id="12" name="Text 10"/>
          <p:cNvSpPr txBox="1"/>
          <p:nvPr/>
        </p:nvSpPr>
        <p:spPr>
          <a:xfrm>
            <a:off x="3566160" y="2221992"/>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Tous les duos au fond de la salle, face au tableau.</a:t>
            </a:r>
            <a:endParaRPr lang="en-US" sz="1400" dirty="0"/>
          </a:p>
        </p:txBody>
      </p:sp>
      <p:sp>
        <p:nvSpPr>
          <p:cNvPr id="13" name="Shape 11"/>
          <p:cNvSpPr/>
          <p:nvPr/>
        </p:nvSpPr>
        <p:spPr>
          <a:xfrm>
            <a:off x="548640" y="3191256"/>
            <a:ext cx="548640" cy="548640"/>
          </a:xfrm>
          <a:prstGeom prst="ellipse">
            <a:avLst/>
          </a:prstGeom>
          <a:solidFill>
            <a:schemeClr val="accent2"/>
          </a:solidFill>
          <a:ln w="19050">
            <a:solidFill>
              <a:schemeClr val="tx1"/>
            </a:solidFill>
            <a:prstDash val="solid"/>
          </a:ln>
        </p:spPr>
      </p:sp>
      <p:sp>
        <p:nvSpPr>
          <p:cNvPr id="14" name="Text 12"/>
          <p:cNvSpPr txBox="1"/>
          <p:nvPr/>
        </p:nvSpPr>
        <p:spPr>
          <a:xfrm>
            <a:off x="548640" y="3191256"/>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3</a:t>
            </a:r>
            <a:endParaRPr lang="en-US" sz="2000" dirty="0"/>
          </a:p>
        </p:txBody>
      </p:sp>
      <p:sp>
        <p:nvSpPr>
          <p:cNvPr id="15" name="Text 13"/>
          <p:cNvSpPr txBox="1"/>
          <p:nvPr/>
        </p:nvSpPr>
        <p:spPr>
          <a:xfrm>
            <a:off x="1280160" y="3209544"/>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Un accord = un pas</a:t>
            </a:r>
            <a:endParaRPr lang="en-US" sz="1700" dirty="0"/>
          </a:p>
        </p:txBody>
      </p:sp>
      <p:sp>
        <p:nvSpPr>
          <p:cNvPr id="16" name="Text 14"/>
          <p:cNvSpPr txBox="1"/>
          <p:nvPr/>
        </p:nvSpPr>
        <p:spPr>
          <a:xfrm>
            <a:off x="3566160" y="3154680"/>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Énonce un point d'accord sincère sur le sujet. Si l'autre dit « d'accord », le duo avance d'un pas.</a:t>
            </a:r>
            <a:endParaRPr lang="en-US" sz="1400" dirty="0"/>
          </a:p>
        </p:txBody>
      </p:sp>
      <p:sp>
        <p:nvSpPr>
          <p:cNvPr id="17" name="Shape 15"/>
          <p:cNvSpPr/>
          <p:nvPr/>
        </p:nvSpPr>
        <p:spPr>
          <a:xfrm>
            <a:off x="548640" y="4123944"/>
            <a:ext cx="548640" cy="548640"/>
          </a:xfrm>
          <a:prstGeom prst="ellipse">
            <a:avLst/>
          </a:prstGeom>
          <a:solidFill>
            <a:schemeClr val="accent1"/>
          </a:solidFill>
          <a:ln w="19050">
            <a:solidFill>
              <a:schemeClr val="tx1"/>
            </a:solidFill>
            <a:prstDash val="solid"/>
          </a:ln>
        </p:spPr>
      </p:sp>
      <p:sp>
        <p:nvSpPr>
          <p:cNvPr id="18" name="Text 16"/>
          <p:cNvSpPr txBox="1"/>
          <p:nvPr/>
        </p:nvSpPr>
        <p:spPr>
          <a:xfrm>
            <a:off x="548640" y="4123944"/>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19" name="Text 17"/>
          <p:cNvSpPr txBox="1"/>
          <p:nvPr/>
        </p:nvSpPr>
        <p:spPr>
          <a:xfrm>
            <a:off x="1280160" y="4142232"/>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 Trop facile! »</a:t>
            </a:r>
            <a:endParaRPr lang="en-US" sz="1700" dirty="0"/>
          </a:p>
        </p:txBody>
      </p:sp>
      <p:sp>
        <p:nvSpPr>
          <p:cNvPr id="20" name="Text 18"/>
          <p:cNvSpPr txBox="1"/>
          <p:nvPr/>
        </p:nvSpPr>
        <p:spPr>
          <a:xfrm>
            <a:off x="3566160" y="4087368"/>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 groupe peut crier « Trop facile! » sur un accord banal (« on veut tous être heureux »). Pas refusé.</a:t>
            </a:r>
            <a:endParaRPr lang="en-US" sz="1400" dirty="0"/>
          </a:p>
        </p:txBody>
      </p:sp>
      <p:sp>
        <p:nvSpPr>
          <p:cNvPr id="21" name="Shape 19"/>
          <p:cNvSpPr/>
          <p:nvPr/>
        </p:nvSpPr>
        <p:spPr>
          <a:xfrm>
            <a:off x="548640" y="5056632"/>
            <a:ext cx="548640" cy="548640"/>
          </a:xfrm>
          <a:prstGeom prst="ellipse">
            <a:avLst/>
          </a:prstGeom>
          <a:solidFill>
            <a:schemeClr val="accent1"/>
          </a:solidFill>
          <a:ln w="19050">
            <a:solidFill>
              <a:schemeClr val="tx1"/>
            </a:solidFill>
            <a:prstDash val="solid"/>
          </a:ln>
        </p:spPr>
      </p:sp>
      <p:sp>
        <p:nvSpPr>
          <p:cNvPr id="22" name="Text 20"/>
          <p:cNvSpPr txBox="1"/>
          <p:nvPr/>
        </p:nvSpPr>
        <p:spPr>
          <a:xfrm>
            <a:off x="548640" y="5056632"/>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5</a:t>
            </a:r>
            <a:endParaRPr lang="en-US" sz="2000" dirty="0"/>
          </a:p>
        </p:txBody>
      </p:sp>
      <p:sp>
        <p:nvSpPr>
          <p:cNvPr id="23" name="Text 21"/>
          <p:cNvSpPr txBox="1"/>
          <p:nvPr/>
        </p:nvSpPr>
        <p:spPr>
          <a:xfrm>
            <a:off x="1280160" y="5074920"/>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 mur</a:t>
            </a:r>
            <a:endParaRPr lang="en-US" sz="1700" dirty="0"/>
          </a:p>
        </p:txBody>
      </p:sp>
      <p:sp>
        <p:nvSpPr>
          <p:cNvPr id="24" name="Text 22"/>
          <p:cNvSpPr txBox="1"/>
          <p:nvPr/>
        </p:nvSpPr>
        <p:spPr>
          <a:xfrm>
            <a:off x="3566160" y="5020056"/>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Premier duo arrivé : il écrit sa phrase commune au tableau, puis la lit.</a:t>
            </a:r>
            <a:endParaRPr lang="en-US" sz="1400" dirty="0"/>
          </a:p>
        </p:txBody>
      </p:sp>
      <p:sp>
        <p:nvSpPr>
          <p:cNvPr id="25" name="Shape 23"/>
          <p:cNvSpPr/>
          <p:nvPr/>
        </p:nvSpPr>
        <p:spPr>
          <a:xfrm>
            <a:off x="8138160" y="1325880"/>
            <a:ext cx="3474720" cy="4572000"/>
          </a:xfrm>
          <a:prstGeom prst="rect">
            <a:avLst/>
          </a:prstGeom>
          <a:solidFill>
            <a:schemeClr val="tx1"/>
          </a:solidFill>
          <a:ln w="25400">
            <a:solidFill>
              <a:schemeClr val="tx1"/>
            </a:solidFill>
            <a:prstDash val="solid"/>
          </a:ln>
        </p:spPr>
      </p:sp>
      <p:pic>
        <p:nvPicPr>
          <p:cNvPr id="26" name="Image 0" descr="preencoded.png">    </p:cNvPr>
          <p:cNvPicPr>
            <a:picLocks noChangeAspect="1"/>
          </p:cNvPicPr>
          <p:nvPr/>
        </p:nvPicPr>
        <p:blipFill>
          <a:blip r:embed="rId1"/>
          <a:stretch>
            <a:fillRect/>
          </a:stretch>
        </p:blipFill>
        <p:spPr>
          <a:xfrm>
            <a:off x="8458200" y="1463040"/>
            <a:ext cx="1097280" cy="1325880"/>
          </a:xfrm>
          <a:prstGeom prst="rect">
            <a:avLst/>
          </a:prstGeom>
        </p:spPr>
      </p:pic>
      <p:pic>
        <p:nvPicPr>
          <p:cNvPr id="27" name="Image 1" descr="preencoded.png">    </p:cNvPr>
          <p:cNvPicPr>
            <a:picLocks noChangeAspect="1"/>
          </p:cNvPicPr>
          <p:nvPr/>
        </p:nvPicPr>
        <p:blipFill>
          <a:blip r:embed="rId2"/>
          <a:stretch>
            <a:fillRect/>
          </a:stretch>
        </p:blipFill>
        <p:spPr>
          <a:xfrm>
            <a:off x="9098280" y="1463040"/>
            <a:ext cx="1097280" cy="1325880"/>
          </a:xfrm>
          <a:prstGeom prst="rect">
            <a:avLst/>
          </a:prstGeom>
        </p:spPr>
      </p:pic>
      <p:sp>
        <p:nvSpPr>
          <p:cNvPr id="28" name="Text 24"/>
          <p:cNvSpPr txBox="1"/>
          <p:nvPr/>
        </p:nvSpPr>
        <p:spPr>
          <a:xfrm>
            <a:off x="8366760" y="2926080"/>
            <a:ext cx="3017520" cy="45720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Pourquoi ça marche</a:t>
            </a:r>
            <a:endParaRPr lang="en-US" sz="1800" dirty="0"/>
          </a:p>
        </p:txBody>
      </p:sp>
      <p:sp>
        <p:nvSpPr>
          <p:cNvPr id="29" name="Text 25"/>
          <p:cNvSpPr txBox="1"/>
          <p:nvPr/>
        </p:nvSpPr>
        <p:spPr>
          <a:xfrm>
            <a:off x="8366760" y="3429000"/>
            <a:ext cx="306324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Liés, on ne peut pas s'éloigner de l'autre.</a:t>
            </a:r>
            <a:endParaRPr lang="en-US" sz="1400" dirty="0"/>
          </a:p>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La course oblige à chercher l'accord vite et fort.</a:t>
            </a:r>
            <a:endParaRPr lang="en-US" sz="1400" dirty="0"/>
          </a:p>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C'est la règle 2 de Rapoport, vécue avec le corps.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1</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Le manuel du tricheur</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Apprendre les coups bas pour s'en immuniser</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Schopenhauer a écrit le guide du tricheur</a:t>
            </a:r>
            <a:endParaRPr lang="en-US" sz="3600" dirty="0"/>
          </a:p>
        </p:txBody>
      </p:sp>
      <p:sp>
        <p:nvSpPr>
          <p:cNvPr id="3" name="Text 1"/>
          <p:cNvSpPr txBox="1"/>
          <p:nvPr/>
        </p:nvSpPr>
        <p:spPr>
          <a:xfrm>
            <a:off x="457200" y="1280160"/>
            <a:ext cx="4572000" cy="3108960"/>
          </a:xfrm>
          <a:prstGeom prst="rect">
            <a:avLst/>
          </a:prstGeom>
          <a:noFill/>
          <a:ln/>
        </p:spPr>
        <p:txBody>
          <a:bodyPr wrap="square" lIns="0" tIns="0" rIns="0" bIns="0" rtlCol="0" anchor="t"/>
          <a:lstStyle/>
          <a:p>
            <a:pPr indent="0" marL="0">
              <a:buNone/>
            </a:pPr>
            <a:r>
              <a:rPr lang="en-US" sz="22000" dirty="0">
                <a:solidFill>
                  <a:schemeClr val="accent1"/>
                </a:solidFill>
                <a:latin typeface="Rockwell Extra Bold" pitchFamily="34" charset="0"/>
                <a:ea typeface="Rockwell Extra Bold" pitchFamily="34" charset="-122"/>
                <a:cs typeface="Rockwell Extra Bold" pitchFamily="34" charset="-120"/>
              </a:rPr>
              <a:t>38</a:t>
            </a:r>
            <a:endParaRPr lang="en-US" sz="22000" dirty="0"/>
          </a:p>
        </p:txBody>
      </p:sp>
      <p:sp>
        <p:nvSpPr>
          <p:cNvPr id="4" name="Text 2"/>
          <p:cNvSpPr txBox="1"/>
          <p:nvPr/>
        </p:nvSpPr>
        <p:spPr>
          <a:xfrm>
            <a:off x="548640" y="4343400"/>
            <a:ext cx="4389120" cy="8229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stratagèmes pour avoir raison, même quand on a tort</a:t>
            </a:r>
            <a:endParaRPr lang="en-US" sz="1800" dirty="0"/>
          </a:p>
        </p:txBody>
      </p:sp>
      <p:sp>
        <p:nvSpPr>
          <p:cNvPr id="5" name="Text 3"/>
          <p:cNvSpPr txBox="1"/>
          <p:nvPr/>
        </p:nvSpPr>
        <p:spPr>
          <a:xfrm>
            <a:off x="5486400" y="1463040"/>
            <a:ext cx="6126480" cy="1280160"/>
          </a:xfrm>
          <a:prstGeom prst="rect">
            <a:avLst/>
          </a:prstGeom>
          <a:noFill/>
          <a:ln/>
        </p:spPr>
        <p:txBody>
          <a:bodyPr wrap="square" lIns="0" tIns="0" rIns="0" bIns="0" rtlCol="0" anchor="t"/>
          <a:lstStyle/>
          <a:p>
            <a:pPr indent="0" marL="0">
              <a:buNone/>
            </a:pPr>
            <a:r>
              <a:rPr lang="en-US" sz="1700" b="1" i="1" dirty="0">
                <a:solidFill>
                  <a:schemeClr val="tx1"/>
                </a:solidFill>
                <a:latin typeface="Arial" pitchFamily="34" charset="0"/>
                <a:ea typeface="Arial" pitchFamily="34" charset="-122"/>
                <a:cs typeface="Arial" pitchFamily="34" charset="-120"/>
              </a:rPr>
              <a:t>L'Art d'avoir toujours raison</a:t>
            </a:r>
            <a:endParaRPr lang="en-US" sz="1700" dirty="0"/>
          </a:p>
          <a:p>
            <a:pPr indent="0" marL="0">
              <a:buNone/>
            </a:pPr>
            <a:r>
              <a:rPr lang="en-US" sz="1700" dirty="0">
                <a:solidFill>
                  <a:schemeClr val="tx1"/>
                </a:solidFill>
                <a:latin typeface="Arial" pitchFamily="34" charset="0"/>
                <a:ea typeface="Arial" pitchFamily="34" charset="-122"/>
                <a:cs typeface="Arial" pitchFamily="34" charset="-120"/>
              </a:rPr>
              <a:t>Rédigé vers 1830, publié après sa mort. Un inventaire lucide, presque cynique, des ruses du débat.</a:t>
            </a:r>
            <a:endParaRPr lang="en-US" sz="1700" dirty="0"/>
          </a:p>
        </p:txBody>
      </p:sp>
      <p:sp>
        <p:nvSpPr>
          <p:cNvPr id="6" name="Shape 4"/>
          <p:cNvSpPr/>
          <p:nvPr/>
        </p:nvSpPr>
        <p:spPr>
          <a:xfrm>
            <a:off x="5486400" y="2834640"/>
            <a:ext cx="6126480" cy="1280160"/>
          </a:xfrm>
          <a:prstGeom prst="rect">
            <a:avLst/>
          </a:prstGeom>
          <a:solidFill>
            <a:schemeClr val="accent2"/>
          </a:solidFill>
          <a:ln w="25400">
            <a:solidFill>
              <a:schemeClr val="tx1"/>
            </a:solidFill>
            <a:prstDash val="solid"/>
          </a:ln>
        </p:spPr>
      </p:sp>
      <p:sp>
        <p:nvSpPr>
          <p:cNvPr id="7" name="Text 5"/>
          <p:cNvSpPr txBox="1"/>
          <p:nvPr/>
        </p:nvSpPr>
        <p:spPr>
          <a:xfrm>
            <a:off x="5715000" y="3017520"/>
            <a:ext cx="5669280" cy="914400"/>
          </a:xfrm>
          <a:prstGeom prst="rect">
            <a:avLst/>
          </a:prstGeom>
          <a:noFill/>
          <a:ln/>
        </p:spPr>
        <p:txBody>
          <a:bodyPr wrap="square" lIns="0" tIns="0" rIns="0" bIns="0" rtlCol="0" anchor="ctr"/>
          <a:lstStyle/>
          <a:p>
            <a:pPr indent="0" marL="0">
              <a:buNone/>
            </a:pPr>
            <a:r>
              <a:rPr lang="en-US" sz="2100" dirty="0">
                <a:solidFill>
                  <a:schemeClr val="tx1"/>
                </a:solidFill>
                <a:latin typeface="Rockwell Extra Bold" pitchFamily="34" charset="0"/>
                <a:ea typeface="Rockwell Extra Bold" pitchFamily="34" charset="-122"/>
                <a:cs typeface="Rockwell Extra Bold" pitchFamily="34" charset="-120"/>
              </a:rPr>
              <a:t>« Le débat est un combat d'escrime intellectuel. »</a:t>
            </a:r>
            <a:endParaRPr lang="en-US" sz="2100" dirty="0"/>
          </a:p>
        </p:txBody>
      </p:sp>
      <p:sp>
        <p:nvSpPr>
          <p:cNvPr id="8" name="Text 6"/>
          <p:cNvSpPr txBox="1"/>
          <p:nvPr/>
        </p:nvSpPr>
        <p:spPr>
          <a:xfrm>
            <a:off x="5486400" y="4343400"/>
            <a:ext cx="6126480" cy="1280160"/>
          </a:xfrm>
          <a:prstGeom prst="rect">
            <a:avLst/>
          </a:prstGeom>
          <a:noFill/>
          <a:ln/>
        </p:spPr>
        <p:txBody>
          <a:bodyPr wrap="square" lIns="0" tIns="0" rIns="0" bIns="0" rtlCol="0" anchor="t"/>
          <a:lstStyle/>
          <a:p>
            <a:pPr indent="0" marL="0">
              <a:buNone/>
            </a:pPr>
            <a:r>
              <a:rPr lang="en-US" sz="1600" b="1" dirty="0">
                <a:solidFill>
                  <a:schemeClr val="accent1"/>
                </a:solidFill>
                <a:latin typeface="Arial" pitchFamily="34" charset="0"/>
                <a:ea typeface="Arial" pitchFamily="34" charset="-122"/>
                <a:cs typeface="Arial" pitchFamily="34" charset="-120"/>
              </a:rPr>
              <a:t>Le paradoxe : </a:t>
            </a:r>
            <a:pPr indent="0" marL="0">
              <a:buNone/>
            </a:pPr>
            <a:r>
              <a:rPr lang="en-US" sz="1600" dirty="0">
                <a:solidFill>
                  <a:schemeClr val="tx1"/>
                </a:solidFill>
                <a:latin typeface="Arial" pitchFamily="34" charset="0"/>
                <a:ea typeface="Arial" pitchFamily="34" charset="-122"/>
                <a:cs typeface="Arial" pitchFamily="34" charset="-120"/>
              </a:rPr>
              <a:t>il conseille lui-même de ne débattre qu'avec ceux qui cherchent la vérité et acceptent d'avoir tort. Son manuel est donc aussi un avertissement.</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Agréable ne veut pas dire mou</a:t>
            </a:r>
            <a:endParaRPr lang="en-US" sz="3600" dirty="0"/>
          </a:p>
        </p:txBody>
      </p:sp>
      <p:sp>
        <p:nvSpPr>
          <p:cNvPr id="3" name="Text 1"/>
          <p:cNvSpPr txBox="1"/>
          <p:nvPr/>
        </p:nvSpPr>
        <p:spPr>
          <a:xfrm>
            <a:off x="2834640" y="1371600"/>
            <a:ext cx="82296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 envers les IDÉES</a:t>
            </a:r>
            <a:endParaRPr lang="en-US" sz="1400" dirty="0"/>
          </a:p>
        </p:txBody>
      </p:sp>
      <p:sp>
        <p:nvSpPr>
          <p:cNvPr id="4" name="Text 2"/>
          <p:cNvSpPr txBox="1"/>
          <p:nvPr/>
        </p:nvSpPr>
        <p:spPr>
          <a:xfrm>
            <a:off x="548640" y="1828800"/>
            <a:ext cx="2103120" cy="45720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envers les PERSONNES ↓</a:t>
            </a:r>
            <a:endParaRPr lang="en-US" sz="1400" dirty="0"/>
          </a:p>
        </p:txBody>
      </p:sp>
      <p:sp>
        <p:nvSpPr>
          <p:cNvPr id="5" name="Text 3"/>
          <p:cNvSpPr txBox="1"/>
          <p:nvPr/>
        </p:nvSpPr>
        <p:spPr>
          <a:xfrm>
            <a:off x="548640" y="2651760"/>
            <a:ext cx="210312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doux</a:t>
            </a:r>
            <a:endParaRPr lang="en-US" sz="2000" dirty="0"/>
          </a:p>
        </p:txBody>
      </p:sp>
      <p:sp>
        <p:nvSpPr>
          <p:cNvPr id="6" name="Text 4"/>
          <p:cNvSpPr txBox="1"/>
          <p:nvPr/>
        </p:nvSpPr>
        <p:spPr>
          <a:xfrm>
            <a:off x="548640" y="4572000"/>
            <a:ext cx="210312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dur</a:t>
            </a:r>
            <a:endParaRPr lang="en-US" sz="2000" dirty="0"/>
          </a:p>
        </p:txBody>
      </p:sp>
      <p:sp>
        <p:nvSpPr>
          <p:cNvPr id="7" name="Text 5"/>
          <p:cNvSpPr txBox="1"/>
          <p:nvPr/>
        </p:nvSpPr>
        <p:spPr>
          <a:xfrm>
            <a:off x="2834640" y="1691640"/>
            <a:ext cx="4114800" cy="365760"/>
          </a:xfrm>
          <a:prstGeom prst="rect">
            <a:avLst/>
          </a:prstGeom>
          <a:noFill/>
          <a:ln/>
        </p:spPr>
        <p:txBody>
          <a:bodyPr wrap="square" lIns="0" tIns="0" rIns="0" bIns="0" rtlCol="0" anchor="t"/>
          <a:lstStyle/>
          <a:p>
            <a:pPr algn="ct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mou</a:t>
            </a:r>
            <a:endParaRPr lang="en-US" sz="1800" dirty="0"/>
          </a:p>
        </p:txBody>
      </p:sp>
      <p:sp>
        <p:nvSpPr>
          <p:cNvPr id="8" name="Text 6"/>
          <p:cNvSpPr txBox="1"/>
          <p:nvPr/>
        </p:nvSpPr>
        <p:spPr>
          <a:xfrm>
            <a:off x="7223760" y="1691640"/>
            <a:ext cx="4389120" cy="365760"/>
          </a:xfrm>
          <a:prstGeom prst="rect">
            <a:avLst/>
          </a:prstGeom>
          <a:noFill/>
          <a:ln/>
        </p:spPr>
        <p:txBody>
          <a:bodyPr wrap="square" lIns="0" tIns="0" rIns="0" bIns="0" rtlCol="0" anchor="t"/>
          <a:lstStyle/>
          <a:p>
            <a:pPr algn="ct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ferme</a:t>
            </a:r>
            <a:endParaRPr lang="en-US" sz="1800" dirty="0"/>
          </a:p>
        </p:txBody>
      </p:sp>
      <p:sp>
        <p:nvSpPr>
          <p:cNvPr id="9" name="Shape 7"/>
          <p:cNvSpPr/>
          <p:nvPr/>
        </p:nvSpPr>
        <p:spPr>
          <a:xfrm>
            <a:off x="2834640" y="2148840"/>
            <a:ext cx="4206240" cy="1783080"/>
          </a:xfrm>
          <a:prstGeom prst="rect">
            <a:avLst/>
          </a:prstGeom>
          <a:solidFill>
            <a:schemeClr val="bg1"/>
          </a:solidFill>
          <a:ln w="25400">
            <a:solidFill>
              <a:schemeClr val="tx1"/>
            </a:solidFill>
            <a:prstDash val="solid"/>
          </a:ln>
        </p:spPr>
      </p:sp>
      <p:pic>
        <p:nvPicPr>
          <p:cNvPr id="10" name="Image 0" descr="preencoded.png">    </p:cNvPr>
          <p:cNvPicPr>
            <a:picLocks noChangeAspect="1"/>
          </p:cNvPicPr>
          <p:nvPr/>
        </p:nvPicPr>
        <p:blipFill>
          <a:blip r:embed="rId1"/>
          <a:stretch>
            <a:fillRect/>
          </a:stretch>
        </p:blipFill>
        <p:spPr>
          <a:xfrm>
            <a:off x="5943600" y="2286000"/>
            <a:ext cx="960120" cy="1161288"/>
          </a:xfrm>
          <a:prstGeom prst="rect">
            <a:avLst/>
          </a:prstGeom>
        </p:spPr>
      </p:pic>
      <p:sp>
        <p:nvSpPr>
          <p:cNvPr id="11" name="Text 8"/>
          <p:cNvSpPr txBox="1"/>
          <p:nvPr/>
        </p:nvSpPr>
        <p:spPr>
          <a:xfrm>
            <a:off x="3017520" y="231343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La Girouette</a:t>
            </a:r>
            <a:endParaRPr lang="en-US" sz="1900" dirty="0"/>
          </a:p>
        </p:txBody>
      </p:sp>
      <p:sp>
        <p:nvSpPr>
          <p:cNvPr id="12" name="Text 9"/>
          <p:cNvSpPr txBox="1"/>
          <p:nvPr/>
        </p:nvSpPr>
        <p:spPr>
          <a:xfrm>
            <a:off x="3017520" y="283464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Tout le monde a raison. Personne n'apprend rien.</a:t>
            </a:r>
            <a:endParaRPr lang="en-US" sz="1400" dirty="0"/>
          </a:p>
        </p:txBody>
      </p:sp>
      <p:sp>
        <p:nvSpPr>
          <p:cNvPr id="13" name="Shape 10"/>
          <p:cNvSpPr/>
          <p:nvPr/>
        </p:nvSpPr>
        <p:spPr>
          <a:xfrm>
            <a:off x="7223760" y="2148840"/>
            <a:ext cx="4206240" cy="1783080"/>
          </a:xfrm>
          <a:prstGeom prst="rect">
            <a:avLst/>
          </a:prstGeom>
          <a:solidFill>
            <a:schemeClr val="accent2"/>
          </a:solidFill>
          <a:ln w="25400">
            <a:solidFill>
              <a:schemeClr val="tx1"/>
            </a:solidFill>
            <a:prstDash val="solid"/>
          </a:ln>
        </p:spPr>
      </p:sp>
      <p:pic>
        <p:nvPicPr>
          <p:cNvPr id="14" name="Image 1" descr="preencoded.png">    </p:cNvPr>
          <p:cNvPicPr>
            <a:picLocks noChangeAspect="1"/>
          </p:cNvPicPr>
          <p:nvPr/>
        </p:nvPicPr>
        <p:blipFill>
          <a:blip r:embed="rId2"/>
          <a:stretch>
            <a:fillRect/>
          </a:stretch>
        </p:blipFill>
        <p:spPr>
          <a:xfrm>
            <a:off x="10332720" y="2286000"/>
            <a:ext cx="960120" cy="1161288"/>
          </a:xfrm>
          <a:prstGeom prst="rect">
            <a:avLst/>
          </a:prstGeom>
        </p:spPr>
      </p:pic>
      <p:sp>
        <p:nvSpPr>
          <p:cNvPr id="15" name="Text 11"/>
          <p:cNvSpPr txBox="1"/>
          <p:nvPr/>
        </p:nvSpPr>
        <p:spPr>
          <a:xfrm>
            <a:off x="7406640" y="231343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Bâtisseur</a:t>
            </a:r>
            <a:endParaRPr lang="en-US" sz="1900" dirty="0"/>
          </a:p>
        </p:txBody>
      </p:sp>
      <p:sp>
        <p:nvSpPr>
          <p:cNvPr id="16" name="Text 12"/>
          <p:cNvSpPr txBox="1"/>
          <p:nvPr/>
        </p:nvSpPr>
        <p:spPr>
          <a:xfrm>
            <a:off x="7406640" y="283464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Exigeant sur le fond, bienveillant avec les gens. LA CIBLE.</a:t>
            </a:r>
            <a:endParaRPr lang="en-US" sz="1400" dirty="0"/>
          </a:p>
        </p:txBody>
      </p:sp>
      <p:sp>
        <p:nvSpPr>
          <p:cNvPr id="17" name="Shape 13"/>
          <p:cNvSpPr/>
          <p:nvPr/>
        </p:nvSpPr>
        <p:spPr>
          <a:xfrm>
            <a:off x="2834640" y="4069080"/>
            <a:ext cx="4206240" cy="1783080"/>
          </a:xfrm>
          <a:prstGeom prst="rect">
            <a:avLst/>
          </a:prstGeom>
          <a:solidFill>
            <a:schemeClr val="bg1"/>
          </a:solidFill>
          <a:ln w="25400">
            <a:solidFill>
              <a:schemeClr val="tx1"/>
            </a:solidFill>
            <a:prstDash val="solid"/>
          </a:ln>
        </p:spPr>
      </p:sp>
      <p:pic>
        <p:nvPicPr>
          <p:cNvPr id="18" name="Image 2" descr="preencoded.png">    </p:cNvPr>
          <p:cNvPicPr>
            <a:picLocks noChangeAspect="1"/>
          </p:cNvPicPr>
          <p:nvPr/>
        </p:nvPicPr>
        <p:blipFill>
          <a:blip r:embed="rId3"/>
          <a:stretch>
            <a:fillRect/>
          </a:stretch>
        </p:blipFill>
        <p:spPr>
          <a:xfrm>
            <a:off x="5943600" y="4206240"/>
            <a:ext cx="960120" cy="1161288"/>
          </a:xfrm>
          <a:prstGeom prst="rect">
            <a:avLst/>
          </a:prstGeom>
        </p:spPr>
      </p:pic>
      <p:sp>
        <p:nvSpPr>
          <p:cNvPr id="19" name="Text 14"/>
          <p:cNvSpPr txBox="1"/>
          <p:nvPr/>
        </p:nvSpPr>
        <p:spPr>
          <a:xfrm>
            <a:off x="3017520" y="423367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Sniper</a:t>
            </a:r>
            <a:endParaRPr lang="en-US" sz="1900" dirty="0"/>
          </a:p>
        </p:txBody>
      </p:sp>
      <p:sp>
        <p:nvSpPr>
          <p:cNvPr id="20" name="Text 15"/>
          <p:cNvSpPr txBox="1"/>
          <p:nvPr/>
        </p:nvSpPr>
        <p:spPr>
          <a:xfrm>
            <a:off x="3017520" y="475488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Faible sur les idées, cruel avec les gens. Le pire des deux mondes.</a:t>
            </a:r>
            <a:endParaRPr lang="en-US" sz="1400" dirty="0"/>
          </a:p>
        </p:txBody>
      </p:sp>
      <p:sp>
        <p:nvSpPr>
          <p:cNvPr id="21" name="Shape 16"/>
          <p:cNvSpPr/>
          <p:nvPr/>
        </p:nvSpPr>
        <p:spPr>
          <a:xfrm>
            <a:off x="7223760" y="4069080"/>
            <a:ext cx="4206240" cy="1783080"/>
          </a:xfrm>
          <a:prstGeom prst="rect">
            <a:avLst/>
          </a:prstGeom>
          <a:solidFill>
            <a:schemeClr val="bg1"/>
          </a:solidFill>
          <a:ln w="25400">
            <a:solidFill>
              <a:schemeClr val="tx1"/>
            </a:solidFill>
            <a:prstDash val="solid"/>
          </a:ln>
        </p:spPr>
      </p:sp>
      <p:pic>
        <p:nvPicPr>
          <p:cNvPr id="22" name="Image 3" descr="preencoded.png">    </p:cNvPr>
          <p:cNvPicPr>
            <a:picLocks noChangeAspect="1"/>
          </p:cNvPicPr>
          <p:nvPr/>
        </p:nvPicPr>
        <p:blipFill>
          <a:blip r:embed="rId4"/>
          <a:stretch>
            <a:fillRect/>
          </a:stretch>
        </p:blipFill>
        <p:spPr>
          <a:xfrm>
            <a:off x="10332720" y="4206240"/>
            <a:ext cx="960120" cy="1161288"/>
          </a:xfrm>
          <a:prstGeom prst="rect">
            <a:avLst/>
          </a:prstGeom>
        </p:spPr>
      </p:pic>
      <p:sp>
        <p:nvSpPr>
          <p:cNvPr id="23" name="Text 17"/>
          <p:cNvSpPr txBox="1"/>
          <p:nvPr/>
        </p:nvSpPr>
        <p:spPr>
          <a:xfrm>
            <a:off x="7406640" y="423367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Bulldozer</a:t>
            </a:r>
            <a:endParaRPr lang="en-US" sz="1900" dirty="0"/>
          </a:p>
        </p:txBody>
      </p:sp>
      <p:sp>
        <p:nvSpPr>
          <p:cNvPr id="24" name="Text 18"/>
          <p:cNvSpPr txBox="1"/>
          <p:nvPr/>
        </p:nvSpPr>
        <p:spPr>
          <a:xfrm>
            <a:off x="7406640" y="475488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Gagne les débats, perd les relations.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9 coups bas et leur parade</a:t>
            </a:r>
            <a:endParaRPr lang="en-US" sz="3600" dirty="0"/>
          </a:p>
        </p:txBody>
      </p:sp>
      <p:sp>
        <p:nvSpPr>
          <p:cNvPr id="3" name="Shape 1"/>
          <p:cNvSpPr/>
          <p:nvPr/>
        </p:nvSpPr>
        <p:spPr>
          <a:xfrm>
            <a:off x="548640" y="1371600"/>
            <a:ext cx="3566160" cy="1463040"/>
          </a:xfrm>
          <a:prstGeom prst="rect">
            <a:avLst/>
          </a:prstGeom>
          <a:solidFill>
            <a:schemeClr val="bg1"/>
          </a:solidFill>
          <a:ln w="25400">
            <a:solidFill>
              <a:schemeClr val="tx1"/>
            </a:solidFill>
            <a:prstDash val="solid"/>
          </a:ln>
        </p:spPr>
      </p:sp>
      <p:sp>
        <p:nvSpPr>
          <p:cNvPr id="4" name="Text 2"/>
          <p:cNvSpPr txBox="1"/>
          <p:nvPr/>
        </p:nvSpPr>
        <p:spPr>
          <a:xfrm>
            <a:off x="658368"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a:t>
            </a:r>
            <a:endParaRPr lang="en-US" sz="3200" dirty="0"/>
          </a:p>
        </p:txBody>
      </p:sp>
      <p:sp>
        <p:nvSpPr>
          <p:cNvPr id="5" name="Text 3"/>
          <p:cNvSpPr txBox="1"/>
          <p:nvPr/>
        </p:nvSpPr>
        <p:spPr>
          <a:xfrm>
            <a:off x="1554480"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L'élastique</a:t>
            </a:r>
            <a:endParaRPr lang="en-US" sz="1500" dirty="0"/>
          </a:p>
        </p:txBody>
      </p:sp>
      <p:sp>
        <p:nvSpPr>
          <p:cNvPr id="6" name="Text 4"/>
          <p:cNvSpPr txBox="1"/>
          <p:nvPr/>
        </p:nvSpPr>
        <p:spPr>
          <a:xfrm>
            <a:off x="1554480"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Étirer ta thèse jusqu'à l'absurde</a:t>
            </a:r>
            <a:endParaRPr lang="en-US" sz="1200" dirty="0"/>
          </a:p>
        </p:txBody>
      </p:sp>
      <p:sp>
        <p:nvSpPr>
          <p:cNvPr id="7" name="Text 5"/>
          <p:cNvSpPr txBox="1"/>
          <p:nvPr/>
        </p:nvSpPr>
        <p:spPr>
          <a:xfrm>
            <a:off x="685800"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Ce n'est pas ce que j'ai dit. »</a:t>
            </a:r>
            <a:endParaRPr lang="en-US" sz="1300" dirty="0"/>
          </a:p>
        </p:txBody>
      </p:sp>
      <p:sp>
        <p:nvSpPr>
          <p:cNvPr id="8" name="Shape 6"/>
          <p:cNvSpPr/>
          <p:nvPr/>
        </p:nvSpPr>
        <p:spPr>
          <a:xfrm>
            <a:off x="4279392" y="1371600"/>
            <a:ext cx="3566160" cy="1463040"/>
          </a:xfrm>
          <a:prstGeom prst="rect">
            <a:avLst/>
          </a:prstGeom>
          <a:solidFill>
            <a:schemeClr val="bg1"/>
          </a:solidFill>
          <a:ln w="25400">
            <a:solidFill>
              <a:schemeClr val="tx1"/>
            </a:solidFill>
            <a:prstDash val="solid"/>
          </a:ln>
        </p:spPr>
      </p:sp>
      <p:sp>
        <p:nvSpPr>
          <p:cNvPr id="9" name="Text 7"/>
          <p:cNvSpPr txBox="1"/>
          <p:nvPr/>
        </p:nvSpPr>
        <p:spPr>
          <a:xfrm>
            <a:off x="4389120"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8</a:t>
            </a:r>
            <a:endParaRPr lang="en-US" sz="3200" dirty="0"/>
          </a:p>
        </p:txBody>
      </p:sp>
      <p:sp>
        <p:nvSpPr>
          <p:cNvPr id="10" name="Text 8"/>
          <p:cNvSpPr txBox="1"/>
          <p:nvPr/>
        </p:nvSpPr>
        <p:spPr>
          <a:xfrm>
            <a:off x="5285232"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L'allumette</a:t>
            </a:r>
            <a:endParaRPr lang="en-US" sz="1500" dirty="0"/>
          </a:p>
        </p:txBody>
      </p:sp>
      <p:sp>
        <p:nvSpPr>
          <p:cNvPr id="11" name="Text 9"/>
          <p:cNvSpPr txBox="1"/>
          <p:nvPr/>
        </p:nvSpPr>
        <p:spPr>
          <a:xfrm>
            <a:off x="5285232"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Te mettre en colère</a:t>
            </a:r>
            <a:endParaRPr lang="en-US" sz="1200" dirty="0"/>
          </a:p>
        </p:txBody>
      </p:sp>
      <p:sp>
        <p:nvSpPr>
          <p:cNvPr id="12" name="Text 10"/>
          <p:cNvSpPr txBox="1"/>
          <p:nvPr/>
        </p:nvSpPr>
        <p:spPr>
          <a:xfrm>
            <a:off x="4416552"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Ça monte, je ralentis. »</a:t>
            </a:r>
            <a:endParaRPr lang="en-US" sz="1300" dirty="0"/>
          </a:p>
        </p:txBody>
      </p:sp>
      <p:sp>
        <p:nvSpPr>
          <p:cNvPr id="13" name="Shape 11"/>
          <p:cNvSpPr/>
          <p:nvPr/>
        </p:nvSpPr>
        <p:spPr>
          <a:xfrm>
            <a:off x="8010144" y="1371600"/>
            <a:ext cx="3566160" cy="1463040"/>
          </a:xfrm>
          <a:prstGeom prst="rect">
            <a:avLst/>
          </a:prstGeom>
          <a:solidFill>
            <a:schemeClr val="bg1"/>
          </a:solidFill>
          <a:ln w="25400">
            <a:solidFill>
              <a:schemeClr val="tx1"/>
            </a:solidFill>
            <a:prstDash val="solid"/>
          </a:ln>
        </p:spPr>
      </p:sp>
      <p:sp>
        <p:nvSpPr>
          <p:cNvPr id="14" name="Text 12"/>
          <p:cNvSpPr txBox="1"/>
          <p:nvPr/>
        </p:nvSpPr>
        <p:spPr>
          <a:xfrm>
            <a:off x="8119872"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13</a:t>
            </a:r>
            <a:endParaRPr lang="en-US" sz="3200" dirty="0"/>
          </a:p>
        </p:txBody>
      </p:sp>
      <p:sp>
        <p:nvSpPr>
          <p:cNvPr id="15" name="Text 13"/>
          <p:cNvSpPr txBox="1"/>
          <p:nvPr/>
        </p:nvSpPr>
        <p:spPr>
          <a:xfrm>
            <a:off x="9015984"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faux choix</a:t>
            </a:r>
            <a:endParaRPr lang="en-US" sz="1500" dirty="0"/>
          </a:p>
        </p:txBody>
      </p:sp>
      <p:sp>
        <p:nvSpPr>
          <p:cNvPr id="16" name="Text 14"/>
          <p:cNvSpPr txBox="1"/>
          <p:nvPr/>
        </p:nvSpPr>
        <p:spPr>
          <a:xfrm>
            <a:off x="9015984"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 C'est ça ou le chaos »</a:t>
            </a:r>
            <a:endParaRPr lang="en-US" sz="1200" dirty="0"/>
          </a:p>
        </p:txBody>
      </p:sp>
      <p:sp>
        <p:nvSpPr>
          <p:cNvPr id="17" name="Text 15"/>
          <p:cNvSpPr txBox="1"/>
          <p:nvPr/>
        </p:nvSpPr>
        <p:spPr>
          <a:xfrm>
            <a:off x="8147304"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Il existe une 3ᵉ option. »</a:t>
            </a:r>
            <a:endParaRPr lang="en-US" sz="1300" dirty="0"/>
          </a:p>
        </p:txBody>
      </p:sp>
      <p:sp>
        <p:nvSpPr>
          <p:cNvPr id="18" name="Shape 16"/>
          <p:cNvSpPr/>
          <p:nvPr/>
        </p:nvSpPr>
        <p:spPr>
          <a:xfrm>
            <a:off x="548640" y="2999232"/>
            <a:ext cx="3566160" cy="1463040"/>
          </a:xfrm>
          <a:prstGeom prst="rect">
            <a:avLst/>
          </a:prstGeom>
          <a:solidFill>
            <a:schemeClr val="bg1"/>
          </a:solidFill>
          <a:ln w="25400">
            <a:solidFill>
              <a:schemeClr val="tx1"/>
            </a:solidFill>
            <a:prstDash val="solid"/>
          </a:ln>
        </p:spPr>
      </p:sp>
      <p:sp>
        <p:nvSpPr>
          <p:cNvPr id="19" name="Text 17"/>
          <p:cNvSpPr txBox="1"/>
          <p:nvPr/>
        </p:nvSpPr>
        <p:spPr>
          <a:xfrm>
            <a:off x="658368"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18</a:t>
            </a:r>
            <a:endParaRPr lang="en-US" sz="3200" dirty="0"/>
          </a:p>
        </p:txBody>
      </p:sp>
      <p:sp>
        <p:nvSpPr>
          <p:cNvPr id="20" name="Text 18"/>
          <p:cNvSpPr txBox="1"/>
          <p:nvPr/>
        </p:nvSpPr>
        <p:spPr>
          <a:xfrm>
            <a:off x="1554480"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coupe-fil</a:t>
            </a:r>
            <a:endParaRPr lang="en-US" sz="1500" dirty="0"/>
          </a:p>
        </p:txBody>
      </p:sp>
      <p:sp>
        <p:nvSpPr>
          <p:cNvPr id="21" name="Text 19"/>
          <p:cNvSpPr txBox="1"/>
          <p:nvPr/>
        </p:nvSpPr>
        <p:spPr>
          <a:xfrm>
            <a:off x="1554480"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Interrompre quand on perd</a:t>
            </a:r>
            <a:endParaRPr lang="en-US" sz="1200" dirty="0"/>
          </a:p>
        </p:txBody>
      </p:sp>
      <p:sp>
        <p:nvSpPr>
          <p:cNvPr id="22" name="Text 20"/>
          <p:cNvSpPr txBox="1"/>
          <p:nvPr/>
        </p:nvSpPr>
        <p:spPr>
          <a:xfrm>
            <a:off x="685800"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Je finis, puis je t'écoute. »</a:t>
            </a:r>
            <a:endParaRPr lang="en-US" sz="1300" dirty="0"/>
          </a:p>
        </p:txBody>
      </p:sp>
      <p:sp>
        <p:nvSpPr>
          <p:cNvPr id="23" name="Shape 21"/>
          <p:cNvSpPr/>
          <p:nvPr/>
        </p:nvSpPr>
        <p:spPr>
          <a:xfrm>
            <a:off x="4279392" y="2999232"/>
            <a:ext cx="3566160" cy="1463040"/>
          </a:xfrm>
          <a:prstGeom prst="rect">
            <a:avLst/>
          </a:prstGeom>
          <a:solidFill>
            <a:schemeClr val="bg1"/>
          </a:solidFill>
          <a:ln w="25400">
            <a:solidFill>
              <a:schemeClr val="tx1"/>
            </a:solidFill>
            <a:prstDash val="solid"/>
          </a:ln>
        </p:spPr>
      </p:sp>
      <p:sp>
        <p:nvSpPr>
          <p:cNvPr id="24" name="Text 22"/>
          <p:cNvSpPr txBox="1"/>
          <p:nvPr/>
        </p:nvSpPr>
        <p:spPr>
          <a:xfrm>
            <a:off x="4389120"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29</a:t>
            </a:r>
            <a:endParaRPr lang="en-US" sz="3200" dirty="0"/>
          </a:p>
        </p:txBody>
      </p:sp>
      <p:sp>
        <p:nvSpPr>
          <p:cNvPr id="25" name="Text 23"/>
          <p:cNvSpPr txBox="1"/>
          <p:nvPr/>
        </p:nvSpPr>
        <p:spPr>
          <a:xfrm>
            <a:off x="5285232"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La diversion</a:t>
            </a:r>
            <a:endParaRPr lang="en-US" sz="1500" dirty="0"/>
          </a:p>
        </p:txBody>
      </p:sp>
      <p:sp>
        <p:nvSpPr>
          <p:cNvPr id="26" name="Text 24"/>
          <p:cNvSpPr txBox="1"/>
          <p:nvPr/>
        </p:nvSpPr>
        <p:spPr>
          <a:xfrm>
            <a:off x="5285232"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Changer de sujet en douce</a:t>
            </a:r>
            <a:endParaRPr lang="en-US" sz="1200" dirty="0"/>
          </a:p>
        </p:txBody>
      </p:sp>
      <p:sp>
        <p:nvSpPr>
          <p:cNvPr id="27" name="Text 25"/>
          <p:cNvSpPr txBox="1"/>
          <p:nvPr/>
        </p:nvSpPr>
        <p:spPr>
          <a:xfrm>
            <a:off x="4416552"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On parlait de… »</a:t>
            </a:r>
            <a:endParaRPr lang="en-US" sz="1300" dirty="0"/>
          </a:p>
        </p:txBody>
      </p:sp>
      <p:sp>
        <p:nvSpPr>
          <p:cNvPr id="28" name="Shape 26"/>
          <p:cNvSpPr/>
          <p:nvPr/>
        </p:nvSpPr>
        <p:spPr>
          <a:xfrm>
            <a:off x="8010144" y="2999232"/>
            <a:ext cx="3566160" cy="1463040"/>
          </a:xfrm>
          <a:prstGeom prst="rect">
            <a:avLst/>
          </a:prstGeom>
          <a:solidFill>
            <a:schemeClr val="bg1"/>
          </a:solidFill>
          <a:ln w="25400">
            <a:solidFill>
              <a:schemeClr val="tx1"/>
            </a:solidFill>
            <a:prstDash val="solid"/>
          </a:ln>
        </p:spPr>
      </p:sp>
      <p:sp>
        <p:nvSpPr>
          <p:cNvPr id="29" name="Text 27"/>
          <p:cNvSpPr txBox="1"/>
          <p:nvPr/>
        </p:nvSpPr>
        <p:spPr>
          <a:xfrm>
            <a:off x="8119872"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30</a:t>
            </a:r>
            <a:endParaRPr lang="en-US" sz="3200" dirty="0"/>
          </a:p>
        </p:txBody>
      </p:sp>
      <p:sp>
        <p:nvSpPr>
          <p:cNvPr id="30" name="Text 28"/>
          <p:cNvSpPr txBox="1"/>
          <p:nvPr/>
        </p:nvSpPr>
        <p:spPr>
          <a:xfrm>
            <a:off x="9015984"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galon</a:t>
            </a:r>
            <a:endParaRPr lang="en-US" sz="1500" dirty="0"/>
          </a:p>
        </p:txBody>
      </p:sp>
      <p:sp>
        <p:nvSpPr>
          <p:cNvPr id="31" name="Text 29"/>
          <p:cNvSpPr txBox="1"/>
          <p:nvPr/>
        </p:nvSpPr>
        <p:spPr>
          <a:xfrm>
            <a:off x="9015984"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 Un expert l'a dit »</a:t>
            </a:r>
            <a:endParaRPr lang="en-US" sz="1200" dirty="0"/>
          </a:p>
        </p:txBody>
      </p:sp>
      <p:sp>
        <p:nvSpPr>
          <p:cNvPr id="32" name="Text 30"/>
          <p:cNvSpPr txBox="1"/>
          <p:nvPr/>
        </p:nvSpPr>
        <p:spPr>
          <a:xfrm>
            <a:off x="8147304"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Quelles sont ses raisons? »</a:t>
            </a:r>
            <a:endParaRPr lang="en-US" sz="1300" dirty="0"/>
          </a:p>
        </p:txBody>
      </p:sp>
      <p:sp>
        <p:nvSpPr>
          <p:cNvPr id="33" name="Shape 31"/>
          <p:cNvSpPr/>
          <p:nvPr/>
        </p:nvSpPr>
        <p:spPr>
          <a:xfrm>
            <a:off x="548640" y="4626864"/>
            <a:ext cx="3566160" cy="1463040"/>
          </a:xfrm>
          <a:prstGeom prst="rect">
            <a:avLst/>
          </a:prstGeom>
          <a:solidFill>
            <a:schemeClr val="bg1"/>
          </a:solidFill>
          <a:ln w="25400">
            <a:solidFill>
              <a:schemeClr val="tx1"/>
            </a:solidFill>
            <a:prstDash val="solid"/>
          </a:ln>
        </p:spPr>
      </p:sp>
      <p:sp>
        <p:nvSpPr>
          <p:cNvPr id="34" name="Text 32"/>
          <p:cNvSpPr txBox="1"/>
          <p:nvPr/>
        </p:nvSpPr>
        <p:spPr>
          <a:xfrm>
            <a:off x="658368"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32</a:t>
            </a:r>
            <a:endParaRPr lang="en-US" sz="3200" dirty="0"/>
          </a:p>
        </p:txBody>
      </p:sp>
      <p:sp>
        <p:nvSpPr>
          <p:cNvPr id="35" name="Text 33"/>
          <p:cNvSpPr txBox="1"/>
          <p:nvPr/>
        </p:nvSpPr>
        <p:spPr>
          <a:xfrm>
            <a:off x="1554480"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L'étiquette</a:t>
            </a:r>
            <a:endParaRPr lang="en-US" sz="1500" dirty="0"/>
          </a:p>
        </p:txBody>
      </p:sp>
      <p:sp>
        <p:nvSpPr>
          <p:cNvPr id="36" name="Text 34"/>
          <p:cNvSpPr txBox="1"/>
          <p:nvPr/>
        </p:nvSpPr>
        <p:spPr>
          <a:xfrm>
            <a:off x="1554480"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Coller un nom odieux à l'idée</a:t>
            </a:r>
            <a:endParaRPr lang="en-US" sz="1200" dirty="0"/>
          </a:p>
        </p:txBody>
      </p:sp>
      <p:sp>
        <p:nvSpPr>
          <p:cNvPr id="37" name="Text 35"/>
          <p:cNvSpPr txBox="1"/>
          <p:nvPr/>
        </p:nvSpPr>
        <p:spPr>
          <a:xfrm>
            <a:off x="685800"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Parlons de l'idée, pas du mot. »</a:t>
            </a:r>
            <a:endParaRPr lang="en-US" sz="1300" dirty="0"/>
          </a:p>
        </p:txBody>
      </p:sp>
      <p:sp>
        <p:nvSpPr>
          <p:cNvPr id="38" name="Shape 36"/>
          <p:cNvSpPr/>
          <p:nvPr/>
        </p:nvSpPr>
        <p:spPr>
          <a:xfrm>
            <a:off x="4279392" y="4626864"/>
            <a:ext cx="3566160" cy="1463040"/>
          </a:xfrm>
          <a:prstGeom prst="rect">
            <a:avLst/>
          </a:prstGeom>
          <a:solidFill>
            <a:schemeClr val="bg1"/>
          </a:solidFill>
          <a:ln w="25400">
            <a:solidFill>
              <a:schemeClr val="tx1"/>
            </a:solidFill>
            <a:prstDash val="solid"/>
          </a:ln>
        </p:spPr>
      </p:sp>
      <p:sp>
        <p:nvSpPr>
          <p:cNvPr id="39" name="Text 37"/>
          <p:cNvSpPr txBox="1"/>
          <p:nvPr/>
        </p:nvSpPr>
        <p:spPr>
          <a:xfrm>
            <a:off x="4389120"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36</a:t>
            </a:r>
            <a:endParaRPr lang="en-US" sz="3200" dirty="0"/>
          </a:p>
        </p:txBody>
      </p:sp>
      <p:sp>
        <p:nvSpPr>
          <p:cNvPr id="40" name="Text 38"/>
          <p:cNvSpPr txBox="1"/>
          <p:nvPr/>
        </p:nvSpPr>
        <p:spPr>
          <a:xfrm>
            <a:off x="5285232"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brouillard</a:t>
            </a:r>
            <a:endParaRPr lang="en-US" sz="1500" dirty="0"/>
          </a:p>
        </p:txBody>
      </p:sp>
      <p:sp>
        <p:nvSpPr>
          <p:cNvPr id="41" name="Text 39"/>
          <p:cNvSpPr txBox="1"/>
          <p:nvPr/>
        </p:nvSpPr>
        <p:spPr>
          <a:xfrm>
            <a:off x="5285232"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Noyer sous le jargon</a:t>
            </a:r>
            <a:endParaRPr lang="en-US" sz="1200" dirty="0"/>
          </a:p>
        </p:txBody>
      </p:sp>
      <p:sp>
        <p:nvSpPr>
          <p:cNvPr id="42" name="Text 40"/>
          <p:cNvSpPr txBox="1"/>
          <p:nvPr/>
        </p:nvSpPr>
        <p:spPr>
          <a:xfrm>
            <a:off x="4416552"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Dis-le à un enfant de 10 ans. »</a:t>
            </a:r>
            <a:endParaRPr lang="en-US" sz="1300" dirty="0"/>
          </a:p>
        </p:txBody>
      </p:sp>
      <p:sp>
        <p:nvSpPr>
          <p:cNvPr id="43" name="Shape 41"/>
          <p:cNvSpPr/>
          <p:nvPr/>
        </p:nvSpPr>
        <p:spPr>
          <a:xfrm>
            <a:off x="8010144" y="4626864"/>
            <a:ext cx="3566160" cy="1463040"/>
          </a:xfrm>
          <a:prstGeom prst="rect">
            <a:avLst/>
          </a:prstGeom>
          <a:solidFill>
            <a:schemeClr val="bg1"/>
          </a:solidFill>
          <a:ln w="25400">
            <a:solidFill>
              <a:schemeClr val="tx1"/>
            </a:solidFill>
            <a:prstDash val="solid"/>
          </a:ln>
        </p:spPr>
      </p:sp>
      <p:sp>
        <p:nvSpPr>
          <p:cNvPr id="44" name="Text 42"/>
          <p:cNvSpPr txBox="1"/>
          <p:nvPr/>
        </p:nvSpPr>
        <p:spPr>
          <a:xfrm>
            <a:off x="8119872"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38</a:t>
            </a:r>
            <a:endParaRPr lang="en-US" sz="3200" dirty="0"/>
          </a:p>
        </p:txBody>
      </p:sp>
      <p:sp>
        <p:nvSpPr>
          <p:cNvPr id="45" name="Text 43"/>
          <p:cNvSpPr txBox="1"/>
          <p:nvPr/>
        </p:nvSpPr>
        <p:spPr>
          <a:xfrm>
            <a:off x="9015984"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K.-O.</a:t>
            </a:r>
            <a:endParaRPr lang="en-US" sz="1500" dirty="0"/>
          </a:p>
        </p:txBody>
      </p:sp>
      <p:sp>
        <p:nvSpPr>
          <p:cNvPr id="46" name="Text 44"/>
          <p:cNvSpPr txBox="1"/>
          <p:nvPr/>
        </p:nvSpPr>
        <p:spPr>
          <a:xfrm>
            <a:off x="9015984"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L'attaque personnelle</a:t>
            </a:r>
            <a:endParaRPr lang="en-US" sz="1200" dirty="0"/>
          </a:p>
        </p:txBody>
      </p:sp>
      <p:sp>
        <p:nvSpPr>
          <p:cNvPr id="47" name="Text 45"/>
          <p:cNvSpPr txBox="1"/>
          <p:nvPr/>
        </p:nvSpPr>
        <p:spPr>
          <a:xfrm>
            <a:off x="8147304"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Le calme. Il n'a plus d'arguments.</a:t>
            </a:r>
            <a:endParaRPr lang="en-US" sz="13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Les coups bas dans la vraie vie</a:t>
            </a:r>
            <a:endParaRPr lang="en-US" sz="3600" dirty="0"/>
          </a:p>
        </p:txBody>
      </p:sp>
      <p:sp>
        <p:nvSpPr>
          <p:cNvPr id="3" name="Text 1"/>
          <p:cNvSpPr txBox="1"/>
          <p:nvPr/>
        </p:nvSpPr>
        <p:spPr>
          <a:xfrm>
            <a:off x="548640" y="1325880"/>
            <a:ext cx="11064240" cy="548640"/>
          </a:xfrm>
          <a:prstGeom prst="rect">
            <a:avLst/>
          </a:prstGeom>
          <a:noFill/>
          <a:ln/>
        </p:spPr>
        <p:txBody>
          <a:bodyPr wrap="square" lIns="0" tIns="0" rIns="0" bIns="0" rtlCol="0" anchor="t"/>
          <a:lstStyle/>
          <a:p>
            <a:pPr indent="0" marL="0">
              <a:buNone/>
            </a:pPr>
            <a:r>
              <a:rPr lang="en-US" sz="1600" dirty="0">
                <a:solidFill>
                  <a:schemeClr val="tx1"/>
                </a:solidFill>
                <a:latin typeface="Arial" pitchFamily="34" charset="0"/>
                <a:ea typeface="Arial" pitchFamily="34" charset="-122"/>
                <a:cs typeface="Arial" pitchFamily="34" charset="-120"/>
              </a:rPr>
              <a:t>Ils ne restent pas dans les livres de philosophie. On les croise chaque semaine.</a:t>
            </a:r>
            <a:endParaRPr lang="en-US" sz="1600" dirty="0"/>
          </a:p>
        </p:txBody>
      </p:sp>
      <p:sp>
        <p:nvSpPr>
          <p:cNvPr id="4" name="Text 2"/>
          <p:cNvSpPr txBox="1"/>
          <p:nvPr/>
        </p:nvSpPr>
        <p:spPr>
          <a:xfrm>
            <a:off x="731520" y="2011680"/>
            <a:ext cx="22860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Où</a:t>
            </a:r>
            <a:endParaRPr lang="en-US" sz="1400" dirty="0"/>
          </a:p>
        </p:txBody>
      </p:sp>
      <p:sp>
        <p:nvSpPr>
          <p:cNvPr id="5" name="Text 3"/>
          <p:cNvSpPr txBox="1"/>
          <p:nvPr/>
        </p:nvSpPr>
        <p:spPr>
          <a:xfrm>
            <a:off x="3291840" y="2011680"/>
            <a:ext cx="45720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Ce qu'on entend</a:t>
            </a:r>
            <a:endParaRPr lang="en-US" sz="1400" dirty="0"/>
          </a:p>
        </p:txBody>
      </p:sp>
      <p:sp>
        <p:nvSpPr>
          <p:cNvPr id="6" name="Text 4"/>
          <p:cNvSpPr txBox="1"/>
          <p:nvPr/>
        </p:nvSpPr>
        <p:spPr>
          <a:xfrm>
            <a:off x="8778240" y="2011680"/>
            <a:ext cx="27432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Le coup bas</a:t>
            </a:r>
            <a:endParaRPr lang="en-US" sz="1400" dirty="0"/>
          </a:p>
        </p:txBody>
      </p:sp>
      <p:sp>
        <p:nvSpPr>
          <p:cNvPr id="7" name="Shape 5"/>
          <p:cNvSpPr/>
          <p:nvPr/>
        </p:nvSpPr>
        <p:spPr>
          <a:xfrm>
            <a:off x="548640" y="2423160"/>
            <a:ext cx="2560320" cy="512064"/>
          </a:xfrm>
          <a:prstGeom prst="rect">
            <a:avLst/>
          </a:prstGeom>
          <a:solidFill>
            <a:schemeClr val="tx1"/>
          </a:solidFill>
          <a:ln w="19050">
            <a:solidFill>
              <a:schemeClr val="tx1"/>
            </a:solidFill>
            <a:prstDash val="solid"/>
          </a:ln>
        </p:spPr>
      </p:sp>
      <p:sp>
        <p:nvSpPr>
          <p:cNvPr id="8" name="Text 6"/>
          <p:cNvSpPr txBox="1"/>
          <p:nvPr/>
        </p:nvSpPr>
        <p:spPr>
          <a:xfrm>
            <a:off x="685800" y="2423160"/>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Souper de famille</a:t>
            </a:r>
            <a:endParaRPr lang="en-US" sz="1500" dirty="0"/>
          </a:p>
        </p:txBody>
      </p:sp>
      <p:sp>
        <p:nvSpPr>
          <p:cNvPr id="9" name="Shape 7"/>
          <p:cNvSpPr/>
          <p:nvPr/>
        </p:nvSpPr>
        <p:spPr>
          <a:xfrm>
            <a:off x="3108960" y="2423160"/>
            <a:ext cx="5486400" cy="512064"/>
          </a:xfrm>
          <a:prstGeom prst="rect">
            <a:avLst/>
          </a:prstGeom>
          <a:solidFill>
            <a:schemeClr val="bg1"/>
          </a:solidFill>
          <a:ln w="19050">
            <a:solidFill>
              <a:schemeClr val="tx1"/>
            </a:solidFill>
            <a:prstDash val="solid"/>
          </a:ln>
        </p:spPr>
      </p:sp>
      <p:sp>
        <p:nvSpPr>
          <p:cNvPr id="10" name="Text 8"/>
          <p:cNvSpPr txBox="1"/>
          <p:nvPr/>
        </p:nvSpPr>
        <p:spPr>
          <a:xfrm>
            <a:off x="3291840" y="2423160"/>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Toi, de toute façon, t'as toujours été comme ça. »</a:t>
            </a:r>
            <a:endParaRPr lang="en-US" sz="1500" dirty="0"/>
          </a:p>
        </p:txBody>
      </p:sp>
      <p:sp>
        <p:nvSpPr>
          <p:cNvPr id="11" name="Shape 9"/>
          <p:cNvSpPr/>
          <p:nvPr/>
        </p:nvSpPr>
        <p:spPr>
          <a:xfrm>
            <a:off x="8595360" y="2423160"/>
            <a:ext cx="3017520" cy="512064"/>
          </a:xfrm>
          <a:prstGeom prst="rect">
            <a:avLst/>
          </a:prstGeom>
          <a:solidFill>
            <a:schemeClr val="accent2"/>
          </a:solidFill>
          <a:ln w="19050">
            <a:solidFill>
              <a:schemeClr val="tx1"/>
            </a:solidFill>
            <a:prstDash val="solid"/>
          </a:ln>
        </p:spPr>
      </p:sp>
      <p:sp>
        <p:nvSpPr>
          <p:cNvPr id="12" name="Text 10"/>
          <p:cNvSpPr txBox="1"/>
          <p:nvPr/>
        </p:nvSpPr>
        <p:spPr>
          <a:xfrm>
            <a:off x="8778240" y="2423160"/>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38 · Le K.-O.</a:t>
            </a:r>
            <a:endParaRPr lang="en-US" sz="1500" dirty="0"/>
          </a:p>
        </p:txBody>
      </p:sp>
      <p:sp>
        <p:nvSpPr>
          <p:cNvPr id="13" name="Shape 11"/>
          <p:cNvSpPr/>
          <p:nvPr/>
        </p:nvSpPr>
        <p:spPr>
          <a:xfrm>
            <a:off x="548640" y="3044952"/>
            <a:ext cx="2560320" cy="512064"/>
          </a:xfrm>
          <a:prstGeom prst="rect">
            <a:avLst/>
          </a:prstGeom>
          <a:solidFill>
            <a:schemeClr val="tx1"/>
          </a:solidFill>
          <a:ln w="19050">
            <a:solidFill>
              <a:schemeClr val="tx1"/>
            </a:solidFill>
            <a:prstDash val="solid"/>
          </a:ln>
        </p:spPr>
      </p:sp>
      <p:sp>
        <p:nvSpPr>
          <p:cNvPr id="14" name="Text 12"/>
          <p:cNvSpPr txBox="1"/>
          <p:nvPr/>
        </p:nvSpPr>
        <p:spPr>
          <a:xfrm>
            <a:off x="685800" y="3044952"/>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Réunion d'équipe</a:t>
            </a:r>
            <a:endParaRPr lang="en-US" sz="1500" dirty="0"/>
          </a:p>
        </p:txBody>
      </p:sp>
      <p:sp>
        <p:nvSpPr>
          <p:cNvPr id="15" name="Shape 13"/>
          <p:cNvSpPr/>
          <p:nvPr/>
        </p:nvSpPr>
        <p:spPr>
          <a:xfrm>
            <a:off x="3108960" y="3044952"/>
            <a:ext cx="5486400" cy="512064"/>
          </a:xfrm>
          <a:prstGeom prst="rect">
            <a:avLst/>
          </a:prstGeom>
          <a:solidFill>
            <a:schemeClr val="bg1"/>
          </a:solidFill>
          <a:ln w="19050">
            <a:solidFill>
              <a:schemeClr val="tx1"/>
            </a:solidFill>
            <a:prstDash val="solid"/>
          </a:ln>
        </p:spPr>
      </p:sp>
      <p:sp>
        <p:nvSpPr>
          <p:cNvPr id="16" name="Text 14"/>
          <p:cNvSpPr txBox="1"/>
          <p:nvPr/>
        </p:nvSpPr>
        <p:spPr>
          <a:xfrm>
            <a:off x="3291840" y="3044952"/>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C'est ça ou on ferme le projet. »</a:t>
            </a:r>
            <a:endParaRPr lang="en-US" sz="1500" dirty="0"/>
          </a:p>
        </p:txBody>
      </p:sp>
      <p:sp>
        <p:nvSpPr>
          <p:cNvPr id="17" name="Shape 15"/>
          <p:cNvSpPr/>
          <p:nvPr/>
        </p:nvSpPr>
        <p:spPr>
          <a:xfrm>
            <a:off x="8595360" y="3044952"/>
            <a:ext cx="3017520" cy="512064"/>
          </a:xfrm>
          <a:prstGeom prst="rect">
            <a:avLst/>
          </a:prstGeom>
          <a:solidFill>
            <a:schemeClr val="accent2"/>
          </a:solidFill>
          <a:ln w="19050">
            <a:solidFill>
              <a:schemeClr val="tx1"/>
            </a:solidFill>
            <a:prstDash val="solid"/>
          </a:ln>
        </p:spPr>
      </p:sp>
      <p:sp>
        <p:nvSpPr>
          <p:cNvPr id="18" name="Text 16"/>
          <p:cNvSpPr txBox="1"/>
          <p:nvPr/>
        </p:nvSpPr>
        <p:spPr>
          <a:xfrm>
            <a:off x="8778240" y="3044952"/>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13 · Le faux choix</a:t>
            </a:r>
            <a:endParaRPr lang="en-US" sz="1500" dirty="0"/>
          </a:p>
        </p:txBody>
      </p:sp>
      <p:sp>
        <p:nvSpPr>
          <p:cNvPr id="19" name="Shape 17"/>
          <p:cNvSpPr/>
          <p:nvPr/>
        </p:nvSpPr>
        <p:spPr>
          <a:xfrm>
            <a:off x="548640" y="3666744"/>
            <a:ext cx="2560320" cy="512064"/>
          </a:xfrm>
          <a:prstGeom prst="rect">
            <a:avLst/>
          </a:prstGeom>
          <a:solidFill>
            <a:schemeClr val="tx1"/>
          </a:solidFill>
          <a:ln w="19050">
            <a:solidFill>
              <a:schemeClr val="tx1"/>
            </a:solidFill>
            <a:prstDash val="solid"/>
          </a:ln>
        </p:spPr>
      </p:sp>
      <p:sp>
        <p:nvSpPr>
          <p:cNvPr id="20" name="Text 18"/>
          <p:cNvSpPr txBox="1"/>
          <p:nvPr/>
        </p:nvSpPr>
        <p:spPr>
          <a:xfrm>
            <a:off x="685800" y="3666744"/>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Réseaux sociaux</a:t>
            </a:r>
            <a:endParaRPr lang="en-US" sz="1500" dirty="0"/>
          </a:p>
        </p:txBody>
      </p:sp>
      <p:sp>
        <p:nvSpPr>
          <p:cNvPr id="21" name="Shape 19"/>
          <p:cNvSpPr/>
          <p:nvPr/>
        </p:nvSpPr>
        <p:spPr>
          <a:xfrm>
            <a:off x="3108960" y="3666744"/>
            <a:ext cx="5486400" cy="512064"/>
          </a:xfrm>
          <a:prstGeom prst="rect">
            <a:avLst/>
          </a:prstGeom>
          <a:solidFill>
            <a:schemeClr val="bg1"/>
          </a:solidFill>
          <a:ln w="19050">
            <a:solidFill>
              <a:schemeClr val="tx1"/>
            </a:solidFill>
            <a:prstDash val="solid"/>
          </a:ln>
        </p:spPr>
      </p:sp>
      <p:sp>
        <p:nvSpPr>
          <p:cNvPr id="22" name="Text 20"/>
          <p:cNvSpPr txBox="1"/>
          <p:nvPr/>
        </p:nvSpPr>
        <p:spPr>
          <a:xfrm>
            <a:off x="3291840" y="3666744"/>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Donc tu veux qu'on abolisse la police? »</a:t>
            </a:r>
            <a:endParaRPr lang="en-US" sz="1500" dirty="0"/>
          </a:p>
        </p:txBody>
      </p:sp>
      <p:sp>
        <p:nvSpPr>
          <p:cNvPr id="23" name="Shape 21"/>
          <p:cNvSpPr/>
          <p:nvPr/>
        </p:nvSpPr>
        <p:spPr>
          <a:xfrm>
            <a:off x="8595360" y="3666744"/>
            <a:ext cx="3017520" cy="512064"/>
          </a:xfrm>
          <a:prstGeom prst="rect">
            <a:avLst/>
          </a:prstGeom>
          <a:solidFill>
            <a:schemeClr val="accent2"/>
          </a:solidFill>
          <a:ln w="19050">
            <a:solidFill>
              <a:schemeClr val="tx1"/>
            </a:solidFill>
            <a:prstDash val="solid"/>
          </a:ln>
        </p:spPr>
      </p:sp>
      <p:sp>
        <p:nvSpPr>
          <p:cNvPr id="24" name="Text 22"/>
          <p:cNvSpPr txBox="1"/>
          <p:nvPr/>
        </p:nvSpPr>
        <p:spPr>
          <a:xfrm>
            <a:off x="8778240" y="3666744"/>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1 · L'élastique</a:t>
            </a:r>
            <a:endParaRPr lang="en-US" sz="1500" dirty="0"/>
          </a:p>
        </p:txBody>
      </p:sp>
      <p:sp>
        <p:nvSpPr>
          <p:cNvPr id="25" name="Shape 23"/>
          <p:cNvSpPr/>
          <p:nvPr/>
        </p:nvSpPr>
        <p:spPr>
          <a:xfrm>
            <a:off x="548640" y="4288536"/>
            <a:ext cx="2560320" cy="512064"/>
          </a:xfrm>
          <a:prstGeom prst="rect">
            <a:avLst/>
          </a:prstGeom>
          <a:solidFill>
            <a:schemeClr val="tx1"/>
          </a:solidFill>
          <a:ln w="19050">
            <a:solidFill>
              <a:schemeClr val="tx1"/>
            </a:solidFill>
            <a:prstDash val="solid"/>
          </a:ln>
        </p:spPr>
      </p:sp>
      <p:sp>
        <p:nvSpPr>
          <p:cNvPr id="26" name="Text 24"/>
          <p:cNvSpPr txBox="1"/>
          <p:nvPr/>
        </p:nvSpPr>
        <p:spPr>
          <a:xfrm>
            <a:off x="685800" y="4288536"/>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Conseil municipal</a:t>
            </a:r>
            <a:endParaRPr lang="en-US" sz="1500" dirty="0"/>
          </a:p>
        </p:txBody>
      </p:sp>
      <p:sp>
        <p:nvSpPr>
          <p:cNvPr id="27" name="Shape 25"/>
          <p:cNvSpPr/>
          <p:nvPr/>
        </p:nvSpPr>
        <p:spPr>
          <a:xfrm>
            <a:off x="3108960" y="4288536"/>
            <a:ext cx="5486400" cy="512064"/>
          </a:xfrm>
          <a:prstGeom prst="rect">
            <a:avLst/>
          </a:prstGeom>
          <a:solidFill>
            <a:schemeClr val="bg1"/>
          </a:solidFill>
          <a:ln w="19050">
            <a:solidFill>
              <a:schemeClr val="tx1"/>
            </a:solidFill>
            <a:prstDash val="solid"/>
          </a:ln>
        </p:spPr>
      </p:sp>
      <p:sp>
        <p:nvSpPr>
          <p:cNvPr id="28" name="Text 26"/>
          <p:cNvSpPr txBox="1"/>
          <p:nvPr/>
        </p:nvSpPr>
        <p:spPr>
          <a:xfrm>
            <a:off x="3291840" y="4288536"/>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Ça, c'est une idée de radicaux. »</a:t>
            </a:r>
            <a:endParaRPr lang="en-US" sz="1500" dirty="0"/>
          </a:p>
        </p:txBody>
      </p:sp>
      <p:sp>
        <p:nvSpPr>
          <p:cNvPr id="29" name="Shape 27"/>
          <p:cNvSpPr/>
          <p:nvPr/>
        </p:nvSpPr>
        <p:spPr>
          <a:xfrm>
            <a:off x="8595360" y="4288536"/>
            <a:ext cx="3017520" cy="512064"/>
          </a:xfrm>
          <a:prstGeom prst="rect">
            <a:avLst/>
          </a:prstGeom>
          <a:solidFill>
            <a:schemeClr val="accent2"/>
          </a:solidFill>
          <a:ln w="19050">
            <a:solidFill>
              <a:schemeClr val="tx1"/>
            </a:solidFill>
            <a:prstDash val="solid"/>
          </a:ln>
        </p:spPr>
      </p:sp>
      <p:sp>
        <p:nvSpPr>
          <p:cNvPr id="30" name="Text 28"/>
          <p:cNvSpPr txBox="1"/>
          <p:nvPr/>
        </p:nvSpPr>
        <p:spPr>
          <a:xfrm>
            <a:off x="8778240" y="4288536"/>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32 · L'étiquette</a:t>
            </a:r>
            <a:endParaRPr lang="en-US" sz="1500" dirty="0"/>
          </a:p>
        </p:txBody>
      </p:sp>
      <p:sp>
        <p:nvSpPr>
          <p:cNvPr id="31" name="Shape 29"/>
          <p:cNvSpPr/>
          <p:nvPr/>
        </p:nvSpPr>
        <p:spPr>
          <a:xfrm>
            <a:off x="548640" y="4910328"/>
            <a:ext cx="2560320" cy="512064"/>
          </a:xfrm>
          <a:prstGeom prst="rect">
            <a:avLst/>
          </a:prstGeom>
          <a:solidFill>
            <a:schemeClr val="tx1"/>
          </a:solidFill>
          <a:ln w="19050">
            <a:solidFill>
              <a:schemeClr val="tx1"/>
            </a:solidFill>
            <a:prstDash val="solid"/>
          </a:ln>
        </p:spPr>
      </p:sp>
      <p:sp>
        <p:nvSpPr>
          <p:cNvPr id="32" name="Text 30"/>
          <p:cNvSpPr txBox="1"/>
          <p:nvPr/>
        </p:nvSpPr>
        <p:spPr>
          <a:xfrm>
            <a:off x="685800" y="4910328"/>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Entre ami·es</a:t>
            </a:r>
            <a:endParaRPr lang="en-US" sz="1500" dirty="0"/>
          </a:p>
        </p:txBody>
      </p:sp>
      <p:sp>
        <p:nvSpPr>
          <p:cNvPr id="33" name="Shape 31"/>
          <p:cNvSpPr/>
          <p:nvPr/>
        </p:nvSpPr>
        <p:spPr>
          <a:xfrm>
            <a:off x="3108960" y="4910328"/>
            <a:ext cx="5486400" cy="512064"/>
          </a:xfrm>
          <a:prstGeom prst="rect">
            <a:avLst/>
          </a:prstGeom>
          <a:solidFill>
            <a:schemeClr val="bg1"/>
          </a:solidFill>
          <a:ln w="19050">
            <a:solidFill>
              <a:schemeClr val="tx1"/>
            </a:solidFill>
            <a:prstDash val="solid"/>
          </a:ln>
        </p:spPr>
      </p:sp>
      <p:sp>
        <p:nvSpPr>
          <p:cNvPr id="34" name="Text 32"/>
          <p:cNvSpPr txBox="1"/>
          <p:nvPr/>
        </p:nvSpPr>
        <p:spPr>
          <a:xfrm>
            <a:off x="3291840" y="4910328"/>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Un médecin l'a dit à la télé, c'est réglé. »</a:t>
            </a:r>
            <a:endParaRPr lang="en-US" sz="1500" dirty="0"/>
          </a:p>
        </p:txBody>
      </p:sp>
      <p:sp>
        <p:nvSpPr>
          <p:cNvPr id="35" name="Shape 33"/>
          <p:cNvSpPr/>
          <p:nvPr/>
        </p:nvSpPr>
        <p:spPr>
          <a:xfrm>
            <a:off x="8595360" y="4910328"/>
            <a:ext cx="3017520" cy="512064"/>
          </a:xfrm>
          <a:prstGeom prst="rect">
            <a:avLst/>
          </a:prstGeom>
          <a:solidFill>
            <a:schemeClr val="accent2"/>
          </a:solidFill>
          <a:ln w="19050">
            <a:solidFill>
              <a:schemeClr val="tx1"/>
            </a:solidFill>
            <a:prstDash val="solid"/>
          </a:ln>
        </p:spPr>
      </p:sp>
      <p:sp>
        <p:nvSpPr>
          <p:cNvPr id="36" name="Text 34"/>
          <p:cNvSpPr txBox="1"/>
          <p:nvPr/>
        </p:nvSpPr>
        <p:spPr>
          <a:xfrm>
            <a:off x="8778240" y="4910328"/>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30 · Le galon</a:t>
            </a:r>
            <a:endParaRPr lang="en-US" sz="1500" dirty="0"/>
          </a:p>
        </p:txBody>
      </p:sp>
      <p:sp>
        <p:nvSpPr>
          <p:cNvPr id="37" name="Shape 35"/>
          <p:cNvSpPr/>
          <p:nvPr/>
        </p:nvSpPr>
        <p:spPr>
          <a:xfrm>
            <a:off x="548640" y="5532120"/>
            <a:ext cx="2560320" cy="512064"/>
          </a:xfrm>
          <a:prstGeom prst="rect">
            <a:avLst/>
          </a:prstGeom>
          <a:solidFill>
            <a:schemeClr val="tx1"/>
          </a:solidFill>
          <a:ln w="19050">
            <a:solidFill>
              <a:schemeClr val="tx1"/>
            </a:solidFill>
            <a:prstDash val="solid"/>
          </a:ln>
        </p:spPr>
      </p:sp>
      <p:sp>
        <p:nvSpPr>
          <p:cNvPr id="38" name="Text 36"/>
          <p:cNvSpPr txBox="1"/>
          <p:nvPr/>
        </p:nvSpPr>
        <p:spPr>
          <a:xfrm>
            <a:off x="685800" y="5532120"/>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Couple</a:t>
            </a:r>
            <a:endParaRPr lang="en-US" sz="1500" dirty="0"/>
          </a:p>
        </p:txBody>
      </p:sp>
      <p:sp>
        <p:nvSpPr>
          <p:cNvPr id="39" name="Shape 37"/>
          <p:cNvSpPr/>
          <p:nvPr/>
        </p:nvSpPr>
        <p:spPr>
          <a:xfrm>
            <a:off x="3108960" y="5532120"/>
            <a:ext cx="5486400" cy="512064"/>
          </a:xfrm>
          <a:prstGeom prst="rect">
            <a:avLst/>
          </a:prstGeom>
          <a:solidFill>
            <a:schemeClr val="bg1"/>
          </a:solidFill>
          <a:ln w="19050">
            <a:solidFill>
              <a:schemeClr val="tx1"/>
            </a:solidFill>
            <a:prstDash val="solid"/>
          </a:ln>
        </p:spPr>
      </p:sp>
      <p:sp>
        <p:nvSpPr>
          <p:cNvPr id="40" name="Text 38"/>
          <p:cNvSpPr txBox="1"/>
          <p:nvPr/>
        </p:nvSpPr>
        <p:spPr>
          <a:xfrm>
            <a:off x="3291840" y="5532120"/>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Pis toi, la semaine passée, hein? »</a:t>
            </a:r>
            <a:endParaRPr lang="en-US" sz="1500" dirty="0"/>
          </a:p>
        </p:txBody>
      </p:sp>
      <p:sp>
        <p:nvSpPr>
          <p:cNvPr id="41" name="Shape 39"/>
          <p:cNvSpPr/>
          <p:nvPr/>
        </p:nvSpPr>
        <p:spPr>
          <a:xfrm>
            <a:off x="8595360" y="5532120"/>
            <a:ext cx="3017520" cy="512064"/>
          </a:xfrm>
          <a:prstGeom prst="rect">
            <a:avLst/>
          </a:prstGeom>
          <a:solidFill>
            <a:schemeClr val="accent2"/>
          </a:solidFill>
          <a:ln w="19050">
            <a:solidFill>
              <a:schemeClr val="tx1"/>
            </a:solidFill>
            <a:prstDash val="solid"/>
          </a:ln>
        </p:spPr>
      </p:sp>
      <p:sp>
        <p:nvSpPr>
          <p:cNvPr id="42" name="Text 40"/>
          <p:cNvSpPr txBox="1"/>
          <p:nvPr/>
        </p:nvSpPr>
        <p:spPr>
          <a:xfrm>
            <a:off x="8778240" y="5532120"/>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29 · La diversion</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Monte la pyramide du désaccord</a:t>
            </a:r>
            <a:endParaRPr lang="en-US" sz="3600" dirty="0"/>
          </a:p>
        </p:txBody>
      </p:sp>
      <p:sp>
        <p:nvSpPr>
          <p:cNvPr id="3" name="Shape 1"/>
          <p:cNvSpPr/>
          <p:nvPr/>
        </p:nvSpPr>
        <p:spPr>
          <a:xfrm>
            <a:off x="2834640" y="1325880"/>
            <a:ext cx="2377440" cy="621792"/>
          </a:xfrm>
          <a:prstGeom prst="rect">
            <a:avLst/>
          </a:prstGeom>
          <a:solidFill>
            <a:schemeClr val="accent1"/>
          </a:solidFill>
          <a:ln/>
        </p:spPr>
      </p:sp>
      <p:sp>
        <p:nvSpPr>
          <p:cNvPr id="4" name="Text 2"/>
          <p:cNvSpPr txBox="1"/>
          <p:nvPr/>
        </p:nvSpPr>
        <p:spPr>
          <a:xfrm>
            <a:off x="2834640" y="1325880"/>
            <a:ext cx="237744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6 · Réfuter le cœur</a:t>
            </a:r>
            <a:endParaRPr lang="en-US" sz="1500" dirty="0"/>
          </a:p>
        </p:txBody>
      </p:sp>
      <p:sp>
        <p:nvSpPr>
          <p:cNvPr id="5" name="Text 3"/>
          <p:cNvSpPr txBox="1"/>
          <p:nvPr/>
        </p:nvSpPr>
        <p:spPr>
          <a:xfrm>
            <a:off x="7589520" y="1325880"/>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Ton idée centrale ne tient pas parce que… »</a:t>
            </a:r>
            <a:endParaRPr lang="en-US" sz="1300" dirty="0"/>
          </a:p>
        </p:txBody>
      </p:sp>
      <p:sp>
        <p:nvSpPr>
          <p:cNvPr id="6" name="Shape 4"/>
          <p:cNvSpPr/>
          <p:nvPr/>
        </p:nvSpPr>
        <p:spPr>
          <a:xfrm>
            <a:off x="5303520" y="1636776"/>
            <a:ext cx="2194560" cy="0"/>
          </a:xfrm>
          <a:prstGeom prst="line">
            <a:avLst/>
          </a:prstGeom>
          <a:noFill/>
          <a:ln w="12700">
            <a:solidFill>
              <a:schemeClr val="tx2"/>
            </a:solidFill>
            <a:prstDash val="sysDot"/>
          </a:ln>
        </p:spPr>
      </p:sp>
      <p:sp>
        <p:nvSpPr>
          <p:cNvPr id="7" name="Shape 5"/>
          <p:cNvSpPr/>
          <p:nvPr/>
        </p:nvSpPr>
        <p:spPr>
          <a:xfrm>
            <a:off x="2468880" y="1984248"/>
            <a:ext cx="3108960" cy="621792"/>
          </a:xfrm>
          <a:prstGeom prst="rect">
            <a:avLst/>
          </a:prstGeom>
          <a:solidFill>
            <a:schemeClr val="accent1"/>
          </a:solidFill>
          <a:ln/>
        </p:spPr>
      </p:sp>
      <p:sp>
        <p:nvSpPr>
          <p:cNvPr id="8" name="Text 6"/>
          <p:cNvSpPr txBox="1"/>
          <p:nvPr/>
        </p:nvSpPr>
        <p:spPr>
          <a:xfrm>
            <a:off x="2468880" y="1984248"/>
            <a:ext cx="310896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5 · Réfutation</a:t>
            </a:r>
            <a:endParaRPr lang="en-US" sz="1500" dirty="0"/>
          </a:p>
        </p:txBody>
      </p:sp>
      <p:sp>
        <p:nvSpPr>
          <p:cNvPr id="9" name="Text 7"/>
          <p:cNvSpPr txBox="1"/>
          <p:nvPr/>
        </p:nvSpPr>
        <p:spPr>
          <a:xfrm>
            <a:off x="7589520" y="1984248"/>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Citer l'autre et montrer l'erreur</a:t>
            </a:r>
            <a:endParaRPr lang="en-US" sz="1300" dirty="0"/>
          </a:p>
        </p:txBody>
      </p:sp>
      <p:sp>
        <p:nvSpPr>
          <p:cNvPr id="10" name="Shape 8"/>
          <p:cNvSpPr/>
          <p:nvPr/>
        </p:nvSpPr>
        <p:spPr>
          <a:xfrm>
            <a:off x="5669280" y="2295144"/>
            <a:ext cx="1828800" cy="0"/>
          </a:xfrm>
          <a:prstGeom prst="line">
            <a:avLst/>
          </a:prstGeom>
          <a:noFill/>
          <a:ln w="12700">
            <a:solidFill>
              <a:schemeClr val="tx2"/>
            </a:solidFill>
            <a:prstDash val="sysDot"/>
          </a:ln>
        </p:spPr>
      </p:sp>
      <p:sp>
        <p:nvSpPr>
          <p:cNvPr id="11" name="Shape 9"/>
          <p:cNvSpPr/>
          <p:nvPr/>
        </p:nvSpPr>
        <p:spPr>
          <a:xfrm>
            <a:off x="2103120" y="2642616"/>
            <a:ext cx="3840480" cy="621792"/>
          </a:xfrm>
          <a:prstGeom prst="rect">
            <a:avLst/>
          </a:prstGeom>
          <a:solidFill>
            <a:schemeClr val="accent1"/>
          </a:solidFill>
          <a:ln/>
        </p:spPr>
      </p:sp>
      <p:sp>
        <p:nvSpPr>
          <p:cNvPr id="12" name="Text 10"/>
          <p:cNvSpPr txBox="1"/>
          <p:nvPr/>
        </p:nvSpPr>
        <p:spPr>
          <a:xfrm>
            <a:off x="2103120" y="2642616"/>
            <a:ext cx="384048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4 · Contre-argument</a:t>
            </a:r>
            <a:endParaRPr lang="en-US" sz="1500" dirty="0"/>
          </a:p>
        </p:txBody>
      </p:sp>
      <p:sp>
        <p:nvSpPr>
          <p:cNvPr id="13" name="Text 11"/>
          <p:cNvSpPr txBox="1"/>
          <p:nvPr/>
        </p:nvSpPr>
        <p:spPr>
          <a:xfrm>
            <a:off x="7589520" y="2642616"/>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Une autre raison, avec preuve</a:t>
            </a:r>
            <a:endParaRPr lang="en-US" sz="1300" dirty="0"/>
          </a:p>
        </p:txBody>
      </p:sp>
      <p:sp>
        <p:nvSpPr>
          <p:cNvPr id="14" name="Shape 12"/>
          <p:cNvSpPr/>
          <p:nvPr/>
        </p:nvSpPr>
        <p:spPr>
          <a:xfrm>
            <a:off x="6035040" y="2953512"/>
            <a:ext cx="1463040" cy="0"/>
          </a:xfrm>
          <a:prstGeom prst="line">
            <a:avLst/>
          </a:prstGeom>
          <a:noFill/>
          <a:ln w="12700">
            <a:solidFill>
              <a:schemeClr val="tx2"/>
            </a:solidFill>
            <a:prstDash val="sysDot"/>
          </a:ln>
        </p:spPr>
      </p:sp>
      <p:sp>
        <p:nvSpPr>
          <p:cNvPr id="15" name="Shape 13"/>
          <p:cNvSpPr/>
          <p:nvPr/>
        </p:nvSpPr>
        <p:spPr>
          <a:xfrm>
            <a:off x="1737360" y="3300984"/>
            <a:ext cx="4572000" cy="621792"/>
          </a:xfrm>
          <a:prstGeom prst="rect">
            <a:avLst/>
          </a:prstGeom>
          <a:solidFill>
            <a:schemeClr val="accent2"/>
          </a:solidFill>
          <a:ln/>
        </p:spPr>
      </p:sp>
      <p:sp>
        <p:nvSpPr>
          <p:cNvPr id="16" name="Text 14"/>
          <p:cNvSpPr txBox="1"/>
          <p:nvPr/>
        </p:nvSpPr>
        <p:spPr>
          <a:xfrm>
            <a:off x="1737360" y="3300984"/>
            <a:ext cx="4572000" cy="621792"/>
          </a:xfrm>
          <a:prstGeom prst="rect">
            <a:avLst/>
          </a:prstGeom>
          <a:noFill/>
          <a:ln/>
        </p:spPr>
        <p:txBody>
          <a:bodyPr wrap="square" lIns="0" tIns="0" rIns="0" bIns="0" rtlCol="0" anchor="ctr"/>
          <a:lstStyle/>
          <a:p>
            <a:pPr algn="ctr" indent="0" marL="0">
              <a:buNone/>
            </a:pPr>
            <a:r>
              <a:rPr lang="en-US" sz="1500" dirty="0">
                <a:solidFill>
                  <a:schemeClr val="tx1"/>
                </a:solidFill>
                <a:latin typeface="Rockwell Extra Bold" pitchFamily="34" charset="0"/>
                <a:ea typeface="Rockwell Extra Bold" pitchFamily="34" charset="-122"/>
                <a:cs typeface="Rockwell Extra Bold" pitchFamily="34" charset="-120"/>
              </a:rPr>
              <a:t>3 · Contradiction</a:t>
            </a:r>
            <a:endParaRPr lang="en-US" sz="1500" dirty="0"/>
          </a:p>
        </p:txBody>
      </p:sp>
      <p:sp>
        <p:nvSpPr>
          <p:cNvPr id="17" name="Text 15"/>
          <p:cNvSpPr txBox="1"/>
          <p:nvPr/>
        </p:nvSpPr>
        <p:spPr>
          <a:xfrm>
            <a:off x="7589520" y="3300984"/>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Non, c'est faux. » (sans raison)</a:t>
            </a:r>
            <a:endParaRPr lang="en-US" sz="1300" dirty="0"/>
          </a:p>
        </p:txBody>
      </p:sp>
      <p:sp>
        <p:nvSpPr>
          <p:cNvPr id="18" name="Shape 16"/>
          <p:cNvSpPr/>
          <p:nvPr/>
        </p:nvSpPr>
        <p:spPr>
          <a:xfrm>
            <a:off x="6400800" y="3611880"/>
            <a:ext cx="1097280" cy="0"/>
          </a:xfrm>
          <a:prstGeom prst="line">
            <a:avLst/>
          </a:prstGeom>
          <a:noFill/>
          <a:ln w="12700">
            <a:solidFill>
              <a:schemeClr val="tx2"/>
            </a:solidFill>
            <a:prstDash val="sysDot"/>
          </a:ln>
        </p:spPr>
      </p:sp>
      <p:sp>
        <p:nvSpPr>
          <p:cNvPr id="19" name="Shape 17"/>
          <p:cNvSpPr/>
          <p:nvPr/>
        </p:nvSpPr>
        <p:spPr>
          <a:xfrm>
            <a:off x="1371600" y="3959352"/>
            <a:ext cx="5303520" cy="621792"/>
          </a:xfrm>
          <a:prstGeom prst="rect">
            <a:avLst/>
          </a:prstGeom>
          <a:solidFill>
            <a:schemeClr val="tx1"/>
          </a:solidFill>
          <a:ln/>
        </p:spPr>
      </p:sp>
      <p:sp>
        <p:nvSpPr>
          <p:cNvPr id="20" name="Text 18"/>
          <p:cNvSpPr txBox="1"/>
          <p:nvPr/>
        </p:nvSpPr>
        <p:spPr>
          <a:xfrm>
            <a:off x="1371600" y="3959352"/>
            <a:ext cx="530352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2 · Critique du ton</a:t>
            </a:r>
            <a:endParaRPr lang="en-US" sz="1500" dirty="0"/>
          </a:p>
        </p:txBody>
      </p:sp>
      <p:sp>
        <p:nvSpPr>
          <p:cNvPr id="21" name="Text 19"/>
          <p:cNvSpPr txBox="1"/>
          <p:nvPr/>
        </p:nvSpPr>
        <p:spPr>
          <a:xfrm>
            <a:off x="7589520" y="3959352"/>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Calme-toi! »</a:t>
            </a:r>
            <a:endParaRPr lang="en-US" sz="1300" dirty="0"/>
          </a:p>
        </p:txBody>
      </p:sp>
      <p:sp>
        <p:nvSpPr>
          <p:cNvPr id="22" name="Shape 20"/>
          <p:cNvSpPr/>
          <p:nvPr/>
        </p:nvSpPr>
        <p:spPr>
          <a:xfrm>
            <a:off x="6766560" y="4270248"/>
            <a:ext cx="731520" cy="0"/>
          </a:xfrm>
          <a:prstGeom prst="line">
            <a:avLst/>
          </a:prstGeom>
          <a:noFill/>
          <a:ln w="12700">
            <a:solidFill>
              <a:schemeClr val="tx2"/>
            </a:solidFill>
            <a:prstDash val="sysDot"/>
          </a:ln>
        </p:spPr>
      </p:sp>
      <p:sp>
        <p:nvSpPr>
          <p:cNvPr id="23" name="Shape 21"/>
          <p:cNvSpPr/>
          <p:nvPr/>
        </p:nvSpPr>
        <p:spPr>
          <a:xfrm>
            <a:off x="1005840" y="4617720"/>
            <a:ext cx="6035040" cy="621792"/>
          </a:xfrm>
          <a:prstGeom prst="rect">
            <a:avLst/>
          </a:prstGeom>
          <a:solidFill>
            <a:schemeClr val="tx1"/>
          </a:solidFill>
          <a:ln/>
        </p:spPr>
      </p:sp>
      <p:sp>
        <p:nvSpPr>
          <p:cNvPr id="24" name="Text 22"/>
          <p:cNvSpPr txBox="1"/>
          <p:nvPr/>
        </p:nvSpPr>
        <p:spPr>
          <a:xfrm>
            <a:off x="1005840" y="4617720"/>
            <a:ext cx="603504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1 · Ad hominem</a:t>
            </a:r>
            <a:endParaRPr lang="en-US" sz="1500" dirty="0"/>
          </a:p>
        </p:txBody>
      </p:sp>
      <p:sp>
        <p:nvSpPr>
          <p:cNvPr id="25" name="Text 23"/>
          <p:cNvSpPr txBox="1"/>
          <p:nvPr/>
        </p:nvSpPr>
        <p:spPr>
          <a:xfrm>
            <a:off x="7589520" y="4617720"/>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Tu dis ça parce que t'es de ta génération. »</a:t>
            </a:r>
            <a:endParaRPr lang="en-US" sz="1300" dirty="0"/>
          </a:p>
        </p:txBody>
      </p:sp>
      <p:sp>
        <p:nvSpPr>
          <p:cNvPr id="26" name="Shape 24"/>
          <p:cNvSpPr/>
          <p:nvPr/>
        </p:nvSpPr>
        <p:spPr>
          <a:xfrm>
            <a:off x="7132320" y="4928616"/>
            <a:ext cx="365760" cy="0"/>
          </a:xfrm>
          <a:prstGeom prst="line">
            <a:avLst/>
          </a:prstGeom>
          <a:noFill/>
          <a:ln w="12700">
            <a:solidFill>
              <a:schemeClr val="tx2"/>
            </a:solidFill>
            <a:prstDash val="sysDot"/>
          </a:ln>
        </p:spPr>
      </p:sp>
      <p:sp>
        <p:nvSpPr>
          <p:cNvPr id="27" name="Shape 25"/>
          <p:cNvSpPr/>
          <p:nvPr/>
        </p:nvSpPr>
        <p:spPr>
          <a:xfrm>
            <a:off x="640080" y="5276088"/>
            <a:ext cx="6766560" cy="621792"/>
          </a:xfrm>
          <a:prstGeom prst="rect">
            <a:avLst/>
          </a:prstGeom>
          <a:solidFill>
            <a:schemeClr val="tx1"/>
          </a:solidFill>
          <a:ln/>
        </p:spPr>
      </p:sp>
      <p:sp>
        <p:nvSpPr>
          <p:cNvPr id="28" name="Text 26"/>
          <p:cNvSpPr txBox="1"/>
          <p:nvPr/>
        </p:nvSpPr>
        <p:spPr>
          <a:xfrm>
            <a:off x="640080" y="5276088"/>
            <a:ext cx="676656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0 · Insulte</a:t>
            </a:r>
            <a:endParaRPr lang="en-US" sz="1500" dirty="0"/>
          </a:p>
        </p:txBody>
      </p:sp>
      <p:sp>
        <p:nvSpPr>
          <p:cNvPr id="29" name="Text 27"/>
          <p:cNvSpPr txBox="1"/>
          <p:nvPr/>
        </p:nvSpPr>
        <p:spPr>
          <a:xfrm>
            <a:off x="7589520" y="5276088"/>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T'es niaiseux. »</a:t>
            </a:r>
            <a:endParaRPr lang="en-US" sz="1300" dirty="0"/>
          </a:p>
        </p:txBody>
      </p:sp>
      <p:sp>
        <p:nvSpPr>
          <p:cNvPr id="30" name="Shape 28"/>
          <p:cNvSpPr/>
          <p:nvPr/>
        </p:nvSpPr>
        <p:spPr>
          <a:xfrm>
            <a:off x="7498080" y="5586984"/>
            <a:ext cx="0" cy="0"/>
          </a:xfrm>
          <a:prstGeom prst="line">
            <a:avLst/>
          </a:prstGeom>
          <a:noFill/>
          <a:ln w="12700">
            <a:solidFill>
              <a:schemeClr val="tx2"/>
            </a:solidFill>
            <a:prstDash val="sysDot"/>
          </a:ln>
        </p:spPr>
      </p:sp>
      <p:sp>
        <p:nvSpPr>
          <p:cNvPr id="31" name="Text 29"/>
          <p:cNvSpPr txBox="1"/>
          <p:nvPr/>
        </p:nvSpPr>
        <p:spPr>
          <a:xfrm>
            <a:off x="548640" y="1371600"/>
            <a:ext cx="1463040" cy="365760"/>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 agréable</a:t>
            </a:r>
            <a:endParaRPr lang="en-US" sz="1400" dirty="0"/>
          </a:p>
        </p:txBody>
      </p:sp>
      <p:sp>
        <p:nvSpPr>
          <p:cNvPr id="32" name="Text 30"/>
          <p:cNvSpPr txBox="1"/>
          <p:nvPr/>
        </p:nvSpPr>
        <p:spPr>
          <a:xfrm>
            <a:off x="548640" y="5943600"/>
            <a:ext cx="1463040" cy="36576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toxique</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Gagner le droit de critiquer</a:t>
            </a:r>
            <a:endParaRPr lang="en-US" sz="3600" dirty="0"/>
          </a:p>
        </p:txBody>
      </p:sp>
      <p:sp>
        <p:nvSpPr>
          <p:cNvPr id="3" name="Text 1"/>
          <p:cNvSpPr txBox="1"/>
          <p:nvPr/>
        </p:nvSpPr>
        <p:spPr>
          <a:xfrm>
            <a:off x="548640" y="1280160"/>
            <a:ext cx="6400800" cy="365760"/>
          </a:xfrm>
          <a:prstGeom prst="rect">
            <a:avLst/>
          </a:prstGeom>
          <a:noFill/>
          <a:ln/>
        </p:spPr>
        <p:txBody>
          <a:bodyPr wrap="square" lIns="0" tIns="0" rIns="0" bIns="0" rtlCol="0" anchor="t"/>
          <a:lstStyle/>
          <a:p>
            <a:pPr indent="0" marL="0">
              <a:buNone/>
            </a:pPr>
            <a:r>
              <a:rPr lang="en-US" sz="1400" i="1" dirty="0">
                <a:solidFill>
                  <a:schemeClr val="tx2"/>
                </a:solidFill>
                <a:latin typeface="Arial" pitchFamily="34" charset="0"/>
                <a:ea typeface="Arial" pitchFamily="34" charset="-122"/>
                <a:cs typeface="Arial" pitchFamily="34" charset="-120"/>
              </a:rPr>
              <a:t>Les règles de Rapoport (popularisées par Daniel Dennett)</a:t>
            </a:r>
            <a:endParaRPr lang="en-US" sz="1400" dirty="0"/>
          </a:p>
        </p:txBody>
      </p:sp>
      <p:sp>
        <p:nvSpPr>
          <p:cNvPr id="4" name="Shape 2"/>
          <p:cNvSpPr/>
          <p:nvPr/>
        </p:nvSpPr>
        <p:spPr>
          <a:xfrm>
            <a:off x="548640" y="1783080"/>
            <a:ext cx="640080" cy="640080"/>
          </a:xfrm>
          <a:prstGeom prst="ellipse">
            <a:avLst/>
          </a:prstGeom>
          <a:solidFill>
            <a:schemeClr val="accent1"/>
          </a:solidFill>
          <a:ln w="19050">
            <a:solidFill>
              <a:schemeClr val="tx1"/>
            </a:solidFill>
            <a:prstDash val="solid"/>
          </a:ln>
        </p:spPr>
      </p:sp>
      <p:sp>
        <p:nvSpPr>
          <p:cNvPr id="5" name="Text 3"/>
          <p:cNvSpPr txBox="1"/>
          <p:nvPr/>
        </p:nvSpPr>
        <p:spPr>
          <a:xfrm>
            <a:off x="548640" y="178308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1</a:t>
            </a:r>
            <a:endParaRPr lang="en-US" sz="2400" dirty="0"/>
          </a:p>
        </p:txBody>
      </p:sp>
      <p:sp>
        <p:nvSpPr>
          <p:cNvPr id="6" name="Text 4"/>
          <p:cNvSpPr txBox="1"/>
          <p:nvPr/>
        </p:nvSpPr>
        <p:spPr>
          <a:xfrm>
            <a:off x="1371600" y="1810512"/>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Reformule l'idée de l'autre si bien qu'il dise : « J'aurais aimé le dire comme ça. »</a:t>
            </a:r>
            <a:endParaRPr lang="en-US" sz="1600" dirty="0"/>
          </a:p>
        </p:txBody>
      </p:sp>
      <p:sp>
        <p:nvSpPr>
          <p:cNvPr id="7" name="Shape 5"/>
          <p:cNvSpPr/>
          <p:nvPr/>
        </p:nvSpPr>
        <p:spPr>
          <a:xfrm>
            <a:off x="548640" y="2770632"/>
            <a:ext cx="640080" cy="640080"/>
          </a:xfrm>
          <a:prstGeom prst="ellipse">
            <a:avLst/>
          </a:prstGeom>
          <a:solidFill>
            <a:schemeClr val="accent1"/>
          </a:solidFill>
          <a:ln w="19050">
            <a:solidFill>
              <a:schemeClr val="tx1"/>
            </a:solidFill>
            <a:prstDash val="solid"/>
          </a:ln>
        </p:spPr>
      </p:sp>
      <p:sp>
        <p:nvSpPr>
          <p:cNvPr id="8" name="Text 6"/>
          <p:cNvSpPr txBox="1"/>
          <p:nvPr/>
        </p:nvSpPr>
        <p:spPr>
          <a:xfrm>
            <a:off x="548640" y="2770632"/>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2</a:t>
            </a:r>
            <a:endParaRPr lang="en-US" sz="2400" dirty="0"/>
          </a:p>
        </p:txBody>
      </p:sp>
      <p:sp>
        <p:nvSpPr>
          <p:cNvPr id="9" name="Text 7"/>
          <p:cNvSpPr txBox="1"/>
          <p:nvPr/>
        </p:nvSpPr>
        <p:spPr>
          <a:xfrm>
            <a:off x="1371600" y="2798064"/>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Nomme tes points d'accord, surtout les surprenants.</a:t>
            </a:r>
            <a:endParaRPr lang="en-US" sz="1600" dirty="0"/>
          </a:p>
        </p:txBody>
      </p:sp>
      <p:sp>
        <p:nvSpPr>
          <p:cNvPr id="10" name="Shape 8"/>
          <p:cNvSpPr/>
          <p:nvPr/>
        </p:nvSpPr>
        <p:spPr>
          <a:xfrm>
            <a:off x="548640" y="3758184"/>
            <a:ext cx="640080" cy="640080"/>
          </a:xfrm>
          <a:prstGeom prst="ellipse">
            <a:avLst/>
          </a:prstGeom>
          <a:solidFill>
            <a:schemeClr val="accent1"/>
          </a:solidFill>
          <a:ln w="19050">
            <a:solidFill>
              <a:schemeClr val="tx1"/>
            </a:solidFill>
            <a:prstDash val="solid"/>
          </a:ln>
        </p:spPr>
      </p:sp>
      <p:sp>
        <p:nvSpPr>
          <p:cNvPr id="11" name="Text 9"/>
          <p:cNvSpPr txBox="1"/>
          <p:nvPr/>
        </p:nvSpPr>
        <p:spPr>
          <a:xfrm>
            <a:off x="548640" y="3758184"/>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3</a:t>
            </a:r>
            <a:endParaRPr lang="en-US" sz="2400" dirty="0"/>
          </a:p>
        </p:txBody>
      </p:sp>
      <p:sp>
        <p:nvSpPr>
          <p:cNvPr id="12" name="Text 10"/>
          <p:cNvSpPr txBox="1"/>
          <p:nvPr/>
        </p:nvSpPr>
        <p:spPr>
          <a:xfrm>
            <a:off x="1371600" y="3785616"/>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Dis ce que tu as appris de cette personne.</a:t>
            </a:r>
            <a:endParaRPr lang="en-US" sz="1600" dirty="0"/>
          </a:p>
        </p:txBody>
      </p:sp>
      <p:sp>
        <p:nvSpPr>
          <p:cNvPr id="13" name="Shape 11"/>
          <p:cNvSpPr/>
          <p:nvPr/>
        </p:nvSpPr>
        <p:spPr>
          <a:xfrm>
            <a:off x="548640" y="4745736"/>
            <a:ext cx="640080" cy="640080"/>
          </a:xfrm>
          <a:prstGeom prst="ellipse">
            <a:avLst/>
          </a:prstGeom>
          <a:solidFill>
            <a:schemeClr val="accent2"/>
          </a:solidFill>
          <a:ln w="19050">
            <a:solidFill>
              <a:schemeClr val="tx1"/>
            </a:solidFill>
            <a:prstDash val="solid"/>
          </a:ln>
        </p:spPr>
      </p:sp>
      <p:sp>
        <p:nvSpPr>
          <p:cNvPr id="14" name="Text 12"/>
          <p:cNvSpPr txBox="1"/>
          <p:nvPr/>
        </p:nvSpPr>
        <p:spPr>
          <a:xfrm>
            <a:off x="548640" y="4745736"/>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4</a:t>
            </a:r>
            <a:endParaRPr lang="en-US" sz="2400" dirty="0"/>
          </a:p>
        </p:txBody>
      </p:sp>
      <p:sp>
        <p:nvSpPr>
          <p:cNvPr id="15" name="Text 13"/>
          <p:cNvSpPr txBox="1"/>
          <p:nvPr/>
        </p:nvSpPr>
        <p:spPr>
          <a:xfrm>
            <a:off x="1371600" y="4773168"/>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Seulement là, ta critique.</a:t>
            </a:r>
            <a:endParaRPr lang="en-US" sz="1600" dirty="0"/>
          </a:p>
        </p:txBody>
      </p:sp>
      <p:sp>
        <p:nvSpPr>
          <p:cNvPr id="16" name="Shape 14"/>
          <p:cNvSpPr/>
          <p:nvPr/>
        </p:nvSpPr>
        <p:spPr>
          <a:xfrm>
            <a:off x="7223760" y="1325880"/>
            <a:ext cx="4389120" cy="4526280"/>
          </a:xfrm>
          <a:prstGeom prst="rect">
            <a:avLst/>
          </a:prstGeom>
          <a:solidFill>
            <a:schemeClr val="tx1"/>
          </a:solidFill>
          <a:ln w="25400">
            <a:solidFill>
              <a:schemeClr val="tx1"/>
            </a:solidFill>
            <a:prstDash val="solid"/>
          </a:ln>
        </p:spPr>
      </p:sp>
      <p:sp>
        <p:nvSpPr>
          <p:cNvPr id="17" name="Text 15"/>
          <p:cNvSpPr txBox="1"/>
          <p:nvPr/>
        </p:nvSpPr>
        <p:spPr>
          <a:xfrm>
            <a:off x="7452360" y="1508760"/>
            <a:ext cx="3931920" cy="457200"/>
          </a:xfrm>
          <a:prstGeom prst="rect">
            <a:avLst/>
          </a:prstGeom>
          <a:noFill/>
          <a:ln/>
        </p:spPr>
        <p:txBody>
          <a:bodyPr wrap="square" lIns="0" tIns="0" rIns="0" bIns="0" rtlCol="0" anchor="t"/>
          <a:lstStyle/>
          <a:p>
            <a:pPr indent="0" marL="0">
              <a:buNone/>
            </a:pPr>
            <a:r>
              <a:rPr lang="en-US" sz="2000" dirty="0">
                <a:solidFill>
                  <a:schemeClr val="bg2"/>
                </a:solidFill>
                <a:latin typeface="Rockwell Extra Bold" pitchFamily="34" charset="0"/>
                <a:ea typeface="Rockwell Extra Bold" pitchFamily="34" charset="-122"/>
                <a:cs typeface="Rockwell Extra Bold" pitchFamily="34" charset="-120"/>
              </a:rPr>
              <a:t>Homme de paille</a:t>
            </a:r>
            <a:endParaRPr lang="en-US" sz="2000" dirty="0"/>
          </a:p>
        </p:txBody>
      </p:sp>
      <p:sp>
        <p:nvSpPr>
          <p:cNvPr id="18" name="Text 16"/>
          <p:cNvSpPr txBox="1"/>
          <p:nvPr/>
        </p:nvSpPr>
        <p:spPr>
          <a:xfrm>
            <a:off x="7452360" y="2011680"/>
            <a:ext cx="3931920" cy="73152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Affaiblir la thèse adverse pour mieux la frapper.</a:t>
            </a:r>
            <a:endParaRPr lang="en-US" sz="1500" dirty="0"/>
          </a:p>
        </p:txBody>
      </p:sp>
      <p:sp>
        <p:nvSpPr>
          <p:cNvPr id="19" name="Text 17"/>
          <p:cNvSpPr txBox="1"/>
          <p:nvPr/>
        </p:nvSpPr>
        <p:spPr>
          <a:xfrm>
            <a:off x="7452360" y="2743200"/>
            <a:ext cx="3931920" cy="548640"/>
          </a:xfrm>
          <a:prstGeom prst="rect">
            <a:avLst/>
          </a:prstGeom>
          <a:noFill/>
          <a:ln/>
        </p:spPr>
        <p:txBody>
          <a:bodyPr wrap="square" lIns="0" tIns="0" rIns="0" bIns="0" rtlCol="0" anchor="t"/>
          <a:lstStyle/>
          <a:p>
            <a:pPr algn="ctr" indent="0" marL="0">
              <a:buNone/>
            </a:pPr>
            <a:r>
              <a:rPr lang="en-US" sz="2800" dirty="0">
                <a:solidFill>
                  <a:schemeClr val="accent2"/>
                </a:solidFill>
                <a:latin typeface="Rockwell Extra Bold" pitchFamily="34" charset="0"/>
                <a:ea typeface="Rockwell Extra Bold" pitchFamily="34" charset="-122"/>
                <a:cs typeface="Rockwell Extra Bold" pitchFamily="34" charset="-120"/>
              </a:rPr>
              <a:t>↓</a:t>
            </a:r>
            <a:endParaRPr lang="en-US" sz="2800" dirty="0"/>
          </a:p>
        </p:txBody>
      </p:sp>
      <p:sp>
        <p:nvSpPr>
          <p:cNvPr id="20" name="Text 18"/>
          <p:cNvSpPr txBox="1"/>
          <p:nvPr/>
        </p:nvSpPr>
        <p:spPr>
          <a:xfrm>
            <a:off x="7452360" y="3383280"/>
            <a:ext cx="3931920" cy="457200"/>
          </a:xfrm>
          <a:prstGeom prst="rect">
            <a:avLst/>
          </a:prstGeom>
          <a:noFill/>
          <a:ln/>
        </p:spPr>
        <p:txBody>
          <a:bodyPr wrap="square" lIns="0" tIns="0" rIns="0" bIns="0" rtlCol="0" anchor="t"/>
          <a:lstStyle/>
          <a:p>
            <a:pPr indent="0" marL="0">
              <a:buNone/>
            </a:pPr>
            <a:r>
              <a:rPr lang="en-US" sz="2000" dirty="0">
                <a:solidFill>
                  <a:schemeClr val="accent2"/>
                </a:solidFill>
                <a:latin typeface="Rockwell Extra Bold" pitchFamily="34" charset="0"/>
                <a:ea typeface="Rockwell Extra Bold" pitchFamily="34" charset="-122"/>
                <a:cs typeface="Rockwell Extra Bold" pitchFamily="34" charset="-120"/>
              </a:rPr>
              <a:t>Homme d'acier</a:t>
            </a:r>
            <a:endParaRPr lang="en-US" sz="2000" dirty="0"/>
          </a:p>
        </p:txBody>
      </p:sp>
      <p:sp>
        <p:nvSpPr>
          <p:cNvPr id="21" name="Text 19"/>
          <p:cNvSpPr txBox="1"/>
          <p:nvPr/>
        </p:nvSpPr>
        <p:spPr>
          <a:xfrm>
            <a:off x="7452360" y="3886200"/>
            <a:ext cx="3931920" cy="173736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Rendre la thèse adverse plus forte qu'elle ne l'était, puis l'affronter. Si tu gagnes, tu as vraiment gagné. Si tu perds, tu as appris.</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2</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Le bestiaire du débat</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Reconnaître les débatteurs… et se reconnaître</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8 créatures à reconnaître</a:t>
            </a:r>
            <a:endParaRPr lang="en-US" sz="3600" dirty="0"/>
          </a:p>
        </p:txBody>
      </p:sp>
      <p:sp>
        <p:nvSpPr>
          <p:cNvPr id="3" name="Shape 1"/>
          <p:cNvSpPr/>
          <p:nvPr/>
        </p:nvSpPr>
        <p:spPr>
          <a:xfrm>
            <a:off x="548640" y="1325880"/>
            <a:ext cx="2651760" cy="233172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508760"/>
            <a:ext cx="960120" cy="1161288"/>
          </a:xfrm>
          <a:prstGeom prst="rect">
            <a:avLst/>
          </a:prstGeom>
        </p:spPr>
      </p:pic>
      <p:sp>
        <p:nvSpPr>
          <p:cNvPr id="5" name="Text 2"/>
          <p:cNvSpPr txBox="1"/>
          <p:nvPr/>
        </p:nvSpPr>
        <p:spPr>
          <a:xfrm>
            <a:off x="1691640"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Bulldozer</a:t>
            </a:r>
            <a:endParaRPr lang="en-US" sz="1600" dirty="0"/>
          </a:p>
        </p:txBody>
      </p:sp>
      <p:sp>
        <p:nvSpPr>
          <p:cNvPr id="6" name="Text 3"/>
          <p:cNvSpPr txBox="1"/>
          <p:nvPr/>
        </p:nvSpPr>
        <p:spPr>
          <a:xfrm>
            <a:off x="685800"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Laisse-moi finir! » (il parle depuis 3 minutes)</a:t>
            </a:r>
            <a:endParaRPr lang="en-US" sz="1400" dirty="0"/>
          </a:p>
        </p:txBody>
      </p:sp>
      <p:sp>
        <p:nvSpPr>
          <p:cNvPr id="7" name="Shape 4"/>
          <p:cNvSpPr/>
          <p:nvPr/>
        </p:nvSpPr>
        <p:spPr>
          <a:xfrm>
            <a:off x="3355848" y="1325880"/>
            <a:ext cx="2651760" cy="2331720"/>
          </a:xfrm>
          <a:prstGeom prst="rect">
            <a:avLst/>
          </a:prstGeom>
          <a:solidFill>
            <a:schemeClr val="bg1"/>
          </a:solidFill>
          <a:ln w="25400">
            <a:solidFill>
              <a:schemeClr val="tx1"/>
            </a:solidFill>
            <a:prstDash val="solid"/>
          </a:ln>
        </p:spPr>
      </p:sp>
      <p:pic>
        <p:nvPicPr>
          <p:cNvPr id="8" name="Image 1" descr="preencoded.png">    </p:cNvPr>
          <p:cNvPicPr>
            <a:picLocks noChangeAspect="1"/>
          </p:cNvPicPr>
          <p:nvPr/>
        </p:nvPicPr>
        <p:blipFill>
          <a:blip r:embed="rId2"/>
          <a:stretch>
            <a:fillRect/>
          </a:stretch>
        </p:blipFill>
        <p:spPr>
          <a:xfrm>
            <a:off x="3493008" y="1508760"/>
            <a:ext cx="960120" cy="1161288"/>
          </a:xfrm>
          <a:prstGeom prst="rect">
            <a:avLst/>
          </a:prstGeom>
        </p:spPr>
      </p:pic>
      <p:sp>
        <p:nvSpPr>
          <p:cNvPr id="9" name="Text 5"/>
          <p:cNvSpPr txBox="1"/>
          <p:nvPr/>
        </p:nvSpPr>
        <p:spPr>
          <a:xfrm>
            <a:off x="4498848"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Brouillard</a:t>
            </a:r>
            <a:endParaRPr lang="en-US" sz="1600" dirty="0"/>
          </a:p>
        </p:txBody>
      </p:sp>
      <p:sp>
        <p:nvSpPr>
          <p:cNvPr id="10" name="Text 6"/>
          <p:cNvSpPr txBox="1"/>
          <p:nvPr/>
        </p:nvSpPr>
        <p:spPr>
          <a:xfrm>
            <a:off x="3493008"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Oui, mais le vrai problème, c'est… »</a:t>
            </a:r>
            <a:endParaRPr lang="en-US" sz="1400" dirty="0"/>
          </a:p>
        </p:txBody>
      </p:sp>
      <p:sp>
        <p:nvSpPr>
          <p:cNvPr id="11" name="Shape 7"/>
          <p:cNvSpPr/>
          <p:nvPr/>
        </p:nvSpPr>
        <p:spPr>
          <a:xfrm>
            <a:off x="6163056" y="1325880"/>
            <a:ext cx="2651760" cy="2331720"/>
          </a:xfrm>
          <a:prstGeom prst="rect">
            <a:avLst/>
          </a:prstGeom>
          <a:solidFill>
            <a:schemeClr val="bg1"/>
          </a:solidFill>
          <a:ln w="25400">
            <a:solidFill>
              <a:schemeClr val="tx1"/>
            </a:solidFill>
            <a:prstDash val="solid"/>
          </a:ln>
        </p:spPr>
      </p:sp>
      <p:pic>
        <p:nvPicPr>
          <p:cNvPr id="12" name="Image 2" descr="preencoded.png">    </p:cNvPr>
          <p:cNvPicPr>
            <a:picLocks noChangeAspect="1"/>
          </p:cNvPicPr>
          <p:nvPr/>
        </p:nvPicPr>
        <p:blipFill>
          <a:blip r:embed="rId3"/>
          <a:stretch>
            <a:fillRect/>
          </a:stretch>
        </p:blipFill>
        <p:spPr>
          <a:xfrm>
            <a:off x="6300216" y="1508760"/>
            <a:ext cx="960120" cy="1161288"/>
          </a:xfrm>
          <a:prstGeom prst="rect">
            <a:avLst/>
          </a:prstGeom>
        </p:spPr>
      </p:pic>
      <p:sp>
        <p:nvSpPr>
          <p:cNvPr id="13" name="Text 8"/>
          <p:cNvSpPr txBox="1"/>
          <p:nvPr/>
        </p:nvSpPr>
        <p:spPr>
          <a:xfrm>
            <a:off x="7306056"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Sniper</a:t>
            </a:r>
            <a:endParaRPr lang="en-US" sz="1600" dirty="0"/>
          </a:p>
        </p:txBody>
      </p:sp>
      <p:sp>
        <p:nvSpPr>
          <p:cNvPr id="14" name="Text 9"/>
          <p:cNvSpPr txBox="1"/>
          <p:nvPr/>
        </p:nvSpPr>
        <p:spPr>
          <a:xfrm>
            <a:off x="6300216"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Venant de toi, franchement… »</a:t>
            </a:r>
            <a:endParaRPr lang="en-US" sz="1400" dirty="0"/>
          </a:p>
        </p:txBody>
      </p:sp>
      <p:sp>
        <p:nvSpPr>
          <p:cNvPr id="15" name="Shape 10"/>
          <p:cNvSpPr/>
          <p:nvPr/>
        </p:nvSpPr>
        <p:spPr>
          <a:xfrm>
            <a:off x="8970264" y="1325880"/>
            <a:ext cx="2651760" cy="2331720"/>
          </a:xfrm>
          <a:prstGeom prst="rect">
            <a:avLst/>
          </a:prstGeom>
          <a:solidFill>
            <a:schemeClr val="bg1"/>
          </a:solidFill>
          <a:ln w="25400">
            <a:solidFill>
              <a:schemeClr val="tx1"/>
            </a:solidFill>
            <a:prstDash val="solid"/>
          </a:ln>
        </p:spPr>
      </p:sp>
      <p:pic>
        <p:nvPicPr>
          <p:cNvPr id="16" name="Image 3" descr="preencoded.png">    </p:cNvPr>
          <p:cNvPicPr>
            <a:picLocks noChangeAspect="1"/>
          </p:cNvPicPr>
          <p:nvPr/>
        </p:nvPicPr>
        <p:blipFill>
          <a:blip r:embed="rId4"/>
          <a:stretch>
            <a:fillRect/>
          </a:stretch>
        </p:blipFill>
        <p:spPr>
          <a:xfrm>
            <a:off x="9107424" y="1508760"/>
            <a:ext cx="960120" cy="1161288"/>
          </a:xfrm>
          <a:prstGeom prst="rect">
            <a:avLst/>
          </a:prstGeom>
        </p:spPr>
      </p:pic>
      <p:sp>
        <p:nvSpPr>
          <p:cNvPr id="17" name="Text 11"/>
          <p:cNvSpPr txBox="1"/>
          <p:nvPr/>
        </p:nvSpPr>
        <p:spPr>
          <a:xfrm>
            <a:off x="10113264"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Professeur</a:t>
            </a:r>
            <a:endParaRPr lang="en-US" sz="1600" dirty="0"/>
          </a:p>
        </p:txBody>
      </p:sp>
      <p:sp>
        <p:nvSpPr>
          <p:cNvPr id="18" name="Text 12"/>
          <p:cNvSpPr txBox="1"/>
          <p:nvPr/>
        </p:nvSpPr>
        <p:spPr>
          <a:xfrm>
            <a:off x="9107424"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Les études montrent que… »</a:t>
            </a:r>
            <a:endParaRPr lang="en-US" sz="1400" dirty="0"/>
          </a:p>
        </p:txBody>
      </p:sp>
      <p:sp>
        <p:nvSpPr>
          <p:cNvPr id="19" name="Shape 13"/>
          <p:cNvSpPr/>
          <p:nvPr/>
        </p:nvSpPr>
        <p:spPr>
          <a:xfrm>
            <a:off x="548640" y="3840480"/>
            <a:ext cx="2651760" cy="2331720"/>
          </a:xfrm>
          <a:prstGeom prst="rect">
            <a:avLst/>
          </a:prstGeom>
          <a:solidFill>
            <a:schemeClr val="bg1"/>
          </a:solidFill>
          <a:ln w="25400">
            <a:solidFill>
              <a:schemeClr val="tx1"/>
            </a:solidFill>
            <a:prstDash val="solid"/>
          </a:ln>
        </p:spPr>
      </p:sp>
      <p:pic>
        <p:nvPicPr>
          <p:cNvPr id="20" name="Image 4" descr="preencoded.png">    </p:cNvPr>
          <p:cNvPicPr>
            <a:picLocks noChangeAspect="1"/>
          </p:cNvPicPr>
          <p:nvPr/>
        </p:nvPicPr>
        <p:blipFill>
          <a:blip r:embed="rId5"/>
          <a:stretch>
            <a:fillRect/>
          </a:stretch>
        </p:blipFill>
        <p:spPr>
          <a:xfrm>
            <a:off x="685800" y="4023360"/>
            <a:ext cx="960120" cy="1161288"/>
          </a:xfrm>
          <a:prstGeom prst="rect">
            <a:avLst/>
          </a:prstGeom>
        </p:spPr>
      </p:pic>
      <p:sp>
        <p:nvSpPr>
          <p:cNvPr id="21" name="Text 14"/>
          <p:cNvSpPr txBox="1"/>
          <p:nvPr/>
        </p:nvSpPr>
        <p:spPr>
          <a:xfrm>
            <a:off x="1691640"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 Girouette</a:t>
            </a:r>
            <a:endParaRPr lang="en-US" sz="1600" dirty="0"/>
          </a:p>
        </p:txBody>
      </p:sp>
      <p:sp>
        <p:nvSpPr>
          <p:cNvPr id="22" name="Text 15"/>
          <p:cNvSpPr txBox="1"/>
          <p:nvPr/>
        </p:nvSpPr>
        <p:spPr>
          <a:xfrm>
            <a:off x="685800"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T'as raison… Toi aussi, t'as raison. »</a:t>
            </a:r>
            <a:endParaRPr lang="en-US" sz="1400" dirty="0"/>
          </a:p>
        </p:txBody>
      </p:sp>
      <p:sp>
        <p:nvSpPr>
          <p:cNvPr id="23" name="Shape 16"/>
          <p:cNvSpPr/>
          <p:nvPr/>
        </p:nvSpPr>
        <p:spPr>
          <a:xfrm>
            <a:off x="3355848" y="3840480"/>
            <a:ext cx="2651760" cy="2331720"/>
          </a:xfrm>
          <a:prstGeom prst="rect">
            <a:avLst/>
          </a:prstGeom>
          <a:solidFill>
            <a:schemeClr val="bg1"/>
          </a:solidFill>
          <a:ln w="25400">
            <a:solidFill>
              <a:schemeClr val="tx1"/>
            </a:solidFill>
            <a:prstDash val="solid"/>
          </a:ln>
        </p:spPr>
      </p:sp>
      <p:pic>
        <p:nvPicPr>
          <p:cNvPr id="24" name="Image 5" descr="preencoded.png">    </p:cNvPr>
          <p:cNvPicPr>
            <a:picLocks noChangeAspect="1"/>
          </p:cNvPicPr>
          <p:nvPr/>
        </p:nvPicPr>
        <p:blipFill>
          <a:blip r:embed="rId6"/>
          <a:stretch>
            <a:fillRect/>
          </a:stretch>
        </p:blipFill>
        <p:spPr>
          <a:xfrm>
            <a:off x="3493008" y="4023360"/>
            <a:ext cx="960120" cy="1161288"/>
          </a:xfrm>
          <a:prstGeom prst="rect">
            <a:avLst/>
          </a:prstGeom>
        </p:spPr>
      </p:pic>
      <p:sp>
        <p:nvSpPr>
          <p:cNvPr id="25" name="Text 17"/>
          <p:cNvSpPr txBox="1"/>
          <p:nvPr/>
        </p:nvSpPr>
        <p:spPr>
          <a:xfrm>
            <a:off x="4498848"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 Tortue</a:t>
            </a:r>
            <a:endParaRPr lang="en-US" sz="1600" dirty="0"/>
          </a:p>
        </p:txBody>
      </p:sp>
      <p:sp>
        <p:nvSpPr>
          <p:cNvPr id="26" name="Text 18"/>
          <p:cNvSpPr txBox="1"/>
          <p:nvPr/>
        </p:nvSpPr>
        <p:spPr>
          <a:xfrm>
            <a:off x="3493008"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 » ou « Je sais pas » (alors qu'elle sait)</a:t>
            </a:r>
            <a:endParaRPr lang="en-US" sz="1400" dirty="0"/>
          </a:p>
        </p:txBody>
      </p:sp>
      <p:sp>
        <p:nvSpPr>
          <p:cNvPr id="27" name="Shape 19"/>
          <p:cNvSpPr/>
          <p:nvPr/>
        </p:nvSpPr>
        <p:spPr>
          <a:xfrm>
            <a:off x="6163056" y="3840480"/>
            <a:ext cx="2651760" cy="2331720"/>
          </a:xfrm>
          <a:prstGeom prst="rect">
            <a:avLst/>
          </a:prstGeom>
          <a:solidFill>
            <a:schemeClr val="bg1"/>
          </a:solidFill>
          <a:ln w="25400">
            <a:solidFill>
              <a:schemeClr val="tx1"/>
            </a:solidFill>
            <a:prstDash val="solid"/>
          </a:ln>
        </p:spPr>
      </p:sp>
      <p:pic>
        <p:nvPicPr>
          <p:cNvPr id="28" name="Image 6" descr="preencoded.png">    </p:cNvPr>
          <p:cNvPicPr>
            <a:picLocks noChangeAspect="1"/>
          </p:cNvPicPr>
          <p:nvPr/>
        </p:nvPicPr>
        <p:blipFill>
          <a:blip r:embed="rId7"/>
          <a:stretch>
            <a:fillRect/>
          </a:stretch>
        </p:blipFill>
        <p:spPr>
          <a:xfrm>
            <a:off x="6300216" y="4023360"/>
            <a:ext cx="960120" cy="1161288"/>
          </a:xfrm>
          <a:prstGeom prst="rect">
            <a:avLst/>
          </a:prstGeom>
        </p:spPr>
      </p:pic>
      <p:sp>
        <p:nvSpPr>
          <p:cNvPr id="29" name="Text 20"/>
          <p:cNvSpPr txBox="1"/>
          <p:nvPr/>
        </p:nvSpPr>
        <p:spPr>
          <a:xfrm>
            <a:off x="7306056"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L'Avocat du diable</a:t>
            </a:r>
            <a:endParaRPr lang="en-US" sz="1600" dirty="0"/>
          </a:p>
        </p:txBody>
      </p:sp>
      <p:sp>
        <p:nvSpPr>
          <p:cNvPr id="30" name="Text 21"/>
          <p:cNvSpPr txBox="1"/>
          <p:nvPr/>
        </p:nvSpPr>
        <p:spPr>
          <a:xfrm>
            <a:off x="6300216"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Juste pour jouer l'avocat du diable… »</a:t>
            </a:r>
            <a:endParaRPr lang="en-US" sz="1400" dirty="0"/>
          </a:p>
        </p:txBody>
      </p:sp>
      <p:sp>
        <p:nvSpPr>
          <p:cNvPr id="31" name="Shape 22"/>
          <p:cNvSpPr/>
          <p:nvPr/>
        </p:nvSpPr>
        <p:spPr>
          <a:xfrm>
            <a:off x="8970264" y="3840480"/>
            <a:ext cx="2651760" cy="2331720"/>
          </a:xfrm>
          <a:prstGeom prst="rect">
            <a:avLst/>
          </a:prstGeom>
          <a:solidFill>
            <a:schemeClr val="accent2"/>
          </a:solidFill>
          <a:ln w="25400">
            <a:solidFill>
              <a:schemeClr val="tx1"/>
            </a:solidFill>
            <a:prstDash val="solid"/>
          </a:ln>
        </p:spPr>
      </p:sp>
      <p:pic>
        <p:nvPicPr>
          <p:cNvPr id="32" name="Image 7" descr="preencoded.png">    </p:cNvPr>
          <p:cNvPicPr>
            <a:picLocks noChangeAspect="1"/>
          </p:cNvPicPr>
          <p:nvPr/>
        </p:nvPicPr>
        <p:blipFill>
          <a:blip r:embed="rId8"/>
          <a:stretch>
            <a:fillRect/>
          </a:stretch>
        </p:blipFill>
        <p:spPr>
          <a:xfrm>
            <a:off x="9107424" y="4023360"/>
            <a:ext cx="960120" cy="1161288"/>
          </a:xfrm>
          <a:prstGeom prst="rect">
            <a:avLst/>
          </a:prstGeom>
        </p:spPr>
      </p:pic>
      <p:sp>
        <p:nvSpPr>
          <p:cNvPr id="33" name="Text 23"/>
          <p:cNvSpPr txBox="1"/>
          <p:nvPr/>
        </p:nvSpPr>
        <p:spPr>
          <a:xfrm>
            <a:off x="10113264"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Bâtisseur</a:t>
            </a:r>
            <a:endParaRPr lang="en-US" sz="1600" dirty="0"/>
          </a:p>
        </p:txBody>
      </p:sp>
      <p:sp>
        <p:nvSpPr>
          <p:cNvPr id="34" name="Text 24"/>
          <p:cNvSpPr txBox="1"/>
          <p:nvPr/>
        </p:nvSpPr>
        <p:spPr>
          <a:xfrm>
            <a:off x="9107424"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Si je te comprends bien, tu dis que… »</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1/4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Bulldozer</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Laisse-moi finir! » (il parle depuis 3 minutes)</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18 Le coupe-fil · 14 Crier victoire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La peur de ne pas être entendu, de perdre le contrôle.</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Je t'ai entendu dire X. Maintenant, 1 minute pour moi.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Conviction et énergie.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Ne laisse jamais un silence. Reprends ta phrase plus fort.</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Brouillard</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Oui, mais le vrai problème, c'est…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29 La diversion · 36 Le brouillard</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Éviter de perdre la face sur une question précise.</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Bonne question, on la garde. Mais sur X, ta réponse? »</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Voit les liens et le portrait d'ensemble.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Chaque fois qu'on te coince, élargis le sujet.</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2/4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Sniper</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Venant de toi, franchement…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38 Le K.-O. · 8 L'allumette · 32 L'étiquette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Se sentir menacé, ou déjà blessé.</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Le calme. « Admettons. Et l'argument lui-même?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Un sens critique aiguisé… mal visé.</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Commente la personne, jamais l'idée. Attaques fictives et légères seulement.</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Professeur</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Les études montrent que…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30 Le galon · 36 Le brouillard</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besoin de crédibilité, de statut.</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Lesquelles? Qu'est-ce qu'elles disent exactement? »</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Il s'appuie sur des sources.</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Cite des experts vagues. Utilise des mots compliqués.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3/4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 Girouette</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T'as raison… Toi aussi, t'as raison.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elle les subit (28, rire de la salle)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besoin d'harmonie, la peur du conflit.</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Si tu devais choisir une seule position?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Écoute et ouverture.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Donne raison à la dernière personne qui a parlé.</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 Tortue</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 » ou « Je sais pas » (alors qu'elle sait)</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elle se retire</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La peur du jugement, le besoin de sécurité.</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Temps d'écriture d'abord, puis une question précise.</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Observe et réfléchit : détient souvent la meilleure idée.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Reste muet·te, sauf si on t'invite très clairement.</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4/4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L'Avocat du diable</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Juste pour jouer l'avocat du diable…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1 L'élastique · 13 Le faux choix</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plaisir du jeu, le besoin de stimulation.</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Et toi, tu penses vraiment quoi?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Teste la solidité des idées. Précieux s'il l'annonce.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Contredis chaque affirmation, même celles que tu approuves.</a:t>
            </a:r>
            <a:endParaRPr lang="en-US" sz="1400" dirty="0"/>
          </a:p>
        </p:txBody>
      </p:sp>
      <p:sp>
        <p:nvSpPr>
          <p:cNvPr id="22" name="Shape 19"/>
          <p:cNvSpPr/>
          <p:nvPr/>
        </p:nvSpPr>
        <p:spPr>
          <a:xfrm>
            <a:off x="6172200" y="1280160"/>
            <a:ext cx="5440680" cy="4937760"/>
          </a:xfrm>
          <a:prstGeom prst="rect">
            <a:avLst/>
          </a:prstGeom>
          <a:solidFill>
            <a:schemeClr val="accent2"/>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Bâtisseur</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Si je te comprends bien, tu dis que…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il applique Rapoport</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L'envie de comprendre, pas de gagner.</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Son piège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Devenir paillasson à force de douceur.</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Il fait progresser tout le groupe.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Reformule avant chaque prise de parole. Nomme un accord.</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bal masqué du débat</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25 min</a:t>
            </a:r>
            <a:endParaRPr lang="en-US" sz="1400" dirty="0"/>
          </a:p>
        </p:txBody>
      </p:sp>
      <p:sp>
        <p:nvSpPr>
          <p:cNvPr id="5" name="Shape 3"/>
          <p:cNvSpPr/>
          <p:nvPr/>
        </p:nvSpPr>
        <p:spPr>
          <a:xfrm>
            <a:off x="548640" y="1371600"/>
            <a:ext cx="548640" cy="548640"/>
          </a:xfrm>
          <a:prstGeom prst="ellipse">
            <a:avLst/>
          </a:prstGeom>
          <a:solidFill>
            <a:schemeClr val="accent1"/>
          </a:solidFill>
          <a:ln w="19050">
            <a:solidFill>
              <a:schemeClr val="tx1"/>
            </a:solidFill>
            <a:prstDash val="solid"/>
          </a:ln>
        </p:spPr>
      </p:sp>
      <p:sp>
        <p:nvSpPr>
          <p:cNvPr id="6" name="Text 4"/>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7" name="Text 5"/>
          <p:cNvSpPr txBox="1"/>
          <p:nvPr/>
        </p:nvSpPr>
        <p:spPr>
          <a:xfrm>
            <a:off x="1280160" y="1389888"/>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Tirage</a:t>
            </a:r>
            <a:endParaRPr lang="en-US" sz="1700" dirty="0"/>
          </a:p>
        </p:txBody>
      </p:sp>
      <p:sp>
        <p:nvSpPr>
          <p:cNvPr id="8" name="Text 6"/>
          <p:cNvSpPr txBox="1"/>
          <p:nvPr/>
        </p:nvSpPr>
        <p:spPr>
          <a:xfrm>
            <a:off x="3291840" y="1335024"/>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Groupes de 5 débatteurs. Chacun pioche en secret une carte-créature (la Tortue compte aussi!).</a:t>
            </a:r>
            <a:endParaRPr lang="en-US" sz="1400" dirty="0"/>
          </a:p>
        </p:txBody>
      </p:sp>
      <p:sp>
        <p:nvSpPr>
          <p:cNvPr id="9" name="Shape 7"/>
          <p:cNvSpPr/>
          <p:nvPr/>
        </p:nvSpPr>
        <p:spPr>
          <a:xfrm>
            <a:off x="548640" y="2304288"/>
            <a:ext cx="548640" cy="548640"/>
          </a:xfrm>
          <a:prstGeom prst="ellipse">
            <a:avLst/>
          </a:prstGeom>
          <a:solidFill>
            <a:schemeClr val="accent1"/>
          </a:solidFill>
          <a:ln w="19050">
            <a:solidFill>
              <a:schemeClr val="tx1"/>
            </a:solidFill>
            <a:prstDash val="solid"/>
          </a:ln>
        </p:spPr>
      </p:sp>
      <p:sp>
        <p:nvSpPr>
          <p:cNvPr id="10" name="Text 8"/>
          <p:cNvSpPr txBox="1"/>
          <p:nvPr/>
        </p:nvSpPr>
        <p:spPr>
          <a:xfrm>
            <a:off x="548640" y="2304288"/>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1" name="Text 9"/>
          <p:cNvSpPr txBox="1"/>
          <p:nvPr/>
        </p:nvSpPr>
        <p:spPr>
          <a:xfrm>
            <a:off x="1280160" y="2322576"/>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Débat</a:t>
            </a:r>
            <a:endParaRPr lang="en-US" sz="1700" dirty="0"/>
          </a:p>
        </p:txBody>
      </p:sp>
      <p:sp>
        <p:nvSpPr>
          <p:cNvPr id="12" name="Text 10"/>
          <p:cNvSpPr txBox="1"/>
          <p:nvPr/>
        </p:nvSpPr>
        <p:spPr>
          <a:xfrm>
            <a:off x="3291840" y="2267712"/>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6 minutes sur un vrai sujet de société. Chacun joue sa créature… sans la nommer.</a:t>
            </a:r>
            <a:endParaRPr lang="en-US" sz="1400" dirty="0"/>
          </a:p>
        </p:txBody>
      </p:sp>
      <p:sp>
        <p:nvSpPr>
          <p:cNvPr id="13" name="Shape 11"/>
          <p:cNvSpPr/>
          <p:nvPr/>
        </p:nvSpPr>
        <p:spPr>
          <a:xfrm>
            <a:off x="548640" y="3236976"/>
            <a:ext cx="548640" cy="548640"/>
          </a:xfrm>
          <a:prstGeom prst="ellipse">
            <a:avLst/>
          </a:prstGeom>
          <a:solidFill>
            <a:schemeClr val="accent1"/>
          </a:solidFill>
          <a:ln w="19050">
            <a:solidFill>
              <a:schemeClr val="tx1"/>
            </a:solidFill>
            <a:prstDash val="solid"/>
          </a:ln>
        </p:spPr>
      </p:sp>
      <p:sp>
        <p:nvSpPr>
          <p:cNvPr id="14" name="Text 12"/>
          <p:cNvSpPr txBox="1"/>
          <p:nvPr/>
        </p:nvSpPr>
        <p:spPr>
          <a:xfrm>
            <a:off x="548640" y="3236976"/>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15" name="Text 13"/>
          <p:cNvSpPr txBox="1"/>
          <p:nvPr/>
        </p:nvSpPr>
        <p:spPr>
          <a:xfrm>
            <a:off x="1280160" y="3255264"/>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Observation</a:t>
            </a:r>
            <a:endParaRPr lang="en-US" sz="1700" dirty="0"/>
          </a:p>
        </p:txBody>
      </p:sp>
      <p:sp>
        <p:nvSpPr>
          <p:cNvPr id="16" name="Text 14"/>
          <p:cNvSpPr txBox="1"/>
          <p:nvPr/>
        </p:nvSpPr>
        <p:spPr>
          <a:xfrm>
            <a:off x="3291840" y="3200400"/>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Les autres participants forment un cercle extérieur : ils cochent leur bingo des coups bas et devinent les créatures.</a:t>
            </a:r>
            <a:endParaRPr lang="en-US" sz="1400" dirty="0"/>
          </a:p>
        </p:txBody>
      </p:sp>
      <p:sp>
        <p:nvSpPr>
          <p:cNvPr id="17" name="Shape 15"/>
          <p:cNvSpPr/>
          <p:nvPr/>
        </p:nvSpPr>
        <p:spPr>
          <a:xfrm>
            <a:off x="548640" y="4169664"/>
            <a:ext cx="548640" cy="548640"/>
          </a:xfrm>
          <a:prstGeom prst="ellipse">
            <a:avLst/>
          </a:prstGeom>
          <a:solidFill>
            <a:schemeClr val="accent1"/>
          </a:solidFill>
          <a:ln w="19050">
            <a:solidFill>
              <a:schemeClr val="tx1"/>
            </a:solidFill>
            <a:prstDash val="solid"/>
          </a:ln>
        </p:spPr>
      </p:sp>
      <p:sp>
        <p:nvSpPr>
          <p:cNvPr id="18" name="Text 16"/>
          <p:cNvSpPr txBox="1"/>
          <p:nvPr/>
        </p:nvSpPr>
        <p:spPr>
          <a:xfrm>
            <a:off x="548640" y="4169664"/>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19" name="Text 17"/>
          <p:cNvSpPr txBox="1"/>
          <p:nvPr/>
        </p:nvSpPr>
        <p:spPr>
          <a:xfrm>
            <a:off x="1280160" y="4187952"/>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Démasquage</a:t>
            </a:r>
            <a:endParaRPr lang="en-US" sz="1700" dirty="0"/>
          </a:p>
        </p:txBody>
      </p:sp>
      <p:sp>
        <p:nvSpPr>
          <p:cNvPr id="20" name="Text 18"/>
          <p:cNvSpPr txBox="1"/>
          <p:nvPr/>
        </p:nvSpPr>
        <p:spPr>
          <a:xfrm>
            <a:off x="3291840" y="4133088"/>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Les observateurs nomment chaque créature et citent la phrase exacte qui l'a trahie.</a:t>
            </a:r>
            <a:endParaRPr lang="en-US" sz="1400" dirty="0"/>
          </a:p>
        </p:txBody>
      </p:sp>
      <p:sp>
        <p:nvSpPr>
          <p:cNvPr id="21" name="Shape 19"/>
          <p:cNvSpPr/>
          <p:nvPr/>
        </p:nvSpPr>
        <p:spPr>
          <a:xfrm>
            <a:off x="548640" y="5102352"/>
            <a:ext cx="548640" cy="548640"/>
          </a:xfrm>
          <a:prstGeom prst="ellipse">
            <a:avLst/>
          </a:prstGeom>
          <a:solidFill>
            <a:schemeClr val="accent2"/>
          </a:solidFill>
          <a:ln w="19050">
            <a:solidFill>
              <a:schemeClr val="tx1"/>
            </a:solidFill>
            <a:prstDash val="solid"/>
          </a:ln>
        </p:spPr>
      </p:sp>
      <p:sp>
        <p:nvSpPr>
          <p:cNvPr id="22" name="Text 20"/>
          <p:cNvSpPr txBox="1"/>
          <p:nvPr/>
        </p:nvSpPr>
        <p:spPr>
          <a:xfrm>
            <a:off x="548640" y="5102352"/>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5</a:t>
            </a:r>
            <a:endParaRPr lang="en-US" sz="2000" dirty="0"/>
          </a:p>
        </p:txBody>
      </p:sp>
      <p:sp>
        <p:nvSpPr>
          <p:cNvPr id="23" name="Text 21"/>
          <p:cNvSpPr txBox="1"/>
          <p:nvPr/>
        </p:nvSpPr>
        <p:spPr>
          <a:xfrm>
            <a:off x="1280160" y="5120640"/>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Rejouer</a:t>
            </a:r>
            <a:endParaRPr lang="en-US" sz="1700" dirty="0"/>
          </a:p>
        </p:txBody>
      </p:sp>
      <p:sp>
        <p:nvSpPr>
          <p:cNvPr id="24" name="Text 22"/>
          <p:cNvSpPr txBox="1"/>
          <p:nvPr/>
        </p:nvSpPr>
        <p:spPr>
          <a:xfrm>
            <a:off x="3291840" y="5065776"/>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On rejoue 2 minutes : toutes les créatures deviennent des Bâtisseurs. Qu'est-ce qui a changé?</a:t>
            </a:r>
            <a:endParaRPr lang="en-US" sz="1400" dirty="0"/>
          </a:p>
        </p:txBody>
      </p:sp>
      <p:sp>
        <p:nvSpPr>
          <p:cNvPr id="25" name="Shape 23"/>
          <p:cNvSpPr/>
          <p:nvPr/>
        </p:nvSpPr>
        <p:spPr>
          <a:xfrm>
            <a:off x="8229600" y="1371600"/>
            <a:ext cx="3383280" cy="4526280"/>
          </a:xfrm>
          <a:prstGeom prst="rect">
            <a:avLst/>
          </a:prstGeom>
          <a:solidFill>
            <a:schemeClr val="tx1"/>
          </a:solidFill>
          <a:ln w="25400">
            <a:solidFill>
              <a:schemeClr val="tx1"/>
            </a:solidFill>
            <a:prstDash val="solid"/>
          </a:ln>
        </p:spPr>
      </p:sp>
      <p:sp>
        <p:nvSpPr>
          <p:cNvPr id="26" name="Text 24"/>
          <p:cNvSpPr txBox="1"/>
          <p:nvPr/>
        </p:nvSpPr>
        <p:spPr>
          <a:xfrm>
            <a:off x="8458200" y="1554480"/>
            <a:ext cx="3017520" cy="45720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Sujets testés</a:t>
            </a:r>
            <a:endParaRPr lang="en-US" sz="1800" dirty="0"/>
          </a:p>
        </p:txBody>
      </p:sp>
      <p:sp>
        <p:nvSpPr>
          <p:cNvPr id="27" name="Text 25"/>
          <p:cNvSpPr txBox="1"/>
          <p:nvPr/>
        </p:nvSpPr>
        <p:spPr>
          <a:xfrm>
            <a:off x="8458200" y="2103120"/>
            <a:ext cx="297180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La semaine de 4 jours au travail?</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Bannir les cellulaires au restaurant?</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Le pourboire devrait-il disparaître?</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L'IA au travail : outil ou menace?</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Bingo des coups bas</a:t>
            </a:r>
            <a:endParaRPr lang="en-US" sz="3600" dirty="0"/>
          </a:p>
        </p:txBody>
      </p:sp>
      <p:sp>
        <p:nvSpPr>
          <p:cNvPr id="3" name="Shape 1"/>
          <p:cNvSpPr/>
          <p:nvPr/>
        </p:nvSpPr>
        <p:spPr>
          <a:xfrm>
            <a:off x="548640" y="1371600"/>
            <a:ext cx="1920240" cy="1417320"/>
          </a:xfrm>
          <a:prstGeom prst="rect">
            <a:avLst/>
          </a:prstGeom>
          <a:solidFill>
            <a:schemeClr val="bg1"/>
          </a:solidFill>
          <a:ln w="25400">
            <a:solidFill>
              <a:schemeClr val="tx1"/>
            </a:solidFill>
            <a:prstDash val="solid"/>
          </a:ln>
        </p:spPr>
      </p:sp>
      <p:sp>
        <p:nvSpPr>
          <p:cNvPr id="4" name="Text 2"/>
          <p:cNvSpPr txBox="1"/>
          <p:nvPr/>
        </p:nvSpPr>
        <p:spPr>
          <a:xfrm>
            <a:off x="64008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L'élastique</a:t>
            </a:r>
            <a:endParaRPr lang="en-US" sz="1500" dirty="0"/>
          </a:p>
        </p:txBody>
      </p:sp>
      <p:sp>
        <p:nvSpPr>
          <p:cNvPr id="5" name="Text 3"/>
          <p:cNvSpPr txBox="1"/>
          <p:nvPr/>
        </p:nvSpPr>
        <p:spPr>
          <a:xfrm>
            <a:off x="64008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6" name="Shape 4"/>
          <p:cNvSpPr/>
          <p:nvPr/>
        </p:nvSpPr>
        <p:spPr>
          <a:xfrm>
            <a:off x="2560320" y="1371600"/>
            <a:ext cx="1920240" cy="1417320"/>
          </a:xfrm>
          <a:prstGeom prst="rect">
            <a:avLst/>
          </a:prstGeom>
          <a:solidFill>
            <a:schemeClr val="bg1"/>
          </a:solidFill>
          <a:ln w="25400">
            <a:solidFill>
              <a:schemeClr val="tx1"/>
            </a:solidFill>
            <a:prstDash val="solid"/>
          </a:ln>
        </p:spPr>
      </p:sp>
      <p:sp>
        <p:nvSpPr>
          <p:cNvPr id="7" name="Text 5"/>
          <p:cNvSpPr txBox="1"/>
          <p:nvPr/>
        </p:nvSpPr>
        <p:spPr>
          <a:xfrm>
            <a:off x="265176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L'allumette</a:t>
            </a:r>
            <a:endParaRPr lang="en-US" sz="1500" dirty="0"/>
          </a:p>
        </p:txBody>
      </p:sp>
      <p:sp>
        <p:nvSpPr>
          <p:cNvPr id="8" name="Text 6"/>
          <p:cNvSpPr txBox="1"/>
          <p:nvPr/>
        </p:nvSpPr>
        <p:spPr>
          <a:xfrm>
            <a:off x="265176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9" name="Shape 7"/>
          <p:cNvSpPr/>
          <p:nvPr/>
        </p:nvSpPr>
        <p:spPr>
          <a:xfrm>
            <a:off x="4572000" y="1371600"/>
            <a:ext cx="1920240" cy="1417320"/>
          </a:xfrm>
          <a:prstGeom prst="rect">
            <a:avLst/>
          </a:prstGeom>
          <a:solidFill>
            <a:schemeClr val="bg1"/>
          </a:solidFill>
          <a:ln w="25400">
            <a:solidFill>
              <a:schemeClr val="tx1"/>
            </a:solidFill>
            <a:prstDash val="solid"/>
          </a:ln>
        </p:spPr>
      </p:sp>
      <p:sp>
        <p:nvSpPr>
          <p:cNvPr id="10" name="Text 8"/>
          <p:cNvSpPr txBox="1"/>
          <p:nvPr/>
        </p:nvSpPr>
        <p:spPr>
          <a:xfrm>
            <a:off x="466344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faux choix</a:t>
            </a:r>
            <a:endParaRPr lang="en-US" sz="1500" dirty="0"/>
          </a:p>
        </p:txBody>
      </p:sp>
      <p:sp>
        <p:nvSpPr>
          <p:cNvPr id="11" name="Text 9"/>
          <p:cNvSpPr txBox="1"/>
          <p:nvPr/>
        </p:nvSpPr>
        <p:spPr>
          <a:xfrm>
            <a:off x="466344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2" name="Shape 10"/>
          <p:cNvSpPr/>
          <p:nvPr/>
        </p:nvSpPr>
        <p:spPr>
          <a:xfrm>
            <a:off x="548640" y="2880360"/>
            <a:ext cx="1920240" cy="1417320"/>
          </a:xfrm>
          <a:prstGeom prst="rect">
            <a:avLst/>
          </a:prstGeom>
          <a:solidFill>
            <a:schemeClr val="bg1"/>
          </a:solidFill>
          <a:ln w="25400">
            <a:solidFill>
              <a:schemeClr val="tx1"/>
            </a:solidFill>
            <a:prstDash val="solid"/>
          </a:ln>
        </p:spPr>
      </p:sp>
      <p:sp>
        <p:nvSpPr>
          <p:cNvPr id="13" name="Text 11"/>
          <p:cNvSpPr txBox="1"/>
          <p:nvPr/>
        </p:nvSpPr>
        <p:spPr>
          <a:xfrm>
            <a:off x="640080" y="297180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coupe-fil</a:t>
            </a:r>
            <a:endParaRPr lang="en-US" sz="1500" dirty="0"/>
          </a:p>
        </p:txBody>
      </p:sp>
      <p:sp>
        <p:nvSpPr>
          <p:cNvPr id="14" name="Text 12"/>
          <p:cNvSpPr txBox="1"/>
          <p:nvPr/>
        </p:nvSpPr>
        <p:spPr>
          <a:xfrm>
            <a:off x="64008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5" name="Shape 13"/>
          <p:cNvSpPr/>
          <p:nvPr/>
        </p:nvSpPr>
        <p:spPr>
          <a:xfrm>
            <a:off x="2560320" y="2880360"/>
            <a:ext cx="1920240" cy="1417320"/>
          </a:xfrm>
          <a:prstGeom prst="rect">
            <a:avLst/>
          </a:prstGeom>
          <a:solidFill>
            <a:schemeClr val="accent2"/>
          </a:solidFill>
          <a:ln w="25400">
            <a:solidFill>
              <a:schemeClr val="tx1"/>
            </a:solidFill>
            <a:prstDash val="solid"/>
          </a:ln>
        </p:spPr>
      </p:sp>
      <p:sp>
        <p:nvSpPr>
          <p:cNvPr id="16" name="Text 14"/>
          <p:cNvSpPr txBox="1"/>
          <p:nvPr/>
        </p:nvSpPr>
        <p:spPr>
          <a:xfrm>
            <a:off x="2651760" y="2971800"/>
            <a:ext cx="1737360" cy="731520"/>
          </a:xfrm>
          <a:prstGeom prst="rect">
            <a:avLst/>
          </a:prstGeom>
          <a:noFill/>
          <a:ln/>
        </p:spPr>
        <p:txBody>
          <a:bodyPr wrap="square" lIns="0" tIns="0" rIns="0" bIns="0" rtlCol="0" anchor="ctr"/>
          <a:lstStyle/>
          <a:p>
            <a:pPr algn="ctr" indent="0" marL="0">
              <a:buNone/>
            </a:pPr>
            <a:r>
              <a:rPr lang="en-US" sz="1500" dirty="0">
                <a:solidFill>
                  <a:schemeClr val="tx1"/>
                </a:solidFill>
                <a:latin typeface="Rockwell Extra Bold" pitchFamily="34" charset="0"/>
                <a:ea typeface="Rockwell Extra Bold" pitchFamily="34" charset="-122"/>
                <a:cs typeface="Rockwell Extra Bold" pitchFamily="34" charset="-120"/>
              </a:rPr>
              <a:t>★ Une reformulation</a:t>
            </a:r>
            <a:endParaRPr lang="en-US" sz="1500" dirty="0"/>
          </a:p>
        </p:txBody>
      </p:sp>
      <p:sp>
        <p:nvSpPr>
          <p:cNvPr id="17" name="Text 15"/>
          <p:cNvSpPr txBox="1"/>
          <p:nvPr/>
        </p:nvSpPr>
        <p:spPr>
          <a:xfrm>
            <a:off x="265176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8" name="Shape 16"/>
          <p:cNvSpPr/>
          <p:nvPr/>
        </p:nvSpPr>
        <p:spPr>
          <a:xfrm>
            <a:off x="4572000" y="2880360"/>
            <a:ext cx="1920240" cy="1417320"/>
          </a:xfrm>
          <a:prstGeom prst="rect">
            <a:avLst/>
          </a:prstGeom>
          <a:solidFill>
            <a:schemeClr val="bg1"/>
          </a:solidFill>
          <a:ln w="25400">
            <a:solidFill>
              <a:schemeClr val="tx1"/>
            </a:solidFill>
            <a:prstDash val="solid"/>
          </a:ln>
        </p:spPr>
      </p:sp>
      <p:sp>
        <p:nvSpPr>
          <p:cNvPr id="19" name="Text 17"/>
          <p:cNvSpPr txBox="1"/>
          <p:nvPr/>
        </p:nvSpPr>
        <p:spPr>
          <a:xfrm>
            <a:off x="4663440" y="297180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 diversion</a:t>
            </a:r>
            <a:endParaRPr lang="en-US" sz="1500" dirty="0"/>
          </a:p>
        </p:txBody>
      </p:sp>
      <p:sp>
        <p:nvSpPr>
          <p:cNvPr id="20" name="Text 18"/>
          <p:cNvSpPr txBox="1"/>
          <p:nvPr/>
        </p:nvSpPr>
        <p:spPr>
          <a:xfrm>
            <a:off x="466344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1" name="Shape 19"/>
          <p:cNvSpPr/>
          <p:nvPr/>
        </p:nvSpPr>
        <p:spPr>
          <a:xfrm>
            <a:off x="548640" y="4389120"/>
            <a:ext cx="1920240" cy="1417320"/>
          </a:xfrm>
          <a:prstGeom prst="rect">
            <a:avLst/>
          </a:prstGeom>
          <a:solidFill>
            <a:schemeClr val="bg1"/>
          </a:solidFill>
          <a:ln w="25400">
            <a:solidFill>
              <a:schemeClr val="tx1"/>
            </a:solidFill>
            <a:prstDash val="solid"/>
          </a:ln>
        </p:spPr>
      </p:sp>
      <p:sp>
        <p:nvSpPr>
          <p:cNvPr id="22" name="Text 20"/>
          <p:cNvSpPr txBox="1"/>
          <p:nvPr/>
        </p:nvSpPr>
        <p:spPr>
          <a:xfrm>
            <a:off x="64008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galon</a:t>
            </a:r>
            <a:endParaRPr lang="en-US" sz="1500" dirty="0"/>
          </a:p>
        </p:txBody>
      </p:sp>
      <p:sp>
        <p:nvSpPr>
          <p:cNvPr id="23" name="Text 21"/>
          <p:cNvSpPr txBox="1"/>
          <p:nvPr/>
        </p:nvSpPr>
        <p:spPr>
          <a:xfrm>
            <a:off x="64008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4" name="Shape 22"/>
          <p:cNvSpPr/>
          <p:nvPr/>
        </p:nvSpPr>
        <p:spPr>
          <a:xfrm>
            <a:off x="2560320" y="4389120"/>
            <a:ext cx="1920240" cy="1417320"/>
          </a:xfrm>
          <a:prstGeom prst="rect">
            <a:avLst/>
          </a:prstGeom>
          <a:solidFill>
            <a:schemeClr val="bg1"/>
          </a:solidFill>
          <a:ln w="25400">
            <a:solidFill>
              <a:schemeClr val="tx1"/>
            </a:solidFill>
            <a:prstDash val="solid"/>
          </a:ln>
        </p:spPr>
      </p:sp>
      <p:sp>
        <p:nvSpPr>
          <p:cNvPr id="25" name="Text 23"/>
          <p:cNvSpPr txBox="1"/>
          <p:nvPr/>
        </p:nvSpPr>
        <p:spPr>
          <a:xfrm>
            <a:off x="265176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L'étiquette</a:t>
            </a:r>
            <a:endParaRPr lang="en-US" sz="1500" dirty="0"/>
          </a:p>
        </p:txBody>
      </p:sp>
      <p:sp>
        <p:nvSpPr>
          <p:cNvPr id="26" name="Text 24"/>
          <p:cNvSpPr txBox="1"/>
          <p:nvPr/>
        </p:nvSpPr>
        <p:spPr>
          <a:xfrm>
            <a:off x="265176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7" name="Shape 25"/>
          <p:cNvSpPr/>
          <p:nvPr/>
        </p:nvSpPr>
        <p:spPr>
          <a:xfrm>
            <a:off x="4572000" y="4389120"/>
            <a:ext cx="1920240" cy="1417320"/>
          </a:xfrm>
          <a:prstGeom prst="rect">
            <a:avLst/>
          </a:prstGeom>
          <a:solidFill>
            <a:schemeClr val="bg1"/>
          </a:solidFill>
          <a:ln w="25400">
            <a:solidFill>
              <a:schemeClr val="tx1"/>
            </a:solidFill>
            <a:prstDash val="solid"/>
          </a:ln>
        </p:spPr>
      </p:sp>
      <p:sp>
        <p:nvSpPr>
          <p:cNvPr id="28" name="Text 26"/>
          <p:cNvSpPr txBox="1"/>
          <p:nvPr/>
        </p:nvSpPr>
        <p:spPr>
          <a:xfrm>
            <a:off x="466344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brouillard</a:t>
            </a:r>
            <a:endParaRPr lang="en-US" sz="1500" dirty="0"/>
          </a:p>
        </p:txBody>
      </p:sp>
      <p:sp>
        <p:nvSpPr>
          <p:cNvPr id="29" name="Text 27"/>
          <p:cNvSpPr txBox="1"/>
          <p:nvPr/>
        </p:nvSpPr>
        <p:spPr>
          <a:xfrm>
            <a:off x="466344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30" name="Text 28"/>
          <p:cNvSpPr txBox="1"/>
          <p:nvPr/>
        </p:nvSpPr>
        <p:spPr>
          <a:xfrm>
            <a:off x="6949440" y="1371600"/>
            <a:ext cx="457200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Règles</a:t>
            </a:r>
            <a:endParaRPr lang="en-US" sz="2000" dirty="0"/>
          </a:p>
        </p:txBody>
      </p:sp>
      <p:sp>
        <p:nvSpPr>
          <p:cNvPr id="31" name="Text 29"/>
          <p:cNvSpPr txBox="1"/>
          <p:nvPr/>
        </p:nvSpPr>
        <p:spPr>
          <a:xfrm>
            <a:off x="6949440" y="1920240"/>
            <a:ext cx="4663440" cy="39319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Coche une case quand tu entends le coup. Note qui et la phrase exacte.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La case centrale est un bon coup : la reformulation loyale. Elle vaut double.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Ligne complète? Lève la main en silence : le débat continue.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Surprise : on termine en comptant les reformulations, pas les coups bas.</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2"/>
                </a:solidFill>
              </a:rPr>
              <a:t>Le miroir</a:t>
            </a:r>
            <a:endParaRPr lang="en-US" sz="3600" dirty="0"/>
          </a:p>
        </p:txBody>
      </p:sp>
      <p:sp>
        <p:nvSpPr>
          <p:cNvPr id="3" name="Text 1"/>
          <p:cNvSpPr txBox="1"/>
          <p:nvPr/>
        </p:nvSpPr>
        <p:spPr>
          <a:xfrm>
            <a:off x="548640" y="1371600"/>
            <a:ext cx="7315200" cy="640080"/>
          </a:xfrm>
          <a:prstGeom prst="rect">
            <a:avLst/>
          </a:prstGeom>
          <a:noFill/>
          <a:ln/>
        </p:spPr>
        <p:txBody>
          <a:bodyPr wrap="square" lIns="0" tIns="0" rIns="0" bIns="0" rtlCol="0" anchor="t"/>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Quelle créature deviens-tu…</a:t>
            </a:r>
            <a:endParaRPr lang="en-US" sz="3000" dirty="0"/>
          </a:p>
        </p:txBody>
      </p:sp>
      <p:sp>
        <p:nvSpPr>
          <p:cNvPr id="4" name="Text 2"/>
          <p:cNvSpPr txBox="1"/>
          <p:nvPr/>
        </p:nvSpPr>
        <p:spPr>
          <a:xfrm>
            <a:off x="822960" y="2240280"/>
            <a:ext cx="7132320" cy="640080"/>
          </a:xfrm>
          <a:prstGeom prst="rect">
            <a:avLst/>
          </a:prstGeom>
          <a:noFill/>
          <a:ln/>
        </p:spPr>
        <p:txBody>
          <a:bodyPr wrap="square" lIns="0" tIns="0" rIns="0" bIns="0" rtlCol="0" anchor="t"/>
          <a:lstStyle/>
          <a:p>
            <a:pPr indent="0" marL="0">
              <a:buNone/>
            </a:pPr>
            <a:r>
              <a:rPr lang="en-US" sz="2400" dirty="0">
                <a:solidFill>
                  <a:schemeClr val="bg2"/>
                </a:solidFill>
                <a:latin typeface="Arial" pitchFamily="34" charset="0"/>
                <a:ea typeface="Arial" pitchFamily="34" charset="-122"/>
                <a:cs typeface="Arial" pitchFamily="34" charset="-120"/>
              </a:rPr>
              <a:t>… quand tu es fatigué·e?</a:t>
            </a:r>
            <a:endParaRPr lang="en-US" sz="2400" dirty="0"/>
          </a:p>
        </p:txBody>
      </p:sp>
      <p:sp>
        <p:nvSpPr>
          <p:cNvPr id="5" name="Text 3"/>
          <p:cNvSpPr txBox="1"/>
          <p:nvPr/>
        </p:nvSpPr>
        <p:spPr>
          <a:xfrm>
            <a:off x="822960" y="3017520"/>
            <a:ext cx="7132320" cy="640080"/>
          </a:xfrm>
          <a:prstGeom prst="rect">
            <a:avLst/>
          </a:prstGeom>
          <a:noFill/>
          <a:ln/>
        </p:spPr>
        <p:txBody>
          <a:bodyPr wrap="square" lIns="0" tIns="0" rIns="0" bIns="0" rtlCol="0" anchor="t"/>
          <a:lstStyle/>
          <a:p>
            <a:pPr indent="0" marL="0">
              <a:buNone/>
            </a:pPr>
            <a:r>
              <a:rPr lang="en-US" sz="2400" dirty="0">
                <a:solidFill>
                  <a:schemeClr val="accent2"/>
                </a:solidFill>
                <a:latin typeface="Arial" pitchFamily="34" charset="0"/>
                <a:ea typeface="Arial" pitchFamily="34" charset="-122"/>
                <a:cs typeface="Arial" pitchFamily="34" charset="-120"/>
              </a:rPr>
              <a:t>… quand le sujet te touche personnellement?</a:t>
            </a:r>
            <a:endParaRPr lang="en-US" sz="2400" dirty="0"/>
          </a:p>
        </p:txBody>
      </p:sp>
      <p:sp>
        <p:nvSpPr>
          <p:cNvPr id="6" name="Text 4"/>
          <p:cNvSpPr txBox="1"/>
          <p:nvPr/>
        </p:nvSpPr>
        <p:spPr>
          <a:xfrm>
            <a:off x="822960" y="3794760"/>
            <a:ext cx="7132320" cy="640080"/>
          </a:xfrm>
          <a:prstGeom prst="rect">
            <a:avLst/>
          </a:prstGeom>
          <a:noFill/>
          <a:ln/>
        </p:spPr>
        <p:txBody>
          <a:bodyPr wrap="square" lIns="0" tIns="0" rIns="0" bIns="0" rtlCol="0" anchor="t"/>
          <a:lstStyle/>
          <a:p>
            <a:pPr indent="0" marL="0">
              <a:buNone/>
            </a:pPr>
            <a:r>
              <a:rPr lang="en-US" sz="2400" dirty="0">
                <a:solidFill>
                  <a:schemeClr val="bg2"/>
                </a:solidFill>
                <a:latin typeface="Arial" pitchFamily="34" charset="0"/>
                <a:ea typeface="Arial" pitchFamily="34" charset="-122"/>
                <a:cs typeface="Arial" pitchFamily="34" charset="-120"/>
              </a:rPr>
              <a:t>… quand il y a un public?</a:t>
            </a:r>
            <a:endParaRPr lang="en-US" sz="2400" dirty="0"/>
          </a:p>
        </p:txBody>
      </p:sp>
      <p:sp>
        <p:nvSpPr>
          <p:cNvPr id="7" name="Text 5"/>
          <p:cNvSpPr txBox="1"/>
          <p:nvPr/>
        </p:nvSpPr>
        <p:spPr>
          <a:xfrm>
            <a:off x="822960" y="4572000"/>
            <a:ext cx="7132320" cy="640080"/>
          </a:xfrm>
          <a:prstGeom prst="rect">
            <a:avLst/>
          </a:prstGeom>
          <a:noFill/>
          <a:ln/>
        </p:spPr>
        <p:txBody>
          <a:bodyPr wrap="square" lIns="0" tIns="0" rIns="0" bIns="0" rtlCol="0" anchor="t"/>
          <a:lstStyle/>
          <a:p>
            <a:pPr indent="0" marL="0">
              <a:buNone/>
            </a:pPr>
            <a:r>
              <a:rPr lang="en-US" sz="2400" dirty="0">
                <a:solidFill>
                  <a:schemeClr val="accent2"/>
                </a:solidFill>
                <a:latin typeface="Arial" pitchFamily="34" charset="0"/>
                <a:ea typeface="Arial" pitchFamily="34" charset="-122"/>
                <a:cs typeface="Arial" pitchFamily="34" charset="-120"/>
              </a:rPr>
              <a:t>… quand tu sais que tu as tort?</a:t>
            </a:r>
            <a:endParaRPr lang="en-US" sz="2400" dirty="0"/>
          </a:p>
        </p:txBody>
      </p:sp>
      <p:pic>
        <p:nvPicPr>
          <p:cNvPr id="8" name="Image 0" descr="preencoded.png">    </p:cNvPr>
          <p:cNvPicPr>
            <a:picLocks noChangeAspect="1"/>
          </p:cNvPicPr>
          <p:nvPr/>
        </p:nvPicPr>
        <p:blipFill>
          <a:blip r:embed="rId1"/>
          <a:stretch>
            <a:fillRect/>
          </a:stretch>
        </p:blipFill>
        <p:spPr>
          <a:xfrm>
            <a:off x="8503920" y="1280160"/>
            <a:ext cx="3017520" cy="3657600"/>
          </a:xfrm>
          <a:prstGeom prst="rect">
            <a:avLst/>
          </a:prstGeom>
        </p:spPr>
      </p:pic>
      <p:sp>
        <p:nvSpPr>
          <p:cNvPr id="9" name="Shape 6"/>
          <p:cNvSpPr/>
          <p:nvPr/>
        </p:nvSpPr>
        <p:spPr>
          <a:xfrm>
            <a:off x="9966960" y="411480"/>
            <a:ext cx="1645920" cy="457200"/>
          </a:xfrm>
          <a:prstGeom prst="roundRect">
            <a:avLst>
              <a:gd name="adj" fmla="val 50000"/>
            </a:avLst>
          </a:prstGeom>
          <a:solidFill>
            <a:schemeClr val="accent2"/>
          </a:solidFill>
          <a:ln/>
        </p:spPr>
      </p:sp>
      <p:sp>
        <p:nvSpPr>
          <p:cNvPr id="10" name="Text 7"/>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tx1"/>
                </a:solidFill>
              </a:rPr>
              <a:t>⏱ 5 min</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3</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Ateliers d'écriture</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L'agréabilité se travaille aussi au crayon</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1 · L'ascenseur</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Text 3"/>
          <p:cNvSpPr txBox="1"/>
          <p:nvPr/>
        </p:nvSpPr>
        <p:spPr>
          <a:xfrm>
            <a:off x="548640" y="1280160"/>
            <a:ext cx="10972800" cy="457200"/>
          </a:xfrm>
          <a:prstGeom prst="rect">
            <a:avLst/>
          </a:prstGeom>
          <a:noFill/>
          <a:ln/>
        </p:spPr>
        <p:txBody>
          <a:bodyPr wrap="square" lIns="0" tIns="0" rIns="0" bIns="0" rtlCol="0" anchor="t"/>
          <a:lstStyle/>
          <a:p>
            <a:pPr indent="0" marL="0">
              <a:buNone/>
            </a:pPr>
            <a:r>
              <a:rPr lang="en-US" sz="1700" dirty="0">
                <a:solidFill>
                  <a:schemeClr val="tx1"/>
                </a:solidFill>
                <a:latin typeface="Arial" pitchFamily="34" charset="0"/>
                <a:ea typeface="Arial" pitchFamily="34" charset="-122"/>
                <a:cs typeface="Arial" pitchFamily="34" charset="-120"/>
              </a:rPr>
              <a:t>Prends une réplique toxique et fais-la monter dans la pyramide, un étage à la fois.</a:t>
            </a:r>
            <a:endParaRPr lang="en-US" sz="1700" dirty="0"/>
          </a:p>
        </p:txBody>
      </p:sp>
      <p:sp>
        <p:nvSpPr>
          <p:cNvPr id="6" name="Shape 4"/>
          <p:cNvSpPr/>
          <p:nvPr/>
        </p:nvSpPr>
        <p:spPr>
          <a:xfrm>
            <a:off x="548640" y="4983480"/>
            <a:ext cx="6949440" cy="914400"/>
          </a:xfrm>
          <a:prstGeom prst="rect">
            <a:avLst/>
          </a:prstGeom>
          <a:solidFill>
            <a:schemeClr val="tx1"/>
          </a:solidFill>
          <a:ln/>
        </p:spPr>
      </p:sp>
      <p:sp>
        <p:nvSpPr>
          <p:cNvPr id="7" name="Text 5"/>
          <p:cNvSpPr txBox="1"/>
          <p:nvPr/>
        </p:nvSpPr>
        <p:spPr>
          <a:xfrm>
            <a:off x="685800" y="498348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0</a:t>
            </a:r>
            <a:endParaRPr lang="en-US" sz="3000" dirty="0"/>
          </a:p>
        </p:txBody>
      </p:sp>
      <p:sp>
        <p:nvSpPr>
          <p:cNvPr id="8" name="Text 6"/>
          <p:cNvSpPr txBox="1"/>
          <p:nvPr/>
        </p:nvSpPr>
        <p:spPr>
          <a:xfrm>
            <a:off x="1371600" y="5029200"/>
            <a:ext cx="5989320" cy="822960"/>
          </a:xfrm>
          <a:prstGeom prst="rect">
            <a:avLst/>
          </a:prstGeom>
          <a:noFill/>
          <a:ln/>
        </p:spPr>
        <p:txBody>
          <a:bodyPr wrap="square" lIns="0" tIns="0" rIns="0" bIns="0" rtlCol="0" anchor="ctr"/>
          <a:lstStyle/>
          <a:p>
            <a:pPr indent="0" marL="0">
              <a:buNone/>
            </a:pPr>
            <a:r>
              <a:rPr lang="en-US" sz="1500" dirty="0">
                <a:solidFill>
                  <a:schemeClr val="bg2"/>
                </a:solidFill>
                <a:latin typeface="Arial" pitchFamily="34" charset="0"/>
                <a:ea typeface="Arial" pitchFamily="34" charset="-122"/>
                <a:cs typeface="Arial" pitchFamily="34" charset="-120"/>
              </a:rPr>
              <a:t>« T'es vraiment déconnecté si tu penses que le télétravail marche. »</a:t>
            </a:r>
            <a:endParaRPr lang="en-US" sz="1500" dirty="0"/>
          </a:p>
        </p:txBody>
      </p:sp>
      <p:sp>
        <p:nvSpPr>
          <p:cNvPr id="9" name="Shape 7"/>
          <p:cNvSpPr/>
          <p:nvPr/>
        </p:nvSpPr>
        <p:spPr>
          <a:xfrm>
            <a:off x="548640" y="3931920"/>
            <a:ext cx="7315200" cy="914400"/>
          </a:xfrm>
          <a:prstGeom prst="rect">
            <a:avLst/>
          </a:prstGeom>
          <a:solidFill>
            <a:schemeClr val="accent2"/>
          </a:solidFill>
          <a:ln/>
        </p:spPr>
      </p:sp>
      <p:sp>
        <p:nvSpPr>
          <p:cNvPr id="10" name="Text 8"/>
          <p:cNvSpPr txBox="1"/>
          <p:nvPr/>
        </p:nvSpPr>
        <p:spPr>
          <a:xfrm>
            <a:off x="685800" y="3931920"/>
            <a:ext cx="640080" cy="914400"/>
          </a:xfrm>
          <a:prstGeom prst="rect">
            <a:avLst/>
          </a:prstGeom>
          <a:noFill/>
          <a:ln/>
        </p:spPr>
        <p:txBody>
          <a:bodyPr wrap="square" lIns="0" tIns="0" rIns="0" bIns="0" rtlCol="0" anchor="ctr"/>
          <a:lstStyle/>
          <a:p>
            <a:pPr indent="0" marL="0">
              <a:buNone/>
            </a:pPr>
            <a:r>
              <a:rPr lang="en-US" sz="3000" dirty="0">
                <a:solidFill>
                  <a:schemeClr val="tx1"/>
                </a:solidFill>
                <a:latin typeface="Rockwell Extra Bold" pitchFamily="34" charset="0"/>
                <a:ea typeface="Rockwell Extra Bold" pitchFamily="34" charset="-122"/>
                <a:cs typeface="Rockwell Extra Bold" pitchFamily="34" charset="-120"/>
              </a:rPr>
              <a:t>3</a:t>
            </a:r>
            <a:endParaRPr lang="en-US" sz="3000" dirty="0"/>
          </a:p>
        </p:txBody>
      </p:sp>
      <p:sp>
        <p:nvSpPr>
          <p:cNvPr id="11" name="Text 9"/>
          <p:cNvSpPr txBox="1"/>
          <p:nvPr/>
        </p:nvSpPr>
        <p:spPr>
          <a:xfrm>
            <a:off x="1371600" y="3977640"/>
            <a:ext cx="63550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Non, le télétravail ne marche pas. »</a:t>
            </a:r>
            <a:endParaRPr lang="en-US" sz="1500" dirty="0"/>
          </a:p>
        </p:txBody>
      </p:sp>
      <p:sp>
        <p:nvSpPr>
          <p:cNvPr id="12" name="Shape 10"/>
          <p:cNvSpPr/>
          <p:nvPr/>
        </p:nvSpPr>
        <p:spPr>
          <a:xfrm>
            <a:off x="548640" y="2880360"/>
            <a:ext cx="7680960" cy="914400"/>
          </a:xfrm>
          <a:prstGeom prst="rect">
            <a:avLst/>
          </a:prstGeom>
          <a:solidFill>
            <a:schemeClr val="accent1"/>
          </a:solidFill>
          <a:ln/>
        </p:spPr>
      </p:sp>
      <p:sp>
        <p:nvSpPr>
          <p:cNvPr id="13" name="Text 11"/>
          <p:cNvSpPr txBox="1"/>
          <p:nvPr/>
        </p:nvSpPr>
        <p:spPr>
          <a:xfrm>
            <a:off x="685800" y="288036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4</a:t>
            </a:r>
            <a:endParaRPr lang="en-US" sz="3000" dirty="0"/>
          </a:p>
        </p:txBody>
      </p:sp>
      <p:sp>
        <p:nvSpPr>
          <p:cNvPr id="14" name="Text 12"/>
          <p:cNvSpPr txBox="1"/>
          <p:nvPr/>
        </p:nvSpPr>
        <p:spPr>
          <a:xfrm>
            <a:off x="1371600" y="2926080"/>
            <a:ext cx="6720840" cy="822960"/>
          </a:xfrm>
          <a:prstGeom prst="rect">
            <a:avLst/>
          </a:prstGeom>
          <a:noFill/>
          <a:ln/>
        </p:spPr>
        <p:txBody>
          <a:bodyPr wrap="square" lIns="0" tIns="0" rIns="0" bIns="0" rtlCol="0" anchor="ctr"/>
          <a:lstStyle/>
          <a:p>
            <a:pPr indent="0" marL="0">
              <a:buNone/>
            </a:pPr>
            <a:r>
              <a:rPr lang="en-US" sz="1500" dirty="0">
                <a:solidFill>
                  <a:schemeClr val="bg2"/>
                </a:solidFill>
                <a:latin typeface="Arial" pitchFamily="34" charset="0"/>
                <a:ea typeface="Arial" pitchFamily="34" charset="-122"/>
                <a:cs typeface="Arial" pitchFamily="34" charset="-120"/>
              </a:rPr>
              <a:t>« Le télétravail isole les nouveaux employés : ils apprennent moins vite sans collègues autour. »</a:t>
            </a:r>
            <a:endParaRPr lang="en-US" sz="1500" dirty="0"/>
          </a:p>
        </p:txBody>
      </p:sp>
      <p:sp>
        <p:nvSpPr>
          <p:cNvPr id="15" name="Shape 13"/>
          <p:cNvSpPr/>
          <p:nvPr/>
        </p:nvSpPr>
        <p:spPr>
          <a:xfrm>
            <a:off x="548640" y="1828800"/>
            <a:ext cx="8046720" cy="914400"/>
          </a:xfrm>
          <a:prstGeom prst="rect">
            <a:avLst/>
          </a:prstGeom>
          <a:solidFill>
            <a:schemeClr val="accent1"/>
          </a:solidFill>
          <a:ln/>
        </p:spPr>
      </p:sp>
      <p:sp>
        <p:nvSpPr>
          <p:cNvPr id="16" name="Text 14"/>
          <p:cNvSpPr txBox="1"/>
          <p:nvPr/>
        </p:nvSpPr>
        <p:spPr>
          <a:xfrm>
            <a:off x="685800" y="182880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6</a:t>
            </a:r>
            <a:endParaRPr lang="en-US" sz="3000" dirty="0"/>
          </a:p>
        </p:txBody>
      </p:sp>
      <p:sp>
        <p:nvSpPr>
          <p:cNvPr id="17" name="Text 15"/>
          <p:cNvSpPr txBox="1"/>
          <p:nvPr/>
        </p:nvSpPr>
        <p:spPr>
          <a:xfrm>
            <a:off x="1371600" y="1874520"/>
            <a:ext cx="7086600" cy="822960"/>
          </a:xfrm>
          <a:prstGeom prst="rect">
            <a:avLst/>
          </a:prstGeom>
          <a:noFill/>
          <a:ln/>
        </p:spPr>
        <p:txBody>
          <a:bodyPr wrap="square" lIns="0" tIns="0" rIns="0" bIns="0" rtlCol="0" anchor="ctr"/>
          <a:lstStyle/>
          <a:p>
            <a:pPr indent="0" marL="0">
              <a:buNone/>
            </a:pPr>
            <a:r>
              <a:rPr lang="en-US" sz="1300" dirty="0">
                <a:solidFill>
                  <a:schemeClr val="bg2"/>
                </a:solidFill>
                <a:latin typeface="Arial" pitchFamily="34" charset="0"/>
                <a:ea typeface="Arial" pitchFamily="34" charset="-122"/>
                <a:cs typeface="Arial" pitchFamily="34" charset="-120"/>
              </a:rPr>
              <a:t>« Tu dis que le télétravail rend plus productif. C'est vrai pour le travail concentré. Mais si on gardait deux jours sur place pour l'accueil et la collaboration, ton argument tiendrait-il encore? »</a:t>
            </a:r>
            <a:endParaRPr lang="en-US" sz="1300" dirty="0"/>
          </a:p>
        </p:txBody>
      </p:sp>
      <p:sp>
        <p:nvSpPr>
          <p:cNvPr id="18" name="Shape 16"/>
          <p:cNvSpPr/>
          <p:nvPr/>
        </p:nvSpPr>
        <p:spPr>
          <a:xfrm>
            <a:off x="8595360" y="1965960"/>
            <a:ext cx="3017520" cy="3931920"/>
          </a:xfrm>
          <a:prstGeom prst="rect">
            <a:avLst/>
          </a:prstGeom>
          <a:solidFill>
            <a:schemeClr val="bg1"/>
          </a:solidFill>
          <a:ln w="25400">
            <a:solidFill>
              <a:schemeClr val="tx1"/>
            </a:solidFill>
            <a:prstDash val="solid"/>
          </a:ln>
        </p:spPr>
      </p:sp>
      <p:sp>
        <p:nvSpPr>
          <p:cNvPr id="19" name="Text 17"/>
          <p:cNvSpPr txBox="1"/>
          <p:nvPr/>
        </p:nvSpPr>
        <p:spPr>
          <a:xfrm>
            <a:off x="8778240" y="2103120"/>
            <a:ext cx="2743200" cy="45720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Consigne</a:t>
            </a:r>
            <a:endParaRPr lang="en-US" sz="1800" dirty="0"/>
          </a:p>
        </p:txBody>
      </p:sp>
      <p:sp>
        <p:nvSpPr>
          <p:cNvPr id="20" name="Text 18"/>
          <p:cNvSpPr txBox="1"/>
          <p:nvPr/>
        </p:nvSpPr>
        <p:spPr>
          <a:xfrm>
            <a:off x="8778240" y="2606040"/>
            <a:ext cx="2697480" cy="3200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En équipe de 2, choisissez une réplique entendue en ligne, au travail ou en famille. Réécrivez-la aux étages 3, 4 et 6. Lisez l'étage 0 et l'étage 6 à voix haute.</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2 · L'homme d'acier signé</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Shape 3"/>
          <p:cNvSpPr/>
          <p:nvPr/>
        </p:nvSpPr>
        <p:spPr>
          <a:xfrm>
            <a:off x="548640" y="1417320"/>
            <a:ext cx="2651760" cy="3291840"/>
          </a:xfrm>
          <a:prstGeom prst="rect">
            <a:avLst/>
          </a:prstGeom>
          <a:solidFill>
            <a:schemeClr val="bg1"/>
          </a:solidFill>
          <a:ln w="25400">
            <a:solidFill>
              <a:schemeClr val="tx1"/>
            </a:solidFill>
            <a:prstDash val="solid"/>
          </a:ln>
        </p:spPr>
      </p:sp>
      <p:sp>
        <p:nvSpPr>
          <p:cNvPr id="6" name="Shape 4"/>
          <p:cNvSpPr/>
          <p:nvPr/>
        </p:nvSpPr>
        <p:spPr>
          <a:xfrm>
            <a:off x="731520" y="1600200"/>
            <a:ext cx="548640" cy="548640"/>
          </a:xfrm>
          <a:prstGeom prst="ellipse">
            <a:avLst/>
          </a:prstGeom>
          <a:solidFill>
            <a:schemeClr val="accent1"/>
          </a:solidFill>
          <a:ln w="19050">
            <a:solidFill>
              <a:schemeClr val="tx1"/>
            </a:solidFill>
            <a:prstDash val="solid"/>
          </a:ln>
        </p:spPr>
      </p:sp>
      <p:sp>
        <p:nvSpPr>
          <p:cNvPr id="7" name="Text 5"/>
          <p:cNvSpPr txBox="1"/>
          <p:nvPr/>
        </p:nvSpPr>
        <p:spPr>
          <a:xfrm>
            <a:off x="731520"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8" name="Text 6"/>
          <p:cNvSpPr txBox="1"/>
          <p:nvPr/>
        </p:nvSpPr>
        <p:spPr>
          <a:xfrm>
            <a:off x="1417320"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Écoute</a:t>
            </a:r>
            <a:endParaRPr lang="en-US" sz="2000" dirty="0"/>
          </a:p>
        </p:txBody>
      </p:sp>
      <p:sp>
        <p:nvSpPr>
          <p:cNvPr id="9" name="Text 7"/>
          <p:cNvSpPr txBox="1"/>
          <p:nvPr/>
        </p:nvSpPr>
        <p:spPr>
          <a:xfrm>
            <a:off x="731520"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 défend sa position pendant 2 minutes. B ne parle pas, il prend des notes.</a:t>
            </a:r>
            <a:endParaRPr lang="en-US" sz="1500" dirty="0"/>
          </a:p>
        </p:txBody>
      </p:sp>
      <p:sp>
        <p:nvSpPr>
          <p:cNvPr id="10" name="Shape 8"/>
          <p:cNvSpPr/>
          <p:nvPr/>
        </p:nvSpPr>
        <p:spPr>
          <a:xfrm>
            <a:off x="3355848" y="1417320"/>
            <a:ext cx="2651760" cy="3291840"/>
          </a:xfrm>
          <a:prstGeom prst="rect">
            <a:avLst/>
          </a:prstGeom>
          <a:solidFill>
            <a:schemeClr val="bg1"/>
          </a:solidFill>
          <a:ln w="25400">
            <a:solidFill>
              <a:schemeClr val="tx1"/>
            </a:solidFill>
            <a:prstDash val="solid"/>
          </a:ln>
        </p:spPr>
      </p:sp>
      <p:sp>
        <p:nvSpPr>
          <p:cNvPr id="11" name="Shape 9"/>
          <p:cNvSpPr/>
          <p:nvPr/>
        </p:nvSpPr>
        <p:spPr>
          <a:xfrm>
            <a:off x="3538728" y="1600200"/>
            <a:ext cx="548640" cy="548640"/>
          </a:xfrm>
          <a:prstGeom prst="ellipse">
            <a:avLst/>
          </a:prstGeom>
          <a:solidFill>
            <a:schemeClr val="accent1"/>
          </a:solidFill>
          <a:ln w="19050">
            <a:solidFill>
              <a:schemeClr val="tx1"/>
            </a:solidFill>
            <a:prstDash val="solid"/>
          </a:ln>
        </p:spPr>
      </p:sp>
      <p:sp>
        <p:nvSpPr>
          <p:cNvPr id="12" name="Text 10"/>
          <p:cNvSpPr txBox="1"/>
          <p:nvPr/>
        </p:nvSpPr>
        <p:spPr>
          <a:xfrm>
            <a:off x="3538728"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3" name="Text 11"/>
          <p:cNvSpPr txBox="1"/>
          <p:nvPr/>
        </p:nvSpPr>
        <p:spPr>
          <a:xfrm>
            <a:off x="4224528"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Écris</a:t>
            </a:r>
            <a:endParaRPr lang="en-US" sz="2000" dirty="0"/>
          </a:p>
        </p:txBody>
      </p:sp>
      <p:sp>
        <p:nvSpPr>
          <p:cNvPr id="14" name="Text 12"/>
          <p:cNvSpPr txBox="1"/>
          <p:nvPr/>
        </p:nvSpPr>
        <p:spPr>
          <a:xfrm>
            <a:off x="3538728"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B rédige en 50 mots la meilleure version possible de l'argument de A. Meilleure que l'original, si possible.</a:t>
            </a:r>
            <a:endParaRPr lang="en-US" sz="1500" dirty="0"/>
          </a:p>
        </p:txBody>
      </p:sp>
      <p:sp>
        <p:nvSpPr>
          <p:cNvPr id="15" name="Shape 13"/>
          <p:cNvSpPr/>
          <p:nvPr/>
        </p:nvSpPr>
        <p:spPr>
          <a:xfrm>
            <a:off x="6163056" y="1417320"/>
            <a:ext cx="2651760" cy="3291840"/>
          </a:xfrm>
          <a:prstGeom prst="rect">
            <a:avLst/>
          </a:prstGeom>
          <a:solidFill>
            <a:schemeClr val="accent2"/>
          </a:solidFill>
          <a:ln w="25400">
            <a:solidFill>
              <a:schemeClr val="tx1"/>
            </a:solidFill>
            <a:prstDash val="solid"/>
          </a:ln>
        </p:spPr>
      </p:sp>
      <p:sp>
        <p:nvSpPr>
          <p:cNvPr id="16" name="Shape 14"/>
          <p:cNvSpPr/>
          <p:nvPr/>
        </p:nvSpPr>
        <p:spPr>
          <a:xfrm>
            <a:off x="6345936" y="1600200"/>
            <a:ext cx="548640" cy="548640"/>
          </a:xfrm>
          <a:prstGeom prst="ellipse">
            <a:avLst/>
          </a:prstGeom>
          <a:solidFill>
            <a:schemeClr val="accent1"/>
          </a:solidFill>
          <a:ln w="19050">
            <a:solidFill>
              <a:schemeClr val="tx1"/>
            </a:solidFill>
            <a:prstDash val="solid"/>
          </a:ln>
        </p:spPr>
      </p:sp>
      <p:sp>
        <p:nvSpPr>
          <p:cNvPr id="17" name="Text 15"/>
          <p:cNvSpPr txBox="1"/>
          <p:nvPr/>
        </p:nvSpPr>
        <p:spPr>
          <a:xfrm>
            <a:off x="6345936"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18" name="Text 16"/>
          <p:cNvSpPr txBox="1"/>
          <p:nvPr/>
        </p:nvSpPr>
        <p:spPr>
          <a:xfrm>
            <a:off x="7031736"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Signe</a:t>
            </a:r>
            <a:endParaRPr lang="en-US" sz="2000" dirty="0"/>
          </a:p>
        </p:txBody>
      </p:sp>
      <p:sp>
        <p:nvSpPr>
          <p:cNvPr id="19" name="Text 17"/>
          <p:cNvSpPr txBox="1"/>
          <p:nvPr/>
        </p:nvSpPr>
        <p:spPr>
          <a:xfrm>
            <a:off x="6345936"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 lit. S'il peut signer « Oui, c'est exactement ce que je pense », B a gagné. Sinon, B réécrit.</a:t>
            </a:r>
            <a:endParaRPr lang="en-US" sz="1500" dirty="0"/>
          </a:p>
        </p:txBody>
      </p:sp>
      <p:sp>
        <p:nvSpPr>
          <p:cNvPr id="20" name="Shape 18"/>
          <p:cNvSpPr/>
          <p:nvPr/>
        </p:nvSpPr>
        <p:spPr>
          <a:xfrm>
            <a:off x="8970264" y="1417320"/>
            <a:ext cx="2651760" cy="3291840"/>
          </a:xfrm>
          <a:prstGeom prst="rect">
            <a:avLst/>
          </a:prstGeom>
          <a:solidFill>
            <a:schemeClr val="bg1"/>
          </a:solidFill>
          <a:ln w="25400">
            <a:solidFill>
              <a:schemeClr val="tx1"/>
            </a:solidFill>
            <a:prstDash val="solid"/>
          </a:ln>
        </p:spPr>
      </p:sp>
      <p:sp>
        <p:nvSpPr>
          <p:cNvPr id="21" name="Shape 19"/>
          <p:cNvSpPr/>
          <p:nvPr/>
        </p:nvSpPr>
        <p:spPr>
          <a:xfrm>
            <a:off x="9153144" y="1600200"/>
            <a:ext cx="548640" cy="548640"/>
          </a:xfrm>
          <a:prstGeom prst="ellipse">
            <a:avLst/>
          </a:prstGeom>
          <a:solidFill>
            <a:schemeClr val="accent1"/>
          </a:solidFill>
          <a:ln w="19050">
            <a:solidFill>
              <a:schemeClr val="tx1"/>
            </a:solidFill>
            <a:prstDash val="solid"/>
          </a:ln>
        </p:spPr>
      </p:sp>
      <p:sp>
        <p:nvSpPr>
          <p:cNvPr id="22" name="Text 20"/>
          <p:cNvSpPr txBox="1"/>
          <p:nvPr/>
        </p:nvSpPr>
        <p:spPr>
          <a:xfrm>
            <a:off x="9153144"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23" name="Text 21"/>
          <p:cNvSpPr txBox="1"/>
          <p:nvPr/>
        </p:nvSpPr>
        <p:spPr>
          <a:xfrm>
            <a:off x="9838944"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Inverse</a:t>
            </a:r>
            <a:endParaRPr lang="en-US" sz="2000" dirty="0"/>
          </a:p>
        </p:txBody>
      </p:sp>
      <p:sp>
        <p:nvSpPr>
          <p:cNvPr id="24" name="Text 22"/>
          <p:cNvSpPr txBox="1"/>
          <p:nvPr/>
        </p:nvSpPr>
        <p:spPr>
          <a:xfrm>
            <a:off x="9153144"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On échange les rôles. Ensuite seulement, chacun a droit à une critique.</a:t>
            </a:r>
            <a:endParaRPr lang="en-US" sz="1500" dirty="0"/>
          </a:p>
        </p:txBody>
      </p:sp>
      <p:sp>
        <p:nvSpPr>
          <p:cNvPr id="25" name="Shape 23"/>
          <p:cNvSpPr/>
          <p:nvPr/>
        </p:nvSpPr>
        <p:spPr>
          <a:xfrm>
            <a:off x="548640" y="4937760"/>
            <a:ext cx="11064240" cy="1051560"/>
          </a:xfrm>
          <a:prstGeom prst="rect">
            <a:avLst/>
          </a:prstGeom>
          <a:solidFill>
            <a:schemeClr val="tx1"/>
          </a:solidFill>
          <a:ln w="25400">
            <a:solidFill>
              <a:schemeClr val="tx1"/>
            </a:solidFill>
            <a:prstDash val="solid"/>
          </a:ln>
        </p:spPr>
      </p:sp>
      <p:sp>
        <p:nvSpPr>
          <p:cNvPr id="26" name="Text 24"/>
          <p:cNvSpPr txBox="1"/>
          <p:nvPr/>
        </p:nvSpPr>
        <p:spPr>
          <a:xfrm>
            <a:off x="822960" y="4937760"/>
            <a:ext cx="10607040" cy="1051560"/>
          </a:xfrm>
          <a:prstGeom prst="rect">
            <a:avLst/>
          </a:prstGeom>
          <a:noFill/>
          <a:ln/>
        </p:spPr>
        <p:txBody>
          <a:bodyPr wrap="square" lIns="0" tIns="0" rIns="0" bIns="0" rtlCol="0" anchor="ctr"/>
          <a:lstStyle/>
          <a:p>
            <a:pPr indent="0" marL="0">
              <a:buNone/>
            </a:pPr>
            <a:r>
              <a:rPr lang="en-US" sz="1700" dirty="0">
                <a:solidFill>
                  <a:schemeClr val="bg2"/>
                </a:solidFill>
                <a:latin typeface="Courier New" pitchFamily="34" charset="0"/>
                <a:ea typeface="Courier New" pitchFamily="34" charset="-122"/>
                <a:cs typeface="Courier New" pitchFamily="34" charset="-120"/>
              </a:rPr>
              <a:t>Signature : ________________________   « Tu as mieux dit ma pensée que moi. »</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3 · Le 39ᵉ stratagème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Text 3"/>
          <p:cNvSpPr txBox="1"/>
          <p:nvPr/>
        </p:nvSpPr>
        <p:spPr>
          <a:xfrm>
            <a:off x="457200" y="1188720"/>
            <a:ext cx="4023360" cy="2926080"/>
          </a:xfrm>
          <a:prstGeom prst="rect">
            <a:avLst/>
          </a:prstGeom>
          <a:noFill/>
          <a:ln/>
        </p:spPr>
        <p:txBody>
          <a:bodyPr wrap="square" lIns="0" tIns="0" rIns="0" bIns="0" rtlCol="0" anchor="t"/>
          <a:lstStyle/>
          <a:p>
            <a:pPr indent="0" marL="0">
              <a:buNone/>
            </a:pPr>
            <a:r>
              <a:rPr lang="en-US" sz="20000" dirty="0">
                <a:solidFill>
                  <a:schemeClr val="accent1"/>
                </a:solidFill>
                <a:latin typeface="Rockwell Extra Bold" pitchFamily="34" charset="0"/>
                <a:ea typeface="Rockwell Extra Bold" pitchFamily="34" charset="-122"/>
                <a:cs typeface="Rockwell Extra Bold" pitchFamily="34" charset="-120"/>
              </a:rPr>
              <a:t>39</a:t>
            </a:r>
            <a:endParaRPr lang="en-US" sz="20000" dirty="0"/>
          </a:p>
        </p:txBody>
      </p:sp>
      <p:sp>
        <p:nvSpPr>
          <p:cNvPr id="6" name="Text 4"/>
          <p:cNvSpPr txBox="1"/>
          <p:nvPr/>
        </p:nvSpPr>
        <p:spPr>
          <a:xfrm>
            <a:off x="548640" y="4114800"/>
            <a:ext cx="4023360" cy="164592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Schopenhauer s'est arrêté à 38 coups bas. Invente le 39ᵉ : un coup loyal qui fait gagner tout le monde.</a:t>
            </a:r>
            <a:endParaRPr lang="en-US" sz="1700" dirty="0"/>
          </a:p>
        </p:txBody>
      </p:sp>
      <p:sp>
        <p:nvSpPr>
          <p:cNvPr id="7" name="Shape 5"/>
          <p:cNvSpPr/>
          <p:nvPr/>
        </p:nvSpPr>
        <p:spPr>
          <a:xfrm>
            <a:off x="5029200" y="1371600"/>
            <a:ext cx="6583680" cy="4526280"/>
          </a:xfrm>
          <a:prstGeom prst="rect">
            <a:avLst/>
          </a:prstGeom>
          <a:solidFill>
            <a:schemeClr val="bg1"/>
          </a:solidFill>
          <a:ln w="25400">
            <a:solidFill>
              <a:schemeClr val="tx1"/>
            </a:solidFill>
            <a:prstDash val="solid"/>
          </a:ln>
        </p:spPr>
      </p:sp>
      <p:sp>
        <p:nvSpPr>
          <p:cNvPr id="8" name="Text 6"/>
          <p:cNvSpPr txBox="1"/>
          <p:nvPr/>
        </p:nvSpPr>
        <p:spPr>
          <a:xfrm>
            <a:off x="5303520" y="1554480"/>
            <a:ext cx="60350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Gabarit de la fiche</a:t>
            </a:r>
            <a:endParaRPr lang="en-US" sz="1900" dirty="0"/>
          </a:p>
        </p:txBody>
      </p:sp>
      <p:sp>
        <p:nvSpPr>
          <p:cNvPr id="9" name="Text 7"/>
          <p:cNvSpPr txBox="1"/>
          <p:nvPr/>
        </p:nvSpPr>
        <p:spPr>
          <a:xfrm>
            <a:off x="5303520" y="2148840"/>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Nom du stratagème</a:t>
            </a:r>
            <a:endParaRPr lang="en-US" sz="1600" dirty="0"/>
          </a:p>
        </p:txBody>
      </p:sp>
      <p:sp>
        <p:nvSpPr>
          <p:cNvPr id="10" name="Text 8"/>
          <p:cNvSpPr txBox="1"/>
          <p:nvPr/>
        </p:nvSpPr>
        <p:spPr>
          <a:xfrm>
            <a:off x="5303520" y="2478024"/>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un surnom mémorable (ex. « Le parapluie »)</a:t>
            </a:r>
            <a:endParaRPr lang="en-US" sz="1300" dirty="0"/>
          </a:p>
        </p:txBody>
      </p:sp>
      <p:sp>
        <p:nvSpPr>
          <p:cNvPr id="11" name="Shape 9"/>
          <p:cNvSpPr/>
          <p:nvPr/>
        </p:nvSpPr>
        <p:spPr>
          <a:xfrm>
            <a:off x="5303520" y="2898648"/>
            <a:ext cx="6035040" cy="0"/>
          </a:xfrm>
          <a:prstGeom prst="line">
            <a:avLst/>
          </a:prstGeom>
          <a:noFill/>
          <a:ln w="12700">
            <a:solidFill>
              <a:schemeClr val="tx1"/>
            </a:solidFill>
            <a:prstDash val="solid"/>
          </a:ln>
        </p:spPr>
      </p:sp>
      <p:sp>
        <p:nvSpPr>
          <p:cNvPr id="12" name="Text 10"/>
          <p:cNvSpPr txBox="1"/>
          <p:nvPr/>
        </p:nvSpPr>
        <p:spPr>
          <a:xfrm>
            <a:off x="5303520" y="3035808"/>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Quand l'utiliser</a:t>
            </a:r>
            <a:endParaRPr lang="en-US" sz="1600" dirty="0"/>
          </a:p>
        </p:txBody>
      </p:sp>
      <p:sp>
        <p:nvSpPr>
          <p:cNvPr id="13" name="Text 11"/>
          <p:cNvSpPr txBox="1"/>
          <p:nvPr/>
        </p:nvSpPr>
        <p:spPr>
          <a:xfrm>
            <a:off x="5303520" y="3364992"/>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la situation de débat où il sert</a:t>
            </a:r>
            <a:endParaRPr lang="en-US" sz="1300" dirty="0"/>
          </a:p>
        </p:txBody>
      </p:sp>
      <p:sp>
        <p:nvSpPr>
          <p:cNvPr id="14" name="Shape 12"/>
          <p:cNvSpPr/>
          <p:nvPr/>
        </p:nvSpPr>
        <p:spPr>
          <a:xfrm>
            <a:off x="5303520" y="3785616"/>
            <a:ext cx="6035040" cy="0"/>
          </a:xfrm>
          <a:prstGeom prst="line">
            <a:avLst/>
          </a:prstGeom>
          <a:noFill/>
          <a:ln w="12700">
            <a:solidFill>
              <a:schemeClr val="tx1"/>
            </a:solidFill>
            <a:prstDash val="solid"/>
          </a:ln>
        </p:spPr>
      </p:sp>
      <p:sp>
        <p:nvSpPr>
          <p:cNvPr id="15" name="Text 13"/>
          <p:cNvSpPr txBox="1"/>
          <p:nvPr/>
        </p:nvSpPr>
        <p:spPr>
          <a:xfrm>
            <a:off x="5303520" y="3922776"/>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Comment faire</a:t>
            </a:r>
            <a:endParaRPr lang="en-US" sz="1600" dirty="0"/>
          </a:p>
        </p:txBody>
      </p:sp>
      <p:sp>
        <p:nvSpPr>
          <p:cNvPr id="16" name="Text 14"/>
          <p:cNvSpPr txBox="1"/>
          <p:nvPr/>
        </p:nvSpPr>
        <p:spPr>
          <a:xfrm>
            <a:off x="5303520" y="4251960"/>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la phrase ou le geste exact</a:t>
            </a:r>
            <a:endParaRPr lang="en-US" sz="1300" dirty="0"/>
          </a:p>
        </p:txBody>
      </p:sp>
      <p:sp>
        <p:nvSpPr>
          <p:cNvPr id="17" name="Shape 15"/>
          <p:cNvSpPr/>
          <p:nvPr/>
        </p:nvSpPr>
        <p:spPr>
          <a:xfrm>
            <a:off x="5303520" y="4672584"/>
            <a:ext cx="6035040" cy="0"/>
          </a:xfrm>
          <a:prstGeom prst="line">
            <a:avLst/>
          </a:prstGeom>
          <a:noFill/>
          <a:ln w="12700">
            <a:solidFill>
              <a:schemeClr val="tx1"/>
            </a:solidFill>
            <a:prstDash val="solid"/>
          </a:ln>
        </p:spPr>
      </p:sp>
      <p:sp>
        <p:nvSpPr>
          <p:cNvPr id="18" name="Text 16"/>
          <p:cNvSpPr txBox="1"/>
          <p:nvPr/>
        </p:nvSpPr>
        <p:spPr>
          <a:xfrm>
            <a:off x="5303520" y="4809744"/>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Ce qu'il désamorce</a:t>
            </a:r>
            <a:endParaRPr lang="en-US" sz="1600" dirty="0"/>
          </a:p>
        </p:txBody>
      </p:sp>
      <p:sp>
        <p:nvSpPr>
          <p:cNvPr id="19" name="Text 17"/>
          <p:cNvSpPr txBox="1"/>
          <p:nvPr/>
        </p:nvSpPr>
        <p:spPr>
          <a:xfrm>
            <a:off x="5303520" y="5138928"/>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le coup bas (numéro) qu'il neutralise</a:t>
            </a:r>
            <a:endParaRPr lang="en-US" sz="1300" dirty="0"/>
          </a:p>
        </p:txBody>
      </p:sp>
      <p:sp>
        <p:nvSpPr>
          <p:cNvPr id="20" name="Shape 18"/>
          <p:cNvSpPr/>
          <p:nvPr/>
        </p:nvSpPr>
        <p:spPr>
          <a:xfrm>
            <a:off x="5303520" y="5559552"/>
            <a:ext cx="6035040" cy="0"/>
          </a:xfrm>
          <a:prstGeom prst="line">
            <a:avLst/>
          </a:prstGeom>
          <a:noFill/>
          <a:ln w="12700">
            <a:solidFill>
              <a:schemeClr val="tx1"/>
            </a:solidFill>
            <a:prstDash val="solid"/>
          </a:ln>
        </p:spPr>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4</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L'arène agréable</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Un vrai débat, avec un prix inattendu</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L'aquarium à jetons</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25 min</a:t>
            </a:r>
            <a:endParaRPr lang="en-US" sz="1400" dirty="0"/>
          </a:p>
        </p:txBody>
      </p:sp>
      <p:sp>
        <p:nvSpPr>
          <p:cNvPr id="5" name="Shape 3"/>
          <p:cNvSpPr/>
          <p:nvPr/>
        </p:nvSpPr>
        <p:spPr>
          <a:xfrm>
            <a:off x="548640" y="1371600"/>
            <a:ext cx="6949440" cy="1325880"/>
          </a:xfrm>
          <a:prstGeom prst="rect">
            <a:avLst/>
          </a:prstGeom>
          <a:solidFill>
            <a:schemeClr val="bg1"/>
          </a:solidFill>
          <a:ln w="25400">
            <a:solidFill>
              <a:schemeClr val="tx1"/>
            </a:solidFill>
            <a:prstDash val="solid"/>
          </a:ln>
        </p:spPr>
      </p:sp>
      <p:sp>
        <p:nvSpPr>
          <p:cNvPr id="6" name="Shape 4"/>
          <p:cNvSpPr/>
          <p:nvPr/>
        </p:nvSpPr>
        <p:spPr>
          <a:xfrm>
            <a:off x="731520" y="1737360"/>
            <a:ext cx="594360" cy="594360"/>
          </a:xfrm>
          <a:prstGeom prst="ellipse">
            <a:avLst/>
          </a:prstGeom>
          <a:solidFill>
            <a:schemeClr val="accent1"/>
          </a:solidFill>
          <a:ln w="19050">
            <a:solidFill>
              <a:schemeClr val="tx1"/>
            </a:solidFill>
            <a:prstDash val="solid"/>
          </a:ln>
        </p:spPr>
      </p:sp>
      <p:sp>
        <p:nvSpPr>
          <p:cNvPr id="7" name="Text 5"/>
          <p:cNvSpPr txBox="1"/>
          <p:nvPr/>
        </p:nvSpPr>
        <p:spPr>
          <a:xfrm>
            <a:off x="731520" y="173736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1</a:t>
            </a:r>
            <a:endParaRPr lang="en-US" sz="2200" dirty="0"/>
          </a:p>
        </p:txBody>
      </p:sp>
      <p:sp>
        <p:nvSpPr>
          <p:cNvPr id="8" name="Text 6"/>
          <p:cNvSpPr txBox="1"/>
          <p:nvPr/>
        </p:nvSpPr>
        <p:spPr>
          <a:xfrm>
            <a:off x="1554480" y="148132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 ticket d'entrée</a:t>
            </a:r>
            <a:endParaRPr lang="en-US" sz="1700" dirty="0"/>
          </a:p>
        </p:txBody>
      </p:sp>
      <p:sp>
        <p:nvSpPr>
          <p:cNvPr id="9" name="Text 7"/>
          <p:cNvSpPr txBox="1"/>
          <p:nvPr/>
        </p:nvSpPr>
        <p:spPr>
          <a:xfrm>
            <a:off x="1554480" y="187452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Pour parler, tu dois d'abord reformuler la personne précédente. Elle dit « oui » ou « presque ». Seul le « oui » ouvre ton micro.</a:t>
            </a:r>
            <a:endParaRPr lang="en-US" sz="1400" dirty="0"/>
          </a:p>
        </p:txBody>
      </p:sp>
      <p:sp>
        <p:nvSpPr>
          <p:cNvPr id="10" name="Shape 8"/>
          <p:cNvSpPr/>
          <p:nvPr/>
        </p:nvSpPr>
        <p:spPr>
          <a:xfrm>
            <a:off x="548640" y="2880360"/>
            <a:ext cx="6949440" cy="1325880"/>
          </a:xfrm>
          <a:prstGeom prst="rect">
            <a:avLst/>
          </a:prstGeom>
          <a:solidFill>
            <a:schemeClr val="bg1"/>
          </a:solidFill>
          <a:ln w="25400">
            <a:solidFill>
              <a:schemeClr val="tx1"/>
            </a:solidFill>
            <a:prstDash val="solid"/>
          </a:ln>
        </p:spPr>
      </p:sp>
      <p:sp>
        <p:nvSpPr>
          <p:cNvPr id="11" name="Shape 9"/>
          <p:cNvSpPr/>
          <p:nvPr/>
        </p:nvSpPr>
        <p:spPr>
          <a:xfrm>
            <a:off x="731520" y="3246120"/>
            <a:ext cx="594360" cy="594360"/>
          </a:xfrm>
          <a:prstGeom prst="ellipse">
            <a:avLst/>
          </a:prstGeom>
          <a:solidFill>
            <a:schemeClr val="accent1"/>
          </a:solidFill>
          <a:ln w="19050">
            <a:solidFill>
              <a:schemeClr val="tx1"/>
            </a:solidFill>
            <a:prstDash val="solid"/>
          </a:ln>
        </p:spPr>
      </p:sp>
      <p:sp>
        <p:nvSpPr>
          <p:cNvPr id="12" name="Text 10"/>
          <p:cNvSpPr txBox="1"/>
          <p:nvPr/>
        </p:nvSpPr>
        <p:spPr>
          <a:xfrm>
            <a:off x="731520" y="324612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2</a:t>
            </a:r>
            <a:endParaRPr lang="en-US" sz="2200" dirty="0"/>
          </a:p>
        </p:txBody>
      </p:sp>
      <p:sp>
        <p:nvSpPr>
          <p:cNvPr id="13" name="Text 11"/>
          <p:cNvSpPr txBox="1"/>
          <p:nvPr/>
        </p:nvSpPr>
        <p:spPr>
          <a:xfrm>
            <a:off x="1554480" y="299008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Les jetons</a:t>
            </a:r>
            <a:endParaRPr lang="en-US" sz="1700" dirty="0"/>
          </a:p>
        </p:txBody>
      </p:sp>
      <p:sp>
        <p:nvSpPr>
          <p:cNvPr id="14" name="Text 12"/>
          <p:cNvSpPr txBox="1"/>
          <p:nvPr/>
        </p:nvSpPr>
        <p:spPr>
          <a:xfrm>
            <a:off x="1554480" y="338328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 jetons par personne. Chaque intervention coûte un jeton. Les Bulldozers apprennent à choisir, les Tortues doivent dépenser les leurs.</a:t>
            </a:r>
            <a:endParaRPr lang="en-US" sz="1400" dirty="0"/>
          </a:p>
        </p:txBody>
      </p:sp>
      <p:sp>
        <p:nvSpPr>
          <p:cNvPr id="15" name="Shape 13"/>
          <p:cNvSpPr/>
          <p:nvPr/>
        </p:nvSpPr>
        <p:spPr>
          <a:xfrm>
            <a:off x="548640" y="4389120"/>
            <a:ext cx="6949440" cy="1325880"/>
          </a:xfrm>
          <a:prstGeom prst="rect">
            <a:avLst/>
          </a:prstGeom>
          <a:solidFill>
            <a:schemeClr val="bg1"/>
          </a:solidFill>
          <a:ln w="25400">
            <a:solidFill>
              <a:schemeClr val="tx1"/>
            </a:solidFill>
            <a:prstDash val="solid"/>
          </a:ln>
        </p:spPr>
      </p:sp>
      <p:sp>
        <p:nvSpPr>
          <p:cNvPr id="16" name="Shape 14"/>
          <p:cNvSpPr/>
          <p:nvPr/>
        </p:nvSpPr>
        <p:spPr>
          <a:xfrm>
            <a:off x="731520" y="4754880"/>
            <a:ext cx="594360" cy="594360"/>
          </a:xfrm>
          <a:prstGeom prst="ellipse">
            <a:avLst/>
          </a:prstGeom>
          <a:solidFill>
            <a:schemeClr val="accent1"/>
          </a:solidFill>
          <a:ln w="19050">
            <a:solidFill>
              <a:schemeClr val="tx1"/>
            </a:solidFill>
            <a:prstDash val="solid"/>
          </a:ln>
        </p:spPr>
      </p:sp>
      <p:sp>
        <p:nvSpPr>
          <p:cNvPr id="17" name="Text 15"/>
          <p:cNvSpPr txBox="1"/>
          <p:nvPr/>
        </p:nvSpPr>
        <p:spPr>
          <a:xfrm>
            <a:off x="731520" y="475488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3</a:t>
            </a:r>
            <a:endParaRPr lang="en-US" sz="2200" dirty="0"/>
          </a:p>
        </p:txBody>
      </p:sp>
      <p:sp>
        <p:nvSpPr>
          <p:cNvPr id="18" name="Text 16"/>
          <p:cNvSpPr txBox="1"/>
          <p:nvPr/>
        </p:nvSpPr>
        <p:spPr>
          <a:xfrm>
            <a:off x="1554480" y="449884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La chaise vide</a:t>
            </a:r>
            <a:endParaRPr lang="en-US" sz="1700" dirty="0"/>
          </a:p>
        </p:txBody>
      </p:sp>
      <p:sp>
        <p:nvSpPr>
          <p:cNvPr id="19" name="Text 17"/>
          <p:cNvSpPr txBox="1"/>
          <p:nvPr/>
        </p:nvSpPr>
        <p:spPr>
          <a:xfrm>
            <a:off x="1554480" y="489204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Une chaise libre dans le cercle : un observateur peut venir y faire une seule intervention, puis repartir.</a:t>
            </a:r>
            <a:endParaRPr lang="en-US" sz="1400" dirty="0"/>
          </a:p>
        </p:txBody>
      </p:sp>
      <p:sp>
        <p:nvSpPr>
          <p:cNvPr id="20" name="Shape 18"/>
          <p:cNvSpPr/>
          <p:nvPr/>
        </p:nvSpPr>
        <p:spPr>
          <a:xfrm>
            <a:off x="7863840" y="1371600"/>
            <a:ext cx="3749040" cy="4343400"/>
          </a:xfrm>
          <a:prstGeom prst="rect">
            <a:avLst/>
          </a:prstGeom>
          <a:solidFill>
            <a:schemeClr val="accent2"/>
          </a:solidFill>
          <a:ln w="25400">
            <a:solidFill>
              <a:schemeClr val="tx1"/>
            </a:solidFill>
            <a:prstDash val="solid"/>
          </a:ln>
        </p:spPr>
      </p:sp>
      <p:sp>
        <p:nvSpPr>
          <p:cNvPr id="21" name="Text 19"/>
          <p:cNvSpPr txBox="1"/>
          <p:nvPr/>
        </p:nvSpPr>
        <p:spPr>
          <a:xfrm>
            <a:off x="8092440" y="1554480"/>
            <a:ext cx="32918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Le prix surprise</a:t>
            </a:r>
            <a:endParaRPr lang="en-US" sz="2000" dirty="0"/>
          </a:p>
        </p:txBody>
      </p:sp>
      <p:sp>
        <p:nvSpPr>
          <p:cNvPr id="22" name="Text 20"/>
          <p:cNvSpPr txBox="1"/>
          <p:nvPr/>
        </p:nvSpPr>
        <p:spPr>
          <a:xfrm>
            <a:off x="8092440" y="2103120"/>
            <a:ext cx="3291840" cy="73152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Aucun vainqueur au contenu. Le jury remet deux prix :</a:t>
            </a:r>
            <a:endParaRPr lang="en-US" sz="1500" dirty="0"/>
          </a:p>
        </p:txBody>
      </p:sp>
      <p:sp>
        <p:nvSpPr>
          <p:cNvPr id="23" name="Text 21"/>
          <p:cNvSpPr txBox="1"/>
          <p:nvPr/>
        </p:nvSpPr>
        <p:spPr>
          <a:xfrm>
            <a:off x="8092440" y="2926080"/>
            <a:ext cx="3291840" cy="2651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L'homme d'acier d'or</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à la meilleure reformulation de l'adversaire</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 </a:t>
            </a:r>
            <a:endParaRPr lang="en-US" sz="1500" dirty="0"/>
          </a:p>
          <a:p>
            <a:pPr indent="0" marL="0">
              <a:buNone/>
            </a:pPr>
            <a:r>
              <a:rPr lang="en-US" sz="1500" b="1" dirty="0">
                <a:solidFill>
                  <a:schemeClr val="tx1"/>
                </a:solidFill>
                <a:latin typeface="Arial" pitchFamily="34" charset="0"/>
                <a:ea typeface="Arial" pitchFamily="34" charset="-122"/>
                <a:cs typeface="Arial" pitchFamily="34" charset="-120"/>
              </a:rPr>
              <a:t>La girouette courageuse</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à la personne qui a changé d'avis, et l'a dit</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La boîte à phrases qui désamorcent</a:t>
            </a:r>
            <a:endParaRPr lang="en-US" sz="3600" dirty="0"/>
          </a:p>
        </p:txBody>
      </p:sp>
      <p:sp>
        <p:nvSpPr>
          <p:cNvPr id="3" name="Shape 1"/>
          <p:cNvSpPr/>
          <p:nvPr/>
        </p:nvSpPr>
        <p:spPr>
          <a:xfrm>
            <a:off x="548640" y="1371600"/>
            <a:ext cx="5440680" cy="1005840"/>
          </a:xfrm>
          <a:prstGeom prst="rect">
            <a:avLst/>
          </a:prstGeom>
          <a:solidFill>
            <a:schemeClr val="bg1"/>
          </a:solidFill>
          <a:ln w="19050">
            <a:solidFill>
              <a:schemeClr val="tx1"/>
            </a:solidFill>
            <a:prstDash val="solid"/>
          </a:ln>
        </p:spPr>
      </p:sp>
      <p:sp>
        <p:nvSpPr>
          <p:cNvPr id="4" name="Text 2"/>
          <p:cNvSpPr txBox="1"/>
          <p:nvPr/>
        </p:nvSpPr>
        <p:spPr>
          <a:xfrm>
            <a:off x="731520" y="1463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Comprendre</a:t>
            </a:r>
            <a:endParaRPr lang="en-US" sz="1500" dirty="0"/>
          </a:p>
        </p:txBody>
      </p:sp>
      <p:sp>
        <p:nvSpPr>
          <p:cNvPr id="5" name="Text 3"/>
          <p:cNvSpPr txBox="1"/>
          <p:nvPr/>
        </p:nvSpPr>
        <p:spPr>
          <a:xfrm>
            <a:off x="2468880" y="1463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Si je te comprends bien, tu dis que… c'est ça? »</a:t>
            </a:r>
            <a:endParaRPr lang="en-US" sz="1500" dirty="0"/>
          </a:p>
        </p:txBody>
      </p:sp>
      <p:sp>
        <p:nvSpPr>
          <p:cNvPr id="6" name="Shape 4"/>
          <p:cNvSpPr/>
          <p:nvPr/>
        </p:nvSpPr>
        <p:spPr>
          <a:xfrm>
            <a:off x="6126480" y="1371600"/>
            <a:ext cx="5440680" cy="1005840"/>
          </a:xfrm>
          <a:prstGeom prst="rect">
            <a:avLst/>
          </a:prstGeom>
          <a:solidFill>
            <a:schemeClr val="bg1"/>
          </a:solidFill>
          <a:ln w="19050">
            <a:solidFill>
              <a:schemeClr val="tx1"/>
            </a:solidFill>
            <a:prstDash val="solid"/>
          </a:ln>
        </p:spPr>
      </p:sp>
      <p:sp>
        <p:nvSpPr>
          <p:cNvPr id="7" name="Text 5"/>
          <p:cNvSpPr txBox="1"/>
          <p:nvPr/>
        </p:nvSpPr>
        <p:spPr>
          <a:xfrm>
            <a:off x="6309360" y="1463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Ouvrir</a:t>
            </a:r>
            <a:endParaRPr lang="en-US" sz="1500" dirty="0"/>
          </a:p>
        </p:txBody>
      </p:sp>
      <p:sp>
        <p:nvSpPr>
          <p:cNvPr id="8" name="Text 6"/>
          <p:cNvSpPr txBox="1"/>
          <p:nvPr/>
        </p:nvSpPr>
        <p:spPr>
          <a:xfrm>
            <a:off x="8046720" y="1463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Qu'est-ce qui pourrait te faire changer d'idée? »</a:t>
            </a:r>
            <a:endParaRPr lang="en-US" sz="1500" dirty="0"/>
          </a:p>
        </p:txBody>
      </p:sp>
      <p:sp>
        <p:nvSpPr>
          <p:cNvPr id="9" name="Shape 7"/>
          <p:cNvSpPr/>
          <p:nvPr/>
        </p:nvSpPr>
        <p:spPr>
          <a:xfrm>
            <a:off x="548640" y="2514600"/>
            <a:ext cx="5440680" cy="1005840"/>
          </a:xfrm>
          <a:prstGeom prst="rect">
            <a:avLst/>
          </a:prstGeom>
          <a:solidFill>
            <a:schemeClr val="bg1"/>
          </a:solidFill>
          <a:ln w="19050">
            <a:solidFill>
              <a:schemeClr val="tx1"/>
            </a:solidFill>
            <a:prstDash val="solid"/>
          </a:ln>
        </p:spPr>
      </p:sp>
      <p:sp>
        <p:nvSpPr>
          <p:cNvPr id="10" name="Text 8"/>
          <p:cNvSpPr txBox="1"/>
          <p:nvPr/>
        </p:nvSpPr>
        <p:spPr>
          <a:xfrm>
            <a:off x="731520" y="2606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Cartographier</a:t>
            </a:r>
            <a:endParaRPr lang="en-US" sz="1500" dirty="0"/>
          </a:p>
        </p:txBody>
      </p:sp>
      <p:sp>
        <p:nvSpPr>
          <p:cNvPr id="11" name="Text 9"/>
          <p:cNvSpPr txBox="1"/>
          <p:nvPr/>
        </p:nvSpPr>
        <p:spPr>
          <a:xfrm>
            <a:off x="2468880" y="2606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On est d'accord sur ___. On diffère sur ___. »</a:t>
            </a:r>
            <a:endParaRPr lang="en-US" sz="1500" dirty="0"/>
          </a:p>
        </p:txBody>
      </p:sp>
      <p:sp>
        <p:nvSpPr>
          <p:cNvPr id="12" name="Shape 10"/>
          <p:cNvSpPr/>
          <p:nvPr/>
        </p:nvSpPr>
        <p:spPr>
          <a:xfrm>
            <a:off x="6126480" y="2514600"/>
            <a:ext cx="5440680" cy="1005840"/>
          </a:xfrm>
          <a:prstGeom prst="rect">
            <a:avLst/>
          </a:prstGeom>
          <a:solidFill>
            <a:schemeClr val="bg1"/>
          </a:solidFill>
          <a:ln w="19050">
            <a:solidFill>
              <a:schemeClr val="tx1"/>
            </a:solidFill>
            <a:prstDash val="solid"/>
          </a:ln>
        </p:spPr>
      </p:sp>
      <p:sp>
        <p:nvSpPr>
          <p:cNvPr id="13" name="Text 11"/>
          <p:cNvSpPr txBox="1"/>
          <p:nvPr/>
        </p:nvSpPr>
        <p:spPr>
          <a:xfrm>
            <a:off x="6309360" y="2606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Reconnaître</a:t>
            </a:r>
            <a:endParaRPr lang="en-US" sz="1500" dirty="0"/>
          </a:p>
        </p:txBody>
      </p:sp>
      <p:sp>
        <p:nvSpPr>
          <p:cNvPr id="14" name="Text 12"/>
          <p:cNvSpPr txBox="1"/>
          <p:nvPr/>
        </p:nvSpPr>
        <p:spPr>
          <a:xfrm>
            <a:off x="8046720" y="2606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Bon point. Je n'y avais pas pensé. »</a:t>
            </a:r>
            <a:endParaRPr lang="en-US" sz="1500" dirty="0"/>
          </a:p>
        </p:txBody>
      </p:sp>
      <p:sp>
        <p:nvSpPr>
          <p:cNvPr id="15" name="Shape 13"/>
          <p:cNvSpPr/>
          <p:nvPr/>
        </p:nvSpPr>
        <p:spPr>
          <a:xfrm>
            <a:off x="548640" y="3657600"/>
            <a:ext cx="5440680" cy="1005840"/>
          </a:xfrm>
          <a:prstGeom prst="rect">
            <a:avLst/>
          </a:prstGeom>
          <a:solidFill>
            <a:schemeClr val="bg1"/>
          </a:solidFill>
          <a:ln w="19050">
            <a:solidFill>
              <a:schemeClr val="tx1"/>
            </a:solidFill>
            <a:prstDash val="solid"/>
          </a:ln>
        </p:spPr>
      </p:sp>
      <p:sp>
        <p:nvSpPr>
          <p:cNvPr id="16" name="Text 14"/>
          <p:cNvSpPr txBox="1"/>
          <p:nvPr/>
        </p:nvSpPr>
        <p:spPr>
          <a:xfrm>
            <a:off x="731520" y="3749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S'opposer</a:t>
            </a:r>
            <a:endParaRPr lang="en-US" sz="1500" dirty="0"/>
          </a:p>
        </p:txBody>
      </p:sp>
      <p:sp>
        <p:nvSpPr>
          <p:cNvPr id="17" name="Text 15"/>
          <p:cNvSpPr txBox="1"/>
          <p:nvPr/>
        </p:nvSpPr>
        <p:spPr>
          <a:xfrm>
            <a:off x="2468880" y="3749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vois ça autrement. Je t'explique? »</a:t>
            </a:r>
            <a:endParaRPr lang="en-US" sz="1500" dirty="0"/>
          </a:p>
        </p:txBody>
      </p:sp>
      <p:sp>
        <p:nvSpPr>
          <p:cNvPr id="18" name="Shape 16"/>
          <p:cNvSpPr/>
          <p:nvPr/>
        </p:nvSpPr>
        <p:spPr>
          <a:xfrm>
            <a:off x="6126480" y="3657600"/>
            <a:ext cx="5440680" cy="1005840"/>
          </a:xfrm>
          <a:prstGeom prst="rect">
            <a:avLst/>
          </a:prstGeom>
          <a:solidFill>
            <a:schemeClr val="bg1"/>
          </a:solidFill>
          <a:ln w="19050">
            <a:solidFill>
              <a:schemeClr val="tx1"/>
            </a:solidFill>
            <a:prstDash val="solid"/>
          </a:ln>
        </p:spPr>
      </p:sp>
      <p:sp>
        <p:nvSpPr>
          <p:cNvPr id="19" name="Text 17"/>
          <p:cNvSpPr txBox="1"/>
          <p:nvPr/>
        </p:nvSpPr>
        <p:spPr>
          <a:xfrm>
            <a:off x="6309360" y="3749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Sonder</a:t>
            </a:r>
            <a:endParaRPr lang="en-US" sz="1500" dirty="0"/>
          </a:p>
        </p:txBody>
      </p:sp>
      <p:sp>
        <p:nvSpPr>
          <p:cNvPr id="20" name="Text 18"/>
          <p:cNvSpPr txBox="1"/>
          <p:nvPr/>
        </p:nvSpPr>
        <p:spPr>
          <a:xfrm>
            <a:off x="8046720" y="3749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Sur quoi tu t'appuies? Ça m'intéresse. »</a:t>
            </a:r>
            <a:endParaRPr lang="en-US" sz="1500" dirty="0"/>
          </a:p>
        </p:txBody>
      </p:sp>
      <p:sp>
        <p:nvSpPr>
          <p:cNvPr id="21" name="Shape 19"/>
          <p:cNvSpPr/>
          <p:nvPr/>
        </p:nvSpPr>
        <p:spPr>
          <a:xfrm>
            <a:off x="548640" y="4800600"/>
            <a:ext cx="5440680" cy="1005840"/>
          </a:xfrm>
          <a:prstGeom prst="rect">
            <a:avLst/>
          </a:prstGeom>
          <a:solidFill>
            <a:schemeClr val="bg1"/>
          </a:solidFill>
          <a:ln w="19050">
            <a:solidFill>
              <a:schemeClr val="tx1"/>
            </a:solidFill>
            <a:prstDash val="solid"/>
          </a:ln>
        </p:spPr>
      </p:sp>
      <p:sp>
        <p:nvSpPr>
          <p:cNvPr id="22" name="Text 20"/>
          <p:cNvSpPr txBox="1"/>
          <p:nvPr/>
        </p:nvSpPr>
        <p:spPr>
          <a:xfrm>
            <a:off x="731520" y="4892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Ralentir</a:t>
            </a:r>
            <a:endParaRPr lang="en-US" sz="1500" dirty="0"/>
          </a:p>
        </p:txBody>
      </p:sp>
      <p:sp>
        <p:nvSpPr>
          <p:cNvPr id="23" name="Text 21"/>
          <p:cNvSpPr txBox="1"/>
          <p:nvPr/>
        </p:nvSpPr>
        <p:spPr>
          <a:xfrm>
            <a:off x="2468880" y="4892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sens que ça monte. On prend 10 secondes? »</a:t>
            </a:r>
            <a:endParaRPr lang="en-US" sz="1500" dirty="0"/>
          </a:p>
        </p:txBody>
      </p:sp>
      <p:sp>
        <p:nvSpPr>
          <p:cNvPr id="24" name="Shape 22"/>
          <p:cNvSpPr/>
          <p:nvPr/>
        </p:nvSpPr>
        <p:spPr>
          <a:xfrm>
            <a:off x="6126480" y="4800600"/>
            <a:ext cx="5440680" cy="1005840"/>
          </a:xfrm>
          <a:prstGeom prst="rect">
            <a:avLst/>
          </a:prstGeom>
          <a:solidFill>
            <a:schemeClr val="accent2"/>
          </a:solidFill>
          <a:ln w="19050">
            <a:solidFill>
              <a:schemeClr val="tx1"/>
            </a:solidFill>
            <a:prstDash val="solid"/>
          </a:ln>
        </p:spPr>
      </p:sp>
      <p:sp>
        <p:nvSpPr>
          <p:cNvPr id="25" name="Text 23"/>
          <p:cNvSpPr txBox="1"/>
          <p:nvPr/>
        </p:nvSpPr>
        <p:spPr>
          <a:xfrm>
            <a:off x="6309360" y="4892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Céder</a:t>
            </a:r>
            <a:endParaRPr lang="en-US" sz="1500" dirty="0"/>
          </a:p>
        </p:txBody>
      </p:sp>
      <p:sp>
        <p:nvSpPr>
          <p:cNvPr id="26" name="Text 24"/>
          <p:cNvSpPr txBox="1"/>
          <p:nvPr/>
        </p:nvSpPr>
        <p:spPr>
          <a:xfrm>
            <a:off x="8046720" y="4892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pense que j'avais tort sur ce bout-là. »</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Billet de sortie 3 · 2 · 1</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7 min</a:t>
            </a:r>
            <a:endParaRPr lang="en-US" sz="1400" dirty="0"/>
          </a:p>
        </p:txBody>
      </p:sp>
      <p:sp>
        <p:nvSpPr>
          <p:cNvPr id="5" name="Shape 3"/>
          <p:cNvSpPr/>
          <p:nvPr/>
        </p:nvSpPr>
        <p:spPr>
          <a:xfrm>
            <a:off x="548640" y="1463040"/>
            <a:ext cx="3566160" cy="3931920"/>
          </a:xfrm>
          <a:prstGeom prst="rect">
            <a:avLst/>
          </a:prstGeom>
          <a:solidFill>
            <a:schemeClr val="accent1"/>
          </a:solidFill>
          <a:ln w="25400">
            <a:solidFill>
              <a:schemeClr val="tx1"/>
            </a:solidFill>
            <a:prstDash val="solid"/>
          </a:ln>
        </p:spPr>
      </p:sp>
      <p:sp>
        <p:nvSpPr>
          <p:cNvPr id="6" name="Text 4"/>
          <p:cNvSpPr txBox="1"/>
          <p:nvPr/>
        </p:nvSpPr>
        <p:spPr>
          <a:xfrm>
            <a:off x="822960" y="1600200"/>
            <a:ext cx="3017520" cy="1920240"/>
          </a:xfrm>
          <a:prstGeom prst="rect">
            <a:avLst/>
          </a:prstGeom>
          <a:noFill/>
          <a:ln/>
        </p:spPr>
        <p:txBody>
          <a:bodyPr wrap="square" lIns="0" tIns="0" rIns="0" bIns="0" rtlCol="0" anchor="t"/>
          <a:lstStyle/>
          <a:p>
            <a:pPr indent="0" marL="0">
              <a:buNone/>
            </a:pPr>
            <a:r>
              <a:rPr lang="en-US" sz="13000" dirty="0">
                <a:solidFill>
                  <a:schemeClr val="bg2"/>
                </a:solidFill>
                <a:latin typeface="Rockwell Extra Bold" pitchFamily="34" charset="0"/>
                <a:ea typeface="Rockwell Extra Bold" pitchFamily="34" charset="-122"/>
                <a:cs typeface="Rockwell Extra Bold" pitchFamily="34" charset="-120"/>
              </a:rPr>
              <a:t>3</a:t>
            </a:r>
            <a:endParaRPr lang="en-US" sz="13000" dirty="0"/>
          </a:p>
        </p:txBody>
      </p:sp>
      <p:sp>
        <p:nvSpPr>
          <p:cNvPr id="7" name="Text 5"/>
          <p:cNvSpPr txBox="1"/>
          <p:nvPr/>
        </p:nvSpPr>
        <p:spPr>
          <a:xfrm>
            <a:off x="822960" y="3657600"/>
            <a:ext cx="3017520" cy="1463040"/>
          </a:xfrm>
          <a:prstGeom prst="rect">
            <a:avLst/>
          </a:prstGeom>
          <a:noFill/>
          <a:ln/>
        </p:spPr>
        <p:txBody>
          <a:bodyPr wrap="square" lIns="0" tIns="0" rIns="0" bIns="0" rtlCol="0" anchor="t"/>
          <a:lstStyle/>
          <a:p>
            <a:pPr indent="0" marL="0">
              <a:buNone/>
            </a:pPr>
            <a:r>
              <a:rPr lang="en-US" sz="1900" b="1" dirty="0">
                <a:solidFill>
                  <a:schemeClr val="bg2"/>
                </a:solidFill>
                <a:latin typeface="Arial" pitchFamily="34" charset="0"/>
                <a:ea typeface="Arial" pitchFamily="34" charset="-122"/>
                <a:cs typeface="Arial" pitchFamily="34" charset="-120"/>
              </a:rPr>
              <a:t>coups bas que je reconnaîtrai maintenant</a:t>
            </a:r>
            <a:endParaRPr lang="en-US" sz="1900" dirty="0"/>
          </a:p>
        </p:txBody>
      </p:sp>
      <p:sp>
        <p:nvSpPr>
          <p:cNvPr id="8" name="Shape 6"/>
          <p:cNvSpPr/>
          <p:nvPr/>
        </p:nvSpPr>
        <p:spPr>
          <a:xfrm>
            <a:off x="4279392" y="1463040"/>
            <a:ext cx="3566160" cy="3931920"/>
          </a:xfrm>
          <a:prstGeom prst="rect">
            <a:avLst/>
          </a:prstGeom>
          <a:solidFill>
            <a:schemeClr val="accent2"/>
          </a:solidFill>
          <a:ln w="25400">
            <a:solidFill>
              <a:schemeClr val="tx1"/>
            </a:solidFill>
            <a:prstDash val="solid"/>
          </a:ln>
        </p:spPr>
      </p:sp>
      <p:sp>
        <p:nvSpPr>
          <p:cNvPr id="9" name="Text 7"/>
          <p:cNvSpPr txBox="1"/>
          <p:nvPr/>
        </p:nvSpPr>
        <p:spPr>
          <a:xfrm>
            <a:off x="4553712" y="1600200"/>
            <a:ext cx="3017520" cy="1920240"/>
          </a:xfrm>
          <a:prstGeom prst="rect">
            <a:avLst/>
          </a:prstGeom>
          <a:noFill/>
          <a:ln/>
        </p:spPr>
        <p:txBody>
          <a:bodyPr wrap="square" lIns="0" tIns="0" rIns="0" bIns="0" rtlCol="0" anchor="t"/>
          <a:lstStyle/>
          <a:p>
            <a:pPr indent="0" marL="0">
              <a:buNone/>
            </a:pPr>
            <a:r>
              <a:rPr lang="en-US" sz="13000" dirty="0">
                <a:solidFill>
                  <a:schemeClr val="tx1"/>
                </a:solidFill>
                <a:latin typeface="Rockwell Extra Bold" pitchFamily="34" charset="0"/>
                <a:ea typeface="Rockwell Extra Bold" pitchFamily="34" charset="-122"/>
                <a:cs typeface="Rockwell Extra Bold" pitchFamily="34" charset="-120"/>
              </a:rPr>
              <a:t>2</a:t>
            </a:r>
            <a:endParaRPr lang="en-US" sz="13000" dirty="0"/>
          </a:p>
        </p:txBody>
      </p:sp>
      <p:sp>
        <p:nvSpPr>
          <p:cNvPr id="10" name="Text 8"/>
          <p:cNvSpPr txBox="1"/>
          <p:nvPr/>
        </p:nvSpPr>
        <p:spPr>
          <a:xfrm>
            <a:off x="4553712" y="3657600"/>
            <a:ext cx="3017520" cy="146304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phrases de la boîte que je vais essayer cette semaine</a:t>
            </a:r>
            <a:endParaRPr lang="en-US" sz="1900" dirty="0"/>
          </a:p>
        </p:txBody>
      </p:sp>
      <p:sp>
        <p:nvSpPr>
          <p:cNvPr id="11" name="Shape 9"/>
          <p:cNvSpPr/>
          <p:nvPr/>
        </p:nvSpPr>
        <p:spPr>
          <a:xfrm>
            <a:off x="8010144" y="1463040"/>
            <a:ext cx="3566160" cy="3931920"/>
          </a:xfrm>
          <a:prstGeom prst="rect">
            <a:avLst/>
          </a:prstGeom>
          <a:solidFill>
            <a:schemeClr val="tx1"/>
          </a:solidFill>
          <a:ln w="25400">
            <a:solidFill>
              <a:schemeClr val="tx1"/>
            </a:solidFill>
            <a:prstDash val="solid"/>
          </a:ln>
        </p:spPr>
      </p:sp>
      <p:sp>
        <p:nvSpPr>
          <p:cNvPr id="12" name="Text 10"/>
          <p:cNvSpPr txBox="1"/>
          <p:nvPr/>
        </p:nvSpPr>
        <p:spPr>
          <a:xfrm>
            <a:off x="8284464" y="1600200"/>
            <a:ext cx="3017520" cy="1920240"/>
          </a:xfrm>
          <a:prstGeom prst="rect">
            <a:avLst/>
          </a:prstGeom>
          <a:noFill/>
          <a:ln/>
        </p:spPr>
        <p:txBody>
          <a:bodyPr wrap="square" lIns="0" tIns="0" rIns="0" bIns="0" rtlCol="0" anchor="t"/>
          <a:lstStyle/>
          <a:p>
            <a:pPr indent="0" marL="0">
              <a:buNone/>
            </a:pPr>
            <a:r>
              <a:rPr lang="en-US" sz="13000" dirty="0">
                <a:solidFill>
                  <a:schemeClr val="bg2"/>
                </a:solidFill>
                <a:latin typeface="Rockwell Extra Bold" pitchFamily="34" charset="0"/>
                <a:ea typeface="Rockwell Extra Bold" pitchFamily="34" charset="-122"/>
                <a:cs typeface="Rockwell Extra Bold" pitchFamily="34" charset="-120"/>
              </a:rPr>
              <a:t>1</a:t>
            </a:r>
            <a:endParaRPr lang="en-US" sz="13000" dirty="0"/>
          </a:p>
        </p:txBody>
      </p:sp>
      <p:sp>
        <p:nvSpPr>
          <p:cNvPr id="13" name="Text 11"/>
          <p:cNvSpPr txBox="1"/>
          <p:nvPr/>
        </p:nvSpPr>
        <p:spPr>
          <a:xfrm>
            <a:off x="8284464" y="3657600"/>
            <a:ext cx="3017520" cy="1463040"/>
          </a:xfrm>
          <a:prstGeom prst="rect">
            <a:avLst/>
          </a:prstGeom>
          <a:noFill/>
          <a:ln/>
        </p:spPr>
        <p:txBody>
          <a:bodyPr wrap="square" lIns="0" tIns="0" rIns="0" bIns="0" rtlCol="0" anchor="t"/>
          <a:lstStyle/>
          <a:p>
            <a:pPr indent="0" marL="0">
              <a:buNone/>
            </a:pPr>
            <a:r>
              <a:rPr lang="en-US" sz="1900" b="1" dirty="0">
                <a:solidFill>
                  <a:schemeClr val="bg2"/>
                </a:solidFill>
                <a:latin typeface="Arial" pitchFamily="34" charset="0"/>
                <a:ea typeface="Arial" pitchFamily="34" charset="-122"/>
                <a:cs typeface="Arial" pitchFamily="34" charset="-120"/>
              </a:rPr>
              <a:t>créature que je veux arrêter d'être</a:t>
            </a:r>
            <a:endParaRPr lang="en-US" sz="1900" dirty="0"/>
          </a:p>
        </p:txBody>
      </p:sp>
      <p:sp>
        <p:nvSpPr>
          <p:cNvPr id="14" name="Text 12"/>
          <p:cNvSpPr txBox="1"/>
          <p:nvPr/>
        </p:nvSpPr>
        <p:spPr>
          <a:xfrm>
            <a:off x="548640" y="5577840"/>
            <a:ext cx="11064240" cy="548640"/>
          </a:xfrm>
          <a:prstGeom prst="rect">
            <a:avLst/>
          </a:prstGeom>
          <a:noFill/>
          <a:ln/>
        </p:spPr>
        <p:txBody>
          <a:bodyPr wrap="square" lIns="0" tIns="0" rIns="0" bIns="0" rtlCol="0" anchor="t"/>
          <a:lstStyle/>
          <a:p>
            <a:pPr indent="0" marL="0">
              <a:buNone/>
            </a:pPr>
            <a:r>
              <a:rPr lang="en-US" sz="1500" i="1" dirty="0">
                <a:solidFill>
                  <a:schemeClr val="tx2"/>
                </a:solidFill>
                <a:latin typeface="Arial" pitchFamily="34" charset="0"/>
                <a:ea typeface="Arial" pitchFamily="34" charset="-122"/>
                <a:cs typeface="Arial" pitchFamily="34" charset="-120"/>
              </a:rPr>
              <a:t>Puis : choisis un papillon du mur des cicatrices et écris au verso ce qui aurait pu sauver l'amitié.</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680960" cy="3840480"/>
          </a:xfrm>
          <a:prstGeom prst="rect">
            <a:avLst/>
          </a:prstGeom>
          <a:noFill/>
          <a:ln/>
        </p:spPr>
        <p:txBody>
          <a:bodyPr wrap="square" lIns="0" tIns="0" rIns="0" bIns="0" rtlCol="0" anchor="t"/>
          <a:lstStyle/>
          <a:p>
            <a:pPr algn="l" indent="0" marL="0">
              <a:lnSpc>
                <a:spcPct val="85000"/>
              </a:lnSpc>
              <a:buNone/>
            </a:pPr>
            <a:r>
              <a:rPr lang="en-US" sz="6600" dirty="0">
                <a:solidFill>
                  <a:schemeClr val="accent1"/>
                </a:solidFill>
              </a:rPr>
              <a:t>Débattre fort.</a:t>
            </a:r>
            <a:endParaRPr lang="en-US" sz="6600" dirty="0"/>
          </a:p>
          <a:p>
            <a:pPr algn="l" indent="0" marL="0">
              <a:lnSpc>
                <a:spcPct val="85000"/>
              </a:lnSpc>
              <a:buNone/>
            </a:pPr>
            <a:r>
              <a:rPr lang="en-US" sz="6600" dirty="0">
                <a:solidFill>
                  <a:schemeClr val="accent1"/>
                </a:solidFill>
              </a:rPr>
              <a:t>Débattre juste.</a:t>
            </a:r>
            <a:endParaRPr lang="en-US" sz="6600" dirty="0"/>
          </a:p>
          <a:p>
            <a:pPr algn="l" indent="0" marL="0">
              <a:lnSpc>
                <a:spcPct val="85000"/>
              </a:lnSpc>
              <a:buNone/>
            </a:pPr>
            <a:r>
              <a:rPr lang="en-US" sz="6600" dirty="0">
                <a:solidFill>
                  <a:schemeClr val="accent1"/>
                </a:solidFill>
              </a:rPr>
              <a:t>Personne blessé·e.</a:t>
            </a:r>
            <a:endParaRPr lang="en-US" sz="6600" dirty="0"/>
          </a:p>
        </p:txBody>
      </p:sp>
      <p:pic>
        <p:nvPicPr>
          <p:cNvPr id="3" name="Image 0" descr="preencoded.png">    </p:cNvPr>
          <p:cNvPicPr>
            <a:picLocks noChangeAspect="1"/>
          </p:cNvPicPr>
          <p:nvPr/>
        </p:nvPicPr>
        <p:blipFill>
          <a:blip r:embed="rId1"/>
          <a:stretch>
            <a:fillRect/>
          </a:stretch>
        </p:blipFill>
        <p:spPr>
          <a:xfrm rot="-360000">
            <a:off x="7863840" y="457200"/>
            <a:ext cx="1920240" cy="2331720"/>
          </a:xfrm>
          <a:prstGeom prst="rect">
            <a:avLst/>
          </a:prstGeom>
        </p:spPr>
      </p:pic>
      <p:pic>
        <p:nvPicPr>
          <p:cNvPr id="4" name="Image 1" descr="preencoded.png">    </p:cNvPr>
          <p:cNvPicPr>
            <a:picLocks noChangeAspect="1"/>
          </p:cNvPicPr>
          <p:nvPr/>
        </p:nvPicPr>
        <p:blipFill>
          <a:blip r:embed="rId2"/>
          <a:stretch>
            <a:fillRect/>
          </a:stretch>
        </p:blipFill>
        <p:spPr>
          <a:xfrm rot="360000">
            <a:off x="9692640" y="1005840"/>
            <a:ext cx="1920240" cy="2331720"/>
          </a:xfrm>
          <a:prstGeom prst="rect">
            <a:avLst/>
          </a:prstGeom>
        </p:spPr>
      </p:pic>
      <p:sp>
        <p:nvSpPr>
          <p:cNvPr id="5" name="Text 1"/>
          <p:cNvSpPr txBox="1"/>
          <p:nvPr/>
        </p:nvSpPr>
        <p:spPr>
          <a:xfrm>
            <a:off x="548640" y="548640"/>
            <a:ext cx="6949440" cy="100584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Le but n'est pas d'avoir raison contre quelqu'un, c'est d'avoir un peu plus raison ensemble.</a:t>
            </a:r>
            <a:endParaRPr lang="en-US" sz="1800" dirty="0"/>
          </a:p>
        </p:txBody>
      </p:sp>
      <p:sp>
        <p:nvSpPr>
          <p:cNvPr id="6" name="Text 2"/>
          <p:cNvSpPr txBox="1"/>
          <p:nvPr/>
        </p:nvSpPr>
        <p:spPr>
          <a:xfrm>
            <a:off x="7863840" y="3566160"/>
            <a:ext cx="3840480" cy="2651760"/>
          </a:xfrm>
          <a:prstGeom prst="rect">
            <a:avLst/>
          </a:prstGeom>
          <a:noFill/>
          <a:ln/>
        </p:spPr>
        <p:txBody>
          <a:bodyPr wrap="square" lIns="0" tIns="0" rIns="0" bIns="0" rtlCol="0" anchor="t"/>
          <a:lstStyle/>
          <a:p>
            <a:pPr indent="0" marL="0">
              <a:buNone/>
            </a:pPr>
            <a:r>
              <a:rPr lang="en-US" sz="1100" dirty="0">
                <a:solidFill>
                  <a:schemeClr val="tx2"/>
                </a:solidFill>
                <a:latin typeface="Arial" pitchFamily="34" charset="0"/>
                <a:ea typeface="Arial" pitchFamily="34" charset="-122"/>
                <a:cs typeface="Arial" pitchFamily="34" charset="-120"/>
              </a:rPr>
              <a:t>Sources : A. Schopenhauer, L'Art d'avoir toujours raison · P. Graham, How to Disagree (2008) · D. Dennett, Intuition Pumps (2013) · R. Fisher et W. Ury, Getting to Yes · A. Fluegelman, The New Games Book (1976)</a:t>
            </a:r>
            <a:endParaRPr lang="en-US" sz="1100" dirty="0"/>
          </a:p>
        </p:txBody>
      </p:sp>
    </p:spTree>
  </p:cSld>
  <p:clrMapOvr>
    <a:masterClrMapping/>
  </p:clrMapOvr>
</p:sld>
</file>

<file path=ppt/theme/theme1.xml><?xml version="1.0" encoding="utf-8"?>
<a:theme xmlns:a="http://schemas.openxmlformats.org/drawingml/2006/main" name="Nouveau livre du debat">
  <a:themeElements>
    <a:clrScheme name="Nouveau livre du debat">
      <a:dk1>
        <a:srgbClr val="1B1714"/>
      </a:dk1>
      <a:lt1>
        <a:srgbClr val="FFFFFF"/>
      </a:lt1>
      <a:dk2>
        <a:srgbClr val="6B4B10"/>
      </a:dk2>
      <a:lt2>
        <a:srgbClr val="EFE6D1"/>
      </a:lt2>
      <a:accent1>
        <a:srgbClr val="D2232A"/>
      </a:accent1>
      <a:accent2>
        <a:srgbClr val="F0A12E"/>
      </a:accent2>
      <a:accent3>
        <a:srgbClr val="1B1714"/>
      </a:accent3>
      <a:accent4>
        <a:srgbClr val="8C1A1F"/>
      </a:accent4>
      <a:accent5>
        <a:srgbClr val="C9B994"/>
      </a:accent5>
      <a:accent6>
        <a:srgbClr val="3E6E5A"/>
      </a:accent6>
      <a:hlink>
        <a:srgbClr val="D2232A"/>
      </a:hlink>
      <a:folHlink>
        <a:srgbClr val="6B4B10"/>
      </a:folHlink>
    </a:clrScheme>
    <a:fontScheme name="Nouveau livre du debat">
      <a:majorFont>
        <a:latin typeface="Rockwell Extra 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 nouveau livre du débat : la confrontation agréable</dc:title>
  <dc:subject>PptxGenJS Presentation</dc:subject>
  <dc:creator>Séminaire pédagonumérique</dc:creator>
  <cp:lastModifiedBy>Séminaire pédagonumérique</cp:lastModifiedBy>
  <cp:revision>1</cp:revision>
  <dcterms:created xsi:type="dcterms:W3CDTF">2026-10-12T00:51:34Z</dcterms:created>
  <dcterms:modified xsi:type="dcterms:W3CDTF">2026-10-12T00:51:34Z</dcterms:modified>
</cp:coreProperties>
</file>