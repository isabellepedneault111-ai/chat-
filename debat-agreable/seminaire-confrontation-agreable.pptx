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3b0c539-ae22-3b4a-6f5d-3a4725374044}">
          <p14:sldIdLst>
            <p14:sldId id="256"/>
            <p14:sldId id="257"/>
            <p14:sldId id="258"/>
          </p14:sldIdLst>
        </p14:section>
        <p14:section name="Échauffement" id="{7bb9f6bd-8994-28b5-8dd0-8f16f7ab29aa}">
          <p14:sldIdLst>
            <p14:sldId id="259"/>
            <p14:sldId id="260"/>
            <p14:sldId id="261"/>
            <p14:sldId id="262"/>
          </p14:sldIdLst>
        </p14:section>
        <p14:section name="Le manuel du tricheur" id="{fc741491-fd03-1b8f-5c6b-548b23474b96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Le bestiaire" id="{949edff2-ff7b-82e9-8bb7-07c3d207af94}">
          <p14:sldIdLst>
            <p14:sldId id="270"/>
            <p14:sldId id="271"/>
            <p14:sldId id="272"/>
            <p14:sldId id="273"/>
            <p14:sldId id="274"/>
          </p14:sldIdLst>
        </p14:section>
        <p14:section name="Ateliers d'écriture" id="{eb7b4e17-2389-b950-1379-e5223a04b53f}">
          <p14:sldIdLst>
            <p14:sldId id="275"/>
            <p14:sldId id="276"/>
            <p14:sldId id="277"/>
            <p14:sldId id="278"/>
          </p14:sldIdLst>
        </p14:section>
        <p14:section name="L'arène agréable" id="{29770814-ff08-d5f2-9dc7-3203fad57c53}">
          <p14:sldIdLst>
            <p14:sldId id="279"/>
            <p14:sldId id="280"/>
            <p14:sldId id="281"/>
          </p14:sldIdLst>
        </p14:section>
        <p14:section name="Sortie" id="{d360bff7-0ee7-fc9b-5d9e-8fa067167075}">
          <p14:sldIdLst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Accueil. Le visuel s'inspire du New Games Book (1976) : « Play hard, play fair, nobody hurt ». Notre pari : transposer cette éthique du jeu coopératif au débat. On va apprendre les coups bas de Schopenhauer pour les reconnaître, puis pratiquer un débat ferme ET agréable. Durée totale : environ 3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d'amorce, anonyme. Le mur des cicatrices sert de fil rouge : à la fin, chacun choisit un papillon et propose ce qu'il aurait fallu faire autrement.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Aperçu de la séance. Prévoir une pause entre le bestiaire et les ateliers d'écriture.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Distribuer le PDF du zine imprimé recto seulement, taille réelle. Démontrer le pliage une fois, puis laisser les participants s'entraider : premier geste de coopération.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caché : rendre désirable le fait d'être convaincu. Perdre = gagner un rôle actif. Faire remarquer à la fin : quelle sensation quand vous avez dû reformuler l'argument de l'autre?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participants se placent physiquement sur une ligne imaginaire au sol. Chaque déplacement doit être justifié : « Qui t'a fait bouger, et avec quoi? » Le « Change de bord! » prépare l'atelier homme d'acier.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le livre comme un vaccin : connaître les ruses pour les désamorcer. Question à la salle : est-ce éthique d'enseigner ces ruses? Que se passe-t-il si on ne les enseigne pas?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 inspirée de la négociation raisonnée (Fisher et Ury) : dur sur le fond, doux avec les personnes. L'agréabilité est une compétence de fermeté, pas de complaisance. Demander : dans quelle case vous retrouvez-vous quand vous êtes fatigués?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numéros correspondent aux stratagèmes de Schopenhauer. Les surnoms sont les nôtres, pour que les élèves les retiennent. Ces 9 cartes deviennent la grille de bingo de l'activité du bestiaire.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Valider la liste exacte des procédés avec la version en vigueur du programme CCQ de votre cycle. Aussi en lien : Français, communiquer oralement (argumenter, adapter son discours).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Hiérarchie du désaccord de Paul Graham (2008). Plus on monte, plus le débat est agréable pour les personnes et dangereux pour les mauvaises idées. Défi : nommer son étage avant de répondre.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Anatol Rapoport, mathématicien et théoricien des jeux (stratégie « donnant-donnant »). Daniel Dennett a formulé ces règles dans Intuition Pumps (2013). Faire le lien : ces 4 règles sont l'antidote direct des stratagèmes 1, 29 et 38.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rapidement. Insister : personne n'est une seule créature. On change selon la fatigue, le sujet, le public. L'Avocat du diable peut être précieux s'il l'annonce; toxique s'il le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Imprimer les 8 cartes-créatures (diapo suivante) en plusieurs exemplaires. Débat en aquarium : 5 au centre, le reste en observation. L'étape 5 (rejouer en Bâtisseurs) est la plus importante : faire nommer la différence d'ambiance.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grille reprend la page 4 du zine. La case étoile oriente l'attention vers les bons comportements : on finit sur ce qui construit.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Réflexion individuelle silencieuse, puis partage volontaire en dyade. Le but est la métacognition : reconnaître ses propres réflexes sous pression.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Utiliser la page 5 du zine. Lecture à voix haute : faire sentir physiquement la différence de ton. Variante numérique : réécrire un commentaire de réseau social fictif.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écrite de la règle 1 de Rapoport. Le moment de la signature est souvent émouvant : être bien compris désarme. Afficher les feuilles signées au mur.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Production finale du séminaire. On compile les stratagèmes de la classe dans un « Manuel du débat loyal » numéroté à partir de 39 : le zine nº 2 de la classe. Page 7 du zine.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Dispositif en aquarium (fishbowl). Les jetons peuvent être des trombones ou des cartes. Le prix « girouette courageuse » renverse le stigmate : changer d'avis devient un exploit.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Afficher en permanence dans la classe. La dernière phrase (Céder) est la plus difficile et la plus puissante. Défi de la semaine : l'utiliser une fois.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Retour sur la question d'ouverture. Les papillons réécrits peuvent devenir une affiche collective.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Clôture. Remettre la devise du New Games Book transposée au débat. Inviter les participants à repartir avec leur zine signé.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768096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5000"/>
              </a:lnSpc>
              <a:buNone/>
              <a:defRPr lang="en-US" sz="66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lnSpc>
                <a:spcPct val="85000"/>
              </a:lnSpc>
              <a:buNone/>
            </a:pPr>
            <a:endParaRPr lang="en-US" sz="6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91840"/>
            <a:ext cx="74980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5486400"/>
            <a:ext cx="74980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NOUVEAU LIVRE DU DÉBAT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I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SÉMINAIRE · LA CONFRONTATION AGRÉABLE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7680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6600" dirty="0">
                <a:solidFill>
                  <a:schemeClr val="accent1"/>
                </a:solidFill>
              </a:rPr>
              <a:t>LE NOUVEAU</a:t>
            </a:r>
            <a:endParaRPr lang="en-US" sz="66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6600" dirty="0">
                <a:solidFill>
                  <a:schemeClr val="accent1"/>
                </a:solidFill>
              </a:rPr>
              <a:t>LIVRE DU</a:t>
            </a:r>
            <a:endParaRPr lang="en-US" sz="66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6600" dirty="0">
                <a:solidFill>
                  <a:schemeClr val="accent1"/>
                </a:solidFill>
              </a:rPr>
              <a:t>DÉBAT</a:t>
            </a:r>
            <a:endParaRPr lang="en-US" sz="6600" dirty="0"/>
          </a:p>
        </p:txBody>
      </p:sp>
      <p:pic>
        <p:nvPicPr>
          <p:cNvPr id="4" name="sauteu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480000">
            <a:off x="7589520" y="182880"/>
            <a:ext cx="4206240" cy="5074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778240" y="52578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Débattre fort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Débattre juste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Personne blessé·e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2"/>
                </a:solidFill>
              </a:rPr>
              <a:t>Question d'entrée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As-tu déjà gagné un débat…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et perdu un ami?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Écris ta réponse sur un papillon adhésif. Pas de nom. On les colle sur le « mur des cicatrices », on les relira à la fin.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463040"/>
            <a:ext cx="1600200" cy="192024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463040"/>
            <a:ext cx="1600200" cy="192024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1160" y="3657600"/>
            <a:ext cx="1600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966960" y="4114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9966960" y="411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⏱ 3 min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Le parcours de la séance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143000" y="1600200"/>
            <a:ext cx="640080" cy="6400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0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123444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48640" y="2514600"/>
            <a:ext cx="1691640" cy="30175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65176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Échauffement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56616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Zine, pierre-papier-argument, ligne qui bouge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029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017520" y="1600200"/>
            <a:ext cx="640080" cy="64008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75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703320" y="1920240"/>
            <a:ext cx="123444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423160" y="2514600"/>
            <a:ext cx="1691640" cy="30175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560320" y="265176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manuel du tricheur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560320" y="356616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Schopenhauer, coups bas, pyramide, Rapoport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5029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min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92040" y="1600200"/>
            <a:ext cx="640080" cy="6400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920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2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5577840" y="1920240"/>
            <a:ext cx="123444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297680" y="2514600"/>
            <a:ext cx="1691640" cy="30175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34840" y="265176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bestiaire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356616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 masqué des débatteurs, bingo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434840" y="5029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766560" y="1600200"/>
            <a:ext cx="640080" cy="64008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7452360" y="1920240"/>
            <a:ext cx="123444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172200" y="2514600"/>
            <a:ext cx="1691640" cy="30175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09360" y="265176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Ateliers d'écriture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309360" y="356616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Ascenseur, homme d'acier, 39ᵉ stratagème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309360" y="5029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min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641080" y="1600200"/>
            <a:ext cx="640080" cy="6400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410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4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9326880" y="1920240"/>
            <a:ext cx="123444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8046720" y="2514600"/>
            <a:ext cx="1691640" cy="30175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83880" y="265176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L'arène agréable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183880" y="356616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Aquarium à jetons de reformulation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183880" y="5029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0515600" y="1600200"/>
            <a:ext cx="640080" cy="64008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5156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5</a:t>
            </a:r>
            <a:endParaRPr lang="en-US" sz="2400" dirty="0"/>
          </a:p>
        </p:txBody>
      </p:sp>
      <p:sp>
        <p:nvSpPr>
          <p:cNvPr id="40" name="Shape 38"/>
          <p:cNvSpPr/>
          <p:nvPr/>
        </p:nvSpPr>
        <p:spPr>
          <a:xfrm>
            <a:off x="9921240" y="2514600"/>
            <a:ext cx="1691640" cy="30175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058400" y="265176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Sortie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10058400" y="356616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Billet 3-2-1, mur des cicatrices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058400" y="5029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0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9184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>
                <a:solidFill>
                  <a:schemeClr val="bg2"/>
                </a:solidFill>
              </a:rPr>
              <a:t>Échauffement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54864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Trois activités pour entrer dans le jeu sans entrer en guerre</a:t>
            </a:r>
            <a:endParaRPr lang="en-US" sz="1800" dirty="0"/>
          </a:p>
        </p:txBody>
      </p:sp>
      <p:pic>
        <p:nvPicPr>
          <p:cNvPr id="5" name="silhouet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914400"/>
            <a:ext cx="3566160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Activité 1 · Plie ton zine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966960" y="4114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66960" y="411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⏱ 7 min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2194560" cy="173736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645920"/>
            <a:ext cx="502920" cy="5029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2860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Plier en deux sur la longueur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926080" y="1508760"/>
            <a:ext cx="2194560" cy="173736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63240" y="1645920"/>
            <a:ext cx="502920" cy="5029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632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22860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Plier en 4 sur la largeur : 8 cases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303520" y="1508760"/>
            <a:ext cx="2194560" cy="173736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40680" y="1645920"/>
            <a:ext cx="502920" cy="5029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406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40680" y="22860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Couper la fente centrale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474720"/>
            <a:ext cx="2194560" cy="173736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3611880"/>
            <a:ext cx="502920" cy="5029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25196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Pousser vers le centre : losange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926080" y="3474720"/>
            <a:ext cx="2194560" cy="173736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63240" y="3611880"/>
            <a:ext cx="502920" cy="5029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6324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3063240" y="425196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Rabattre en livret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303520" y="3474720"/>
            <a:ext cx="2194560" cy="173736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40680" y="3611880"/>
            <a:ext cx="502920" cy="5029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4068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6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425196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Couverture sur le dessus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955280" y="1508760"/>
            <a:ext cx="3657600" cy="3840480"/>
          </a:xfrm>
          <a:prstGeom prst="rect">
            <a:avLst/>
          </a:prstGeom>
          <a:solidFill>
            <a:schemeClr val="tx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83880" y="1691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Pourquoi commencer par du papier?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183880" y="260604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geste manuel ralentit la salle, crée un objet commun et donne à chacun un « passeport » qu'on remplira en cours de route (pages 3, 4, 5 et 7).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Pierre-papier-argument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966960" y="4114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66960" y="411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⏱ 10 min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1828800" cy="219456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554480"/>
            <a:ext cx="1828800" cy="219456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840480"/>
            <a:ext cx="1737360" cy="21031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480560" y="14173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Inspiré de « Rock-Paper-Scissors Cheerleaders » du New Games Book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4480560" y="1920240"/>
            <a:ext cx="502920" cy="5029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48056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166360" y="19019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À deux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5166360" y="226771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Sujet absurde tiré au hasard : la pizza à l'ananas, les chaussettes dans les sandales, l'hiver est la meilleure saison.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4480560" y="2971800"/>
            <a:ext cx="502920" cy="5029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48056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5166360" y="295351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30 s chacun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5166360" y="331927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Chacun plaide. Puis : « Qui a ébranlé l'autre? » On tranche honnêtement.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4480560" y="4023360"/>
            <a:ext cx="502920" cy="5029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48056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166360" y="400507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Meneur de claque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166360" y="437083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convaincu devient le fan de l'autre et le suit vers un nouveau duel en reformulant son argument avec enthousiasme.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4480560" y="5074920"/>
            <a:ext cx="502920" cy="5029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480560" y="5074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5166360" y="50566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La finale</a:t>
            </a:r>
            <a:endParaRPr lang="en-US" sz="1700" dirty="0"/>
          </a:p>
        </p:txBody>
      </p:sp>
      <p:sp>
        <p:nvSpPr>
          <p:cNvPr id="24" name="Text 19"/>
          <p:cNvSpPr txBox="1"/>
          <p:nvPr/>
        </p:nvSpPr>
        <p:spPr>
          <a:xfrm>
            <a:off x="5166360" y="542239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champions, deux foules qui reformulent. Personne n'est éliminé : tout le monde finit dans une équipe.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Activité 3 · La ligne qui bouge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966960" y="4114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66960" y="411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⏱ 13 min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10515600" cy="0"/>
          </a:xfrm>
          <a:prstGeom prst="line">
            <a:avLst/>
          </a:prstGeom>
          <a:noFill/>
          <a:ln w="50800">
            <a:solidFill>
              <a:schemeClr val="tx1"/>
            </a:solidFill>
            <a:prstDash val="solid"/>
            <a:headEnd type="triangle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54864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TOTALEMENT D'ACCORD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869680" y="1508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DU TOUT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43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Énoncés possibles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00400"/>
            <a:ext cx="5669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Les devoirs devraient être abolis. »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Le cellulaire devrait être permis en classe. »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Un bon argument peut toujours être dit poliment. »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Changer d'avis, c'est perdre la face. »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675120" y="2743200"/>
            <a:ext cx="4937760" cy="3017520"/>
          </a:xfrm>
          <a:prstGeom prst="rect">
            <a:avLst/>
          </a:prstGeom>
          <a:solidFill>
            <a:schemeClr val="tx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La règle surprise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ne peut bouger que si quelqu'un d'autre nous a fait bouger. Puis, au signal « Change de bord! », chacun va défendre la position opposée à la sienne pendant 1 minute.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1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9184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>
                <a:solidFill>
                  <a:schemeClr val="bg2"/>
                </a:solidFill>
              </a:rPr>
              <a:t>Le manuel du tricheur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54864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Apprendre les coups bas pour s'en immuniser</a:t>
            </a:r>
            <a:endParaRPr lang="en-US" sz="1800" dirty="0"/>
          </a:p>
        </p:txBody>
      </p:sp>
      <p:pic>
        <p:nvPicPr>
          <p:cNvPr id="5" name="silhouet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914400"/>
            <a:ext cx="3566160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Schopenhauer a écrit le guide du tricheur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38</a:t>
            </a:r>
            <a:endParaRPr lang="en-US" sz="2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434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stratagèmes pour avoir raison, même quand on a tort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146304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i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L'Art d'avoir toujours raison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Rédigé vers 1830, publié après sa mort. Un inventaire lucide, presque cynique, des ruses du débat.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0" y="2834640"/>
            <a:ext cx="6126480" cy="1280160"/>
          </a:xfrm>
          <a:prstGeom prst="rect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15000" y="301752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« Le débat est un combat d'escrime intellectuel. »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0" y="434340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paradoxe 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conseille lui-même de ne débattre qu'avec ceux qui cherchent la vérité et acceptent d'avoir tort. Son manuel est donc aussi un avertissement.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Agréable ne veut pas dire mou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283464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envers les IDÉES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envers les PERSONNES ↓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517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doux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572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dur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1691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mou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ferme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34640" y="2148840"/>
            <a:ext cx="4206240" cy="178308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286000"/>
            <a:ext cx="960120" cy="116128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3017520" y="23134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La Girouette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2834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le monde a raison. Personne n'apprend rien.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223760" y="2148840"/>
            <a:ext cx="4206240" cy="1783080"/>
          </a:xfrm>
          <a:prstGeom prst="rect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2286000"/>
            <a:ext cx="960120" cy="11612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23134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Bâtisseur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7406640" y="2834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Exigeant sur le fond, bienveillant avec les gens. LA CIBLE.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2834640" y="4069080"/>
            <a:ext cx="4206240" cy="178308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4206240"/>
            <a:ext cx="960120" cy="116128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017520" y="42336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Sniper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3017520" y="47548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Faible sur les idées, cruel avec les gens. Le pire des deux mondes.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7223760" y="4069080"/>
            <a:ext cx="4206240" cy="178308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0" y="4206240"/>
            <a:ext cx="960120" cy="116128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06640" y="42336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Bulldozer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47548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Gagne les débats, perd les relations.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9 coups bas et leur parade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14630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481328"/>
            <a:ext cx="868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481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L'élastique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8288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Étirer ta thèse jusqu'à l'absurde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3172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« Ce n'est pas ce que j'ai dit. 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79392" y="1371600"/>
            <a:ext cx="3566160" cy="14630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9120" y="1481328"/>
            <a:ext cx="868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8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5285232" y="1481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L'allumette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285232" y="18288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mettre en colère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416552" y="233172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« Ça monte, je ralentis. »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371600"/>
            <a:ext cx="3566160" cy="14630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19872" y="1481328"/>
            <a:ext cx="868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13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9015984" y="1481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faux choix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015984" y="18288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C'est ça ou le chaos »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47304" y="233172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« Il existe une 3ᵉ option. 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2999232"/>
            <a:ext cx="3566160" cy="14630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108960"/>
            <a:ext cx="868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18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108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coupe-fil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345643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Interrompre quand on perd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395935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« Je finis, puis je t'écoute. »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279392" y="2999232"/>
            <a:ext cx="3566160" cy="14630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89120" y="3108960"/>
            <a:ext cx="868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29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5285232" y="3108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La diversion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285232" y="345643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Changer de sujet en douce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416552" y="395935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« On parlait de… »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10144" y="2999232"/>
            <a:ext cx="3566160" cy="14630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19872" y="3108960"/>
            <a:ext cx="868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30</a:t>
            </a:r>
            <a:endParaRPr lang="en-US" sz="3200" dirty="0"/>
          </a:p>
        </p:txBody>
      </p:sp>
      <p:sp>
        <p:nvSpPr>
          <p:cNvPr id="30" name="Text 28"/>
          <p:cNvSpPr txBox="1"/>
          <p:nvPr/>
        </p:nvSpPr>
        <p:spPr>
          <a:xfrm>
            <a:off x="9015984" y="3108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galon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015984" y="345643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Un expert l'a dit »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147304" y="395935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« Quelles sont ses raisons? »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4626864"/>
            <a:ext cx="3566160" cy="14630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" y="4736592"/>
            <a:ext cx="868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32</a:t>
            </a:r>
            <a:endParaRPr lang="en-US" sz="3200" dirty="0"/>
          </a:p>
        </p:txBody>
      </p:sp>
      <p:sp>
        <p:nvSpPr>
          <p:cNvPr id="35" name="Text 33"/>
          <p:cNvSpPr txBox="1"/>
          <p:nvPr/>
        </p:nvSpPr>
        <p:spPr>
          <a:xfrm>
            <a:off x="1554480" y="47365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L'étiquette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554480" y="508406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Coller un nom odieux à l'idée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5586984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« Parlons de l'idée, pas du mot. »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279392" y="4626864"/>
            <a:ext cx="3566160" cy="14630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389120" y="4736592"/>
            <a:ext cx="868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36</a:t>
            </a:r>
            <a:endParaRPr lang="en-US" sz="3200" dirty="0"/>
          </a:p>
        </p:txBody>
      </p:sp>
      <p:sp>
        <p:nvSpPr>
          <p:cNvPr id="40" name="Text 38"/>
          <p:cNvSpPr txBox="1"/>
          <p:nvPr/>
        </p:nvSpPr>
        <p:spPr>
          <a:xfrm>
            <a:off x="5285232" y="47365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brouillard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285232" y="508406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Noyer sous le jargon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416552" y="5586984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« Dis-le à un enfant de 10 ans. »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010144" y="4626864"/>
            <a:ext cx="3566160" cy="14630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119872" y="4736592"/>
            <a:ext cx="868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38</a:t>
            </a:r>
            <a:endParaRPr lang="en-US" sz="3200" dirty="0"/>
          </a:p>
        </p:txBody>
      </p:sp>
      <p:sp>
        <p:nvSpPr>
          <p:cNvPr id="45" name="Text 43"/>
          <p:cNvSpPr txBox="1"/>
          <p:nvPr/>
        </p:nvSpPr>
        <p:spPr>
          <a:xfrm>
            <a:off x="9015984" y="47365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K.-O.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9015984" y="508406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L'attaque personnelle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8147304" y="5586984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Le calme. Il n'a plus d'arguments.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Ce que dit le programme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Culture et citoyenneté québécoise : la pratique du dialogue nomme des procédés qui entravent le dialogue. Schopenhauer en avait déjà décrit plusieurs.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Entrave au dialogue (CCQ)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Stratagème de Schopenhauer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4937760" cy="457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974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Attaque personnelle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577840" y="2926080"/>
            <a:ext cx="91440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583680" y="2697480"/>
            <a:ext cx="5029200" cy="4572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2697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· Le K.-O.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264408"/>
            <a:ext cx="4937760" cy="457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2644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Caricature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577840" y="3493008"/>
            <a:ext cx="91440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583680" y="3264408"/>
            <a:ext cx="5029200" cy="4572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0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L'élastique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831336"/>
            <a:ext cx="4937760" cy="457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83133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Faux dilemme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577840" y="4059936"/>
            <a:ext cx="91440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583680" y="3831336"/>
            <a:ext cx="5029200" cy="4572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38313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· Le faux choix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4398264"/>
            <a:ext cx="4937760" cy="457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43982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Argument d'autorité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577840" y="4626864"/>
            <a:ext cx="91440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583680" y="4398264"/>
            <a:ext cx="5029200" cy="4572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439826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· Le galon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48640" y="4965192"/>
            <a:ext cx="4937760" cy="457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9651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 au clan / au préjugé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577840" y="5193792"/>
            <a:ext cx="91440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583680" y="4965192"/>
            <a:ext cx="5029200" cy="4572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0" y="496519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L'étiquette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5532120"/>
            <a:ext cx="4937760" cy="457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1520" y="55321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Diversion (hors programme)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577840" y="5760720"/>
            <a:ext cx="91440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583680" y="5532120"/>
            <a:ext cx="5029200" cy="4572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766560" y="5532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· La diversion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Monte la pyramide du désaccord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834640" y="1325880"/>
            <a:ext cx="2377440" cy="62179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834640" y="13258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6 · Réfuter le cœur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132588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Ton idée centrale ne tient pas parce que… 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303520" y="1636776"/>
            <a:ext cx="219456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ysDot"/>
          </a:ln>
        </p:spPr>
      </p:sp>
      <p:sp>
        <p:nvSpPr>
          <p:cNvPr id="7" name="Shape 5"/>
          <p:cNvSpPr/>
          <p:nvPr/>
        </p:nvSpPr>
        <p:spPr>
          <a:xfrm>
            <a:off x="2468880" y="1984248"/>
            <a:ext cx="3108960" cy="62179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468880" y="1984248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5 · Réfutation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198424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Citer l'autre et montrer l'erreur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0" y="2295144"/>
            <a:ext cx="182880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2103120" y="2642616"/>
            <a:ext cx="3840480" cy="62179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103120" y="264261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4 · Contre-argument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2642616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autre raison, avec preuve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2953512"/>
            <a:ext cx="146304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1737360" y="3300984"/>
            <a:ext cx="4572000" cy="62179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737360" y="33009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 · Contradiction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589520" y="3300984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Non, c'est faux. » (sans raison)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0" y="3611880"/>
            <a:ext cx="109728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ysDot"/>
          </a:ln>
        </p:spPr>
      </p:sp>
      <p:sp>
        <p:nvSpPr>
          <p:cNvPr id="19" name="Shape 17"/>
          <p:cNvSpPr/>
          <p:nvPr/>
        </p:nvSpPr>
        <p:spPr>
          <a:xfrm>
            <a:off x="1371600" y="3959352"/>
            <a:ext cx="5303520" cy="621792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371600" y="395935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2 · Critique du ton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3959352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Calme-toi! »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66560" y="4270248"/>
            <a:ext cx="73152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ysDot"/>
          </a:ln>
        </p:spPr>
      </p:sp>
      <p:sp>
        <p:nvSpPr>
          <p:cNvPr id="23" name="Shape 21"/>
          <p:cNvSpPr/>
          <p:nvPr/>
        </p:nvSpPr>
        <p:spPr>
          <a:xfrm>
            <a:off x="1005840" y="4617720"/>
            <a:ext cx="6035040" cy="621792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840" y="4617720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1 · Ad hominem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89520" y="461772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Tu dis ça parce que t'es jeune. »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132320" y="4928616"/>
            <a:ext cx="36576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ysDot"/>
          </a:ln>
        </p:spPr>
      </p:sp>
      <p:sp>
        <p:nvSpPr>
          <p:cNvPr id="27" name="Shape 25"/>
          <p:cNvSpPr/>
          <p:nvPr/>
        </p:nvSpPr>
        <p:spPr>
          <a:xfrm>
            <a:off x="640080" y="5276088"/>
            <a:ext cx="6766560" cy="621792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" y="5276088"/>
            <a:ext cx="6766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0 · Insulte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589520" y="527608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T'es niaiseux. »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498080" y="5586984"/>
            <a:ext cx="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ysDot"/>
          </a:ln>
        </p:spPr>
      </p:sp>
      <p:sp>
        <p:nvSpPr>
          <p:cNvPr id="31" name="Text 29"/>
          <p:cNvSpPr txBox="1"/>
          <p:nvPr/>
        </p:nvSpPr>
        <p:spPr>
          <a:xfrm>
            <a:off x="54864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agréable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43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toxique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Gagner le droit de critiquer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règles de Rapoport (popularisées par Daniel Dennett)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40080" cy="6400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1051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Reformule l'idée de l'autre si bien qu'il dise : « J'aurais aimé le dire comme ça. »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770632"/>
            <a:ext cx="640080" cy="6400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70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98064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Nomme tes points d'accord, surtout les surprenants.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758184"/>
            <a:ext cx="640080" cy="6400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7581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785616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 ce que tu as appris de cette personne.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745736"/>
            <a:ext cx="640080" cy="64008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7457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77316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Seulement là, ta critique.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223760" y="1325880"/>
            <a:ext cx="4389120" cy="4526280"/>
          </a:xfrm>
          <a:prstGeom prst="rect">
            <a:avLst/>
          </a:prstGeom>
          <a:solidFill>
            <a:schemeClr val="tx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52360" y="15087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Homme de paille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20116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Affaiblir la thèse adverse pour mieux la frapper.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27432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↓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3383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Homme d'acier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88620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Rendre la thèse adverse plus forte qu'elle ne l'était, puis l'affronter. Si tu gagnes, tu as vraiment gagné. Si tu perds, tu as appris.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2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9184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>
                <a:solidFill>
                  <a:schemeClr val="bg2"/>
                </a:solidFill>
              </a:rPr>
              <a:t>Le bestiaire du débat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54864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Reconnaître les débatteurs… et se reconnaître</a:t>
            </a:r>
            <a:endParaRPr lang="en-US" sz="1800" dirty="0"/>
          </a:p>
        </p:txBody>
      </p:sp>
      <p:pic>
        <p:nvPicPr>
          <p:cNvPr id="5" name="silhouet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914400"/>
            <a:ext cx="3566160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8 créatures à reconnaître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23317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960120" cy="11612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91640" y="160020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Bulldozer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788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Parle fort et long, ne recule jamais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355848" y="1325880"/>
            <a:ext cx="2651760" cy="23317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08" y="1508760"/>
            <a:ext cx="960120" cy="11612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498848" y="160020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Brouillard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493008" y="2788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de sujet dès que ça chauffe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163056" y="1325880"/>
            <a:ext cx="2651760" cy="23317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1508760"/>
            <a:ext cx="960120" cy="11612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06056" y="160020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Sniper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300216" y="2788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Vise la personne, jamais l'idée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970264" y="1325880"/>
            <a:ext cx="2651760" cy="23317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4" y="1508760"/>
            <a:ext cx="960120" cy="116128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113264" y="160020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Professeur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9107424" y="2788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Les experts disent que… » Point final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48640" y="3840480"/>
            <a:ext cx="2651760" cy="23317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023360"/>
            <a:ext cx="960120" cy="116128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1640" y="411480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La Girouette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85800" y="5303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D'accord avec le dernier qui a parlé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3355848" y="3840480"/>
            <a:ext cx="2651760" cy="23317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3008" y="4023360"/>
            <a:ext cx="960120" cy="116128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498848" y="411480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La Tortue</a:t>
            </a:r>
            <a:endParaRPr lang="en-US" sz="1600" dirty="0"/>
          </a:p>
        </p:txBody>
      </p:sp>
      <p:sp>
        <p:nvSpPr>
          <p:cNvPr id="26" name="Text 18"/>
          <p:cNvSpPr txBox="1"/>
          <p:nvPr/>
        </p:nvSpPr>
        <p:spPr>
          <a:xfrm>
            <a:off x="3493008" y="5303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Pense fort, ne dit rien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6163056" y="3840480"/>
            <a:ext cx="2651760" cy="23317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0216" y="4023360"/>
            <a:ext cx="960120" cy="116128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306056" y="411480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L'Avocat du diable</a:t>
            </a:r>
            <a:endParaRPr lang="en-US" sz="1600" dirty="0"/>
          </a:p>
        </p:txBody>
      </p:sp>
      <p:sp>
        <p:nvSpPr>
          <p:cNvPr id="30" name="Text 21"/>
          <p:cNvSpPr txBox="1"/>
          <p:nvPr/>
        </p:nvSpPr>
        <p:spPr>
          <a:xfrm>
            <a:off x="6300216" y="5303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Conteste tout, parfois juste pour jouer</a:t>
            </a:r>
            <a:endParaRPr lang="en-US" sz="1400" dirty="0"/>
          </a:p>
        </p:txBody>
      </p:sp>
      <p:sp>
        <p:nvSpPr>
          <p:cNvPr id="31" name="Shape 22"/>
          <p:cNvSpPr/>
          <p:nvPr/>
        </p:nvSpPr>
        <p:spPr>
          <a:xfrm>
            <a:off x="8970264" y="3840480"/>
            <a:ext cx="2651760" cy="2331720"/>
          </a:xfrm>
          <a:prstGeom prst="rect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424" y="4023360"/>
            <a:ext cx="960120" cy="116128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0113264" y="411480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Bâtisseur</a:t>
            </a:r>
            <a:endParaRPr lang="en-US" sz="1600" dirty="0"/>
          </a:p>
        </p:txBody>
      </p:sp>
      <p:sp>
        <p:nvSpPr>
          <p:cNvPr id="34" name="Text 24"/>
          <p:cNvSpPr txBox="1"/>
          <p:nvPr/>
        </p:nvSpPr>
        <p:spPr>
          <a:xfrm>
            <a:off x="9107424" y="5303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Reformule, questionne, construit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Le bal masqué du débat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966960" y="4114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66960" y="411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⏱ 25 min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48640" cy="54864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3898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Tirage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1335024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Groupes de 5 débatteurs. Chacun pioche en secret une carte-créature (la Tortue compte aussi!).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04288"/>
            <a:ext cx="548640" cy="54864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304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32257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Débat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2267712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minutes sur un vrai sujet de classe. Chacun joue sa créature… sans la nommer.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236976"/>
            <a:ext cx="548640" cy="54864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369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2552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Observation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32004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autres participants forment un cercle extérieur : ils cochent leur bingo des coups bas et devinent les créatures.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169664"/>
            <a:ext cx="548640" cy="54864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1879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Démasquage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291840" y="413308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observateurs nomment chaque créature et citent la phrase exacte qui l'a trahie.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5102352"/>
            <a:ext cx="548640" cy="54864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102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1206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Rejouer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5065776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rejoue 2 minutes : toutes les créatures deviennent des Bâtisseurs. Qu'est-ce qui a changé?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229600" y="1371600"/>
            <a:ext cx="3383280" cy="4526280"/>
          </a:xfrm>
          <a:prstGeom prst="rect">
            <a:avLst/>
          </a:prstGeom>
          <a:solidFill>
            <a:schemeClr val="tx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58200" y="1554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Sujets testés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458200" y="2103120"/>
            <a:ext cx="2971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Uniforme obligatoire?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semaine de 4 jours à l'école?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notes devraient-elles disparaître?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L'IA pour faire ses devoirs : tricherie ou outil?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Bingo des coups bas · grille de l'observateur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920240" cy="14173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L'élastique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86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Qui? ______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371600"/>
            <a:ext cx="1920240" cy="14173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51760" y="1463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L'allumette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2286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Qui? ______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1371600"/>
            <a:ext cx="1920240" cy="14173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463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faux choix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286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Qui? ______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80360"/>
            <a:ext cx="1920240" cy="14173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coupe-fil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7947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Qui? ______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880360"/>
            <a:ext cx="1920240" cy="1417320"/>
          </a:xfrm>
          <a:prstGeom prst="rect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651760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★ Une reformulation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7947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Qui? ______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0" y="2880360"/>
            <a:ext cx="1920240" cy="14173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La diversion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37947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Qui? ______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1920240" cy="14173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4805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galon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303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Qui? ______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560320" y="4389120"/>
            <a:ext cx="1920240" cy="14173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651760" y="44805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L'étiquette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03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Qui? ______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0" y="4389120"/>
            <a:ext cx="1920240" cy="14173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63440" y="44805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brouillard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663440" y="5303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Qui? ______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Règles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1920240"/>
            <a:ext cx="4663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Coche une case quand tu entends le coup. Note qui et la phrase exacte.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case centrale est un bon coup : la reformulation loyale. Elle vaut double.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Ligne complète? Lève la main en silence : le débat continue.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Surprise : on termine en comptant les reformulations, pas les coups bas.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2"/>
                </a:solidFill>
              </a:rPr>
              <a:t>Le miroir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Quelle créature deviens-tu…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402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quand tu es fatigué·e?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175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quand le sujet te touche personnellement?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quand il y a un public?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57200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quand tu sais que tu as tort?</a:t>
            </a:r>
            <a:endParaRPr lang="en-US" sz="2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280160"/>
            <a:ext cx="3017520" cy="36576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966960" y="4114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966960" y="411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⏱ 5 min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9184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>
                <a:solidFill>
                  <a:schemeClr val="bg2"/>
                </a:solidFill>
              </a:rPr>
              <a:t>Ateliers d'écriture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54864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L'agréabilité se travaille aussi au crayon</a:t>
            </a:r>
            <a:endParaRPr lang="en-US" sz="1800" dirty="0"/>
          </a:p>
        </p:txBody>
      </p:sp>
      <p:pic>
        <p:nvPicPr>
          <p:cNvPr id="5" name="silhouet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914400"/>
            <a:ext cx="3566160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Atelier 1 · L'ascenseur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966960" y="4114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66960" y="411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⏱ 15 min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Prends une réplique toxique et fais-la monter dans la pyramide, un étage à la fois.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983480"/>
            <a:ext cx="6949440" cy="9144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49834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5029200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T'es vraiment niaiseux de penser que les devoirs servent à rien. »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7315200" cy="9144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319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977640"/>
            <a:ext cx="6355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Non, les devoirs servent à quelque chose. 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880360"/>
            <a:ext cx="7680960" cy="9144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2880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2926080"/>
            <a:ext cx="6720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Les devoirs permettent de pratiquer à son rythme, loin de la pression de la classe. »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1828800"/>
            <a:ext cx="8046720" cy="9144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182880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6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1874520"/>
            <a:ext cx="7086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Tu dis que les devoirs sont inutiles parce qu'ils creusent les écarts. C'est vrai pour certains élèves. Mais si on les rendait facultatifs et soutenus en classe, le problème tomberait-il? 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95360" y="1965960"/>
            <a:ext cx="3017520" cy="393192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78240" y="2103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Consigne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778240" y="2606040"/>
            <a:ext cx="2697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équipe de 2, choisissez une réplique entendue en ligne ou à l'école. Réécrivez-la aux étages 3, 4 et 6. Lisez l'étage 0 et l'étage 6 à voix haute.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Atelier 2 · L'homme d'acier signé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966960" y="4114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66960" y="411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⏱ 15 min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2651760" cy="32918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00200"/>
            <a:ext cx="548640" cy="54864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645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Écoute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7744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défend sa position pendant 2 minutes. B ne parle pas, il prend des notes.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55848" y="1417320"/>
            <a:ext cx="2651760" cy="32918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38728" y="1600200"/>
            <a:ext cx="548640" cy="54864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38728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224528" y="1645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Écris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38728" y="237744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rédige en 50 mots la meilleure version possible de l'argument de A. Meilleure que l'original, si possible.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63056" y="1417320"/>
            <a:ext cx="2651760" cy="3291840"/>
          </a:xfrm>
          <a:prstGeom prst="rect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45936" y="1600200"/>
            <a:ext cx="548640" cy="54864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45936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031736" y="1645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Signe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345936" y="237744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lit. S'il peut signer « Oui, c'est exactement ce que je pense », B a gagné. Sinon, B réécrit.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970264" y="1417320"/>
            <a:ext cx="2651760" cy="32918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53144" y="1600200"/>
            <a:ext cx="548640" cy="54864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53144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838944" y="1645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Inverse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153144" y="237744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échange les rôles. Ensuite seulement, chacun a droit à une critique.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4937760"/>
            <a:ext cx="11064240" cy="1051560"/>
          </a:xfrm>
          <a:prstGeom prst="rect">
            <a:avLst/>
          </a:prstGeom>
          <a:solidFill>
            <a:schemeClr val="tx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493776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Signature : ________________________   « Tu as mieux dit ma pensée que moi. »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Atelier 3 · Le 39ᵉ stratagème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966960" y="4114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66960" y="411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⏱ 15 min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39</a:t>
            </a:r>
            <a:endParaRPr lang="en-US" sz="20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Schopenhauer s'est arrêté à 38 coups bas. Invente le 39ᵉ : un coup loyal qui fait gagner tout le monde.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6583680" cy="452628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03520" y="15544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Gabarit de la fiche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21488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 du stratagème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247802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surnom mémorable (ex. « Le parapluie »)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03520" y="2898648"/>
            <a:ext cx="603504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303580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 l'utiliser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03520" y="3364992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situation de débat où il sert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03520" y="3785616"/>
            <a:ext cx="603504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0" y="392277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faire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303520" y="425196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phrase ou le geste exact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03520" y="4672584"/>
            <a:ext cx="603504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0" y="480974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qu'il désamorce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513892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coup bas (numéro) qu'il neutralise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03520" y="5559552"/>
            <a:ext cx="603504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4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9184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>
                <a:solidFill>
                  <a:schemeClr val="bg2"/>
                </a:solidFill>
              </a:rPr>
              <a:t>L'arène agréable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54864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Un vrai débat, avec un prix inattendu</a:t>
            </a:r>
            <a:endParaRPr lang="en-US" sz="1800" dirty="0"/>
          </a:p>
        </p:txBody>
      </p:sp>
      <p:pic>
        <p:nvPicPr>
          <p:cNvPr id="5" name="silhouet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914400"/>
            <a:ext cx="3566160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L'aquarium à jetons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966960" y="4114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66960" y="411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⏱ 25 min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6949440" cy="132588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737360"/>
            <a:ext cx="594360" cy="59436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48132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ticket d'entrée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187452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parler, tu dois d'abord reformuler la personne précédente. Elle dit « oui » ou « presque ». Seul le « oui » ouvre ton micro.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6949440" cy="132588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246120"/>
            <a:ext cx="594360" cy="59436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246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299008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Les jetons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38328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jetons par personne. Chaque intervention coûte un jeton. Les Bulldozers apprennent à choisir, les Tortues doivent dépenser les leurs.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389120"/>
            <a:ext cx="6949440" cy="132588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4988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La chaise vide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489204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chaise libre dans le cercle : un observateur peut venir y faire une seule intervention, puis repartir.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863840" y="1371600"/>
            <a:ext cx="3749040" cy="4343400"/>
          </a:xfrm>
          <a:prstGeom prst="rect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1554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Le prix surprise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2103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 vainqueur au contenu. Le jury remet deux prix :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092440" y="2926080"/>
            <a:ext cx="3291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L'homme d'acier d'or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la meilleure reformulation de l'adversaire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girouette courageuse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la personne qui a changé d'avis, et l'a dit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La boîte à phrases qui désamorcent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40680" cy="100584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Comprendre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4630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Si je te comprends bien, tu dis que… c'est ça? 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371600"/>
            <a:ext cx="5440680" cy="100584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0936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Ouvrir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14630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Qu'est-ce qui pourrait te faire changer d'idée? »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5440680" cy="100584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606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Cartographier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26060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est d'accord sur ___. On diffère sur ___. 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2514600"/>
            <a:ext cx="5440680" cy="100584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2606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Reconnaître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26060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Bon point. Je n'y avais pas pensé. »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5440680" cy="100584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749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S'opposer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37490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Je vois ça autrement. Je t'explique? »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26480" y="3657600"/>
            <a:ext cx="5440680" cy="100584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09360" y="3749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Sonder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37490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Sur quoi tu t'appuies? Ça m'intéresse. »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4800600"/>
            <a:ext cx="5440680" cy="100584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4892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Ralentir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468880" y="48920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Je sens que ça monte. On prend 10 secondes? »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26480" y="4800600"/>
            <a:ext cx="5440680" cy="100584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4892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Céder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48920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Je pense que j'avais tort sur ce bout-là.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235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accent1"/>
                </a:solidFill>
              </a:rPr>
              <a:t>Billet de sortie 3 · 2 · 1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966960" y="4114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66960" y="411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⏱ 7 min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566160" cy="3931920"/>
          </a:xfrm>
          <a:prstGeom prst="rect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3</a:t>
            </a:r>
            <a:endParaRPr lang="en-US" sz="1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6576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coups bas que je reconnaîtrai maintenant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279392" y="1463040"/>
            <a:ext cx="3566160" cy="3931920"/>
          </a:xfrm>
          <a:prstGeom prst="rect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53712" y="160020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dirty="0">
                <a:solidFill>
                  <a:schemeClr val="tx1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2</a:t>
            </a:r>
            <a:endParaRPr lang="en-US" sz="13000" dirty="0"/>
          </a:p>
        </p:txBody>
      </p:sp>
      <p:sp>
        <p:nvSpPr>
          <p:cNvPr id="10" name="Text 8"/>
          <p:cNvSpPr txBox="1"/>
          <p:nvPr/>
        </p:nvSpPr>
        <p:spPr>
          <a:xfrm>
            <a:off x="4553712" y="36576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phrases de la boîte que je vais essayer cette semaine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010144" y="1463040"/>
            <a:ext cx="3566160" cy="3931920"/>
          </a:xfrm>
          <a:prstGeom prst="rect">
            <a:avLst/>
          </a:prstGeom>
          <a:solidFill>
            <a:schemeClr val="tx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84464" y="160020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dirty="0">
                <a:solidFill>
                  <a:schemeClr val="bg2"/>
                </a:solidFill>
                <a:latin typeface="Rockwell Extra Bold" pitchFamily="34" charset="0"/>
                <a:ea typeface="Rockwell Extra Bold" pitchFamily="34" charset="-122"/>
                <a:cs typeface="Rockwell Extra Bold" pitchFamily="34" charset="-120"/>
              </a:rPr>
              <a:t>1</a:t>
            </a:r>
            <a:endParaRPr lang="en-US" sz="13000" dirty="0"/>
          </a:p>
        </p:txBody>
      </p:sp>
      <p:sp>
        <p:nvSpPr>
          <p:cNvPr id="13" name="Text 11"/>
          <p:cNvSpPr txBox="1"/>
          <p:nvPr/>
        </p:nvSpPr>
        <p:spPr>
          <a:xfrm>
            <a:off x="8284464" y="36576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créature que je veux arrêter d'être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: choisis un papillon du mur des cicatrices et écris au verso ce qui aurait pu sauver l'amitié.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7680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6600" dirty="0">
                <a:solidFill>
                  <a:schemeClr val="accent1"/>
                </a:solidFill>
              </a:rPr>
              <a:t>Débattre fort.</a:t>
            </a:r>
            <a:endParaRPr lang="en-US" sz="66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6600" dirty="0">
                <a:solidFill>
                  <a:schemeClr val="accent1"/>
                </a:solidFill>
              </a:rPr>
              <a:t>Débattre juste.</a:t>
            </a:r>
            <a:endParaRPr lang="en-US" sz="66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6600" dirty="0">
                <a:solidFill>
                  <a:schemeClr val="accent1"/>
                </a:solidFill>
              </a:rPr>
              <a:t>Personne blessé·e.</a:t>
            </a:r>
            <a:endParaRPr lang="en-US" sz="6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360000">
            <a:off x="7863840" y="457200"/>
            <a:ext cx="1920240" cy="233172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">
            <a:off x="9692640" y="1005840"/>
            <a:ext cx="1920240" cy="23317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8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but n'est pas d'avoir raison contre quelqu'un, c'est d'avoir un peu plus raison ensemble.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7863840" y="356616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: A. Schopenhauer, L'Art d'avoir toujours raison · P. Graham, How to Disagree (2008) · D. Dennett, Intuition Pumps (2013) · R. Fisher et W. Ury, Getting to Yes · A. Fluegelman, The New Games Book (1976) · PFEQ, Culture et citoyenneté québécoise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ouveau livre du debat">
  <a:themeElements>
    <a:clrScheme name="Nouveau livre du debat">
      <a:dk1>
        <a:srgbClr val="1B1714"/>
      </a:dk1>
      <a:lt1>
        <a:srgbClr val="FFFFFF"/>
      </a:lt1>
      <a:dk2>
        <a:srgbClr val="6B4B10"/>
      </a:dk2>
      <a:lt2>
        <a:srgbClr val="EFE6D1"/>
      </a:lt2>
      <a:accent1>
        <a:srgbClr val="D2232A"/>
      </a:accent1>
      <a:accent2>
        <a:srgbClr val="F0A12E"/>
      </a:accent2>
      <a:accent3>
        <a:srgbClr val="1B1714"/>
      </a:accent3>
      <a:accent4>
        <a:srgbClr val="8C1A1F"/>
      </a:accent4>
      <a:accent5>
        <a:srgbClr val="C9B994"/>
      </a:accent5>
      <a:accent6>
        <a:srgbClr val="3E6E5A"/>
      </a:accent6>
      <a:hlink>
        <a:srgbClr val="D2232A"/>
      </a:hlink>
      <a:folHlink>
        <a:srgbClr val="6B4B10"/>
      </a:folHlink>
    </a:clrScheme>
    <a:fontScheme name="Nouveau livre du debat">
      <a:majorFont>
        <a:latin typeface="Rockwell Extra 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 nouveau livre du débat : la confrontation agréable</dc:title>
  <dc:subject>PptxGenJS Presentation</dc:subject>
  <dc:creator>Séminaire pédagonumérique</dc:creator>
  <cp:lastModifiedBy>Séminaire pédagonumérique</cp:lastModifiedBy>
  <cp:revision>1</cp:revision>
  <dcterms:created xsi:type="dcterms:W3CDTF">2026-10-12T00:05:51Z</dcterms:created>
  <dcterms:modified xsi:type="dcterms:W3CDTF">2026-10-12T00:05:51Z</dcterms:modified>
</cp:coreProperties>
</file>