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94d3e5e4-afbe-f7c6-49a1-90ffa402963c}">
          <p14:sldIdLst>
            <p14:sldId id="256"/>
            <p14:sldId id="257"/>
            <p14:sldId id="258"/>
          </p14:sldIdLst>
        </p14:section>
        <p14:section name="Échauffement" id="{3c71af68-3818-f781-2120-c84743eedc6b}">
          <p14:sldIdLst>
            <p14:sldId id="259"/>
            <p14:sldId id="260"/>
            <p14:sldId id="261"/>
            <p14:sldId id="262"/>
          </p14:sldIdLst>
        </p14:section>
        <p14:section name="Le manuel du tricheur" id="{33535351-4a56-15b7-b91e-ad9df91230ad}">
          <p14:sldIdLst>
            <p14:sldId id="263"/>
            <p14:sldId id="264"/>
            <p14:sldId id="265"/>
            <p14:sldId id="266"/>
            <p14:sldId id="267"/>
            <p14:sldId id="268"/>
            <p14:sldId id="269"/>
          </p14:sldIdLst>
        </p14:section>
        <p14:section name="Le bestiaire" id="{a3a56bd0-70ef-bb16-7e8d-180e5610c2f0}">
          <p14:sldIdLst>
            <p14:sldId id="270"/>
            <p14:sldId id="271"/>
            <p14:sldId id="272"/>
            <p14:sldId id="273"/>
            <p14:sldId id="274"/>
            <p14:sldId id="275"/>
            <p14:sldId id="276"/>
            <p14:sldId id="277"/>
            <p14:sldId id="278"/>
          </p14:sldIdLst>
        </p14:section>
        <p14:section name="Ateliers d'écriture" id="{1795a9bf-74b4-1eed-d56c-99d881c4e851}">
          <p14:sldIdLst>
            <p14:sldId id="279"/>
            <p14:sldId id="280"/>
            <p14:sldId id="281"/>
            <p14:sldId id="282"/>
            <p14:sldId id="283"/>
            <p14:sldId id="284"/>
            <p14:sldId id="285"/>
            <p14:sldId id="286"/>
            <p14:sldId id="287"/>
          </p14:sldIdLst>
        </p14:section>
        <p14:section name="L'arène agréable" id="{e03c1134-ae2a-0b85-d8e3-8165f3aad60e}">
          <p14:sldIdLst>
            <p14:sldId id="288"/>
            <p14:sldId id="289"/>
            <p14:sldId id="290"/>
          </p14:sldIdLst>
        </p14:section>
        <p14:section name="Repartir avec" id="{762485a7-47a1-c56a-3180-a289c8876567}">
          <p14:sldIdLst>
            <p14:sldId id="291"/>
            <p14:sldId id="292"/>
            <p14:sldId id="293"/>
            <p14:sldId id="294"/>
            <p14:sldId id="295"/>
          </p14:sldIdLst>
        </p14:section>
        <p14:section name="Annexes" id="{5271855a-79dd-5f99-f8da-116cc19a8324}">
          <p14:sldIdLst>
            <p14:sldId id="296"/>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Notre pari : apprendre les coups bas de Schopenhauer pour les reconnaître, puis pratiquer un débat ferme ET agréable : dur sur les idées, doux avec les gens. Durée totale : environ 3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d'amorce, anonyme. Le mur des cicatrices sert de fil rouge : à la fin, chacun choisit un papillon et propose ce qu'il aurait fallu faire autrement.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Aperçu de la séance. Prévoir une pause entre le bestiaire et les ateliers d'écriture. Public : adultes volontaires de tout acabit, sans prérequis. Annoncer la règle du joker dès le départ, et choisir des sujets qui font réfléchir sans viser l'identité ou le vécu intime des personnes présentes.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Imprimer la page 1 du PDF du zine (taille réelle) pour chacun, et la page 3 (planche de talismans) pour la fin. Démontrer le pliage une fois, puis laisser les participants s'entraider : premier geste de coopération.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participants se placent physiquement sur une ligne imaginaire au sol. Chaque déplacement doit être justifié : « Qui t'a fait bouger, et avec quoi? » Le « Change de bord! » prépare l'atelier homme d'acier.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Sujet : reprendre un énoncé de la ligne qui bouge. Les accords doivent porter sur le sujet, pas sur la météo. Le « Trop facile! » rend le jeu exigeant et drôle. Inclusion : pour une personne à mobilité réduite, le duo avance un jeton sur une piste dessinée au tableau. Retour : quel accord vous a le plus surpris? Lequel a été le plus difficile à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livre comme un vaccin : connaître les ruses pour les désamorcer. Question à la salle : est-ce éthique d'enseigner ces ruses? Que se passe-t-il si on ne les enseigne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Distinction inspirée de la négociation raisonnée (Fisher et Ury) : dur sur le fond, doux avec les personnes. L'agréabilité est une compétence de fermeté, pas de complaisance. Demander : dans quelle case vous retrouvez-vous quand vous êtes fatigués?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numéros correspondent aux stratagèmes de Schopenhauer. Les surnoms sont les nôtres, pour qu'on les retienne. Activité : dans le zine (p. 2), chacun coche ceux qu'il a subis… et ceux qu'il a faits. Ces 9 cartes deviennent aussi la grille de bingo du bestiaire.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Demander aux participants de compléter le tableau avec leurs propres exemples, anonymisés. Où les entendez-vous le plus? Lesquels utilisez-vous vous-même sans vous en rendre compte?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Hiérarchie du désaccord de Paul Graham (2008). Plus on monte, plus le débat est agréable pour les personnes et dangereux pour les mauvaises idées. Défi : nommer son étage avant de répondre.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Anatol Rapoport, mathématicien et théoricien des jeux (stratégie « donnant-donnant »). Daniel Dennett a formulé ces règles dans Intuition Pumps (2013). Faire le lien : ces 4 règles sont l'antidote direct des stratagèmes 1, 29 et 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Aperçu : on reconnaît chaque créature d'abord à sa phrase-signature. Insister : personne n'est une seule créature. On change selon la fatigue, le sujet, le public. Les 4 diapos suivantes sont des fiches d'identité à imprimer : elles servent de cartes-rôles pour le bal masqué.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Cliquer sur chaque extrait pour le lancer (3,5 s, sans son). Question au groupe : où avez-vous déjà vu cette créature? Qu'est-ce qu'elle dit, qu'est-ce qu'elle fait? Comment l'autre personne réagit-elle?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Cliquer sur chaque extrait pour le lancer (3,5 s, sans son). Question au groupe : où avez-vous déjà vu cette créature? Qu'est-ce qu'elle dit, qu'est-ce qu'elle fait? Comment l'autre personne réagit-elle?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Cliquer sur chaque extrait pour le lancer (3,5 s, sans son). Question au groupe : où avez-vous déjà vu cette créature? Qu'est-ce qu'elle dit, qu'est-ce qu'elle fait? Comment l'autre personne réagit-elle?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Cliquer sur chaque extrait pour le lancer (3,5 s, sans son). Question au groupe : où avez-vous déjà vu cette créature? Qu'est-ce qu'elle dit, qu'est-ce qu'elle fait? Comment l'autre personne réagit-elle?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Imprimer les 4 diapos « Fiches d'identité » (en annexe) et les couper en deux : 8 cartes-rôles. Débat en aquarium : 5 au centre, le reste en observation. L'étape 5 (rejouer en Bâtisseurs) est la plus importante : faire nommer la différence d'ambiance.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Imprimer cette diapo pour les observateurs. La case étoile oriente l'attention vers les bons comportements : on finit sur ce qui construit.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Zine p. 3 et 4. D'abord, chacun encercle sa créature sous stress (p. 3). Puis trois dessins de 60 secondes (p. 4). Au 2e dessin, on montre son croquis au voisin, qui devine le coup bas. Rire est encouragé : le dessin maladroit désamorce la gêne de se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Choisir 3 ou 4 jeux selon le groupe (40 min). En orange : les nouveaux jeux, dont les gabarits sont sur la feuille de jeux d'écriture (page 4 du PDF du zine).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Zine p. 5. Lecture à voix haute : faire sentir physiquement la différence de ton. Variante : réécrire un commentaire de réseau social fictif.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Zine p. 6. Version écrite de la règle 1 de Rapoport. Le moment de la signature est souvent émouvant : être bien compris désarme. Afficher les feuilles signées au mur.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finale du séminaire. On compile les stratagèmes du groupe dans un « Manuel du débat loyal » numéroté à partir de 39 : le zine nº 2 du groupe.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Groupes de 4, une feuille par personne, qui circule. Le jeu rend visible la dérive des idées : un bon relais garde le cœur de l'idée de départ. Discuter : qu'est-ce qui a déformé? (l'élastique, le stratagème 1, revient souvent).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Contrainte d'écriture à la manière de l'Oulipo. « Oui, mais » annule souvent ce qui précède; « oui, et » le prolonge. Les participants découvrent combien le mot revient par réflexe.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Écriture et dessin rapide combinés. Afficher les avis au mur : une galerie des créatures du groupe. Une créature inventée peut devenir la 9e du bestiaire.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format court force à choisir l'essentiel. Le mot imposé ajoute du jeu. Variante : répondre à un vrai commentaire public (anonymisé) apporté par le groupe.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Dispositif en aquarium (fishbowl). Les jetons peuvent être des trombones ou des cartes. Le prix « girouette courageuse » renverse le stigmate : changer d'avis devient un exploit.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afficher au travail, sur le frigo, ou à garder dans son portefeuille. La dernière phrase (Céder) est la plus difficile et la plus puissante. Défi de la semaine : l'utiliser une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Zine p. 7 pour l'esquisse, puis planche de talismans (3e page du PDF du zine) à découper. Matériel : ciseaux, crayons-feutres, ficelle ou épingles. Exemples de phrases-boucliers : « Je t'écoute jusqu'au bout. » « Dur sur l'idée, doux avec toi. » « J'ai peut-être tort. » « Qu'est-ce qui te ferait changer d'idée? » La variante « offert » crée un beau moment de reconnaissance mutuelle.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Écho à la question d'ouverture (« gagné un débat et perdu un ami? ») et à la bande-annonce, où l'IA fait sa propre mise à jour. Le format des notes de version dédramatise : on parle de correctifs et de bogues, pas de fautes. Rien n'est lu sans accord. Variante à deux : chacun demande à l'autre « Qu'est-ce que je pourrais mettre à jour quand on débat? » et l'inscrit dans son bogue connu.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Retour sur la question d'ouverture. Les papillons réécrits peuvent devenir une affiche collective.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Clôture. Rappeler la devise : dur sur les idées, doux avec les gens. Inviter les participants à repartir avec leur zine, leur talisman et, peut-être, une mise à jour envoyée.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Fiches d'identité. Imprimer cette diapo et couper en deux : chaque moitié devient une carte-rôle pour le bal masqué (la dernière ligne dit comment jouer la créature). Les numéros renvoient aux stratagèmes de Schopenhauer; 14 = crier victoire malgré la défaite.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680960" cy="3840480"/>
          </a:xfrm>
          <a:prstGeom prst="rect">
            <a:avLst/>
          </a:prstGeom>
          <a:noFill/>
          <a:ln/>
        </p:spPr>
        <p:txBody>
          <a:bodyPr wrap="square" rtlCol="0"/>
          <a:lstStyle>
            <a:lvl1pPr algn="l" indent="0" marL="0">
              <a:lnSpc>
                <a:spcPct val="85000"/>
              </a:lnSpc>
              <a:buNone/>
              <a:defRPr lang="en-US" sz="6600" dirty="0">
                <a:solidFill>
                  <a:schemeClr val="accent1"/>
                </a:solidFill>
              </a:defRPr>
            </a:lvl1pPr>
          </a:lstStyle>
          <a:p>
            <a:pPr algn="l" indent="0" marL="0">
              <a:lnSpc>
                <a:spcPct val="85000"/>
              </a:lnSpc>
              <a:buNone/>
            </a:pPr>
            <a:endParaRPr lang="en-US" sz="6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91840"/>
            <a:ext cx="7498080" cy="2194560"/>
          </a:xfrm>
          <a:prstGeom prst="rect">
            <a:avLst/>
          </a:prstGeom>
          <a:noFill/>
          <a:ln/>
        </p:spPr>
        <p:txBody>
          <a:bodyPr wrap="square" rtlCol="0"/>
          <a:lstStyle>
            <a:lvl1pPr algn="l" indent="0" marL="0">
              <a:buNone/>
              <a:defRPr lang="en-US" sz="5400" dirty="0">
                <a:solidFill>
                  <a:schemeClr val="bg2"/>
                </a:solidFill>
              </a:defRPr>
            </a:lvl1pPr>
          </a:lstStyle>
          <a:p>
            <a:pPr algn="l" indent="0" marL="0">
              <a:buNone/>
            </a:pPr>
            <a:endParaRPr lang="en-US" sz="5400" dirty="0"/>
          </a:p>
        </p:txBody>
      </p:sp>
      <p:sp>
        <p:nvSpPr>
          <p:cNvPr id="3" name="Text 0"/>
          <p:cNvSpPr/>
          <p:nvPr>
            <p:ph idx="101" type="body" hasCustomPrompt="1"/>
          </p:nvPr>
        </p:nvSpPr>
        <p:spPr>
          <a:xfrm>
            <a:off x="548640" y="5486400"/>
            <a:ext cx="7498080" cy="7315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rtlCol="0"/>
          <a:lstStyle>
            <a:lvl1pPr algn="l" indent="0" marL="0">
              <a:buNone/>
              <a:defRPr lang="en-US" sz="3600" dirty="0">
                <a:solidFill>
                  <a:schemeClr val="accent1"/>
                </a:solidFill>
              </a:defRPr>
            </a:lvl1pPr>
          </a:lstStyle>
          <a:p>
            <a:pPr algn="l" indent="0" marL="0">
              <a:buNone/>
            </a:pPr>
            <a:endParaRPr lang="en-US" sz="36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LA CONFRONTATION AGRÉABLE</a:t>
            </a:r>
            <a:endParaRPr lang="en-US" sz="9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UI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rtlCol="0"/>
          <a:lstStyle>
            <a:lvl1pPr algn="l" indent="0" marL="0">
              <a:buNone/>
              <a:defRPr lang="en-US" sz="3600" dirty="0">
                <a:solidFill>
                  <a:schemeClr val="accent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4.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video" Target="../media/media-17-1.mp4"/><Relationship Id="rId2" Type="http://schemas.microsoft.com/office/2007/relationships/media" Target="../media/media-17-1.mp4"/><Relationship Id="rId3" Type="http://schemas.openxmlformats.org/officeDocument/2006/relationships/image" Target="../media/image-17-3.png"/><Relationship Id="rId4" Type="http://schemas.openxmlformats.org/officeDocument/2006/relationships/video" Target="../media/media-17-4.mp4"/><Relationship Id="rId5" Type="http://schemas.microsoft.com/office/2007/relationships/media" Target="../media/media-17-4.mp4"/><Relationship Id="rId6" Type="http://schemas.openxmlformats.org/officeDocument/2006/relationships/image" Target="../media/image-17-6.png"/><Relationship Id="rId7" Type="http://schemas.openxmlformats.org/officeDocument/2006/relationships/slideLayout" Target="../slideLayouts/slideLayout4.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video" Target="../media/media-18-1.mp4"/><Relationship Id="rId2" Type="http://schemas.microsoft.com/office/2007/relationships/media" Target="../media/media-18-1.mp4"/><Relationship Id="rId3" Type="http://schemas.openxmlformats.org/officeDocument/2006/relationships/image" Target="../media/image-18-3.png"/><Relationship Id="rId4" Type="http://schemas.openxmlformats.org/officeDocument/2006/relationships/video" Target="../media/media-18-4.mp4"/><Relationship Id="rId5" Type="http://schemas.microsoft.com/office/2007/relationships/media" Target="../media/media-18-4.mp4"/><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video" Target="../media/media-19-1.mp4"/><Relationship Id="rId2" Type="http://schemas.microsoft.com/office/2007/relationships/media" Target="../media/media-19-1.mp4"/><Relationship Id="rId3" Type="http://schemas.openxmlformats.org/officeDocument/2006/relationships/image" Target="../media/image-19-3.png"/><Relationship Id="rId4" Type="http://schemas.openxmlformats.org/officeDocument/2006/relationships/video" Target="../media/media-19-4.mp4"/><Relationship Id="rId5" Type="http://schemas.microsoft.com/office/2007/relationships/media" Target="../media/media-19-4.mp4"/><Relationship Id="rId6" Type="http://schemas.openxmlformats.org/officeDocument/2006/relationships/image" Target="../media/image-19-6.png"/><Relationship Id="rId7" Type="http://schemas.openxmlformats.org/officeDocument/2006/relationships/slideLayout" Target="../slideLayouts/slideLayout4.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video" Target="../media/media-20-1.mp4"/><Relationship Id="rId2" Type="http://schemas.microsoft.com/office/2007/relationships/media" Target="../media/media-20-1.mp4"/><Relationship Id="rId3" Type="http://schemas.openxmlformats.org/officeDocument/2006/relationships/image" Target="../media/image-20-3.png"/><Relationship Id="rId4" Type="http://schemas.openxmlformats.org/officeDocument/2006/relationships/video" Target="../media/media-20-4.mp4"/><Relationship Id="rId5" Type="http://schemas.microsoft.com/office/2007/relationships/media" Target="../media/media-20-4.mp4"/><Relationship Id="rId6" Type="http://schemas.openxmlformats.org/officeDocument/2006/relationships/image" Target="../media/image-20-6.png"/><Relationship Id="rId7" Type="http://schemas.openxmlformats.org/officeDocument/2006/relationships/slideLayout" Target="../slideLayouts/slideLayout4.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4.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4.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4.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4.xml"/><Relationship Id="rId4"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6400800" cy="365760"/>
          </a:xfrm>
          <a:prstGeom prst="rect">
            <a:avLst/>
          </a:prstGeom>
          <a:noFill/>
          <a:ln/>
        </p:spPr>
        <p:txBody>
          <a:bodyPr wrap="square" lIns="0" tIns="0" rIns="0" bIns="0" rtlCol="0" anchor="t"/>
          <a:lstStyle/>
          <a:p>
            <a:pPr indent="0" marL="0">
              <a:buNone/>
            </a:pPr>
            <a:r>
              <a:rPr lang="en-US" sz="1400" b="1" spc="300" kern="0" dirty="0">
                <a:solidFill>
                  <a:schemeClr val="tx1"/>
                </a:solidFill>
                <a:latin typeface="Arial" pitchFamily="34" charset="0"/>
                <a:ea typeface="Arial" pitchFamily="34" charset="-122"/>
                <a:cs typeface="Arial" pitchFamily="34" charset="-120"/>
              </a:rPr>
              <a:t>SÉMINAIRE · 3 H · ADULTES CURIEUX</a:t>
            </a:r>
            <a:endParaRPr lang="en-US" sz="1400" dirty="0"/>
          </a:p>
        </p:txBody>
      </p:sp>
      <p:sp>
        <p:nvSpPr>
          <p:cNvPr id="3" name="Text 0"/>
          <p:cNvSpPr/>
          <p:nvPr>
            <p:ph idx="100" type="title" hasCustomPrompt="1"/>
          </p:nvPr>
        </p:nvSpPr>
        <p:spPr>
          <a:xfrm>
            <a:off x="548640" y="2103120"/>
            <a:ext cx="7680960" cy="3840480"/>
          </a:xfrm>
          <a:prstGeom prst="rect">
            <a:avLst/>
          </a:prstGeom>
          <a:noFill/>
          <a:ln/>
        </p:spPr>
        <p:txBody>
          <a:bodyPr wrap="square" lIns="0" tIns="0" rIns="0" bIns="0" rtlCol="0" anchor="t"/>
          <a:lstStyle/>
          <a:p>
            <a:pPr algn="l" indent="0" marL="0">
              <a:lnSpc>
                <a:spcPct val="85000"/>
              </a:lnSpc>
              <a:buNone/>
            </a:pPr>
            <a:r>
              <a:rPr lang="en-US" sz="6600" dirty="0">
                <a:solidFill>
                  <a:schemeClr val="accent1"/>
                </a:solidFill>
              </a:rPr>
              <a:t>LA</a:t>
            </a:r>
            <a:endParaRPr lang="en-US" sz="6600" dirty="0"/>
          </a:p>
          <a:p>
            <a:pPr algn="l" indent="0" marL="0">
              <a:lnSpc>
                <a:spcPct val="85000"/>
              </a:lnSpc>
              <a:buNone/>
            </a:pPr>
            <a:r>
              <a:rPr lang="en-US" sz="6600" dirty="0">
                <a:solidFill>
                  <a:schemeClr val="accent1"/>
                </a:solidFill>
              </a:rPr>
              <a:t>CONFRON-</a:t>
            </a:r>
            <a:endParaRPr lang="en-US" sz="6600" dirty="0"/>
          </a:p>
          <a:p>
            <a:pPr algn="l" indent="0" marL="0">
              <a:lnSpc>
                <a:spcPct val="85000"/>
              </a:lnSpc>
              <a:buNone/>
            </a:pPr>
            <a:r>
              <a:rPr lang="en-US" sz="6600" dirty="0">
                <a:solidFill>
                  <a:schemeClr val="accent1"/>
                </a:solidFill>
              </a:rPr>
              <a:t>TATION</a:t>
            </a:r>
            <a:endParaRPr lang="en-US" sz="6600" dirty="0"/>
          </a:p>
          <a:p>
            <a:pPr algn="l" indent="0" marL="0">
              <a:lnSpc>
                <a:spcPct val="85000"/>
              </a:lnSpc>
              <a:buNone/>
            </a:pPr>
            <a:r>
              <a:rPr lang="en-US" sz="6600" dirty="0">
                <a:solidFill>
                  <a:schemeClr val="accent1"/>
                </a:solidFill>
              </a:rPr>
              <a:t>AGRÉABLE</a:t>
            </a:r>
            <a:endParaRPr lang="en-US" sz="6600" dirty="0"/>
          </a:p>
        </p:txBody>
      </p:sp>
      <p:pic>
        <p:nvPicPr>
          <p:cNvPr id="4" name="sauteur" descr="preencoded.png">    </p:cNvPr>
          <p:cNvPicPr>
            <a:picLocks noChangeAspect="1"/>
          </p:cNvPicPr>
          <p:nvPr/>
        </p:nvPicPr>
        <p:blipFill>
          <a:blip r:embed="rId1"/>
          <a:stretch>
            <a:fillRect/>
          </a:stretch>
        </p:blipFill>
        <p:spPr>
          <a:xfrm rot="480000">
            <a:off x="7589520" y="182880"/>
            <a:ext cx="4206240" cy="5074920"/>
          </a:xfrm>
          <a:prstGeom prst="rect">
            <a:avLst/>
          </a:prstGeom>
        </p:spPr>
      </p:pic>
      <p:sp>
        <p:nvSpPr>
          <p:cNvPr id="5" name="Text 2"/>
          <p:cNvSpPr txBox="1"/>
          <p:nvPr/>
        </p:nvSpPr>
        <p:spPr>
          <a:xfrm>
            <a:off x="8778240" y="5257800"/>
            <a:ext cx="2926080" cy="1097280"/>
          </a:xfrm>
          <a:prstGeom prst="rect">
            <a:avLst/>
          </a:prstGeom>
          <a:noFill/>
          <a:ln/>
        </p:spPr>
        <p:txBody>
          <a:bodyPr wrap="square" lIns="0" tIns="0" rIns="0" bIns="0" rtlCol="0" anchor="t"/>
          <a:lstStyle/>
          <a:p>
            <a:pPr algn="l" indent="0" marL="0">
              <a:buNone/>
            </a:pPr>
            <a:r>
              <a:rPr lang="en-US" sz="1800" b="1" dirty="0">
                <a:solidFill>
                  <a:schemeClr val="tx1"/>
                </a:solidFill>
                <a:latin typeface="Arial" pitchFamily="34" charset="0"/>
                <a:ea typeface="Arial" pitchFamily="34" charset="-122"/>
                <a:cs typeface="Arial" pitchFamily="34" charset="-120"/>
              </a:rPr>
              <a:t>Dur sur les idées.</a:t>
            </a:r>
            <a:endParaRPr lang="en-US" sz="1800" dirty="0"/>
          </a:p>
          <a:p>
            <a:pPr algn="l" indent="0" marL="0">
              <a:buNone/>
            </a:pPr>
            <a:r>
              <a:rPr lang="en-US" sz="1800" b="1" dirty="0">
                <a:solidFill>
                  <a:schemeClr val="tx1"/>
                </a:solidFill>
                <a:latin typeface="Arial" pitchFamily="34" charset="0"/>
                <a:ea typeface="Arial" pitchFamily="34" charset="-122"/>
                <a:cs typeface="Arial" pitchFamily="34" charset="-120"/>
              </a:rPr>
              <a:t>Doux avec les gens.</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450" fill="hold"/>
                                  <p:tgtEl>
                                    <p:spTgt spid="2"/>
                                  </p:tgtEl>
                                  <p:attrNameLst>
                                    <p:attrName>ppt_w</p:attrName>
                                  </p:attrNameLst>
                                </p:cBhvr>
                                <p:tavLst>
                                  <p:tav tm="0">
                                    <p:val>
                                      <p:strVal val="#ppt_w*0.85"/>
                                    </p:val>
                                  </p:tav>
                                  <p:tav tm="100000">
                                    <p:val>
                                      <p:strVal val="#ppt_w"/>
                                    </p:val>
                                  </p:tav>
                                </p:tavLst>
                              </p:anim>
                              <p:animEffect transition="in" filter="fade">
                                <p:cBhvr>
                                  <p:cTn id="7" dur="450"/>
                                  <p:tgtEl>
                                    <p:spTgt spid="2"/>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2"/>
                </a:solidFill>
              </a:rPr>
              <a:t>Question d'entrée</a:t>
            </a:r>
            <a:endParaRPr lang="en-US" sz="3600" dirty="0"/>
          </a:p>
        </p:txBody>
      </p:sp>
      <p:sp>
        <p:nvSpPr>
          <p:cNvPr id="3" name="Text 1"/>
          <p:cNvSpPr txBox="1"/>
          <p:nvPr/>
        </p:nvSpPr>
        <p:spPr>
          <a:xfrm>
            <a:off x="548640" y="1737360"/>
            <a:ext cx="7863840" cy="2377440"/>
          </a:xfrm>
          <a:prstGeom prst="rect">
            <a:avLst/>
          </a:prstGeom>
          <a:noFill/>
          <a:ln/>
        </p:spPr>
        <p:txBody>
          <a:bodyPr wrap="square" lIns="0" tIns="0" rIns="0" bIns="0" rtlCol="0" anchor="t"/>
          <a:lstStyle/>
          <a:p>
            <a:pPr indent="0" marL="0">
              <a:lnSpc>
                <a:spcPct val="95000"/>
              </a:lnSpc>
              <a:buNone/>
            </a:pPr>
            <a:r>
              <a:rPr lang="en-US" sz="4800" dirty="0">
                <a:solidFill>
                  <a:schemeClr val="bg2"/>
                </a:solidFill>
                <a:latin typeface="Rockwell Extra Bold" pitchFamily="34" charset="0"/>
                <a:ea typeface="Rockwell Extra Bold" pitchFamily="34" charset="-122"/>
                <a:cs typeface="Rockwell Extra Bold" pitchFamily="34" charset="-120"/>
              </a:rPr>
              <a:t>As-tu déjà gagné un débat…</a:t>
            </a:r>
            <a:endParaRPr lang="en-US" sz="4800" dirty="0"/>
          </a:p>
          <a:p>
            <a:pPr indent="0" marL="0">
              <a:lnSpc>
                <a:spcPct val="95000"/>
              </a:lnSpc>
              <a:buNone/>
            </a:pPr>
            <a:r>
              <a:rPr lang="en-US" sz="4800" dirty="0">
                <a:solidFill>
                  <a:schemeClr val="bg2"/>
                </a:solidFill>
                <a:latin typeface="Rockwell Extra Bold" pitchFamily="34" charset="0"/>
                <a:ea typeface="Rockwell Extra Bold" pitchFamily="34" charset="-122"/>
                <a:cs typeface="Rockwell Extra Bold" pitchFamily="34" charset="-120"/>
              </a:rPr>
              <a:t>et perdu un ami?</a:t>
            </a:r>
            <a:endParaRPr lang="en-US" sz="4800" dirty="0"/>
          </a:p>
        </p:txBody>
      </p:sp>
      <p:sp>
        <p:nvSpPr>
          <p:cNvPr id="4" name="Text 2"/>
          <p:cNvSpPr txBox="1"/>
          <p:nvPr/>
        </p:nvSpPr>
        <p:spPr>
          <a:xfrm>
            <a:off x="548640" y="4754880"/>
            <a:ext cx="6949440" cy="82296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Écris ta réponse sur un papillon adhésif. Pas de nom. On les colle sur le « mur des cicatrices », on les relira à la fin.</a:t>
            </a:r>
            <a:endParaRPr lang="en-US" sz="1600" dirty="0"/>
          </a:p>
        </p:txBody>
      </p:sp>
      <p:pic>
        <p:nvPicPr>
          <p:cNvPr id="5" name="Image 0" descr="preencoded.png">    </p:cNvPr>
          <p:cNvPicPr>
            <a:picLocks noChangeAspect="1"/>
          </p:cNvPicPr>
          <p:nvPr/>
        </p:nvPicPr>
        <p:blipFill>
          <a:blip r:embed="rId1"/>
          <a:stretch>
            <a:fillRect/>
          </a:stretch>
        </p:blipFill>
        <p:spPr>
          <a:xfrm>
            <a:off x="8503920" y="1463040"/>
            <a:ext cx="1600200" cy="1920240"/>
          </a:xfrm>
          <a:prstGeom prst="rect">
            <a:avLst/>
          </a:prstGeom>
        </p:spPr>
      </p:pic>
      <p:pic>
        <p:nvPicPr>
          <p:cNvPr id="6" name="Image 1" descr="preencoded.png">    </p:cNvPr>
          <p:cNvPicPr>
            <a:picLocks noChangeAspect="1"/>
          </p:cNvPicPr>
          <p:nvPr/>
        </p:nvPicPr>
        <p:blipFill>
          <a:blip r:embed="rId2"/>
          <a:stretch>
            <a:fillRect/>
          </a:stretch>
        </p:blipFill>
        <p:spPr>
          <a:xfrm>
            <a:off x="10058400" y="1463040"/>
            <a:ext cx="1600200" cy="1920240"/>
          </a:xfrm>
          <a:prstGeom prst="rect">
            <a:avLst/>
          </a:prstGeom>
        </p:spPr>
      </p:pic>
      <p:pic>
        <p:nvPicPr>
          <p:cNvPr id="7" name="Image 2" descr="preencoded.png">    </p:cNvPr>
          <p:cNvPicPr>
            <a:picLocks noChangeAspect="1"/>
          </p:cNvPicPr>
          <p:nvPr/>
        </p:nvPicPr>
        <p:blipFill>
          <a:blip r:embed="rId3"/>
          <a:stretch>
            <a:fillRect/>
          </a:stretch>
        </p:blipFill>
        <p:spPr>
          <a:xfrm>
            <a:off x="9281160" y="3657600"/>
            <a:ext cx="1600200" cy="1920240"/>
          </a:xfrm>
          <a:prstGeom prst="rect">
            <a:avLst/>
          </a:prstGeom>
        </p:spPr>
      </p:pic>
      <p:sp>
        <p:nvSpPr>
          <p:cNvPr id="8" name="Shape 3"/>
          <p:cNvSpPr/>
          <p:nvPr/>
        </p:nvSpPr>
        <p:spPr>
          <a:xfrm>
            <a:off x="9966960" y="411480"/>
            <a:ext cx="1645920" cy="457200"/>
          </a:xfrm>
          <a:prstGeom prst="roundRect">
            <a:avLst>
              <a:gd name="adj" fmla="val 50000"/>
            </a:avLst>
          </a:prstGeom>
          <a:solidFill>
            <a:schemeClr val="accent2"/>
          </a:solidFill>
          <a:ln/>
        </p:spPr>
      </p:sp>
      <p:sp>
        <p:nvSpPr>
          <p:cNvPr id="9" name="Text 4"/>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tx1"/>
                </a:solidFill>
              </a:rPr>
              <a:t>⏱ 3 min</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parcours de la séance</a:t>
            </a:r>
            <a:endParaRPr lang="en-US" sz="3600" dirty="0"/>
          </a:p>
        </p:txBody>
      </p:sp>
      <p:sp>
        <p:nvSpPr>
          <p:cNvPr id="3" name="Shape 1"/>
          <p:cNvSpPr/>
          <p:nvPr/>
        </p:nvSpPr>
        <p:spPr>
          <a:xfrm>
            <a:off x="1143000" y="1600200"/>
            <a:ext cx="640080" cy="640080"/>
          </a:xfrm>
          <a:prstGeom prst="ellipse">
            <a:avLst/>
          </a:prstGeom>
          <a:solidFill>
            <a:schemeClr val="accent1"/>
          </a:solidFill>
          <a:ln w="19050">
            <a:solidFill>
              <a:schemeClr val="tx1"/>
            </a:solidFill>
            <a:prstDash val="solid"/>
          </a:ln>
        </p:spPr>
      </p:sp>
      <p:sp>
        <p:nvSpPr>
          <p:cNvPr id="4" name="Text 2"/>
          <p:cNvSpPr txBox="1"/>
          <p:nvPr/>
        </p:nvSpPr>
        <p:spPr>
          <a:xfrm>
            <a:off x="1143000" y="160020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0</a:t>
            </a:r>
            <a:endParaRPr lang="en-US" sz="2400" dirty="0"/>
          </a:p>
        </p:txBody>
      </p:sp>
      <p:sp>
        <p:nvSpPr>
          <p:cNvPr id="5" name="Shape 3"/>
          <p:cNvSpPr/>
          <p:nvPr/>
        </p:nvSpPr>
        <p:spPr>
          <a:xfrm>
            <a:off x="1828800" y="1920240"/>
            <a:ext cx="1234440" cy="0"/>
          </a:xfrm>
          <a:prstGeom prst="line">
            <a:avLst/>
          </a:prstGeom>
          <a:noFill/>
          <a:ln w="25400">
            <a:solidFill>
              <a:schemeClr val="tx1"/>
            </a:solidFill>
            <a:prstDash val="dash"/>
          </a:ln>
        </p:spPr>
      </p:sp>
      <p:sp>
        <p:nvSpPr>
          <p:cNvPr id="6" name="Shape 4"/>
          <p:cNvSpPr/>
          <p:nvPr/>
        </p:nvSpPr>
        <p:spPr>
          <a:xfrm>
            <a:off x="548640" y="2514600"/>
            <a:ext cx="1691640" cy="3017520"/>
          </a:xfrm>
          <a:prstGeom prst="rect">
            <a:avLst/>
          </a:prstGeom>
          <a:solidFill>
            <a:schemeClr val="bg1"/>
          </a:solidFill>
          <a:ln w="25400">
            <a:solidFill>
              <a:schemeClr val="tx1"/>
            </a:solidFill>
            <a:prstDash val="solid"/>
          </a:ln>
        </p:spPr>
      </p:sp>
      <p:sp>
        <p:nvSpPr>
          <p:cNvPr id="7" name="Text 5"/>
          <p:cNvSpPr txBox="1"/>
          <p:nvPr/>
        </p:nvSpPr>
        <p:spPr>
          <a:xfrm>
            <a:off x="68580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Échauffement</a:t>
            </a:r>
            <a:endParaRPr lang="en-US" sz="1500" dirty="0"/>
          </a:p>
        </p:txBody>
      </p:sp>
      <p:sp>
        <p:nvSpPr>
          <p:cNvPr id="8" name="Text 6"/>
          <p:cNvSpPr txBox="1"/>
          <p:nvPr/>
        </p:nvSpPr>
        <p:spPr>
          <a:xfrm>
            <a:off x="68580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Zine, ligne qui bouge, course à trois jambes</a:t>
            </a:r>
            <a:endParaRPr lang="en-US" sz="1300" dirty="0"/>
          </a:p>
        </p:txBody>
      </p:sp>
      <p:sp>
        <p:nvSpPr>
          <p:cNvPr id="9" name="Text 7"/>
          <p:cNvSpPr txBox="1"/>
          <p:nvPr/>
        </p:nvSpPr>
        <p:spPr>
          <a:xfrm>
            <a:off x="68580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25 min</a:t>
            </a:r>
            <a:endParaRPr lang="en-US" sz="1400" dirty="0"/>
          </a:p>
        </p:txBody>
      </p:sp>
      <p:sp>
        <p:nvSpPr>
          <p:cNvPr id="10" name="Shape 8"/>
          <p:cNvSpPr/>
          <p:nvPr/>
        </p:nvSpPr>
        <p:spPr>
          <a:xfrm>
            <a:off x="3017520" y="1600200"/>
            <a:ext cx="640080" cy="640080"/>
          </a:xfrm>
          <a:prstGeom prst="ellipse">
            <a:avLst/>
          </a:prstGeom>
          <a:solidFill>
            <a:schemeClr val="accent2"/>
          </a:solidFill>
          <a:ln w="19050">
            <a:solidFill>
              <a:schemeClr val="tx1"/>
            </a:solidFill>
            <a:prstDash val="solid"/>
          </a:ln>
        </p:spPr>
      </p:sp>
      <p:sp>
        <p:nvSpPr>
          <p:cNvPr id="11" name="Text 9"/>
          <p:cNvSpPr txBox="1"/>
          <p:nvPr/>
        </p:nvSpPr>
        <p:spPr>
          <a:xfrm>
            <a:off x="3017520" y="1600200"/>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1</a:t>
            </a:r>
            <a:endParaRPr lang="en-US" sz="2400" dirty="0"/>
          </a:p>
        </p:txBody>
      </p:sp>
      <p:sp>
        <p:nvSpPr>
          <p:cNvPr id="12" name="Shape 10"/>
          <p:cNvSpPr/>
          <p:nvPr/>
        </p:nvSpPr>
        <p:spPr>
          <a:xfrm>
            <a:off x="3703320" y="1920240"/>
            <a:ext cx="1234440" cy="0"/>
          </a:xfrm>
          <a:prstGeom prst="line">
            <a:avLst/>
          </a:prstGeom>
          <a:noFill/>
          <a:ln w="25400">
            <a:solidFill>
              <a:schemeClr val="tx1"/>
            </a:solidFill>
            <a:prstDash val="dash"/>
          </a:ln>
        </p:spPr>
      </p:sp>
      <p:sp>
        <p:nvSpPr>
          <p:cNvPr id="13" name="Shape 11"/>
          <p:cNvSpPr/>
          <p:nvPr/>
        </p:nvSpPr>
        <p:spPr>
          <a:xfrm>
            <a:off x="2423160" y="2514600"/>
            <a:ext cx="1691640" cy="3017520"/>
          </a:xfrm>
          <a:prstGeom prst="rect">
            <a:avLst/>
          </a:prstGeom>
          <a:solidFill>
            <a:schemeClr val="bg1"/>
          </a:solidFill>
          <a:ln w="25400">
            <a:solidFill>
              <a:schemeClr val="tx1"/>
            </a:solidFill>
            <a:prstDash val="solid"/>
          </a:ln>
        </p:spPr>
      </p:sp>
      <p:sp>
        <p:nvSpPr>
          <p:cNvPr id="14" name="Text 12"/>
          <p:cNvSpPr txBox="1"/>
          <p:nvPr/>
        </p:nvSpPr>
        <p:spPr>
          <a:xfrm>
            <a:off x="256032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Les coups bas</a:t>
            </a:r>
            <a:endParaRPr lang="en-US" sz="1500" dirty="0"/>
          </a:p>
        </p:txBody>
      </p:sp>
      <p:sp>
        <p:nvSpPr>
          <p:cNvPr id="15" name="Text 13"/>
          <p:cNvSpPr txBox="1"/>
          <p:nvPr/>
        </p:nvSpPr>
        <p:spPr>
          <a:xfrm>
            <a:off x="256032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Coche-les, dur/doux, pyramide</a:t>
            </a:r>
            <a:endParaRPr lang="en-US" sz="1300" dirty="0"/>
          </a:p>
        </p:txBody>
      </p:sp>
      <p:sp>
        <p:nvSpPr>
          <p:cNvPr id="16" name="Text 14"/>
          <p:cNvSpPr txBox="1"/>
          <p:nvPr/>
        </p:nvSpPr>
        <p:spPr>
          <a:xfrm>
            <a:off x="256032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20 min</a:t>
            </a:r>
            <a:endParaRPr lang="en-US" sz="1400" dirty="0"/>
          </a:p>
        </p:txBody>
      </p:sp>
      <p:sp>
        <p:nvSpPr>
          <p:cNvPr id="17" name="Shape 15"/>
          <p:cNvSpPr/>
          <p:nvPr/>
        </p:nvSpPr>
        <p:spPr>
          <a:xfrm>
            <a:off x="4892040" y="1600200"/>
            <a:ext cx="640080" cy="640080"/>
          </a:xfrm>
          <a:prstGeom prst="ellipse">
            <a:avLst/>
          </a:prstGeom>
          <a:solidFill>
            <a:schemeClr val="accent1"/>
          </a:solidFill>
          <a:ln w="19050">
            <a:solidFill>
              <a:schemeClr val="tx1"/>
            </a:solidFill>
            <a:prstDash val="solid"/>
          </a:ln>
        </p:spPr>
      </p:sp>
      <p:sp>
        <p:nvSpPr>
          <p:cNvPr id="18" name="Text 16"/>
          <p:cNvSpPr txBox="1"/>
          <p:nvPr/>
        </p:nvSpPr>
        <p:spPr>
          <a:xfrm>
            <a:off x="4892040" y="160020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2</a:t>
            </a:r>
            <a:endParaRPr lang="en-US" sz="2400" dirty="0"/>
          </a:p>
        </p:txBody>
      </p:sp>
      <p:sp>
        <p:nvSpPr>
          <p:cNvPr id="19" name="Shape 17"/>
          <p:cNvSpPr/>
          <p:nvPr/>
        </p:nvSpPr>
        <p:spPr>
          <a:xfrm>
            <a:off x="5577840" y="1920240"/>
            <a:ext cx="1234440" cy="0"/>
          </a:xfrm>
          <a:prstGeom prst="line">
            <a:avLst/>
          </a:prstGeom>
          <a:noFill/>
          <a:ln w="25400">
            <a:solidFill>
              <a:schemeClr val="tx1"/>
            </a:solidFill>
            <a:prstDash val="dash"/>
          </a:ln>
        </p:spPr>
      </p:sp>
      <p:sp>
        <p:nvSpPr>
          <p:cNvPr id="20" name="Shape 18"/>
          <p:cNvSpPr/>
          <p:nvPr/>
        </p:nvSpPr>
        <p:spPr>
          <a:xfrm>
            <a:off x="4297680" y="2514600"/>
            <a:ext cx="1691640" cy="3017520"/>
          </a:xfrm>
          <a:prstGeom prst="rect">
            <a:avLst/>
          </a:prstGeom>
          <a:solidFill>
            <a:schemeClr val="bg1"/>
          </a:solidFill>
          <a:ln w="25400">
            <a:solidFill>
              <a:schemeClr val="tx1"/>
            </a:solidFill>
            <a:prstDash val="solid"/>
          </a:ln>
        </p:spPr>
      </p:sp>
      <p:sp>
        <p:nvSpPr>
          <p:cNvPr id="21" name="Text 19"/>
          <p:cNvSpPr txBox="1"/>
          <p:nvPr/>
        </p:nvSpPr>
        <p:spPr>
          <a:xfrm>
            <a:off x="443484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bestiaire</a:t>
            </a:r>
            <a:endParaRPr lang="en-US" sz="1500" dirty="0"/>
          </a:p>
        </p:txBody>
      </p:sp>
      <p:sp>
        <p:nvSpPr>
          <p:cNvPr id="22" name="Text 20"/>
          <p:cNvSpPr txBox="1"/>
          <p:nvPr/>
        </p:nvSpPr>
        <p:spPr>
          <a:xfrm>
            <a:off x="443484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Croquis-éclair, bal masqué, bingo</a:t>
            </a:r>
            <a:endParaRPr lang="en-US" sz="1300" dirty="0"/>
          </a:p>
        </p:txBody>
      </p:sp>
      <p:sp>
        <p:nvSpPr>
          <p:cNvPr id="23" name="Text 21"/>
          <p:cNvSpPr txBox="1"/>
          <p:nvPr/>
        </p:nvSpPr>
        <p:spPr>
          <a:xfrm>
            <a:off x="443484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40 min</a:t>
            </a:r>
            <a:endParaRPr lang="en-US" sz="1400" dirty="0"/>
          </a:p>
        </p:txBody>
      </p:sp>
      <p:sp>
        <p:nvSpPr>
          <p:cNvPr id="24" name="Shape 22"/>
          <p:cNvSpPr/>
          <p:nvPr/>
        </p:nvSpPr>
        <p:spPr>
          <a:xfrm>
            <a:off x="6766560" y="1600200"/>
            <a:ext cx="640080" cy="640080"/>
          </a:xfrm>
          <a:prstGeom prst="ellipse">
            <a:avLst/>
          </a:prstGeom>
          <a:solidFill>
            <a:schemeClr val="accent2"/>
          </a:solidFill>
          <a:ln w="19050">
            <a:solidFill>
              <a:schemeClr val="tx1"/>
            </a:solidFill>
            <a:prstDash val="solid"/>
          </a:ln>
        </p:spPr>
      </p:sp>
      <p:sp>
        <p:nvSpPr>
          <p:cNvPr id="25" name="Text 23"/>
          <p:cNvSpPr txBox="1"/>
          <p:nvPr/>
        </p:nvSpPr>
        <p:spPr>
          <a:xfrm>
            <a:off x="6766560" y="1600200"/>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3</a:t>
            </a:r>
            <a:endParaRPr lang="en-US" sz="2400" dirty="0"/>
          </a:p>
        </p:txBody>
      </p:sp>
      <p:sp>
        <p:nvSpPr>
          <p:cNvPr id="26" name="Shape 24"/>
          <p:cNvSpPr/>
          <p:nvPr/>
        </p:nvSpPr>
        <p:spPr>
          <a:xfrm>
            <a:off x="7452360" y="1920240"/>
            <a:ext cx="1234440" cy="0"/>
          </a:xfrm>
          <a:prstGeom prst="line">
            <a:avLst/>
          </a:prstGeom>
          <a:noFill/>
          <a:ln w="25400">
            <a:solidFill>
              <a:schemeClr val="tx1"/>
            </a:solidFill>
            <a:prstDash val="dash"/>
          </a:ln>
        </p:spPr>
      </p:sp>
      <p:sp>
        <p:nvSpPr>
          <p:cNvPr id="27" name="Shape 25"/>
          <p:cNvSpPr/>
          <p:nvPr/>
        </p:nvSpPr>
        <p:spPr>
          <a:xfrm>
            <a:off x="6172200" y="2514600"/>
            <a:ext cx="1691640" cy="3017520"/>
          </a:xfrm>
          <a:prstGeom prst="rect">
            <a:avLst/>
          </a:prstGeom>
          <a:solidFill>
            <a:schemeClr val="bg1"/>
          </a:solidFill>
          <a:ln w="25400">
            <a:solidFill>
              <a:schemeClr val="tx1"/>
            </a:solidFill>
            <a:prstDash val="solid"/>
          </a:ln>
        </p:spPr>
      </p:sp>
      <p:sp>
        <p:nvSpPr>
          <p:cNvPr id="28" name="Text 26"/>
          <p:cNvSpPr txBox="1"/>
          <p:nvPr/>
        </p:nvSpPr>
        <p:spPr>
          <a:xfrm>
            <a:off x="630936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Écrire</a:t>
            </a:r>
            <a:endParaRPr lang="en-US" sz="1500" dirty="0"/>
          </a:p>
        </p:txBody>
      </p:sp>
      <p:sp>
        <p:nvSpPr>
          <p:cNvPr id="29" name="Text 27"/>
          <p:cNvSpPr txBox="1"/>
          <p:nvPr/>
        </p:nvSpPr>
        <p:spPr>
          <a:xfrm>
            <a:off x="630936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Menu de 7 jeux d'écriture</a:t>
            </a:r>
            <a:endParaRPr lang="en-US" sz="1300" dirty="0"/>
          </a:p>
        </p:txBody>
      </p:sp>
      <p:sp>
        <p:nvSpPr>
          <p:cNvPr id="30" name="Text 28"/>
          <p:cNvSpPr txBox="1"/>
          <p:nvPr/>
        </p:nvSpPr>
        <p:spPr>
          <a:xfrm>
            <a:off x="630936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40 min</a:t>
            </a:r>
            <a:endParaRPr lang="en-US" sz="1400" dirty="0"/>
          </a:p>
        </p:txBody>
      </p:sp>
      <p:sp>
        <p:nvSpPr>
          <p:cNvPr id="31" name="Shape 29"/>
          <p:cNvSpPr/>
          <p:nvPr/>
        </p:nvSpPr>
        <p:spPr>
          <a:xfrm>
            <a:off x="8641080" y="1600200"/>
            <a:ext cx="640080" cy="640080"/>
          </a:xfrm>
          <a:prstGeom prst="ellipse">
            <a:avLst/>
          </a:prstGeom>
          <a:solidFill>
            <a:schemeClr val="accent1"/>
          </a:solidFill>
          <a:ln w="19050">
            <a:solidFill>
              <a:schemeClr val="tx1"/>
            </a:solidFill>
            <a:prstDash val="solid"/>
          </a:ln>
        </p:spPr>
      </p:sp>
      <p:sp>
        <p:nvSpPr>
          <p:cNvPr id="32" name="Text 30"/>
          <p:cNvSpPr txBox="1"/>
          <p:nvPr/>
        </p:nvSpPr>
        <p:spPr>
          <a:xfrm>
            <a:off x="8641080" y="160020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4</a:t>
            </a:r>
            <a:endParaRPr lang="en-US" sz="2400" dirty="0"/>
          </a:p>
        </p:txBody>
      </p:sp>
      <p:sp>
        <p:nvSpPr>
          <p:cNvPr id="33" name="Shape 31"/>
          <p:cNvSpPr/>
          <p:nvPr/>
        </p:nvSpPr>
        <p:spPr>
          <a:xfrm>
            <a:off x="9326880" y="1920240"/>
            <a:ext cx="1234440" cy="0"/>
          </a:xfrm>
          <a:prstGeom prst="line">
            <a:avLst/>
          </a:prstGeom>
          <a:noFill/>
          <a:ln w="25400">
            <a:solidFill>
              <a:schemeClr val="tx1"/>
            </a:solidFill>
            <a:prstDash val="dash"/>
          </a:ln>
        </p:spPr>
      </p:sp>
      <p:sp>
        <p:nvSpPr>
          <p:cNvPr id="34" name="Shape 32"/>
          <p:cNvSpPr/>
          <p:nvPr/>
        </p:nvSpPr>
        <p:spPr>
          <a:xfrm>
            <a:off x="8046720" y="2514600"/>
            <a:ext cx="1691640" cy="3017520"/>
          </a:xfrm>
          <a:prstGeom prst="rect">
            <a:avLst/>
          </a:prstGeom>
          <a:solidFill>
            <a:schemeClr val="bg1"/>
          </a:solidFill>
          <a:ln w="25400">
            <a:solidFill>
              <a:schemeClr val="tx1"/>
            </a:solidFill>
            <a:prstDash val="solid"/>
          </a:ln>
        </p:spPr>
      </p:sp>
      <p:sp>
        <p:nvSpPr>
          <p:cNvPr id="35" name="Text 33"/>
          <p:cNvSpPr txBox="1"/>
          <p:nvPr/>
        </p:nvSpPr>
        <p:spPr>
          <a:xfrm>
            <a:off x="818388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L'arène</a:t>
            </a:r>
            <a:endParaRPr lang="en-US" sz="1500" dirty="0"/>
          </a:p>
        </p:txBody>
      </p:sp>
      <p:sp>
        <p:nvSpPr>
          <p:cNvPr id="36" name="Text 34"/>
          <p:cNvSpPr txBox="1"/>
          <p:nvPr/>
        </p:nvSpPr>
        <p:spPr>
          <a:xfrm>
            <a:off x="818388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Aquarium à jetons</a:t>
            </a:r>
            <a:endParaRPr lang="en-US" sz="1300" dirty="0"/>
          </a:p>
        </p:txBody>
      </p:sp>
      <p:sp>
        <p:nvSpPr>
          <p:cNvPr id="37" name="Text 35"/>
          <p:cNvSpPr txBox="1"/>
          <p:nvPr/>
        </p:nvSpPr>
        <p:spPr>
          <a:xfrm>
            <a:off x="818388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20 min</a:t>
            </a:r>
            <a:endParaRPr lang="en-US" sz="1400" dirty="0"/>
          </a:p>
        </p:txBody>
      </p:sp>
      <p:sp>
        <p:nvSpPr>
          <p:cNvPr id="38" name="Shape 36"/>
          <p:cNvSpPr/>
          <p:nvPr/>
        </p:nvSpPr>
        <p:spPr>
          <a:xfrm>
            <a:off x="10515600" y="1600200"/>
            <a:ext cx="640080" cy="640080"/>
          </a:xfrm>
          <a:prstGeom prst="ellipse">
            <a:avLst/>
          </a:prstGeom>
          <a:solidFill>
            <a:schemeClr val="accent2"/>
          </a:solidFill>
          <a:ln w="19050">
            <a:solidFill>
              <a:schemeClr val="tx1"/>
            </a:solidFill>
            <a:prstDash val="solid"/>
          </a:ln>
        </p:spPr>
      </p:sp>
      <p:sp>
        <p:nvSpPr>
          <p:cNvPr id="39" name="Text 37"/>
          <p:cNvSpPr txBox="1"/>
          <p:nvPr/>
        </p:nvSpPr>
        <p:spPr>
          <a:xfrm>
            <a:off x="10515600" y="1600200"/>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5</a:t>
            </a:r>
            <a:endParaRPr lang="en-US" sz="2400" dirty="0"/>
          </a:p>
        </p:txBody>
      </p:sp>
      <p:sp>
        <p:nvSpPr>
          <p:cNvPr id="40" name="Shape 38"/>
          <p:cNvSpPr/>
          <p:nvPr/>
        </p:nvSpPr>
        <p:spPr>
          <a:xfrm>
            <a:off x="9921240" y="2514600"/>
            <a:ext cx="1691640" cy="3017520"/>
          </a:xfrm>
          <a:prstGeom prst="rect">
            <a:avLst/>
          </a:prstGeom>
          <a:solidFill>
            <a:schemeClr val="bg1"/>
          </a:solidFill>
          <a:ln w="25400">
            <a:solidFill>
              <a:schemeClr val="tx1"/>
            </a:solidFill>
            <a:prstDash val="solid"/>
          </a:ln>
        </p:spPr>
      </p:sp>
      <p:sp>
        <p:nvSpPr>
          <p:cNvPr id="41" name="Text 39"/>
          <p:cNvSpPr txBox="1"/>
          <p:nvPr/>
        </p:nvSpPr>
        <p:spPr>
          <a:xfrm>
            <a:off x="10058400" y="2651760"/>
            <a:ext cx="1417320" cy="868680"/>
          </a:xfrm>
          <a:prstGeom prst="rect">
            <a:avLst/>
          </a:prstGeom>
          <a:noFill/>
          <a:ln/>
        </p:spPr>
        <p:txBody>
          <a:bodyPr wrap="square" lIns="0" tIns="0" rIns="0" bIns="0" rtlCol="0" anchor="t"/>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Repartir avec</a:t>
            </a:r>
            <a:endParaRPr lang="en-US" sz="1500" dirty="0"/>
          </a:p>
        </p:txBody>
      </p:sp>
      <p:sp>
        <p:nvSpPr>
          <p:cNvPr id="42" name="Text 40"/>
          <p:cNvSpPr txBox="1"/>
          <p:nvPr/>
        </p:nvSpPr>
        <p:spPr>
          <a:xfrm>
            <a:off x="10058400" y="3566160"/>
            <a:ext cx="1417320" cy="128016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Talisman, mise à jour relationnelle</a:t>
            </a:r>
            <a:endParaRPr lang="en-US" sz="1300" dirty="0"/>
          </a:p>
        </p:txBody>
      </p:sp>
      <p:sp>
        <p:nvSpPr>
          <p:cNvPr id="43" name="Text 41"/>
          <p:cNvSpPr txBox="1"/>
          <p:nvPr/>
        </p:nvSpPr>
        <p:spPr>
          <a:xfrm>
            <a:off x="10058400" y="5029200"/>
            <a:ext cx="141732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35 min</a:t>
            </a:r>
            <a:endParaRPr lang="en-US" sz="1400" dirty="0"/>
          </a:p>
        </p:txBody>
      </p:sp>
      <p:sp>
        <p:nvSpPr>
          <p:cNvPr id="44" name="Text 42"/>
          <p:cNvSpPr txBox="1"/>
          <p:nvPr/>
        </p:nvSpPr>
        <p:spPr>
          <a:xfrm>
            <a:off x="548640" y="5760720"/>
            <a:ext cx="11064240" cy="411480"/>
          </a:xfrm>
          <a:prstGeom prst="rect">
            <a:avLst/>
          </a:prstGeom>
          <a:noFill/>
          <a:ln/>
        </p:spPr>
        <p:txBody>
          <a:bodyPr wrap="square" lIns="0" tIns="0" rIns="0" bIns="0" rtlCol="0" anchor="t"/>
          <a:lstStyle/>
          <a:p>
            <a:pPr indent="0" marL="0">
              <a:buNone/>
            </a:pPr>
            <a:r>
              <a:rPr lang="en-US" sz="1500" b="1" dirty="0">
                <a:solidFill>
                  <a:schemeClr val="accent1"/>
                </a:solidFill>
                <a:latin typeface="Arial" pitchFamily="34" charset="0"/>
                <a:ea typeface="Arial" pitchFamily="34" charset="-122"/>
                <a:cs typeface="Arial" pitchFamily="34" charset="-120"/>
              </a:rPr>
              <a:t>Règle du joker : </a:t>
            </a:r>
            <a:pPr indent="0" marL="0">
              <a:buNone/>
            </a:pPr>
            <a:r>
              <a:rPr lang="en-US" sz="1500" dirty="0">
                <a:solidFill>
                  <a:schemeClr val="tx1"/>
                </a:solidFill>
                <a:latin typeface="Arial" pitchFamily="34" charset="0"/>
                <a:ea typeface="Arial" pitchFamily="34" charset="-122"/>
                <a:cs typeface="Arial" pitchFamily="34" charset="-120"/>
              </a:rPr>
              <a:t>chacun peut passer son tour, à tout moment, sans se justifier.</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par>
                          <p:cTn id="108" presetID="53" presetClass="entr" presetSubtype="16" fill="hold" nodeType="withEffect">
                            <p:stCondLst>
                              <p:cond delay="2600"/>
                            </p:stCondLst>
                            <p:childTnLst>
                              <p:set>
                                <p:cBhvr>
                                  <p:cTn id="109" dur="1" fill="hold">
                                    <p:stCondLst>
                                      <p:cond delay="0"/>
                                    </p:stCondLst>
                                  </p:cTn>
                                  <p:tgtEl>
                                    <p:spTgt spid="29"/>
                                  </p:tgtEl>
                                  <p:attrNameLst>
                                    <p:attrName>style.visibility</p:attrName>
                                  </p:attrNameLst>
                                </p:cBhvr>
                                <p:to>
                                  <p:strVal val="visible"/>
                                </p:to>
                              </p:set>
                              <p:anim calcmode="lin" valueType="num">
                                <p:cBhvr>
                                  <p:cTn id="110" dur="450" fill="hold"/>
                                  <p:tgtEl>
                                    <p:spTgt spid="29"/>
                                  </p:tgtEl>
                                  <p:attrNameLst>
                                    <p:attrName>ppt_w</p:attrName>
                                  </p:attrNameLst>
                                </p:cBhvr>
                                <p:tavLst>
                                  <p:tav tm="0">
                                    <p:val>
                                      <p:strVal val="#ppt_w*0.85"/>
                                    </p:val>
                                  </p:tav>
                                  <p:tav tm="100000">
                                    <p:val>
                                      <p:strVal val="#ppt_w"/>
                                    </p:val>
                                  </p:tav>
                                </p:tavLst>
                              </p:anim>
                              <p:animEffect transition="in" filter="fade">
                                <p:cBhvr>
                                  <p:cTn id="111" dur="450"/>
                                  <p:tgtEl>
                                    <p:spTgt spid="29"/>
                                  </p:tgtEl>
                                </p:cBhvr>
                              </p:animEffect>
                            </p:childTnLst>
                          </p:cTn>
                        </p:par>
                        <p:par>
                          <p:cTn id="112" presetID="53" presetClass="entr" presetSubtype="16" fill="hold" nodeType="withEffect">
                            <p:stCondLst>
                              <p:cond delay="2600"/>
                            </p:stCondLst>
                            <p:childTnLst>
                              <p:set>
                                <p:cBhvr>
                                  <p:cTn id="113" dur="1" fill="hold">
                                    <p:stCondLst>
                                      <p:cond delay="0"/>
                                    </p:stCondLst>
                                  </p:cTn>
                                  <p:tgtEl>
                                    <p:spTgt spid="30"/>
                                  </p:tgtEl>
                                  <p:attrNameLst>
                                    <p:attrName>style.visibility</p:attrName>
                                  </p:attrNameLst>
                                </p:cBhvr>
                                <p:to>
                                  <p:strVal val="visible"/>
                                </p:to>
                              </p:set>
                              <p:anim calcmode="lin" valueType="num">
                                <p:cBhvr>
                                  <p:cTn id="114" dur="450" fill="hold"/>
                                  <p:tgtEl>
                                    <p:spTgt spid="30"/>
                                  </p:tgtEl>
                                  <p:attrNameLst>
                                    <p:attrName>ppt_w</p:attrName>
                                  </p:attrNameLst>
                                </p:cBhvr>
                                <p:tavLst>
                                  <p:tav tm="0">
                                    <p:val>
                                      <p:strVal val="#ppt_w*0.85"/>
                                    </p:val>
                                  </p:tav>
                                  <p:tav tm="100000">
                                    <p:val>
                                      <p:strVal val="#ppt_w"/>
                                    </p:val>
                                  </p:tav>
                                </p:tavLst>
                              </p:anim>
                              <p:animEffect transition="in" filter="fade">
                                <p:cBhvr>
                                  <p:cTn id="115" dur="450"/>
                                  <p:tgtEl>
                                    <p:spTgt spid="30"/>
                                  </p:tgtEl>
                                </p:cBhvr>
                              </p:animEffect>
                            </p:childTnLst>
                          </p:cTn>
                        </p:par>
                        <p:par>
                          <p:cTn id="116" presetID="53" presetClass="entr" presetSubtype="16" fill="hold" nodeType="withEffect">
                            <p:stCondLst>
                              <p:cond delay="2600"/>
                            </p:stCondLst>
                            <p:childTnLst>
                              <p:set>
                                <p:cBhvr>
                                  <p:cTn id="117" dur="1" fill="hold">
                                    <p:stCondLst>
                                      <p:cond delay="0"/>
                                    </p:stCondLst>
                                  </p:cTn>
                                  <p:tgtEl>
                                    <p:spTgt spid="31"/>
                                  </p:tgtEl>
                                  <p:attrNameLst>
                                    <p:attrName>style.visibility</p:attrName>
                                  </p:attrNameLst>
                                </p:cBhvr>
                                <p:to>
                                  <p:strVal val="visible"/>
                                </p:to>
                              </p:set>
                              <p:anim calcmode="lin" valueType="num">
                                <p:cBhvr>
                                  <p:cTn id="118" dur="450" fill="hold"/>
                                  <p:tgtEl>
                                    <p:spTgt spid="31"/>
                                  </p:tgtEl>
                                  <p:attrNameLst>
                                    <p:attrName>ppt_w</p:attrName>
                                  </p:attrNameLst>
                                </p:cBhvr>
                                <p:tavLst>
                                  <p:tav tm="0">
                                    <p:val>
                                      <p:strVal val="#ppt_w*0.85"/>
                                    </p:val>
                                  </p:tav>
                                  <p:tav tm="100000">
                                    <p:val>
                                      <p:strVal val="#ppt_w"/>
                                    </p:val>
                                  </p:tav>
                                </p:tavLst>
                              </p:anim>
                              <p:animEffect transition="in" filter="fade">
                                <p:cBhvr>
                                  <p:cTn id="119" dur="450"/>
                                  <p:tgtEl>
                                    <p:spTgt spid="31"/>
                                  </p:tgtEl>
                                </p:cBhvr>
                              </p:animEffect>
                            </p:childTnLst>
                          </p:cTn>
                        </p:par>
                        <p:par>
                          <p:cTn id="120" presetID="53" presetClass="entr" presetSubtype="16" fill="hold" nodeType="withEffect">
                            <p:stCondLst>
                              <p:cond delay="2600"/>
                            </p:stCondLst>
                            <p:childTnLst>
                              <p:set>
                                <p:cBhvr>
                                  <p:cTn id="121" dur="1" fill="hold">
                                    <p:stCondLst>
                                      <p:cond delay="0"/>
                                    </p:stCondLst>
                                  </p:cTn>
                                  <p:tgtEl>
                                    <p:spTgt spid="32"/>
                                  </p:tgtEl>
                                  <p:attrNameLst>
                                    <p:attrName>style.visibility</p:attrName>
                                  </p:attrNameLst>
                                </p:cBhvr>
                                <p:to>
                                  <p:strVal val="visible"/>
                                </p:to>
                              </p:set>
                              <p:anim calcmode="lin" valueType="num">
                                <p:cBhvr>
                                  <p:cTn id="122" dur="450" fill="hold"/>
                                  <p:tgtEl>
                                    <p:spTgt spid="32"/>
                                  </p:tgtEl>
                                  <p:attrNameLst>
                                    <p:attrName>ppt_w</p:attrName>
                                  </p:attrNameLst>
                                </p:cBhvr>
                                <p:tavLst>
                                  <p:tav tm="0">
                                    <p:val>
                                      <p:strVal val="#ppt_w*0.85"/>
                                    </p:val>
                                  </p:tav>
                                  <p:tav tm="100000">
                                    <p:val>
                                      <p:strVal val="#ppt_w"/>
                                    </p:val>
                                  </p:tav>
                                </p:tavLst>
                              </p:anim>
                              <p:animEffect transition="in" filter="fade">
                                <p:cBhvr>
                                  <p:cTn id="123" dur="450"/>
                                  <p:tgtEl>
                                    <p:spTgt spid="32"/>
                                  </p:tgtEl>
                                </p:cBhvr>
                              </p:animEffect>
                            </p:childTnLst>
                          </p:cTn>
                        </p:par>
                        <p:par>
                          <p:cTn id="124" presetID="53" presetClass="entr" presetSubtype="16" fill="hold" nodeType="withEffect">
                            <p:stCondLst>
                              <p:cond delay="2600"/>
                            </p:stCondLst>
                            <p:childTnLst>
                              <p:set>
                                <p:cBhvr>
                                  <p:cTn id="125" dur="1" fill="hold">
                                    <p:stCondLst>
                                      <p:cond delay="0"/>
                                    </p:stCondLst>
                                  </p:cTn>
                                  <p:tgtEl>
                                    <p:spTgt spid="33"/>
                                  </p:tgtEl>
                                  <p:attrNameLst>
                                    <p:attrName>style.visibility</p:attrName>
                                  </p:attrNameLst>
                                </p:cBhvr>
                                <p:to>
                                  <p:strVal val="visible"/>
                                </p:to>
                              </p:set>
                              <p:anim calcmode="lin" valueType="num">
                                <p:cBhvr>
                                  <p:cTn id="126" dur="450" fill="hold"/>
                                  <p:tgtEl>
                                    <p:spTgt spid="33"/>
                                  </p:tgtEl>
                                  <p:attrNameLst>
                                    <p:attrName>ppt_w</p:attrName>
                                  </p:attrNameLst>
                                </p:cBhvr>
                                <p:tavLst>
                                  <p:tav tm="0">
                                    <p:val>
                                      <p:strVal val="#ppt_w*0.85"/>
                                    </p:val>
                                  </p:tav>
                                  <p:tav tm="100000">
                                    <p:val>
                                      <p:strVal val="#ppt_w"/>
                                    </p:val>
                                  </p:tav>
                                </p:tavLst>
                              </p:anim>
                              <p:animEffect transition="in" filter="fade">
                                <p:cBhvr>
                                  <p:cTn id="127" dur="450"/>
                                  <p:tgtEl>
                                    <p:spTgt spid="33"/>
                                  </p:tgtEl>
                                </p:cBhvr>
                              </p:animEffect>
                            </p:childTnLst>
                          </p:cTn>
                        </p:par>
                        <p:par>
                          <p:cTn id="128" presetID="53" presetClass="entr" presetSubtype="16" fill="hold" nodeType="withEffect">
                            <p:stCondLst>
                              <p:cond delay="2600"/>
                            </p:stCondLst>
                            <p:childTnLst>
                              <p:set>
                                <p:cBhvr>
                                  <p:cTn id="129" dur="1" fill="hold">
                                    <p:stCondLst>
                                      <p:cond delay="0"/>
                                    </p:stCondLst>
                                  </p:cTn>
                                  <p:tgtEl>
                                    <p:spTgt spid="34"/>
                                  </p:tgtEl>
                                  <p:attrNameLst>
                                    <p:attrName>style.visibility</p:attrName>
                                  </p:attrNameLst>
                                </p:cBhvr>
                                <p:to>
                                  <p:strVal val="visible"/>
                                </p:to>
                              </p:set>
                              <p:anim calcmode="lin" valueType="num">
                                <p:cBhvr>
                                  <p:cTn id="130" dur="450" fill="hold"/>
                                  <p:tgtEl>
                                    <p:spTgt spid="34"/>
                                  </p:tgtEl>
                                  <p:attrNameLst>
                                    <p:attrName>ppt_w</p:attrName>
                                  </p:attrNameLst>
                                </p:cBhvr>
                                <p:tavLst>
                                  <p:tav tm="0">
                                    <p:val>
                                      <p:strVal val="#ppt_w*0.85"/>
                                    </p:val>
                                  </p:tav>
                                  <p:tav tm="100000">
                                    <p:val>
                                      <p:strVal val="#ppt_w"/>
                                    </p:val>
                                  </p:tav>
                                </p:tavLst>
                              </p:anim>
                              <p:animEffect transition="in" filter="fade">
                                <p:cBhvr>
                                  <p:cTn id="131" dur="450"/>
                                  <p:tgtEl>
                                    <p:spTgt spid="34"/>
                                  </p:tgtEl>
                                </p:cBhvr>
                              </p:animEffect>
                            </p:childTnLst>
                          </p:cTn>
                        </p:par>
                        <p:par>
                          <p:cTn id="132" presetID="53" presetClass="entr" presetSubtype="16" fill="hold" nodeType="withEffect">
                            <p:stCondLst>
                              <p:cond delay="2600"/>
                            </p:stCondLst>
                            <p:childTnLst>
                              <p:set>
                                <p:cBhvr>
                                  <p:cTn id="133" dur="1" fill="hold">
                                    <p:stCondLst>
                                      <p:cond delay="0"/>
                                    </p:stCondLst>
                                  </p:cTn>
                                  <p:tgtEl>
                                    <p:spTgt spid="35"/>
                                  </p:tgtEl>
                                  <p:attrNameLst>
                                    <p:attrName>style.visibility</p:attrName>
                                  </p:attrNameLst>
                                </p:cBhvr>
                                <p:to>
                                  <p:strVal val="visible"/>
                                </p:to>
                              </p:set>
                              <p:anim calcmode="lin" valueType="num">
                                <p:cBhvr>
                                  <p:cTn id="134" dur="450" fill="hold"/>
                                  <p:tgtEl>
                                    <p:spTgt spid="35"/>
                                  </p:tgtEl>
                                  <p:attrNameLst>
                                    <p:attrName>ppt_w</p:attrName>
                                  </p:attrNameLst>
                                </p:cBhvr>
                                <p:tavLst>
                                  <p:tav tm="0">
                                    <p:val>
                                      <p:strVal val="#ppt_w*0.85"/>
                                    </p:val>
                                  </p:tav>
                                  <p:tav tm="100000">
                                    <p:val>
                                      <p:strVal val="#ppt_w"/>
                                    </p:val>
                                  </p:tav>
                                </p:tavLst>
                              </p:anim>
                              <p:animEffect transition="in" filter="fade">
                                <p:cBhvr>
                                  <p:cTn id="135" dur="450"/>
                                  <p:tgtEl>
                                    <p:spTgt spid="35"/>
                                  </p:tgtEl>
                                </p:cBhvr>
                              </p:animEffect>
                            </p:childTnLst>
                          </p:cTn>
                        </p:par>
                        <p:par>
                          <p:cTn id="136" presetID="53" presetClass="entr" presetSubtype="16" fill="hold" nodeType="withEffect">
                            <p:stCondLst>
                              <p:cond delay="2600"/>
                            </p:stCondLst>
                            <p:childTnLst>
                              <p:set>
                                <p:cBhvr>
                                  <p:cTn id="137" dur="1" fill="hold">
                                    <p:stCondLst>
                                      <p:cond delay="0"/>
                                    </p:stCondLst>
                                  </p:cTn>
                                  <p:tgtEl>
                                    <p:spTgt spid="36"/>
                                  </p:tgtEl>
                                  <p:attrNameLst>
                                    <p:attrName>style.visibility</p:attrName>
                                  </p:attrNameLst>
                                </p:cBhvr>
                                <p:to>
                                  <p:strVal val="visible"/>
                                </p:to>
                              </p:set>
                              <p:anim calcmode="lin" valueType="num">
                                <p:cBhvr>
                                  <p:cTn id="138" dur="450" fill="hold"/>
                                  <p:tgtEl>
                                    <p:spTgt spid="36"/>
                                  </p:tgtEl>
                                  <p:attrNameLst>
                                    <p:attrName>ppt_w</p:attrName>
                                  </p:attrNameLst>
                                </p:cBhvr>
                                <p:tavLst>
                                  <p:tav tm="0">
                                    <p:val>
                                      <p:strVal val="#ppt_w*0.85"/>
                                    </p:val>
                                  </p:tav>
                                  <p:tav tm="100000">
                                    <p:val>
                                      <p:strVal val="#ppt_w"/>
                                    </p:val>
                                  </p:tav>
                                </p:tavLst>
                              </p:anim>
                              <p:animEffect transition="in" filter="fade">
                                <p:cBhvr>
                                  <p:cTn id="139" dur="450"/>
                                  <p:tgtEl>
                                    <p:spTgt spid="36"/>
                                  </p:tgtEl>
                                </p:cBhvr>
                              </p:animEffect>
                            </p:childTnLst>
                          </p:cTn>
                        </p:par>
                        <p:par>
                          <p:cTn id="140" presetID="53" presetClass="entr" presetSubtype="16" fill="hold" nodeType="withEffect">
                            <p:stCondLst>
                              <p:cond delay="2600"/>
                            </p:stCondLst>
                            <p:childTnLst>
                              <p:set>
                                <p:cBhvr>
                                  <p:cTn id="141" dur="1" fill="hold">
                                    <p:stCondLst>
                                      <p:cond delay="0"/>
                                    </p:stCondLst>
                                  </p:cTn>
                                  <p:tgtEl>
                                    <p:spTgt spid="37"/>
                                  </p:tgtEl>
                                  <p:attrNameLst>
                                    <p:attrName>style.visibility</p:attrName>
                                  </p:attrNameLst>
                                </p:cBhvr>
                                <p:to>
                                  <p:strVal val="visible"/>
                                </p:to>
                              </p:set>
                              <p:anim calcmode="lin" valueType="num">
                                <p:cBhvr>
                                  <p:cTn id="142" dur="450" fill="hold"/>
                                  <p:tgtEl>
                                    <p:spTgt spid="37"/>
                                  </p:tgtEl>
                                  <p:attrNameLst>
                                    <p:attrName>ppt_w</p:attrName>
                                  </p:attrNameLst>
                                </p:cBhvr>
                                <p:tavLst>
                                  <p:tav tm="0">
                                    <p:val>
                                      <p:strVal val="#ppt_w*0.85"/>
                                    </p:val>
                                  </p:tav>
                                  <p:tav tm="100000">
                                    <p:val>
                                      <p:strVal val="#ppt_w"/>
                                    </p:val>
                                  </p:tav>
                                </p:tavLst>
                              </p:anim>
                              <p:animEffect transition="in" filter="fade">
                                <p:cBhvr>
                                  <p:cTn id="143" dur="450"/>
                                  <p:tgtEl>
                                    <p:spTgt spid="37"/>
                                  </p:tgtEl>
                                </p:cBhvr>
                              </p:animEffect>
                            </p:childTnLst>
                          </p:cTn>
                        </p:par>
                        <p:par>
                          <p:cTn id="144" presetID="53" presetClass="entr" presetSubtype="16" fill="hold" nodeType="withEffect">
                            <p:stCondLst>
                              <p:cond delay="2600"/>
                            </p:stCondLst>
                            <p:childTnLst>
                              <p:set>
                                <p:cBhvr>
                                  <p:cTn id="145" dur="1" fill="hold">
                                    <p:stCondLst>
                                      <p:cond delay="0"/>
                                    </p:stCondLst>
                                  </p:cTn>
                                  <p:tgtEl>
                                    <p:spTgt spid="38"/>
                                  </p:tgtEl>
                                  <p:attrNameLst>
                                    <p:attrName>style.visibility</p:attrName>
                                  </p:attrNameLst>
                                </p:cBhvr>
                                <p:to>
                                  <p:strVal val="visible"/>
                                </p:to>
                              </p:set>
                              <p:anim calcmode="lin" valueType="num">
                                <p:cBhvr>
                                  <p:cTn id="146" dur="450" fill="hold"/>
                                  <p:tgtEl>
                                    <p:spTgt spid="38"/>
                                  </p:tgtEl>
                                  <p:attrNameLst>
                                    <p:attrName>ppt_w</p:attrName>
                                  </p:attrNameLst>
                                </p:cBhvr>
                                <p:tavLst>
                                  <p:tav tm="0">
                                    <p:val>
                                      <p:strVal val="#ppt_w*0.85"/>
                                    </p:val>
                                  </p:tav>
                                  <p:tav tm="100000">
                                    <p:val>
                                      <p:strVal val="#ppt_w"/>
                                    </p:val>
                                  </p:tav>
                                </p:tavLst>
                              </p:anim>
                              <p:animEffect transition="in" filter="fade">
                                <p:cBhvr>
                                  <p:cTn id="147" dur="450"/>
                                  <p:tgtEl>
                                    <p:spTgt spid="38"/>
                                  </p:tgtEl>
                                </p:cBhvr>
                              </p:animEffect>
                            </p:childTnLst>
                          </p:cTn>
                        </p:par>
                        <p:par>
                          <p:cTn id="148" presetID="53" presetClass="entr" presetSubtype="16" fill="hold" nodeType="withEffect">
                            <p:stCondLst>
                              <p:cond delay="2600"/>
                            </p:stCondLst>
                            <p:childTnLst>
                              <p:set>
                                <p:cBhvr>
                                  <p:cTn id="149" dur="1" fill="hold">
                                    <p:stCondLst>
                                      <p:cond delay="0"/>
                                    </p:stCondLst>
                                  </p:cTn>
                                  <p:tgtEl>
                                    <p:spTgt spid="39"/>
                                  </p:tgtEl>
                                  <p:attrNameLst>
                                    <p:attrName>style.visibility</p:attrName>
                                  </p:attrNameLst>
                                </p:cBhvr>
                                <p:to>
                                  <p:strVal val="visible"/>
                                </p:to>
                              </p:set>
                              <p:anim calcmode="lin" valueType="num">
                                <p:cBhvr>
                                  <p:cTn id="150" dur="450" fill="hold"/>
                                  <p:tgtEl>
                                    <p:spTgt spid="39"/>
                                  </p:tgtEl>
                                  <p:attrNameLst>
                                    <p:attrName>ppt_w</p:attrName>
                                  </p:attrNameLst>
                                </p:cBhvr>
                                <p:tavLst>
                                  <p:tav tm="0">
                                    <p:val>
                                      <p:strVal val="#ppt_w*0.85"/>
                                    </p:val>
                                  </p:tav>
                                  <p:tav tm="100000">
                                    <p:val>
                                      <p:strVal val="#ppt_w"/>
                                    </p:val>
                                  </p:tav>
                                </p:tavLst>
                              </p:anim>
                              <p:animEffect transition="in" filter="fade">
                                <p:cBhvr>
                                  <p:cTn id="151" dur="450"/>
                                  <p:tgtEl>
                                    <p:spTgt spid="39"/>
                                  </p:tgtEl>
                                </p:cBhvr>
                              </p:animEffect>
                            </p:childTnLst>
                          </p:cTn>
                        </p:par>
                        <p:par>
                          <p:cTn id="152" presetID="53" presetClass="entr" presetSubtype="16" fill="hold" nodeType="withEffect">
                            <p:stCondLst>
                              <p:cond delay="2600"/>
                            </p:stCondLst>
                            <p:childTnLst>
                              <p:set>
                                <p:cBhvr>
                                  <p:cTn id="153" dur="1" fill="hold">
                                    <p:stCondLst>
                                      <p:cond delay="0"/>
                                    </p:stCondLst>
                                  </p:cTn>
                                  <p:tgtEl>
                                    <p:spTgt spid="40"/>
                                  </p:tgtEl>
                                  <p:attrNameLst>
                                    <p:attrName>style.visibility</p:attrName>
                                  </p:attrNameLst>
                                </p:cBhvr>
                                <p:to>
                                  <p:strVal val="visible"/>
                                </p:to>
                              </p:set>
                              <p:anim calcmode="lin" valueType="num">
                                <p:cBhvr>
                                  <p:cTn id="154" dur="450" fill="hold"/>
                                  <p:tgtEl>
                                    <p:spTgt spid="40"/>
                                  </p:tgtEl>
                                  <p:attrNameLst>
                                    <p:attrName>ppt_w</p:attrName>
                                  </p:attrNameLst>
                                </p:cBhvr>
                                <p:tavLst>
                                  <p:tav tm="0">
                                    <p:val>
                                      <p:strVal val="#ppt_w*0.85"/>
                                    </p:val>
                                  </p:tav>
                                  <p:tav tm="100000">
                                    <p:val>
                                      <p:strVal val="#ppt_w"/>
                                    </p:val>
                                  </p:tav>
                                </p:tavLst>
                              </p:anim>
                              <p:animEffect transition="in" filter="fade">
                                <p:cBhvr>
                                  <p:cTn id="155" dur="450"/>
                                  <p:tgtEl>
                                    <p:spTgt spid="40"/>
                                  </p:tgtEl>
                                </p:cBhvr>
                              </p:animEffect>
                            </p:childTnLst>
                          </p:cTn>
                        </p:par>
                        <p:par>
                          <p:cTn id="156" presetID="53" presetClass="entr" presetSubtype="16" fill="hold" nodeType="withEffect">
                            <p:stCondLst>
                              <p:cond delay="2600"/>
                            </p:stCondLst>
                            <p:childTnLst>
                              <p:set>
                                <p:cBhvr>
                                  <p:cTn id="157" dur="1" fill="hold">
                                    <p:stCondLst>
                                      <p:cond delay="0"/>
                                    </p:stCondLst>
                                  </p:cTn>
                                  <p:tgtEl>
                                    <p:spTgt spid="41"/>
                                  </p:tgtEl>
                                  <p:attrNameLst>
                                    <p:attrName>style.visibility</p:attrName>
                                  </p:attrNameLst>
                                </p:cBhvr>
                                <p:to>
                                  <p:strVal val="visible"/>
                                </p:to>
                              </p:set>
                              <p:anim calcmode="lin" valueType="num">
                                <p:cBhvr>
                                  <p:cTn id="158" dur="450" fill="hold"/>
                                  <p:tgtEl>
                                    <p:spTgt spid="41"/>
                                  </p:tgtEl>
                                  <p:attrNameLst>
                                    <p:attrName>ppt_w</p:attrName>
                                  </p:attrNameLst>
                                </p:cBhvr>
                                <p:tavLst>
                                  <p:tav tm="0">
                                    <p:val>
                                      <p:strVal val="#ppt_w*0.85"/>
                                    </p:val>
                                  </p:tav>
                                  <p:tav tm="100000">
                                    <p:val>
                                      <p:strVal val="#ppt_w"/>
                                    </p:val>
                                  </p:tav>
                                </p:tavLst>
                              </p:anim>
                              <p:animEffect transition="in" filter="fade">
                                <p:cBhvr>
                                  <p:cTn id="159" dur="450"/>
                                  <p:tgtEl>
                                    <p:spTgt spid="41"/>
                                  </p:tgtEl>
                                </p:cBhvr>
                              </p:animEffect>
                            </p:childTnLst>
                          </p:cTn>
                        </p:par>
                        <p:par>
                          <p:cTn id="160" presetID="53" presetClass="entr" presetSubtype="16" fill="hold" nodeType="withEffect">
                            <p:stCondLst>
                              <p:cond delay="2600"/>
                            </p:stCondLst>
                            <p:childTnLst>
                              <p:set>
                                <p:cBhvr>
                                  <p:cTn id="161" dur="1" fill="hold">
                                    <p:stCondLst>
                                      <p:cond delay="0"/>
                                    </p:stCondLst>
                                  </p:cTn>
                                  <p:tgtEl>
                                    <p:spTgt spid="42"/>
                                  </p:tgtEl>
                                  <p:attrNameLst>
                                    <p:attrName>style.visibility</p:attrName>
                                  </p:attrNameLst>
                                </p:cBhvr>
                                <p:to>
                                  <p:strVal val="visible"/>
                                </p:to>
                              </p:set>
                              <p:anim calcmode="lin" valueType="num">
                                <p:cBhvr>
                                  <p:cTn id="162" dur="450" fill="hold"/>
                                  <p:tgtEl>
                                    <p:spTgt spid="42"/>
                                  </p:tgtEl>
                                  <p:attrNameLst>
                                    <p:attrName>ppt_w</p:attrName>
                                  </p:attrNameLst>
                                </p:cBhvr>
                                <p:tavLst>
                                  <p:tav tm="0">
                                    <p:val>
                                      <p:strVal val="#ppt_w*0.85"/>
                                    </p:val>
                                  </p:tav>
                                  <p:tav tm="100000">
                                    <p:val>
                                      <p:strVal val="#ppt_w"/>
                                    </p:val>
                                  </p:tav>
                                </p:tavLst>
                              </p:anim>
                              <p:animEffect transition="in" filter="fade">
                                <p:cBhvr>
                                  <p:cTn id="163" dur="450"/>
                                  <p:tgtEl>
                                    <p:spTgt spid="42"/>
                                  </p:tgtEl>
                                </p:cBhvr>
                              </p:animEffect>
                            </p:childTnLst>
                          </p:cTn>
                        </p:par>
                        <p:par>
                          <p:cTn id="164" presetID="53" presetClass="entr" presetSubtype="16" fill="hold" nodeType="withEffect">
                            <p:stCondLst>
                              <p:cond delay="2600"/>
                            </p:stCondLst>
                            <p:childTnLst>
                              <p:set>
                                <p:cBhvr>
                                  <p:cTn id="165" dur="1" fill="hold">
                                    <p:stCondLst>
                                      <p:cond delay="0"/>
                                    </p:stCondLst>
                                  </p:cTn>
                                  <p:tgtEl>
                                    <p:spTgt spid="43"/>
                                  </p:tgtEl>
                                  <p:attrNameLst>
                                    <p:attrName>style.visibility</p:attrName>
                                  </p:attrNameLst>
                                </p:cBhvr>
                                <p:to>
                                  <p:strVal val="visible"/>
                                </p:to>
                              </p:set>
                              <p:anim calcmode="lin" valueType="num">
                                <p:cBhvr>
                                  <p:cTn id="166" dur="450" fill="hold"/>
                                  <p:tgtEl>
                                    <p:spTgt spid="43"/>
                                  </p:tgtEl>
                                  <p:attrNameLst>
                                    <p:attrName>ppt_w</p:attrName>
                                  </p:attrNameLst>
                                </p:cBhvr>
                                <p:tavLst>
                                  <p:tav tm="0">
                                    <p:val>
                                      <p:strVal val="#ppt_w*0.85"/>
                                    </p:val>
                                  </p:tav>
                                  <p:tav tm="100000">
                                    <p:val>
                                      <p:strVal val="#ppt_w"/>
                                    </p:val>
                                  </p:tav>
                                </p:tavLst>
                              </p:anim>
                              <p:animEffect transition="in" filter="fade">
                                <p:cBhvr>
                                  <p:cTn id="167" dur="450"/>
                                  <p:tgtEl>
                                    <p:spTgt spid="43"/>
                                  </p:tgtEl>
                                </p:cBhvr>
                              </p:animEffect>
                            </p:childTnLst>
                          </p:cTn>
                        </p:par>
                        <p:par>
                          <p:cTn id="168" presetID="53" presetClass="entr" presetSubtype="16" fill="hold" nodeType="withEffect">
                            <p:stCondLst>
                              <p:cond delay="2600"/>
                            </p:stCondLst>
                            <p:childTnLst>
                              <p:set>
                                <p:cBhvr>
                                  <p:cTn id="169" dur="1" fill="hold">
                                    <p:stCondLst>
                                      <p:cond delay="0"/>
                                    </p:stCondLst>
                                  </p:cTn>
                                  <p:tgtEl>
                                    <p:spTgt spid="44"/>
                                  </p:tgtEl>
                                  <p:attrNameLst>
                                    <p:attrName>style.visibility</p:attrName>
                                  </p:attrNameLst>
                                </p:cBhvr>
                                <p:to>
                                  <p:strVal val="visible"/>
                                </p:to>
                              </p:set>
                              <p:anim calcmode="lin" valueType="num">
                                <p:cBhvr>
                                  <p:cTn id="170" dur="450" fill="hold"/>
                                  <p:tgtEl>
                                    <p:spTgt spid="44"/>
                                  </p:tgtEl>
                                  <p:attrNameLst>
                                    <p:attrName>ppt_w</p:attrName>
                                  </p:attrNameLst>
                                </p:cBhvr>
                                <p:tavLst>
                                  <p:tav tm="0">
                                    <p:val>
                                      <p:strVal val="#ppt_w*0.85"/>
                                    </p:val>
                                  </p:tav>
                                  <p:tav tm="100000">
                                    <p:val>
                                      <p:strVal val="#ppt_w"/>
                                    </p:val>
                                  </p:tav>
                                </p:tavLst>
                              </p:anim>
                              <p:animEffect transition="in" filter="fade">
                                <p:cBhvr>
                                  <p:cTn id="171" dur="450"/>
                                  <p:tgtEl>
                                    <p:spTgt spid="4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9" grpId="0"/>
      <p:bldP spid="11" grpId="0"/>
      <p:bldP spid="14" grpId="0"/>
      <p:bldP spid="15" grpId="0"/>
      <p:bldP spid="16" grpId="0"/>
      <p:bldP spid="18" grpId="0"/>
      <p:bldP spid="21" grpId="0"/>
      <p:bldP spid="22" grpId="0"/>
      <p:bldP spid="23" grpId="0"/>
      <p:bldP spid="25" grpId="0"/>
      <p:bldP spid="28" grpId="0"/>
      <p:bldP spid="29" grpId="0"/>
      <p:bldP spid="30" grpId="0"/>
      <p:bldP spid="32" grpId="0"/>
      <p:bldP spid="35" grpId="0"/>
      <p:bldP spid="36" grpId="0"/>
      <p:bldP spid="37" grpId="0"/>
      <p:bldP spid="39" grpId="0"/>
      <p:bldP spid="41" grpId="0"/>
      <p:bldP spid="42" grpId="0"/>
      <p:bldP spid="43" grpId="0"/>
      <p:bldP spid="44"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0</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Échauffement</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Trois activités pour entrer dans le jeu sans entrer en guerre</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450" fill="hold"/>
                                  <p:tgtEl>
                                    <p:spTgt spid="2"/>
                                  </p:tgtEl>
                                  <p:attrNameLst>
                                    <p:attrName>ppt_w</p:attrName>
                                  </p:attrNameLst>
                                </p:cBhvr>
                                <p:tavLst>
                                  <p:tav tm="0">
                                    <p:val>
                                      <p:strVal val="#ppt_w*0.85"/>
                                    </p:val>
                                  </p:tav>
                                  <p:tav tm="100000">
                                    <p:val>
                                      <p:strVal val="#ppt_w"/>
                                    </p:val>
                                  </p:tav>
                                </p:tavLst>
                              </p:anim>
                              <p:animEffect transition="in" filter="fade">
                                <p:cBhvr>
                                  <p:cTn id="7" dur="450"/>
                                  <p:tgtEl>
                                    <p:spTgt spid="2"/>
                                  </p:tgtEl>
                                </p:cBhvr>
                              </p:animEffect>
                            </p:childTnLst>
                          </p:cTn>
                        </p:par>
                        <p:par>
                          <p:cTn id="8" presetID="53" presetClass="entr" presetSubtype="16" fill="hold" nodeType="withEffect">
                            <p:stCondLst>
                              <p:cond delay="140"/>
                            </p:stCondLst>
                            <p:childTnLst>
                              <p:set>
                                <p:cBhvr>
                                  <p:cTn id="9" dur="1" fill="hold">
                                    <p:stCondLst>
                                      <p:cond delay="0"/>
                                    </p:stCondLst>
                                  </p:cTn>
                                  <p:tgtEl>
                                    <p:spTgt spid="5"/>
                                  </p:tgtEl>
                                  <p:attrNameLst>
                                    <p:attrName>style.visibility</p:attrName>
                                  </p:attrNameLst>
                                </p:cBhvr>
                                <p:to>
                                  <p:strVal val="visible"/>
                                </p:to>
                              </p:set>
                              <p:anim calcmode="lin" valueType="num">
                                <p:cBhvr>
                                  <p:cTn id="10" dur="450" fill="hold"/>
                                  <p:tgtEl>
                                    <p:spTgt spid="5"/>
                                  </p:tgtEl>
                                  <p:attrNameLst>
                                    <p:attrName>ppt_w</p:attrName>
                                  </p:attrNameLst>
                                </p:cBhvr>
                                <p:tavLst>
                                  <p:tav tm="0">
                                    <p:val>
                                      <p:strVal val="#ppt_w*0.85"/>
                                    </p:val>
                                  </p:tav>
                                  <p:tav tm="100000">
                                    <p:val>
                                      <p:strVal val="#ppt_w"/>
                                    </p:val>
                                  </p:tav>
                                </p:tavLst>
                              </p:anim>
                              <p:animEffect transition="in" filter="fade">
                                <p:cBhvr>
                                  <p:cTn id="11" dur="45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Activité 1 · Plie ton zine</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7 min</a:t>
            </a:r>
            <a:endParaRPr lang="en-US" sz="1400" dirty="0"/>
          </a:p>
        </p:txBody>
      </p:sp>
      <p:sp>
        <p:nvSpPr>
          <p:cNvPr id="5" name="Shape 3"/>
          <p:cNvSpPr/>
          <p:nvPr/>
        </p:nvSpPr>
        <p:spPr>
          <a:xfrm>
            <a:off x="548640" y="1508760"/>
            <a:ext cx="2194560" cy="1737360"/>
          </a:xfrm>
          <a:prstGeom prst="rect">
            <a:avLst/>
          </a:prstGeom>
          <a:solidFill>
            <a:schemeClr val="bg1"/>
          </a:solidFill>
          <a:ln w="25400">
            <a:solidFill>
              <a:schemeClr val="tx1"/>
            </a:solidFill>
            <a:prstDash val="solid"/>
          </a:ln>
        </p:spPr>
      </p:sp>
      <p:sp>
        <p:nvSpPr>
          <p:cNvPr id="6" name="Shape 4"/>
          <p:cNvSpPr/>
          <p:nvPr/>
        </p:nvSpPr>
        <p:spPr>
          <a:xfrm>
            <a:off x="685800" y="1645920"/>
            <a:ext cx="502920" cy="502920"/>
          </a:xfrm>
          <a:prstGeom prst="ellipse">
            <a:avLst/>
          </a:prstGeom>
          <a:solidFill>
            <a:schemeClr val="accent1"/>
          </a:solidFill>
          <a:ln w="19050">
            <a:solidFill>
              <a:schemeClr val="tx1"/>
            </a:solidFill>
            <a:prstDash val="solid"/>
          </a:ln>
        </p:spPr>
      </p:sp>
      <p:sp>
        <p:nvSpPr>
          <p:cNvPr id="7" name="Text 5"/>
          <p:cNvSpPr txBox="1"/>
          <p:nvPr/>
        </p:nvSpPr>
        <p:spPr>
          <a:xfrm>
            <a:off x="685800" y="164592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1</a:t>
            </a:r>
            <a:endParaRPr lang="en-US" sz="1800" dirty="0"/>
          </a:p>
        </p:txBody>
      </p:sp>
      <p:sp>
        <p:nvSpPr>
          <p:cNvPr id="8" name="Text 6"/>
          <p:cNvSpPr txBox="1"/>
          <p:nvPr/>
        </p:nvSpPr>
        <p:spPr>
          <a:xfrm>
            <a:off x="685800" y="228600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Plier en deux sur la longueur</a:t>
            </a:r>
            <a:endParaRPr lang="en-US" sz="1500" dirty="0"/>
          </a:p>
        </p:txBody>
      </p:sp>
      <p:sp>
        <p:nvSpPr>
          <p:cNvPr id="9" name="Shape 7"/>
          <p:cNvSpPr/>
          <p:nvPr/>
        </p:nvSpPr>
        <p:spPr>
          <a:xfrm>
            <a:off x="2926080" y="1508760"/>
            <a:ext cx="2194560" cy="1737360"/>
          </a:xfrm>
          <a:prstGeom prst="rect">
            <a:avLst/>
          </a:prstGeom>
          <a:solidFill>
            <a:schemeClr val="bg1"/>
          </a:solidFill>
          <a:ln w="25400">
            <a:solidFill>
              <a:schemeClr val="tx1"/>
            </a:solidFill>
            <a:prstDash val="solid"/>
          </a:ln>
        </p:spPr>
      </p:sp>
      <p:sp>
        <p:nvSpPr>
          <p:cNvPr id="10" name="Shape 8"/>
          <p:cNvSpPr/>
          <p:nvPr/>
        </p:nvSpPr>
        <p:spPr>
          <a:xfrm>
            <a:off x="3063240" y="1645920"/>
            <a:ext cx="502920" cy="502920"/>
          </a:xfrm>
          <a:prstGeom prst="ellipse">
            <a:avLst/>
          </a:prstGeom>
          <a:solidFill>
            <a:schemeClr val="accent1"/>
          </a:solidFill>
          <a:ln w="19050">
            <a:solidFill>
              <a:schemeClr val="tx1"/>
            </a:solidFill>
            <a:prstDash val="solid"/>
          </a:ln>
        </p:spPr>
      </p:sp>
      <p:sp>
        <p:nvSpPr>
          <p:cNvPr id="11" name="Text 9"/>
          <p:cNvSpPr txBox="1"/>
          <p:nvPr/>
        </p:nvSpPr>
        <p:spPr>
          <a:xfrm>
            <a:off x="3063240" y="164592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2</a:t>
            </a:r>
            <a:endParaRPr lang="en-US" sz="1800" dirty="0"/>
          </a:p>
        </p:txBody>
      </p:sp>
      <p:sp>
        <p:nvSpPr>
          <p:cNvPr id="12" name="Text 10"/>
          <p:cNvSpPr txBox="1"/>
          <p:nvPr/>
        </p:nvSpPr>
        <p:spPr>
          <a:xfrm>
            <a:off x="3063240" y="228600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Plier en 4 sur la largeur : 8 cases</a:t>
            </a:r>
            <a:endParaRPr lang="en-US" sz="1500" dirty="0"/>
          </a:p>
        </p:txBody>
      </p:sp>
      <p:sp>
        <p:nvSpPr>
          <p:cNvPr id="13" name="Shape 11"/>
          <p:cNvSpPr/>
          <p:nvPr/>
        </p:nvSpPr>
        <p:spPr>
          <a:xfrm>
            <a:off x="5303520" y="1508760"/>
            <a:ext cx="2194560" cy="1737360"/>
          </a:xfrm>
          <a:prstGeom prst="rect">
            <a:avLst/>
          </a:prstGeom>
          <a:solidFill>
            <a:schemeClr val="bg1"/>
          </a:solidFill>
          <a:ln w="25400">
            <a:solidFill>
              <a:schemeClr val="tx1"/>
            </a:solidFill>
            <a:prstDash val="solid"/>
          </a:ln>
        </p:spPr>
      </p:sp>
      <p:sp>
        <p:nvSpPr>
          <p:cNvPr id="14" name="Shape 12"/>
          <p:cNvSpPr/>
          <p:nvPr/>
        </p:nvSpPr>
        <p:spPr>
          <a:xfrm>
            <a:off x="5440680" y="1645920"/>
            <a:ext cx="502920" cy="502920"/>
          </a:xfrm>
          <a:prstGeom prst="ellipse">
            <a:avLst/>
          </a:prstGeom>
          <a:solidFill>
            <a:schemeClr val="accent1"/>
          </a:solidFill>
          <a:ln w="19050">
            <a:solidFill>
              <a:schemeClr val="tx1"/>
            </a:solidFill>
            <a:prstDash val="solid"/>
          </a:ln>
        </p:spPr>
      </p:sp>
      <p:sp>
        <p:nvSpPr>
          <p:cNvPr id="15" name="Text 13"/>
          <p:cNvSpPr txBox="1"/>
          <p:nvPr/>
        </p:nvSpPr>
        <p:spPr>
          <a:xfrm>
            <a:off x="5440680" y="164592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3</a:t>
            </a:r>
            <a:endParaRPr lang="en-US" sz="1800" dirty="0"/>
          </a:p>
        </p:txBody>
      </p:sp>
      <p:sp>
        <p:nvSpPr>
          <p:cNvPr id="16" name="Text 14"/>
          <p:cNvSpPr txBox="1"/>
          <p:nvPr/>
        </p:nvSpPr>
        <p:spPr>
          <a:xfrm>
            <a:off x="5440680" y="228600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Couper la fente centrale</a:t>
            </a:r>
            <a:endParaRPr lang="en-US" sz="1500" dirty="0"/>
          </a:p>
        </p:txBody>
      </p:sp>
      <p:sp>
        <p:nvSpPr>
          <p:cNvPr id="17" name="Shape 15"/>
          <p:cNvSpPr/>
          <p:nvPr/>
        </p:nvSpPr>
        <p:spPr>
          <a:xfrm>
            <a:off x="548640" y="3474720"/>
            <a:ext cx="2194560" cy="1737360"/>
          </a:xfrm>
          <a:prstGeom prst="rect">
            <a:avLst/>
          </a:prstGeom>
          <a:solidFill>
            <a:schemeClr val="bg1"/>
          </a:solidFill>
          <a:ln w="25400">
            <a:solidFill>
              <a:schemeClr val="tx1"/>
            </a:solidFill>
            <a:prstDash val="solid"/>
          </a:ln>
        </p:spPr>
      </p:sp>
      <p:sp>
        <p:nvSpPr>
          <p:cNvPr id="18" name="Shape 16"/>
          <p:cNvSpPr/>
          <p:nvPr/>
        </p:nvSpPr>
        <p:spPr>
          <a:xfrm>
            <a:off x="685800" y="3611880"/>
            <a:ext cx="502920" cy="502920"/>
          </a:xfrm>
          <a:prstGeom prst="ellipse">
            <a:avLst/>
          </a:prstGeom>
          <a:solidFill>
            <a:schemeClr val="accent1"/>
          </a:solidFill>
          <a:ln w="19050">
            <a:solidFill>
              <a:schemeClr val="tx1"/>
            </a:solidFill>
            <a:prstDash val="solid"/>
          </a:ln>
        </p:spPr>
      </p:sp>
      <p:sp>
        <p:nvSpPr>
          <p:cNvPr id="19" name="Text 17"/>
          <p:cNvSpPr txBox="1"/>
          <p:nvPr/>
        </p:nvSpPr>
        <p:spPr>
          <a:xfrm>
            <a:off x="685800" y="361188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4</a:t>
            </a:r>
            <a:endParaRPr lang="en-US" sz="1800" dirty="0"/>
          </a:p>
        </p:txBody>
      </p:sp>
      <p:sp>
        <p:nvSpPr>
          <p:cNvPr id="20" name="Text 18"/>
          <p:cNvSpPr txBox="1"/>
          <p:nvPr/>
        </p:nvSpPr>
        <p:spPr>
          <a:xfrm>
            <a:off x="685800" y="425196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Pousser vers le centre : losange</a:t>
            </a:r>
            <a:endParaRPr lang="en-US" sz="1500" dirty="0"/>
          </a:p>
        </p:txBody>
      </p:sp>
      <p:sp>
        <p:nvSpPr>
          <p:cNvPr id="21" name="Shape 19"/>
          <p:cNvSpPr/>
          <p:nvPr/>
        </p:nvSpPr>
        <p:spPr>
          <a:xfrm>
            <a:off x="2926080" y="3474720"/>
            <a:ext cx="2194560" cy="1737360"/>
          </a:xfrm>
          <a:prstGeom prst="rect">
            <a:avLst/>
          </a:prstGeom>
          <a:solidFill>
            <a:schemeClr val="bg1"/>
          </a:solidFill>
          <a:ln w="25400">
            <a:solidFill>
              <a:schemeClr val="tx1"/>
            </a:solidFill>
            <a:prstDash val="solid"/>
          </a:ln>
        </p:spPr>
      </p:sp>
      <p:sp>
        <p:nvSpPr>
          <p:cNvPr id="22" name="Shape 20"/>
          <p:cNvSpPr/>
          <p:nvPr/>
        </p:nvSpPr>
        <p:spPr>
          <a:xfrm>
            <a:off x="3063240" y="3611880"/>
            <a:ext cx="502920" cy="502920"/>
          </a:xfrm>
          <a:prstGeom prst="ellipse">
            <a:avLst/>
          </a:prstGeom>
          <a:solidFill>
            <a:schemeClr val="accent1"/>
          </a:solidFill>
          <a:ln w="19050">
            <a:solidFill>
              <a:schemeClr val="tx1"/>
            </a:solidFill>
            <a:prstDash val="solid"/>
          </a:ln>
        </p:spPr>
      </p:sp>
      <p:sp>
        <p:nvSpPr>
          <p:cNvPr id="23" name="Text 21"/>
          <p:cNvSpPr txBox="1"/>
          <p:nvPr/>
        </p:nvSpPr>
        <p:spPr>
          <a:xfrm>
            <a:off x="3063240" y="361188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5</a:t>
            </a:r>
            <a:endParaRPr lang="en-US" sz="1800" dirty="0"/>
          </a:p>
        </p:txBody>
      </p:sp>
      <p:sp>
        <p:nvSpPr>
          <p:cNvPr id="24" name="Text 22"/>
          <p:cNvSpPr txBox="1"/>
          <p:nvPr/>
        </p:nvSpPr>
        <p:spPr>
          <a:xfrm>
            <a:off x="3063240" y="425196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Rabattre en livret</a:t>
            </a:r>
            <a:endParaRPr lang="en-US" sz="1500" dirty="0"/>
          </a:p>
        </p:txBody>
      </p:sp>
      <p:sp>
        <p:nvSpPr>
          <p:cNvPr id="25" name="Shape 23"/>
          <p:cNvSpPr/>
          <p:nvPr/>
        </p:nvSpPr>
        <p:spPr>
          <a:xfrm>
            <a:off x="5303520" y="3474720"/>
            <a:ext cx="2194560" cy="1737360"/>
          </a:xfrm>
          <a:prstGeom prst="rect">
            <a:avLst/>
          </a:prstGeom>
          <a:solidFill>
            <a:schemeClr val="bg1"/>
          </a:solidFill>
          <a:ln w="25400">
            <a:solidFill>
              <a:schemeClr val="tx1"/>
            </a:solidFill>
            <a:prstDash val="solid"/>
          </a:ln>
        </p:spPr>
      </p:sp>
      <p:sp>
        <p:nvSpPr>
          <p:cNvPr id="26" name="Shape 24"/>
          <p:cNvSpPr/>
          <p:nvPr/>
        </p:nvSpPr>
        <p:spPr>
          <a:xfrm>
            <a:off x="5440680" y="3611880"/>
            <a:ext cx="502920" cy="502920"/>
          </a:xfrm>
          <a:prstGeom prst="ellipse">
            <a:avLst/>
          </a:prstGeom>
          <a:solidFill>
            <a:schemeClr val="accent1"/>
          </a:solidFill>
          <a:ln w="19050">
            <a:solidFill>
              <a:schemeClr val="tx1"/>
            </a:solidFill>
            <a:prstDash val="solid"/>
          </a:ln>
        </p:spPr>
      </p:sp>
      <p:sp>
        <p:nvSpPr>
          <p:cNvPr id="27" name="Text 25"/>
          <p:cNvSpPr txBox="1"/>
          <p:nvPr/>
        </p:nvSpPr>
        <p:spPr>
          <a:xfrm>
            <a:off x="5440680" y="3611880"/>
            <a:ext cx="502920" cy="502920"/>
          </a:xfrm>
          <a:prstGeom prst="rect">
            <a:avLst/>
          </a:prstGeom>
          <a:noFill/>
          <a:ln/>
        </p:spPr>
        <p:txBody>
          <a:bodyPr wrap="square" lIns="0" tIns="0" rIns="0" bIns="0" rtlCol="0" anchor="ctr"/>
          <a:lstStyle/>
          <a:p>
            <a:pPr algn="ctr" indent="0" marL="0">
              <a:buNone/>
            </a:pPr>
            <a:r>
              <a:rPr lang="en-US" sz="1800" dirty="0">
                <a:solidFill>
                  <a:schemeClr val="bg2"/>
                </a:solidFill>
                <a:latin typeface="Rockwell Extra Bold" pitchFamily="34" charset="0"/>
                <a:ea typeface="Rockwell Extra Bold" pitchFamily="34" charset="-122"/>
                <a:cs typeface="Rockwell Extra Bold" pitchFamily="34" charset="-120"/>
              </a:rPr>
              <a:t>6</a:t>
            </a:r>
            <a:endParaRPr lang="en-US" sz="1800" dirty="0"/>
          </a:p>
        </p:txBody>
      </p:sp>
      <p:sp>
        <p:nvSpPr>
          <p:cNvPr id="28" name="Text 26"/>
          <p:cNvSpPr txBox="1"/>
          <p:nvPr/>
        </p:nvSpPr>
        <p:spPr>
          <a:xfrm>
            <a:off x="5440680" y="4251960"/>
            <a:ext cx="1920240" cy="86868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Couverture sur le dessus</a:t>
            </a:r>
            <a:endParaRPr lang="en-US" sz="1500" dirty="0"/>
          </a:p>
        </p:txBody>
      </p:sp>
      <p:sp>
        <p:nvSpPr>
          <p:cNvPr id="29" name="Shape 27"/>
          <p:cNvSpPr/>
          <p:nvPr/>
        </p:nvSpPr>
        <p:spPr>
          <a:xfrm>
            <a:off x="7955280" y="1508760"/>
            <a:ext cx="3657600" cy="3840480"/>
          </a:xfrm>
          <a:prstGeom prst="rect">
            <a:avLst/>
          </a:prstGeom>
          <a:solidFill>
            <a:schemeClr val="tx1"/>
          </a:solidFill>
          <a:ln w="25400">
            <a:solidFill>
              <a:schemeClr val="tx1"/>
            </a:solidFill>
            <a:prstDash val="solid"/>
          </a:ln>
        </p:spPr>
      </p:sp>
      <p:sp>
        <p:nvSpPr>
          <p:cNvPr id="30" name="Text 28"/>
          <p:cNvSpPr txBox="1"/>
          <p:nvPr/>
        </p:nvSpPr>
        <p:spPr>
          <a:xfrm>
            <a:off x="8183880" y="1691640"/>
            <a:ext cx="3200400" cy="822960"/>
          </a:xfrm>
          <a:prstGeom prst="rect">
            <a:avLst/>
          </a:prstGeom>
          <a:noFill/>
          <a:ln/>
        </p:spPr>
        <p:txBody>
          <a:bodyPr wrap="square" lIns="0" tIns="0" rIns="0" bIns="0" rtlCol="0" anchor="t"/>
          <a:lstStyle/>
          <a:p>
            <a:pPr indent="0" marL="0">
              <a:buNone/>
            </a:pPr>
            <a:r>
              <a:rPr lang="en-US" sz="1800" dirty="0">
                <a:solidFill>
                  <a:schemeClr val="accent2"/>
                </a:solidFill>
                <a:latin typeface="Rockwell Extra Bold" pitchFamily="34" charset="0"/>
                <a:ea typeface="Rockwell Extra Bold" pitchFamily="34" charset="-122"/>
                <a:cs typeface="Rockwell Extra Bold" pitchFamily="34" charset="-120"/>
              </a:rPr>
              <a:t>Pourquoi commencer par du papier?</a:t>
            </a:r>
            <a:endParaRPr lang="en-US" sz="1800" dirty="0"/>
          </a:p>
        </p:txBody>
      </p:sp>
      <p:sp>
        <p:nvSpPr>
          <p:cNvPr id="31" name="Text 29"/>
          <p:cNvSpPr txBox="1"/>
          <p:nvPr/>
        </p:nvSpPr>
        <p:spPr>
          <a:xfrm>
            <a:off x="8183880" y="2606040"/>
            <a:ext cx="3200400" cy="2560320"/>
          </a:xfrm>
          <a:prstGeom prst="rect">
            <a:avLst/>
          </a:prstGeom>
          <a:noFill/>
          <a:ln/>
        </p:spPr>
        <p:txBody>
          <a:bodyPr wrap="square" lIns="0" tIns="0" rIns="0" bIns="0" rtlCol="0" anchor="t"/>
          <a:lstStyle/>
          <a:p>
            <a:pPr indent="0" marL="0">
              <a:buNone/>
            </a:pPr>
            <a:r>
              <a:rPr lang="en-US" sz="1500" dirty="0">
                <a:solidFill>
                  <a:schemeClr val="bg2"/>
                </a:solidFill>
                <a:latin typeface="Arial" pitchFamily="34" charset="0"/>
                <a:ea typeface="Arial" pitchFamily="34" charset="-122"/>
                <a:cs typeface="Arial" pitchFamily="34" charset="-120"/>
              </a:rPr>
              <a:t>Un geste manuel ralentit la salle, crée un objet commun et donne à chacun un carnet de 8 activités à remplir en cours de route.</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par>
                          <p:cTn id="108" presetID="53" presetClass="entr" presetSubtype="16" fill="hold" nodeType="withEffect">
                            <p:stCondLst>
                              <p:cond delay="2600"/>
                            </p:stCondLst>
                            <p:childTnLst>
                              <p:set>
                                <p:cBhvr>
                                  <p:cTn id="109" dur="1" fill="hold">
                                    <p:stCondLst>
                                      <p:cond delay="0"/>
                                    </p:stCondLst>
                                  </p:cTn>
                                  <p:tgtEl>
                                    <p:spTgt spid="29"/>
                                  </p:tgtEl>
                                  <p:attrNameLst>
                                    <p:attrName>style.visibility</p:attrName>
                                  </p:attrNameLst>
                                </p:cBhvr>
                                <p:to>
                                  <p:strVal val="visible"/>
                                </p:to>
                              </p:set>
                              <p:anim calcmode="lin" valueType="num">
                                <p:cBhvr>
                                  <p:cTn id="110" dur="450" fill="hold"/>
                                  <p:tgtEl>
                                    <p:spTgt spid="29"/>
                                  </p:tgtEl>
                                  <p:attrNameLst>
                                    <p:attrName>ppt_w</p:attrName>
                                  </p:attrNameLst>
                                </p:cBhvr>
                                <p:tavLst>
                                  <p:tav tm="0">
                                    <p:val>
                                      <p:strVal val="#ppt_w*0.85"/>
                                    </p:val>
                                  </p:tav>
                                  <p:tav tm="100000">
                                    <p:val>
                                      <p:strVal val="#ppt_w"/>
                                    </p:val>
                                  </p:tav>
                                </p:tavLst>
                              </p:anim>
                              <p:animEffect transition="in" filter="fade">
                                <p:cBhvr>
                                  <p:cTn id="111" dur="450"/>
                                  <p:tgtEl>
                                    <p:spTgt spid="29"/>
                                  </p:tgtEl>
                                </p:cBhvr>
                              </p:animEffect>
                            </p:childTnLst>
                          </p:cTn>
                        </p:par>
                        <p:par>
                          <p:cTn id="112" presetID="53" presetClass="entr" presetSubtype="16" fill="hold" nodeType="withEffect">
                            <p:stCondLst>
                              <p:cond delay="2600"/>
                            </p:stCondLst>
                            <p:childTnLst>
                              <p:set>
                                <p:cBhvr>
                                  <p:cTn id="113" dur="1" fill="hold">
                                    <p:stCondLst>
                                      <p:cond delay="0"/>
                                    </p:stCondLst>
                                  </p:cTn>
                                  <p:tgtEl>
                                    <p:spTgt spid="30"/>
                                  </p:tgtEl>
                                  <p:attrNameLst>
                                    <p:attrName>style.visibility</p:attrName>
                                  </p:attrNameLst>
                                </p:cBhvr>
                                <p:to>
                                  <p:strVal val="visible"/>
                                </p:to>
                              </p:set>
                              <p:anim calcmode="lin" valueType="num">
                                <p:cBhvr>
                                  <p:cTn id="114" dur="450" fill="hold"/>
                                  <p:tgtEl>
                                    <p:spTgt spid="30"/>
                                  </p:tgtEl>
                                  <p:attrNameLst>
                                    <p:attrName>ppt_w</p:attrName>
                                  </p:attrNameLst>
                                </p:cBhvr>
                                <p:tavLst>
                                  <p:tav tm="0">
                                    <p:val>
                                      <p:strVal val="#ppt_w*0.85"/>
                                    </p:val>
                                  </p:tav>
                                  <p:tav tm="100000">
                                    <p:val>
                                      <p:strVal val="#ppt_w"/>
                                    </p:val>
                                  </p:tav>
                                </p:tavLst>
                              </p:anim>
                              <p:animEffect transition="in" filter="fade">
                                <p:cBhvr>
                                  <p:cTn id="115" dur="450"/>
                                  <p:tgtEl>
                                    <p:spTgt spid="30"/>
                                  </p:tgtEl>
                                </p:cBhvr>
                              </p:animEffect>
                            </p:childTnLst>
                          </p:cTn>
                        </p:par>
                        <p:par>
                          <p:cTn id="116" presetID="53" presetClass="entr" presetSubtype="16" fill="hold" nodeType="withEffect">
                            <p:stCondLst>
                              <p:cond delay="2600"/>
                            </p:stCondLst>
                            <p:childTnLst>
                              <p:set>
                                <p:cBhvr>
                                  <p:cTn id="117" dur="1" fill="hold">
                                    <p:stCondLst>
                                      <p:cond delay="0"/>
                                    </p:stCondLst>
                                  </p:cTn>
                                  <p:tgtEl>
                                    <p:spTgt spid="31"/>
                                  </p:tgtEl>
                                  <p:attrNameLst>
                                    <p:attrName>style.visibility</p:attrName>
                                  </p:attrNameLst>
                                </p:cBhvr>
                                <p:to>
                                  <p:strVal val="visible"/>
                                </p:to>
                              </p:set>
                              <p:anim calcmode="lin" valueType="num">
                                <p:cBhvr>
                                  <p:cTn id="118" dur="450" fill="hold"/>
                                  <p:tgtEl>
                                    <p:spTgt spid="31"/>
                                  </p:tgtEl>
                                  <p:attrNameLst>
                                    <p:attrName>ppt_w</p:attrName>
                                  </p:attrNameLst>
                                </p:cBhvr>
                                <p:tavLst>
                                  <p:tav tm="0">
                                    <p:val>
                                      <p:strVal val="#ppt_w*0.85"/>
                                    </p:val>
                                  </p:tav>
                                  <p:tav tm="100000">
                                    <p:val>
                                      <p:strVal val="#ppt_w"/>
                                    </p:val>
                                  </p:tav>
                                </p:tavLst>
                              </p:anim>
                              <p:animEffect transition="in" filter="fade">
                                <p:cBhvr>
                                  <p:cTn id="119" dur="450"/>
                                  <p:tgtEl>
                                    <p:spTgt spid="3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1" grpId="0"/>
      <p:bldP spid="12" grpId="0"/>
      <p:bldP spid="15" grpId="0"/>
      <p:bldP spid="16" grpId="0"/>
      <p:bldP spid="19" grpId="0"/>
      <p:bldP spid="20" grpId="0"/>
      <p:bldP spid="23" grpId="0"/>
      <p:bldP spid="24" grpId="0"/>
      <p:bldP spid="27" grpId="0"/>
      <p:bldP spid="28" grpId="0"/>
      <p:bldP spid="30" grpId="0"/>
      <p:bldP spid="31"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Activité 2 · La ligne qui bouge</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13 min</a:t>
            </a:r>
            <a:endParaRPr lang="en-US" sz="1400" dirty="0"/>
          </a:p>
        </p:txBody>
      </p:sp>
      <p:sp>
        <p:nvSpPr>
          <p:cNvPr id="5" name="Shape 3"/>
          <p:cNvSpPr/>
          <p:nvPr/>
        </p:nvSpPr>
        <p:spPr>
          <a:xfrm>
            <a:off x="822960" y="2331720"/>
            <a:ext cx="10515600" cy="0"/>
          </a:xfrm>
          <a:prstGeom prst="line">
            <a:avLst/>
          </a:prstGeom>
          <a:noFill/>
          <a:ln w="50800">
            <a:solidFill>
              <a:schemeClr val="tx1"/>
            </a:solidFill>
            <a:prstDash val="solid"/>
            <a:headEnd type="triangle"/>
            <a:tailEnd type="triangle"/>
          </a:ln>
        </p:spPr>
      </p:sp>
      <p:sp>
        <p:nvSpPr>
          <p:cNvPr id="6" name="Text 4"/>
          <p:cNvSpPr txBox="1"/>
          <p:nvPr/>
        </p:nvSpPr>
        <p:spPr>
          <a:xfrm>
            <a:off x="548640" y="1508760"/>
            <a:ext cx="3657600" cy="365760"/>
          </a:xfrm>
          <a:prstGeom prst="rect">
            <a:avLst/>
          </a:prstGeom>
          <a:noFill/>
          <a:ln/>
        </p:spPr>
        <p:txBody>
          <a:bodyPr wrap="square" lIns="0" tIns="0" rIns="0" bIns="0" rtlCol="0" anchor="t"/>
          <a:lstStyle/>
          <a:p>
            <a:pPr indent="0" marL="0">
              <a:buNone/>
            </a:pPr>
            <a:r>
              <a:rPr lang="en-US" sz="1300" b="1" dirty="0">
                <a:solidFill>
                  <a:schemeClr val="accent1"/>
                </a:solidFill>
                <a:latin typeface="Arial" pitchFamily="34" charset="0"/>
                <a:ea typeface="Arial" pitchFamily="34" charset="-122"/>
                <a:cs typeface="Arial" pitchFamily="34" charset="-120"/>
              </a:rPr>
              <a:t>TOTALEMENT D'ACCORD</a:t>
            </a:r>
            <a:endParaRPr lang="en-US" sz="1300" dirty="0"/>
          </a:p>
        </p:txBody>
      </p:sp>
      <p:sp>
        <p:nvSpPr>
          <p:cNvPr id="7" name="Text 5"/>
          <p:cNvSpPr txBox="1"/>
          <p:nvPr/>
        </p:nvSpPr>
        <p:spPr>
          <a:xfrm>
            <a:off x="8869680" y="1508760"/>
            <a:ext cx="2743200" cy="365760"/>
          </a:xfrm>
          <a:prstGeom prst="rect">
            <a:avLst/>
          </a:prstGeom>
          <a:noFill/>
          <a:ln/>
        </p:spPr>
        <p:txBody>
          <a:bodyPr wrap="square" lIns="0" tIns="0" rIns="0" bIns="0" rtlCol="0" anchor="t"/>
          <a:lstStyle/>
          <a:p>
            <a:pPr algn="r" indent="0" marL="0">
              <a:buNone/>
            </a:pPr>
            <a:r>
              <a:rPr lang="en-US" sz="1300" b="1" dirty="0">
                <a:solidFill>
                  <a:schemeClr val="accent1"/>
                </a:solidFill>
                <a:latin typeface="Arial" pitchFamily="34" charset="0"/>
                <a:ea typeface="Arial" pitchFamily="34" charset="-122"/>
                <a:cs typeface="Arial" pitchFamily="34" charset="-120"/>
              </a:rPr>
              <a:t>PAS DU TOUT</a:t>
            </a:r>
            <a:endParaRPr lang="en-US" sz="1300" dirty="0"/>
          </a:p>
        </p:txBody>
      </p:sp>
      <p:sp>
        <p:nvSpPr>
          <p:cNvPr id="8" name="Text 6"/>
          <p:cNvSpPr txBox="1"/>
          <p:nvPr/>
        </p:nvSpPr>
        <p:spPr>
          <a:xfrm>
            <a:off x="548640" y="2743200"/>
            <a:ext cx="548640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Énoncés possibles</a:t>
            </a:r>
            <a:endParaRPr lang="en-US" sz="1800" dirty="0"/>
          </a:p>
        </p:txBody>
      </p:sp>
      <p:sp>
        <p:nvSpPr>
          <p:cNvPr id="9" name="Text 7"/>
          <p:cNvSpPr txBox="1"/>
          <p:nvPr/>
        </p:nvSpPr>
        <p:spPr>
          <a:xfrm>
            <a:off x="548640" y="3200400"/>
            <a:ext cx="566928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Le télétravail devrait être un droit. »</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On devrait pouvoir parler politique au souper de famille. »</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Un bon argument peut toujours être dit poliment. »</a:t>
            </a:r>
            <a:endParaRPr lang="en-US" sz="1600" dirty="0"/>
          </a:p>
          <a:p>
            <a:pPr marL="342900" indent="-342900">
              <a:spcAft>
                <a:spcPts val="800"/>
              </a:spcAft>
              <a:buSzPct val="100000"/>
              <a:buChar char="•"/>
            </a:pPr>
            <a:r>
              <a:rPr lang="en-US" sz="1600" dirty="0">
                <a:solidFill>
                  <a:schemeClr val="tx1"/>
                </a:solidFill>
                <a:latin typeface="Arial" pitchFamily="34" charset="0"/>
                <a:ea typeface="Arial" pitchFamily="34" charset="-122"/>
                <a:cs typeface="Arial" pitchFamily="34" charset="-120"/>
              </a:rPr>
              <a:t>« Changer d'avis, c'est perdre la face. »</a:t>
            </a:r>
            <a:endParaRPr lang="en-US" sz="1600" dirty="0"/>
          </a:p>
        </p:txBody>
      </p:sp>
      <p:sp>
        <p:nvSpPr>
          <p:cNvPr id="10" name="Shape 8"/>
          <p:cNvSpPr/>
          <p:nvPr/>
        </p:nvSpPr>
        <p:spPr>
          <a:xfrm>
            <a:off x="6675120" y="2743200"/>
            <a:ext cx="4937760" cy="3017520"/>
          </a:xfrm>
          <a:prstGeom prst="rect">
            <a:avLst/>
          </a:prstGeom>
          <a:solidFill>
            <a:schemeClr val="tx1"/>
          </a:solidFill>
          <a:ln w="25400">
            <a:solidFill>
              <a:schemeClr val="tx1"/>
            </a:solidFill>
            <a:prstDash val="solid"/>
          </a:ln>
        </p:spPr>
      </p:sp>
      <p:sp>
        <p:nvSpPr>
          <p:cNvPr id="11" name="Text 9"/>
          <p:cNvSpPr txBox="1"/>
          <p:nvPr/>
        </p:nvSpPr>
        <p:spPr>
          <a:xfrm>
            <a:off x="6903720" y="2926080"/>
            <a:ext cx="4572000" cy="457200"/>
          </a:xfrm>
          <a:prstGeom prst="rect">
            <a:avLst/>
          </a:prstGeom>
          <a:noFill/>
          <a:ln/>
        </p:spPr>
        <p:txBody>
          <a:bodyPr wrap="square" lIns="0" tIns="0" rIns="0" bIns="0" rtlCol="0" anchor="t"/>
          <a:lstStyle/>
          <a:p>
            <a:pPr indent="0" marL="0">
              <a:buNone/>
            </a:pPr>
            <a:r>
              <a:rPr lang="en-US" sz="2000" dirty="0">
                <a:solidFill>
                  <a:schemeClr val="accent2"/>
                </a:solidFill>
                <a:latin typeface="Rockwell Extra Bold" pitchFamily="34" charset="0"/>
                <a:ea typeface="Rockwell Extra Bold" pitchFamily="34" charset="-122"/>
                <a:cs typeface="Rockwell Extra Bold" pitchFamily="34" charset="-120"/>
              </a:rPr>
              <a:t>La règle surprise</a:t>
            </a:r>
            <a:endParaRPr lang="en-US" sz="2000" dirty="0"/>
          </a:p>
        </p:txBody>
      </p:sp>
      <p:sp>
        <p:nvSpPr>
          <p:cNvPr id="12" name="Text 10"/>
          <p:cNvSpPr txBox="1"/>
          <p:nvPr/>
        </p:nvSpPr>
        <p:spPr>
          <a:xfrm>
            <a:off x="6903720" y="3474720"/>
            <a:ext cx="4480560" cy="2103120"/>
          </a:xfrm>
          <a:prstGeom prst="rect">
            <a:avLst/>
          </a:prstGeom>
          <a:noFill/>
          <a:ln/>
        </p:spPr>
        <p:txBody>
          <a:bodyPr wrap="square" lIns="0" tIns="0" rIns="0" bIns="0" rtlCol="0" anchor="t"/>
          <a:lstStyle/>
          <a:p>
            <a:pPr indent="0" marL="0">
              <a:buNone/>
            </a:pPr>
            <a:r>
              <a:rPr lang="en-US" sz="1600" dirty="0">
                <a:solidFill>
                  <a:schemeClr val="bg2"/>
                </a:solidFill>
                <a:latin typeface="Arial" pitchFamily="34" charset="0"/>
                <a:ea typeface="Arial" pitchFamily="34" charset="-122"/>
                <a:cs typeface="Arial" pitchFamily="34" charset="-120"/>
              </a:rPr>
              <a:t>On ne peut bouger que si quelqu'un d'autre nous a fait bouger. Puis, au signal « Change de bord! », chacun va défendre la position opposée à la sienne pendant 1 minute.</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p:bldP spid="8" grpId="0"/>
      <p:bldP spid="9" grpId="0"/>
      <p:bldP spid="11" grpId="0"/>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Activité 3 · La course à trois jambes</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12 min</a:t>
            </a:r>
            <a:endParaRPr lang="en-US" sz="1400" dirty="0"/>
          </a:p>
        </p:txBody>
      </p:sp>
      <p:sp>
        <p:nvSpPr>
          <p:cNvPr id="5" name="Shape 3"/>
          <p:cNvSpPr/>
          <p:nvPr/>
        </p:nvSpPr>
        <p:spPr>
          <a:xfrm>
            <a:off x="548640" y="1325880"/>
            <a:ext cx="548640" cy="548640"/>
          </a:xfrm>
          <a:prstGeom prst="ellipse">
            <a:avLst/>
          </a:prstGeom>
          <a:solidFill>
            <a:schemeClr val="accent1"/>
          </a:solidFill>
          <a:ln w="19050">
            <a:solidFill>
              <a:schemeClr val="tx1"/>
            </a:solidFill>
            <a:prstDash val="solid"/>
          </a:ln>
        </p:spPr>
      </p:sp>
      <p:sp>
        <p:nvSpPr>
          <p:cNvPr id="6" name="Text 4"/>
          <p:cNvSpPr txBox="1"/>
          <p:nvPr/>
        </p:nvSpPr>
        <p:spPr>
          <a:xfrm>
            <a:off x="548640" y="132588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7" name="Text 5"/>
          <p:cNvSpPr txBox="1"/>
          <p:nvPr/>
        </p:nvSpPr>
        <p:spPr>
          <a:xfrm>
            <a:off x="1280160" y="1344168"/>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Duos opposés</a:t>
            </a:r>
            <a:endParaRPr lang="en-US" sz="1700" dirty="0"/>
          </a:p>
        </p:txBody>
      </p:sp>
      <p:sp>
        <p:nvSpPr>
          <p:cNvPr id="8" name="Text 6"/>
          <p:cNvSpPr txBox="1"/>
          <p:nvPr/>
        </p:nvSpPr>
        <p:spPr>
          <a:xfrm>
            <a:off x="3566160" y="1289304"/>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Un de chaque bout de la ligne qui bouge. Bras dessus, bras dessous.</a:t>
            </a:r>
            <a:endParaRPr lang="en-US" sz="1400" dirty="0"/>
          </a:p>
        </p:txBody>
      </p:sp>
      <p:sp>
        <p:nvSpPr>
          <p:cNvPr id="9" name="Shape 7"/>
          <p:cNvSpPr/>
          <p:nvPr/>
        </p:nvSpPr>
        <p:spPr>
          <a:xfrm>
            <a:off x="548640" y="2258568"/>
            <a:ext cx="548640" cy="548640"/>
          </a:xfrm>
          <a:prstGeom prst="ellipse">
            <a:avLst/>
          </a:prstGeom>
          <a:solidFill>
            <a:schemeClr val="accent1"/>
          </a:solidFill>
          <a:ln w="19050">
            <a:solidFill>
              <a:schemeClr val="tx1"/>
            </a:solidFill>
            <a:prstDash val="solid"/>
          </a:ln>
        </p:spPr>
      </p:sp>
      <p:sp>
        <p:nvSpPr>
          <p:cNvPr id="10" name="Text 8"/>
          <p:cNvSpPr txBox="1"/>
          <p:nvPr/>
        </p:nvSpPr>
        <p:spPr>
          <a:xfrm>
            <a:off x="548640" y="2258568"/>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1" name="Text 9"/>
          <p:cNvSpPr txBox="1"/>
          <p:nvPr/>
        </p:nvSpPr>
        <p:spPr>
          <a:xfrm>
            <a:off x="1280160" y="2276856"/>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Départ</a:t>
            </a:r>
            <a:endParaRPr lang="en-US" sz="1700" dirty="0"/>
          </a:p>
        </p:txBody>
      </p:sp>
      <p:sp>
        <p:nvSpPr>
          <p:cNvPr id="12" name="Text 10"/>
          <p:cNvSpPr txBox="1"/>
          <p:nvPr/>
        </p:nvSpPr>
        <p:spPr>
          <a:xfrm>
            <a:off x="3566160" y="2221992"/>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Tous les duos au fond de la salle, face au tableau.</a:t>
            </a:r>
            <a:endParaRPr lang="en-US" sz="1400" dirty="0"/>
          </a:p>
        </p:txBody>
      </p:sp>
      <p:sp>
        <p:nvSpPr>
          <p:cNvPr id="13" name="Shape 11"/>
          <p:cNvSpPr/>
          <p:nvPr/>
        </p:nvSpPr>
        <p:spPr>
          <a:xfrm>
            <a:off x="548640" y="3191256"/>
            <a:ext cx="548640" cy="548640"/>
          </a:xfrm>
          <a:prstGeom prst="ellipse">
            <a:avLst/>
          </a:prstGeom>
          <a:solidFill>
            <a:schemeClr val="accent2"/>
          </a:solidFill>
          <a:ln w="19050">
            <a:solidFill>
              <a:schemeClr val="tx1"/>
            </a:solidFill>
            <a:prstDash val="solid"/>
          </a:ln>
        </p:spPr>
      </p:sp>
      <p:sp>
        <p:nvSpPr>
          <p:cNvPr id="14" name="Text 12"/>
          <p:cNvSpPr txBox="1"/>
          <p:nvPr/>
        </p:nvSpPr>
        <p:spPr>
          <a:xfrm>
            <a:off x="548640" y="3191256"/>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3</a:t>
            </a:r>
            <a:endParaRPr lang="en-US" sz="2000" dirty="0"/>
          </a:p>
        </p:txBody>
      </p:sp>
      <p:sp>
        <p:nvSpPr>
          <p:cNvPr id="15" name="Text 13"/>
          <p:cNvSpPr txBox="1"/>
          <p:nvPr/>
        </p:nvSpPr>
        <p:spPr>
          <a:xfrm>
            <a:off x="1280160" y="3209544"/>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Un accord = un pas</a:t>
            </a:r>
            <a:endParaRPr lang="en-US" sz="1700" dirty="0"/>
          </a:p>
        </p:txBody>
      </p:sp>
      <p:sp>
        <p:nvSpPr>
          <p:cNvPr id="16" name="Text 14"/>
          <p:cNvSpPr txBox="1"/>
          <p:nvPr/>
        </p:nvSpPr>
        <p:spPr>
          <a:xfrm>
            <a:off x="3566160" y="3154680"/>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Énonce un point d'accord sincère sur le sujet. Si l'autre dit « d'accord », le duo avance d'un pas.</a:t>
            </a:r>
            <a:endParaRPr lang="en-US" sz="1400" dirty="0"/>
          </a:p>
        </p:txBody>
      </p:sp>
      <p:sp>
        <p:nvSpPr>
          <p:cNvPr id="17" name="Shape 15"/>
          <p:cNvSpPr/>
          <p:nvPr/>
        </p:nvSpPr>
        <p:spPr>
          <a:xfrm>
            <a:off x="548640" y="4123944"/>
            <a:ext cx="548640" cy="548640"/>
          </a:xfrm>
          <a:prstGeom prst="ellipse">
            <a:avLst/>
          </a:prstGeom>
          <a:solidFill>
            <a:schemeClr val="accent1"/>
          </a:solidFill>
          <a:ln w="19050">
            <a:solidFill>
              <a:schemeClr val="tx1"/>
            </a:solidFill>
            <a:prstDash val="solid"/>
          </a:ln>
        </p:spPr>
      </p:sp>
      <p:sp>
        <p:nvSpPr>
          <p:cNvPr id="18" name="Text 16"/>
          <p:cNvSpPr txBox="1"/>
          <p:nvPr/>
        </p:nvSpPr>
        <p:spPr>
          <a:xfrm>
            <a:off x="548640" y="4123944"/>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19" name="Text 17"/>
          <p:cNvSpPr txBox="1"/>
          <p:nvPr/>
        </p:nvSpPr>
        <p:spPr>
          <a:xfrm>
            <a:off x="1280160" y="4142232"/>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 Trop facile! »</a:t>
            </a:r>
            <a:endParaRPr lang="en-US" sz="1700" dirty="0"/>
          </a:p>
        </p:txBody>
      </p:sp>
      <p:sp>
        <p:nvSpPr>
          <p:cNvPr id="20" name="Text 18"/>
          <p:cNvSpPr txBox="1"/>
          <p:nvPr/>
        </p:nvSpPr>
        <p:spPr>
          <a:xfrm>
            <a:off x="3566160" y="4087368"/>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Le groupe peut crier « Trop facile! » sur un accord banal (« on veut tous être heureux »). Pas refusé.</a:t>
            </a:r>
            <a:endParaRPr lang="en-US" sz="1400" dirty="0"/>
          </a:p>
        </p:txBody>
      </p:sp>
      <p:sp>
        <p:nvSpPr>
          <p:cNvPr id="21" name="Shape 19"/>
          <p:cNvSpPr/>
          <p:nvPr/>
        </p:nvSpPr>
        <p:spPr>
          <a:xfrm>
            <a:off x="548640" y="5056632"/>
            <a:ext cx="548640" cy="548640"/>
          </a:xfrm>
          <a:prstGeom prst="ellipse">
            <a:avLst/>
          </a:prstGeom>
          <a:solidFill>
            <a:schemeClr val="accent1"/>
          </a:solidFill>
          <a:ln w="19050">
            <a:solidFill>
              <a:schemeClr val="tx1"/>
            </a:solidFill>
            <a:prstDash val="solid"/>
          </a:ln>
        </p:spPr>
      </p:sp>
      <p:sp>
        <p:nvSpPr>
          <p:cNvPr id="22" name="Text 20"/>
          <p:cNvSpPr txBox="1"/>
          <p:nvPr/>
        </p:nvSpPr>
        <p:spPr>
          <a:xfrm>
            <a:off x="548640" y="5056632"/>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5</a:t>
            </a:r>
            <a:endParaRPr lang="en-US" sz="2000" dirty="0"/>
          </a:p>
        </p:txBody>
      </p:sp>
      <p:sp>
        <p:nvSpPr>
          <p:cNvPr id="23" name="Text 21"/>
          <p:cNvSpPr txBox="1"/>
          <p:nvPr/>
        </p:nvSpPr>
        <p:spPr>
          <a:xfrm>
            <a:off x="1280160" y="5074920"/>
            <a:ext cx="228600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 mur</a:t>
            </a:r>
            <a:endParaRPr lang="en-US" sz="1700" dirty="0"/>
          </a:p>
        </p:txBody>
      </p:sp>
      <p:sp>
        <p:nvSpPr>
          <p:cNvPr id="24" name="Text 22"/>
          <p:cNvSpPr txBox="1"/>
          <p:nvPr/>
        </p:nvSpPr>
        <p:spPr>
          <a:xfrm>
            <a:off x="3566160" y="5020056"/>
            <a:ext cx="420624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Premier duo arrivé : il écrit sa phrase commune au tableau, puis la lit.</a:t>
            </a:r>
            <a:endParaRPr lang="en-US" sz="1400" dirty="0"/>
          </a:p>
        </p:txBody>
      </p:sp>
      <p:sp>
        <p:nvSpPr>
          <p:cNvPr id="25" name="Shape 23"/>
          <p:cNvSpPr/>
          <p:nvPr/>
        </p:nvSpPr>
        <p:spPr>
          <a:xfrm>
            <a:off x="8138160" y="1325880"/>
            <a:ext cx="3474720" cy="4572000"/>
          </a:xfrm>
          <a:prstGeom prst="rect">
            <a:avLst/>
          </a:prstGeom>
          <a:solidFill>
            <a:schemeClr val="tx1"/>
          </a:solidFill>
          <a:ln w="25400">
            <a:solidFill>
              <a:schemeClr val="tx1"/>
            </a:solidFill>
            <a:prstDash val="solid"/>
          </a:ln>
        </p:spPr>
      </p:sp>
      <p:pic>
        <p:nvPicPr>
          <p:cNvPr id="26" name="Image 0" descr="preencoded.png">    </p:cNvPr>
          <p:cNvPicPr>
            <a:picLocks noChangeAspect="1"/>
          </p:cNvPicPr>
          <p:nvPr/>
        </p:nvPicPr>
        <p:blipFill>
          <a:blip r:embed="rId1"/>
          <a:stretch>
            <a:fillRect/>
          </a:stretch>
        </p:blipFill>
        <p:spPr>
          <a:xfrm>
            <a:off x="8458200" y="1463040"/>
            <a:ext cx="1097280" cy="1325880"/>
          </a:xfrm>
          <a:prstGeom prst="rect">
            <a:avLst/>
          </a:prstGeom>
        </p:spPr>
      </p:pic>
      <p:pic>
        <p:nvPicPr>
          <p:cNvPr id="27" name="Image 1" descr="preencoded.png">    </p:cNvPr>
          <p:cNvPicPr>
            <a:picLocks noChangeAspect="1"/>
          </p:cNvPicPr>
          <p:nvPr/>
        </p:nvPicPr>
        <p:blipFill>
          <a:blip r:embed="rId2"/>
          <a:stretch>
            <a:fillRect/>
          </a:stretch>
        </p:blipFill>
        <p:spPr>
          <a:xfrm>
            <a:off x="9098280" y="1463040"/>
            <a:ext cx="1097280" cy="1325880"/>
          </a:xfrm>
          <a:prstGeom prst="rect">
            <a:avLst/>
          </a:prstGeom>
        </p:spPr>
      </p:pic>
      <p:sp>
        <p:nvSpPr>
          <p:cNvPr id="28" name="Text 24"/>
          <p:cNvSpPr txBox="1"/>
          <p:nvPr/>
        </p:nvSpPr>
        <p:spPr>
          <a:xfrm>
            <a:off x="8366760" y="2926080"/>
            <a:ext cx="3017520" cy="457200"/>
          </a:xfrm>
          <a:prstGeom prst="rect">
            <a:avLst/>
          </a:prstGeom>
          <a:noFill/>
          <a:ln/>
        </p:spPr>
        <p:txBody>
          <a:bodyPr wrap="square" lIns="0" tIns="0" rIns="0" bIns="0" rtlCol="0" anchor="t"/>
          <a:lstStyle/>
          <a:p>
            <a:pPr indent="0" marL="0">
              <a:buNone/>
            </a:pPr>
            <a:r>
              <a:rPr lang="en-US" sz="1800" dirty="0">
                <a:solidFill>
                  <a:schemeClr val="accent2"/>
                </a:solidFill>
                <a:latin typeface="Rockwell Extra Bold" pitchFamily="34" charset="0"/>
                <a:ea typeface="Rockwell Extra Bold" pitchFamily="34" charset="-122"/>
                <a:cs typeface="Rockwell Extra Bold" pitchFamily="34" charset="-120"/>
              </a:rPr>
              <a:t>Pourquoi ça marche</a:t>
            </a:r>
            <a:endParaRPr lang="en-US" sz="1800" dirty="0"/>
          </a:p>
        </p:txBody>
      </p:sp>
      <p:sp>
        <p:nvSpPr>
          <p:cNvPr id="29" name="Text 25"/>
          <p:cNvSpPr txBox="1"/>
          <p:nvPr/>
        </p:nvSpPr>
        <p:spPr>
          <a:xfrm>
            <a:off x="8366760" y="3429000"/>
            <a:ext cx="306324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latin typeface="Arial" pitchFamily="34" charset="0"/>
                <a:ea typeface="Arial" pitchFamily="34" charset="-122"/>
                <a:cs typeface="Arial" pitchFamily="34" charset="-120"/>
              </a:rPr>
              <a:t>Liés, on ne peut pas s'éloigner de l'autre.</a:t>
            </a:r>
            <a:endParaRPr lang="en-US" sz="1400" dirty="0"/>
          </a:p>
          <a:p>
            <a:pPr marL="342900" indent="-342900">
              <a:spcAft>
                <a:spcPts val="800"/>
              </a:spcAft>
              <a:buSzPct val="100000"/>
              <a:buChar char="•"/>
            </a:pPr>
            <a:r>
              <a:rPr lang="en-US" sz="1400" dirty="0">
                <a:solidFill>
                  <a:schemeClr val="bg2"/>
                </a:solidFill>
                <a:latin typeface="Arial" pitchFamily="34" charset="0"/>
                <a:ea typeface="Arial" pitchFamily="34" charset="-122"/>
                <a:cs typeface="Arial" pitchFamily="34" charset="-120"/>
              </a:rPr>
              <a:t>La course oblige à chercher l'accord vite et fort.</a:t>
            </a:r>
            <a:endParaRPr lang="en-US" sz="1400" dirty="0"/>
          </a:p>
          <a:p>
            <a:pPr marL="342900" indent="-342900">
              <a:spcAft>
                <a:spcPts val="800"/>
              </a:spcAft>
              <a:buSzPct val="100000"/>
              <a:buChar char="•"/>
            </a:pPr>
            <a:r>
              <a:rPr lang="en-US" sz="1400" dirty="0">
                <a:solidFill>
                  <a:schemeClr val="bg2"/>
                </a:solidFill>
                <a:latin typeface="Arial" pitchFamily="34" charset="0"/>
                <a:ea typeface="Arial" pitchFamily="34" charset="-122"/>
                <a:cs typeface="Arial" pitchFamily="34" charset="-120"/>
              </a:rPr>
              <a:t>C'est la règle 2 de Rapoport, vécue avec le corps.</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par>
                          <p:cTn id="108" presetID="53" presetClass="entr" presetSubtype="16" fill="hold" nodeType="withEffect">
                            <p:stCondLst>
                              <p:cond delay="2600"/>
                            </p:stCondLst>
                            <p:childTnLst>
                              <p:set>
                                <p:cBhvr>
                                  <p:cTn id="109" dur="1" fill="hold">
                                    <p:stCondLst>
                                      <p:cond delay="0"/>
                                    </p:stCondLst>
                                  </p:cTn>
                                  <p:tgtEl>
                                    <p:spTgt spid="29"/>
                                  </p:tgtEl>
                                  <p:attrNameLst>
                                    <p:attrName>style.visibility</p:attrName>
                                  </p:attrNameLst>
                                </p:cBhvr>
                                <p:to>
                                  <p:strVal val="visible"/>
                                </p:to>
                              </p:set>
                              <p:anim calcmode="lin" valueType="num">
                                <p:cBhvr>
                                  <p:cTn id="110" dur="450" fill="hold"/>
                                  <p:tgtEl>
                                    <p:spTgt spid="29"/>
                                  </p:tgtEl>
                                  <p:attrNameLst>
                                    <p:attrName>ppt_w</p:attrName>
                                  </p:attrNameLst>
                                </p:cBhvr>
                                <p:tavLst>
                                  <p:tav tm="0">
                                    <p:val>
                                      <p:strVal val="#ppt_w*0.85"/>
                                    </p:val>
                                  </p:tav>
                                  <p:tav tm="100000">
                                    <p:val>
                                      <p:strVal val="#ppt_w"/>
                                    </p:val>
                                  </p:tav>
                                </p:tavLst>
                              </p:anim>
                              <p:animEffect transition="in" filter="fade">
                                <p:cBhvr>
                                  <p:cTn id="111" dur="450"/>
                                  <p:tgtEl>
                                    <p:spTgt spid="29"/>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p:bldP spid="8" grpId="0"/>
      <p:bldP spid="10" grpId="0"/>
      <p:bldP spid="11" grpId="0"/>
      <p:bldP spid="12" grpId="0"/>
      <p:bldP spid="14" grpId="0"/>
      <p:bldP spid="15" grpId="0"/>
      <p:bldP spid="16" grpId="0"/>
      <p:bldP spid="18" grpId="0"/>
      <p:bldP spid="19" grpId="0"/>
      <p:bldP spid="20" grpId="0"/>
      <p:bldP spid="22" grpId="0"/>
      <p:bldP spid="23" grpId="0"/>
      <p:bldP spid="24" grpId="0"/>
      <p:bldP spid="28" grpId="0"/>
      <p:bldP spid="29"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1</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Le manuel du tricheur</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Apprendre les coups bas pour s'en immuniser</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450" fill="hold"/>
                                  <p:tgtEl>
                                    <p:spTgt spid="2"/>
                                  </p:tgtEl>
                                  <p:attrNameLst>
                                    <p:attrName>ppt_w</p:attrName>
                                  </p:attrNameLst>
                                </p:cBhvr>
                                <p:tavLst>
                                  <p:tav tm="0">
                                    <p:val>
                                      <p:strVal val="#ppt_w*0.85"/>
                                    </p:val>
                                  </p:tav>
                                  <p:tav tm="100000">
                                    <p:val>
                                      <p:strVal val="#ppt_w"/>
                                    </p:val>
                                  </p:tav>
                                </p:tavLst>
                              </p:anim>
                              <p:animEffect transition="in" filter="fade">
                                <p:cBhvr>
                                  <p:cTn id="7" dur="450"/>
                                  <p:tgtEl>
                                    <p:spTgt spid="2"/>
                                  </p:tgtEl>
                                </p:cBhvr>
                              </p:animEffect>
                            </p:childTnLst>
                          </p:cTn>
                        </p:par>
                        <p:par>
                          <p:cTn id="8" presetID="53" presetClass="entr" presetSubtype="16" fill="hold" nodeType="withEffect">
                            <p:stCondLst>
                              <p:cond delay="140"/>
                            </p:stCondLst>
                            <p:childTnLst>
                              <p:set>
                                <p:cBhvr>
                                  <p:cTn id="9" dur="1" fill="hold">
                                    <p:stCondLst>
                                      <p:cond delay="0"/>
                                    </p:stCondLst>
                                  </p:cTn>
                                  <p:tgtEl>
                                    <p:spTgt spid="5"/>
                                  </p:tgtEl>
                                  <p:attrNameLst>
                                    <p:attrName>style.visibility</p:attrName>
                                  </p:attrNameLst>
                                </p:cBhvr>
                                <p:to>
                                  <p:strVal val="visible"/>
                                </p:to>
                              </p:set>
                              <p:anim calcmode="lin" valueType="num">
                                <p:cBhvr>
                                  <p:cTn id="10" dur="450" fill="hold"/>
                                  <p:tgtEl>
                                    <p:spTgt spid="5"/>
                                  </p:tgtEl>
                                  <p:attrNameLst>
                                    <p:attrName>ppt_w</p:attrName>
                                  </p:attrNameLst>
                                </p:cBhvr>
                                <p:tavLst>
                                  <p:tav tm="0">
                                    <p:val>
                                      <p:strVal val="#ppt_w*0.85"/>
                                    </p:val>
                                  </p:tav>
                                  <p:tav tm="100000">
                                    <p:val>
                                      <p:strVal val="#ppt_w"/>
                                    </p:val>
                                  </p:tav>
                                </p:tavLst>
                              </p:anim>
                              <p:animEffect transition="in" filter="fade">
                                <p:cBhvr>
                                  <p:cTn id="11" dur="45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guide du tricheur</a:t>
            </a:r>
            <a:endParaRPr lang="en-US" sz="3600" dirty="0"/>
          </a:p>
        </p:txBody>
      </p:sp>
      <p:sp>
        <p:nvSpPr>
          <p:cNvPr id="3" name="Text 1"/>
          <p:cNvSpPr txBox="1"/>
          <p:nvPr/>
        </p:nvSpPr>
        <p:spPr>
          <a:xfrm>
            <a:off x="457200" y="1280160"/>
            <a:ext cx="4572000" cy="3108960"/>
          </a:xfrm>
          <a:prstGeom prst="rect">
            <a:avLst/>
          </a:prstGeom>
          <a:noFill/>
          <a:ln/>
        </p:spPr>
        <p:txBody>
          <a:bodyPr wrap="square" lIns="0" tIns="0" rIns="0" bIns="0" rtlCol="0" anchor="t"/>
          <a:lstStyle/>
          <a:p>
            <a:pPr indent="0" marL="0">
              <a:buNone/>
            </a:pPr>
            <a:r>
              <a:rPr lang="en-US" sz="22000" dirty="0">
                <a:solidFill>
                  <a:schemeClr val="accent1"/>
                </a:solidFill>
                <a:latin typeface="Rockwell Extra Bold" pitchFamily="34" charset="0"/>
                <a:ea typeface="Rockwell Extra Bold" pitchFamily="34" charset="-122"/>
                <a:cs typeface="Rockwell Extra Bold" pitchFamily="34" charset="-120"/>
              </a:rPr>
              <a:t>38</a:t>
            </a:r>
            <a:endParaRPr lang="en-US" sz="22000" dirty="0"/>
          </a:p>
        </p:txBody>
      </p:sp>
      <p:sp>
        <p:nvSpPr>
          <p:cNvPr id="4" name="Text 2"/>
          <p:cNvSpPr txBox="1"/>
          <p:nvPr/>
        </p:nvSpPr>
        <p:spPr>
          <a:xfrm>
            <a:off x="548640" y="4343400"/>
            <a:ext cx="4389120" cy="8229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stratagèmes pour avoir raison, même quand on a tort</a:t>
            </a:r>
            <a:endParaRPr lang="en-US" sz="1800" dirty="0"/>
          </a:p>
        </p:txBody>
      </p:sp>
      <p:sp>
        <p:nvSpPr>
          <p:cNvPr id="5" name="Text 3"/>
          <p:cNvSpPr txBox="1"/>
          <p:nvPr/>
        </p:nvSpPr>
        <p:spPr>
          <a:xfrm>
            <a:off x="5486400" y="1463040"/>
            <a:ext cx="6126480" cy="1280160"/>
          </a:xfrm>
          <a:prstGeom prst="rect">
            <a:avLst/>
          </a:prstGeom>
          <a:noFill/>
          <a:ln/>
        </p:spPr>
        <p:txBody>
          <a:bodyPr wrap="square" lIns="0" tIns="0" rIns="0" bIns="0" rtlCol="0" anchor="t"/>
          <a:lstStyle/>
          <a:p>
            <a:pPr indent="0" marL="0">
              <a:buNone/>
            </a:pPr>
            <a:r>
              <a:rPr lang="en-US" sz="1700" b="1" i="1" dirty="0">
                <a:solidFill>
                  <a:schemeClr val="tx1"/>
                </a:solidFill>
                <a:latin typeface="Arial" pitchFamily="34" charset="0"/>
                <a:ea typeface="Arial" pitchFamily="34" charset="-122"/>
                <a:cs typeface="Arial" pitchFamily="34" charset="-120"/>
              </a:rPr>
              <a:t>L'Art d'avoir toujours raison</a:t>
            </a:r>
            <a:endParaRPr lang="en-US" sz="1700" dirty="0"/>
          </a:p>
          <a:p>
            <a:pPr indent="0" marL="0">
              <a:buNone/>
            </a:pPr>
            <a:r>
              <a:rPr lang="en-US" sz="1700" dirty="0">
                <a:solidFill>
                  <a:schemeClr val="tx1"/>
                </a:solidFill>
                <a:latin typeface="Arial" pitchFamily="34" charset="0"/>
                <a:ea typeface="Arial" pitchFamily="34" charset="-122"/>
                <a:cs typeface="Arial" pitchFamily="34" charset="-120"/>
              </a:rPr>
              <a:t>Écrit vers 1830 par Arthur Schopenhauer.</a:t>
            </a:r>
            <a:endParaRPr lang="en-US" sz="1700" dirty="0"/>
          </a:p>
        </p:txBody>
      </p:sp>
      <p:sp>
        <p:nvSpPr>
          <p:cNvPr id="6" name="Shape 4"/>
          <p:cNvSpPr/>
          <p:nvPr/>
        </p:nvSpPr>
        <p:spPr>
          <a:xfrm>
            <a:off x="5486400" y="2834640"/>
            <a:ext cx="6126480" cy="1280160"/>
          </a:xfrm>
          <a:prstGeom prst="rect">
            <a:avLst/>
          </a:prstGeom>
          <a:solidFill>
            <a:schemeClr val="accent2"/>
          </a:solidFill>
          <a:ln w="25400">
            <a:solidFill>
              <a:schemeClr val="tx1"/>
            </a:solidFill>
            <a:prstDash val="solid"/>
          </a:ln>
        </p:spPr>
      </p:sp>
      <p:sp>
        <p:nvSpPr>
          <p:cNvPr id="7" name="Text 5"/>
          <p:cNvSpPr txBox="1"/>
          <p:nvPr/>
        </p:nvSpPr>
        <p:spPr>
          <a:xfrm>
            <a:off x="5715000" y="3017520"/>
            <a:ext cx="5669280" cy="914400"/>
          </a:xfrm>
          <a:prstGeom prst="rect">
            <a:avLst/>
          </a:prstGeom>
          <a:noFill/>
          <a:ln/>
        </p:spPr>
        <p:txBody>
          <a:bodyPr wrap="square" lIns="0" tIns="0" rIns="0" bIns="0" rtlCol="0" anchor="ctr"/>
          <a:lstStyle/>
          <a:p>
            <a:pPr indent="0" marL="0">
              <a:buNone/>
            </a:pPr>
            <a:r>
              <a:rPr lang="en-US" sz="2100" dirty="0">
                <a:solidFill>
                  <a:schemeClr val="tx1"/>
                </a:solidFill>
                <a:latin typeface="Rockwell Extra Bold" pitchFamily="34" charset="0"/>
                <a:ea typeface="Rockwell Extra Bold" pitchFamily="34" charset="-122"/>
                <a:cs typeface="Rockwell Extra Bold" pitchFamily="34" charset="-120"/>
              </a:rPr>
              <a:t>« Le débat est un combat d'escrime intellectuel. »</a:t>
            </a:r>
            <a:endParaRPr lang="en-US" sz="2100" dirty="0"/>
          </a:p>
        </p:txBody>
      </p:sp>
      <p:sp>
        <p:nvSpPr>
          <p:cNvPr id="8" name="Text 6"/>
          <p:cNvSpPr txBox="1"/>
          <p:nvPr/>
        </p:nvSpPr>
        <p:spPr>
          <a:xfrm>
            <a:off x="5486400" y="4434840"/>
            <a:ext cx="6126480" cy="73152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On les apprend pour s'en protéger. Comme un vaccin.</a:t>
            </a:r>
            <a:endParaRPr lang="en-US" sz="20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Agréable ne veut pas dire mou</a:t>
            </a:r>
            <a:endParaRPr lang="en-US" sz="3600" dirty="0"/>
          </a:p>
        </p:txBody>
      </p:sp>
      <p:sp>
        <p:nvSpPr>
          <p:cNvPr id="3" name="Text 1"/>
          <p:cNvSpPr txBox="1"/>
          <p:nvPr/>
        </p:nvSpPr>
        <p:spPr>
          <a:xfrm>
            <a:off x="2834640" y="1371600"/>
            <a:ext cx="82296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 envers les IDÉES</a:t>
            </a:r>
            <a:endParaRPr lang="en-US" sz="1400" dirty="0"/>
          </a:p>
        </p:txBody>
      </p:sp>
      <p:sp>
        <p:nvSpPr>
          <p:cNvPr id="4" name="Text 2"/>
          <p:cNvSpPr txBox="1"/>
          <p:nvPr/>
        </p:nvSpPr>
        <p:spPr>
          <a:xfrm>
            <a:off x="548640" y="1828800"/>
            <a:ext cx="2103120" cy="45720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envers les PERSONNES ↓</a:t>
            </a:r>
            <a:endParaRPr lang="en-US" sz="1400" dirty="0"/>
          </a:p>
        </p:txBody>
      </p:sp>
      <p:sp>
        <p:nvSpPr>
          <p:cNvPr id="5" name="Text 3"/>
          <p:cNvSpPr txBox="1"/>
          <p:nvPr/>
        </p:nvSpPr>
        <p:spPr>
          <a:xfrm>
            <a:off x="548640" y="2651760"/>
            <a:ext cx="210312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doux</a:t>
            </a:r>
            <a:endParaRPr lang="en-US" sz="2000" dirty="0"/>
          </a:p>
        </p:txBody>
      </p:sp>
      <p:sp>
        <p:nvSpPr>
          <p:cNvPr id="6" name="Text 4"/>
          <p:cNvSpPr txBox="1"/>
          <p:nvPr/>
        </p:nvSpPr>
        <p:spPr>
          <a:xfrm>
            <a:off x="548640" y="4572000"/>
            <a:ext cx="210312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dur</a:t>
            </a:r>
            <a:endParaRPr lang="en-US" sz="2000" dirty="0"/>
          </a:p>
        </p:txBody>
      </p:sp>
      <p:sp>
        <p:nvSpPr>
          <p:cNvPr id="7" name="Text 5"/>
          <p:cNvSpPr txBox="1"/>
          <p:nvPr/>
        </p:nvSpPr>
        <p:spPr>
          <a:xfrm>
            <a:off x="2834640" y="1691640"/>
            <a:ext cx="4114800" cy="365760"/>
          </a:xfrm>
          <a:prstGeom prst="rect">
            <a:avLst/>
          </a:prstGeom>
          <a:noFill/>
          <a:ln/>
        </p:spPr>
        <p:txBody>
          <a:bodyPr wrap="square" lIns="0" tIns="0" rIns="0" bIns="0" rtlCol="0" anchor="t"/>
          <a:lstStyle/>
          <a:p>
            <a:pPr algn="ct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mou</a:t>
            </a:r>
            <a:endParaRPr lang="en-US" sz="1800" dirty="0"/>
          </a:p>
        </p:txBody>
      </p:sp>
      <p:sp>
        <p:nvSpPr>
          <p:cNvPr id="8" name="Text 6"/>
          <p:cNvSpPr txBox="1"/>
          <p:nvPr/>
        </p:nvSpPr>
        <p:spPr>
          <a:xfrm>
            <a:off x="7223760" y="1691640"/>
            <a:ext cx="4389120" cy="365760"/>
          </a:xfrm>
          <a:prstGeom prst="rect">
            <a:avLst/>
          </a:prstGeom>
          <a:noFill/>
          <a:ln/>
        </p:spPr>
        <p:txBody>
          <a:bodyPr wrap="square" lIns="0" tIns="0" rIns="0" bIns="0" rtlCol="0" anchor="t"/>
          <a:lstStyle/>
          <a:p>
            <a:pPr algn="ct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ferme</a:t>
            </a:r>
            <a:endParaRPr lang="en-US" sz="1800" dirty="0"/>
          </a:p>
        </p:txBody>
      </p:sp>
      <p:sp>
        <p:nvSpPr>
          <p:cNvPr id="9" name="Shape 7"/>
          <p:cNvSpPr/>
          <p:nvPr/>
        </p:nvSpPr>
        <p:spPr>
          <a:xfrm>
            <a:off x="2834640" y="2148840"/>
            <a:ext cx="4206240" cy="1783080"/>
          </a:xfrm>
          <a:prstGeom prst="rect">
            <a:avLst/>
          </a:prstGeom>
          <a:solidFill>
            <a:schemeClr val="bg1"/>
          </a:solidFill>
          <a:ln w="25400">
            <a:solidFill>
              <a:schemeClr val="tx1"/>
            </a:solidFill>
            <a:prstDash val="solid"/>
          </a:ln>
        </p:spPr>
      </p:sp>
      <p:pic>
        <p:nvPicPr>
          <p:cNvPr id="10" name="Image 0" descr="preencoded.png">    </p:cNvPr>
          <p:cNvPicPr>
            <a:picLocks noChangeAspect="1"/>
          </p:cNvPicPr>
          <p:nvPr/>
        </p:nvPicPr>
        <p:blipFill>
          <a:blip r:embed="rId1"/>
          <a:stretch>
            <a:fillRect/>
          </a:stretch>
        </p:blipFill>
        <p:spPr>
          <a:xfrm>
            <a:off x="5943600" y="2286000"/>
            <a:ext cx="960120" cy="1161288"/>
          </a:xfrm>
          <a:prstGeom prst="rect">
            <a:avLst/>
          </a:prstGeom>
        </p:spPr>
      </p:pic>
      <p:sp>
        <p:nvSpPr>
          <p:cNvPr id="11" name="Text 8"/>
          <p:cNvSpPr txBox="1"/>
          <p:nvPr/>
        </p:nvSpPr>
        <p:spPr>
          <a:xfrm>
            <a:off x="3017520" y="231343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La Girouette</a:t>
            </a:r>
            <a:endParaRPr lang="en-US" sz="1900" dirty="0"/>
          </a:p>
        </p:txBody>
      </p:sp>
      <p:sp>
        <p:nvSpPr>
          <p:cNvPr id="12" name="Text 9"/>
          <p:cNvSpPr txBox="1"/>
          <p:nvPr/>
        </p:nvSpPr>
        <p:spPr>
          <a:xfrm>
            <a:off x="3017520" y="283464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Tout le monde a raison. Personne n'apprend rien.</a:t>
            </a:r>
            <a:endParaRPr lang="en-US" sz="1400" dirty="0"/>
          </a:p>
        </p:txBody>
      </p:sp>
      <p:sp>
        <p:nvSpPr>
          <p:cNvPr id="13" name="Shape 10"/>
          <p:cNvSpPr/>
          <p:nvPr/>
        </p:nvSpPr>
        <p:spPr>
          <a:xfrm>
            <a:off x="7223760" y="2148840"/>
            <a:ext cx="4206240" cy="1783080"/>
          </a:xfrm>
          <a:prstGeom prst="rect">
            <a:avLst/>
          </a:prstGeom>
          <a:solidFill>
            <a:schemeClr val="accent2"/>
          </a:solidFill>
          <a:ln w="25400">
            <a:solidFill>
              <a:schemeClr val="tx1"/>
            </a:solidFill>
            <a:prstDash val="solid"/>
          </a:ln>
        </p:spPr>
      </p:sp>
      <p:pic>
        <p:nvPicPr>
          <p:cNvPr id="14" name="Image 1" descr="preencoded.png">    </p:cNvPr>
          <p:cNvPicPr>
            <a:picLocks noChangeAspect="1"/>
          </p:cNvPicPr>
          <p:nvPr/>
        </p:nvPicPr>
        <p:blipFill>
          <a:blip r:embed="rId2"/>
          <a:stretch>
            <a:fillRect/>
          </a:stretch>
        </p:blipFill>
        <p:spPr>
          <a:xfrm>
            <a:off x="10332720" y="2286000"/>
            <a:ext cx="960120" cy="1161288"/>
          </a:xfrm>
          <a:prstGeom prst="rect">
            <a:avLst/>
          </a:prstGeom>
        </p:spPr>
      </p:pic>
      <p:sp>
        <p:nvSpPr>
          <p:cNvPr id="15" name="Text 11"/>
          <p:cNvSpPr txBox="1"/>
          <p:nvPr/>
        </p:nvSpPr>
        <p:spPr>
          <a:xfrm>
            <a:off x="7406640" y="231343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Le Bâtisseur</a:t>
            </a:r>
            <a:endParaRPr lang="en-US" sz="1900" dirty="0"/>
          </a:p>
        </p:txBody>
      </p:sp>
      <p:sp>
        <p:nvSpPr>
          <p:cNvPr id="16" name="Text 12"/>
          <p:cNvSpPr txBox="1"/>
          <p:nvPr/>
        </p:nvSpPr>
        <p:spPr>
          <a:xfrm>
            <a:off x="7406640" y="283464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Exigeant sur le fond, bienveillant avec les gens. LA CIBLE.</a:t>
            </a:r>
            <a:endParaRPr lang="en-US" sz="1400" dirty="0"/>
          </a:p>
        </p:txBody>
      </p:sp>
      <p:sp>
        <p:nvSpPr>
          <p:cNvPr id="17" name="Shape 13"/>
          <p:cNvSpPr/>
          <p:nvPr/>
        </p:nvSpPr>
        <p:spPr>
          <a:xfrm>
            <a:off x="2834640" y="4069080"/>
            <a:ext cx="4206240" cy="1783080"/>
          </a:xfrm>
          <a:prstGeom prst="rect">
            <a:avLst/>
          </a:prstGeom>
          <a:solidFill>
            <a:schemeClr val="bg1"/>
          </a:solidFill>
          <a:ln w="25400">
            <a:solidFill>
              <a:schemeClr val="tx1"/>
            </a:solidFill>
            <a:prstDash val="solid"/>
          </a:ln>
        </p:spPr>
      </p:sp>
      <p:pic>
        <p:nvPicPr>
          <p:cNvPr id="18" name="Image 2" descr="preencoded.png">    </p:cNvPr>
          <p:cNvPicPr>
            <a:picLocks noChangeAspect="1"/>
          </p:cNvPicPr>
          <p:nvPr/>
        </p:nvPicPr>
        <p:blipFill>
          <a:blip r:embed="rId3"/>
          <a:stretch>
            <a:fillRect/>
          </a:stretch>
        </p:blipFill>
        <p:spPr>
          <a:xfrm>
            <a:off x="5943600" y="4206240"/>
            <a:ext cx="960120" cy="1161288"/>
          </a:xfrm>
          <a:prstGeom prst="rect">
            <a:avLst/>
          </a:prstGeom>
        </p:spPr>
      </p:pic>
      <p:sp>
        <p:nvSpPr>
          <p:cNvPr id="19" name="Text 14"/>
          <p:cNvSpPr txBox="1"/>
          <p:nvPr/>
        </p:nvSpPr>
        <p:spPr>
          <a:xfrm>
            <a:off x="3017520" y="423367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Le Sniper</a:t>
            </a:r>
            <a:endParaRPr lang="en-US" sz="1900" dirty="0"/>
          </a:p>
        </p:txBody>
      </p:sp>
      <p:sp>
        <p:nvSpPr>
          <p:cNvPr id="20" name="Text 15"/>
          <p:cNvSpPr txBox="1"/>
          <p:nvPr/>
        </p:nvSpPr>
        <p:spPr>
          <a:xfrm>
            <a:off x="3017520" y="475488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Faible sur les idées, cruel avec les gens. Le pire des deux mondes.</a:t>
            </a:r>
            <a:endParaRPr lang="en-US" sz="1400" dirty="0"/>
          </a:p>
        </p:txBody>
      </p:sp>
      <p:sp>
        <p:nvSpPr>
          <p:cNvPr id="21" name="Shape 16"/>
          <p:cNvSpPr/>
          <p:nvPr/>
        </p:nvSpPr>
        <p:spPr>
          <a:xfrm>
            <a:off x="7223760" y="4069080"/>
            <a:ext cx="4206240" cy="1783080"/>
          </a:xfrm>
          <a:prstGeom prst="rect">
            <a:avLst/>
          </a:prstGeom>
          <a:solidFill>
            <a:schemeClr val="bg1"/>
          </a:solidFill>
          <a:ln w="25400">
            <a:solidFill>
              <a:schemeClr val="tx1"/>
            </a:solidFill>
            <a:prstDash val="solid"/>
          </a:ln>
        </p:spPr>
      </p:sp>
      <p:pic>
        <p:nvPicPr>
          <p:cNvPr id="22" name="Image 3" descr="preencoded.png">    </p:cNvPr>
          <p:cNvPicPr>
            <a:picLocks noChangeAspect="1"/>
          </p:cNvPicPr>
          <p:nvPr/>
        </p:nvPicPr>
        <p:blipFill>
          <a:blip r:embed="rId4"/>
          <a:stretch>
            <a:fillRect/>
          </a:stretch>
        </p:blipFill>
        <p:spPr>
          <a:xfrm>
            <a:off x="10332720" y="4206240"/>
            <a:ext cx="960120" cy="1161288"/>
          </a:xfrm>
          <a:prstGeom prst="rect">
            <a:avLst/>
          </a:prstGeom>
        </p:spPr>
      </p:pic>
      <p:sp>
        <p:nvSpPr>
          <p:cNvPr id="23" name="Text 17"/>
          <p:cNvSpPr txBox="1"/>
          <p:nvPr/>
        </p:nvSpPr>
        <p:spPr>
          <a:xfrm>
            <a:off x="7406640" y="4233672"/>
            <a:ext cx="28346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Le Bulldozer</a:t>
            </a:r>
            <a:endParaRPr lang="en-US" sz="1900" dirty="0"/>
          </a:p>
        </p:txBody>
      </p:sp>
      <p:sp>
        <p:nvSpPr>
          <p:cNvPr id="24" name="Text 18"/>
          <p:cNvSpPr txBox="1"/>
          <p:nvPr/>
        </p:nvSpPr>
        <p:spPr>
          <a:xfrm>
            <a:off x="7406640" y="4754880"/>
            <a:ext cx="2926080" cy="10058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Gagne les débats, perd les relations.</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P spid="11" grpId="0"/>
      <p:bldP spid="12" grpId="0"/>
      <p:bldP spid="15" grpId="0"/>
      <p:bldP spid="16" grpId="0"/>
      <p:bldP spid="19" grpId="0"/>
      <p:bldP spid="20" grpId="0"/>
      <p:bldP spid="23"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9 coups bas · coche-les</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5 min</a:t>
            </a:r>
            <a:endParaRPr lang="en-US" sz="1400" dirty="0"/>
          </a:p>
        </p:txBody>
      </p:sp>
      <p:sp>
        <p:nvSpPr>
          <p:cNvPr id="5" name="Shape 3"/>
          <p:cNvSpPr/>
          <p:nvPr/>
        </p:nvSpPr>
        <p:spPr>
          <a:xfrm>
            <a:off x="548640" y="1371600"/>
            <a:ext cx="3566160" cy="1463040"/>
          </a:xfrm>
          <a:prstGeom prst="rect">
            <a:avLst/>
          </a:prstGeom>
          <a:solidFill>
            <a:schemeClr val="bg1"/>
          </a:solidFill>
          <a:ln w="25400">
            <a:solidFill>
              <a:schemeClr val="tx1"/>
            </a:solidFill>
            <a:prstDash val="solid"/>
          </a:ln>
        </p:spPr>
      </p:sp>
      <p:sp>
        <p:nvSpPr>
          <p:cNvPr id="6" name="Text 4"/>
          <p:cNvSpPr txBox="1"/>
          <p:nvPr/>
        </p:nvSpPr>
        <p:spPr>
          <a:xfrm>
            <a:off x="658368" y="1481328"/>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1</a:t>
            </a:r>
            <a:endParaRPr lang="en-US" sz="3200" dirty="0"/>
          </a:p>
        </p:txBody>
      </p:sp>
      <p:sp>
        <p:nvSpPr>
          <p:cNvPr id="7" name="Text 5"/>
          <p:cNvSpPr txBox="1"/>
          <p:nvPr/>
        </p:nvSpPr>
        <p:spPr>
          <a:xfrm>
            <a:off x="1554480" y="1481328"/>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L'élastique</a:t>
            </a:r>
            <a:endParaRPr lang="en-US" sz="1500" dirty="0"/>
          </a:p>
        </p:txBody>
      </p:sp>
      <p:sp>
        <p:nvSpPr>
          <p:cNvPr id="8" name="Text 6"/>
          <p:cNvSpPr txBox="1"/>
          <p:nvPr/>
        </p:nvSpPr>
        <p:spPr>
          <a:xfrm>
            <a:off x="1554480" y="1828800"/>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Étirer ta thèse jusqu'à l'absurde</a:t>
            </a:r>
            <a:endParaRPr lang="en-US" sz="1200" dirty="0"/>
          </a:p>
        </p:txBody>
      </p:sp>
      <p:sp>
        <p:nvSpPr>
          <p:cNvPr id="9" name="Text 7"/>
          <p:cNvSpPr txBox="1"/>
          <p:nvPr/>
        </p:nvSpPr>
        <p:spPr>
          <a:xfrm>
            <a:off x="685800" y="2331720"/>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Ce n'est pas ce que j'ai dit. »</a:t>
            </a:r>
            <a:endParaRPr lang="en-US" sz="1300" dirty="0"/>
          </a:p>
        </p:txBody>
      </p:sp>
      <p:sp>
        <p:nvSpPr>
          <p:cNvPr id="10" name="Shape 8"/>
          <p:cNvSpPr/>
          <p:nvPr/>
        </p:nvSpPr>
        <p:spPr>
          <a:xfrm>
            <a:off x="4279392" y="1371600"/>
            <a:ext cx="3566160" cy="1463040"/>
          </a:xfrm>
          <a:prstGeom prst="rect">
            <a:avLst/>
          </a:prstGeom>
          <a:solidFill>
            <a:schemeClr val="bg1"/>
          </a:solidFill>
          <a:ln w="25400">
            <a:solidFill>
              <a:schemeClr val="tx1"/>
            </a:solidFill>
            <a:prstDash val="solid"/>
          </a:ln>
        </p:spPr>
      </p:sp>
      <p:sp>
        <p:nvSpPr>
          <p:cNvPr id="11" name="Text 9"/>
          <p:cNvSpPr txBox="1"/>
          <p:nvPr/>
        </p:nvSpPr>
        <p:spPr>
          <a:xfrm>
            <a:off x="4389120" y="1481328"/>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8</a:t>
            </a:r>
            <a:endParaRPr lang="en-US" sz="3200" dirty="0"/>
          </a:p>
        </p:txBody>
      </p:sp>
      <p:sp>
        <p:nvSpPr>
          <p:cNvPr id="12" name="Text 10"/>
          <p:cNvSpPr txBox="1"/>
          <p:nvPr/>
        </p:nvSpPr>
        <p:spPr>
          <a:xfrm>
            <a:off x="5285232" y="1481328"/>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L'allumette</a:t>
            </a:r>
            <a:endParaRPr lang="en-US" sz="1500" dirty="0"/>
          </a:p>
        </p:txBody>
      </p:sp>
      <p:sp>
        <p:nvSpPr>
          <p:cNvPr id="13" name="Text 11"/>
          <p:cNvSpPr txBox="1"/>
          <p:nvPr/>
        </p:nvSpPr>
        <p:spPr>
          <a:xfrm>
            <a:off x="5285232" y="1828800"/>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Te mettre en colère</a:t>
            </a:r>
            <a:endParaRPr lang="en-US" sz="1200" dirty="0"/>
          </a:p>
        </p:txBody>
      </p:sp>
      <p:sp>
        <p:nvSpPr>
          <p:cNvPr id="14" name="Text 12"/>
          <p:cNvSpPr txBox="1"/>
          <p:nvPr/>
        </p:nvSpPr>
        <p:spPr>
          <a:xfrm>
            <a:off x="4416552" y="2331720"/>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Ça monte, je ralentis. »</a:t>
            </a:r>
            <a:endParaRPr lang="en-US" sz="1300" dirty="0"/>
          </a:p>
        </p:txBody>
      </p:sp>
      <p:sp>
        <p:nvSpPr>
          <p:cNvPr id="15" name="Shape 13"/>
          <p:cNvSpPr/>
          <p:nvPr/>
        </p:nvSpPr>
        <p:spPr>
          <a:xfrm>
            <a:off x="8010144" y="1371600"/>
            <a:ext cx="3566160" cy="1463040"/>
          </a:xfrm>
          <a:prstGeom prst="rect">
            <a:avLst/>
          </a:prstGeom>
          <a:solidFill>
            <a:schemeClr val="bg1"/>
          </a:solidFill>
          <a:ln w="25400">
            <a:solidFill>
              <a:schemeClr val="tx1"/>
            </a:solidFill>
            <a:prstDash val="solid"/>
          </a:ln>
        </p:spPr>
      </p:sp>
      <p:sp>
        <p:nvSpPr>
          <p:cNvPr id="16" name="Text 14"/>
          <p:cNvSpPr txBox="1"/>
          <p:nvPr/>
        </p:nvSpPr>
        <p:spPr>
          <a:xfrm>
            <a:off x="8119872" y="1481328"/>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13</a:t>
            </a:r>
            <a:endParaRPr lang="en-US" sz="3200" dirty="0"/>
          </a:p>
        </p:txBody>
      </p:sp>
      <p:sp>
        <p:nvSpPr>
          <p:cNvPr id="17" name="Text 15"/>
          <p:cNvSpPr txBox="1"/>
          <p:nvPr/>
        </p:nvSpPr>
        <p:spPr>
          <a:xfrm>
            <a:off x="9015984" y="1481328"/>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faux choix</a:t>
            </a:r>
            <a:endParaRPr lang="en-US" sz="1500" dirty="0"/>
          </a:p>
        </p:txBody>
      </p:sp>
      <p:sp>
        <p:nvSpPr>
          <p:cNvPr id="18" name="Text 16"/>
          <p:cNvSpPr txBox="1"/>
          <p:nvPr/>
        </p:nvSpPr>
        <p:spPr>
          <a:xfrm>
            <a:off x="9015984" y="1828800"/>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 C'est ça ou le chaos »</a:t>
            </a:r>
            <a:endParaRPr lang="en-US" sz="1200" dirty="0"/>
          </a:p>
        </p:txBody>
      </p:sp>
      <p:sp>
        <p:nvSpPr>
          <p:cNvPr id="19" name="Text 17"/>
          <p:cNvSpPr txBox="1"/>
          <p:nvPr/>
        </p:nvSpPr>
        <p:spPr>
          <a:xfrm>
            <a:off x="8147304" y="2331720"/>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Il existe une 3ᵉ option. »</a:t>
            </a:r>
            <a:endParaRPr lang="en-US" sz="1300" dirty="0"/>
          </a:p>
        </p:txBody>
      </p:sp>
      <p:sp>
        <p:nvSpPr>
          <p:cNvPr id="20" name="Shape 18"/>
          <p:cNvSpPr/>
          <p:nvPr/>
        </p:nvSpPr>
        <p:spPr>
          <a:xfrm>
            <a:off x="548640" y="2999232"/>
            <a:ext cx="3566160" cy="1463040"/>
          </a:xfrm>
          <a:prstGeom prst="rect">
            <a:avLst/>
          </a:prstGeom>
          <a:solidFill>
            <a:schemeClr val="bg1"/>
          </a:solidFill>
          <a:ln w="25400">
            <a:solidFill>
              <a:schemeClr val="tx1"/>
            </a:solidFill>
            <a:prstDash val="solid"/>
          </a:ln>
        </p:spPr>
      </p:sp>
      <p:sp>
        <p:nvSpPr>
          <p:cNvPr id="21" name="Text 19"/>
          <p:cNvSpPr txBox="1"/>
          <p:nvPr/>
        </p:nvSpPr>
        <p:spPr>
          <a:xfrm>
            <a:off x="658368" y="3108960"/>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18</a:t>
            </a:r>
            <a:endParaRPr lang="en-US" sz="3200" dirty="0"/>
          </a:p>
        </p:txBody>
      </p:sp>
      <p:sp>
        <p:nvSpPr>
          <p:cNvPr id="22" name="Text 20"/>
          <p:cNvSpPr txBox="1"/>
          <p:nvPr/>
        </p:nvSpPr>
        <p:spPr>
          <a:xfrm>
            <a:off x="1554480" y="3108960"/>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coupe-fil</a:t>
            </a:r>
            <a:endParaRPr lang="en-US" sz="1500" dirty="0"/>
          </a:p>
        </p:txBody>
      </p:sp>
      <p:sp>
        <p:nvSpPr>
          <p:cNvPr id="23" name="Text 21"/>
          <p:cNvSpPr txBox="1"/>
          <p:nvPr/>
        </p:nvSpPr>
        <p:spPr>
          <a:xfrm>
            <a:off x="1554480" y="3456432"/>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Interrompre quand on perd</a:t>
            </a:r>
            <a:endParaRPr lang="en-US" sz="1200" dirty="0"/>
          </a:p>
        </p:txBody>
      </p:sp>
      <p:sp>
        <p:nvSpPr>
          <p:cNvPr id="24" name="Text 22"/>
          <p:cNvSpPr txBox="1"/>
          <p:nvPr/>
        </p:nvSpPr>
        <p:spPr>
          <a:xfrm>
            <a:off x="685800" y="3959352"/>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Je finis, puis je t'écoute. »</a:t>
            </a:r>
            <a:endParaRPr lang="en-US" sz="1300" dirty="0"/>
          </a:p>
        </p:txBody>
      </p:sp>
      <p:sp>
        <p:nvSpPr>
          <p:cNvPr id="25" name="Shape 23"/>
          <p:cNvSpPr/>
          <p:nvPr/>
        </p:nvSpPr>
        <p:spPr>
          <a:xfrm>
            <a:off x="4279392" y="2999232"/>
            <a:ext cx="3566160" cy="1463040"/>
          </a:xfrm>
          <a:prstGeom prst="rect">
            <a:avLst/>
          </a:prstGeom>
          <a:solidFill>
            <a:schemeClr val="bg1"/>
          </a:solidFill>
          <a:ln w="25400">
            <a:solidFill>
              <a:schemeClr val="tx1"/>
            </a:solidFill>
            <a:prstDash val="solid"/>
          </a:ln>
        </p:spPr>
      </p:sp>
      <p:sp>
        <p:nvSpPr>
          <p:cNvPr id="26" name="Text 24"/>
          <p:cNvSpPr txBox="1"/>
          <p:nvPr/>
        </p:nvSpPr>
        <p:spPr>
          <a:xfrm>
            <a:off x="4389120" y="3108960"/>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29</a:t>
            </a:r>
            <a:endParaRPr lang="en-US" sz="3200" dirty="0"/>
          </a:p>
        </p:txBody>
      </p:sp>
      <p:sp>
        <p:nvSpPr>
          <p:cNvPr id="27" name="Text 25"/>
          <p:cNvSpPr txBox="1"/>
          <p:nvPr/>
        </p:nvSpPr>
        <p:spPr>
          <a:xfrm>
            <a:off x="5285232" y="3108960"/>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La diversion</a:t>
            </a:r>
            <a:endParaRPr lang="en-US" sz="1500" dirty="0"/>
          </a:p>
        </p:txBody>
      </p:sp>
      <p:sp>
        <p:nvSpPr>
          <p:cNvPr id="28" name="Text 26"/>
          <p:cNvSpPr txBox="1"/>
          <p:nvPr/>
        </p:nvSpPr>
        <p:spPr>
          <a:xfrm>
            <a:off x="5285232" y="3456432"/>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Changer de sujet en douce</a:t>
            </a:r>
            <a:endParaRPr lang="en-US" sz="1200" dirty="0"/>
          </a:p>
        </p:txBody>
      </p:sp>
      <p:sp>
        <p:nvSpPr>
          <p:cNvPr id="29" name="Text 27"/>
          <p:cNvSpPr txBox="1"/>
          <p:nvPr/>
        </p:nvSpPr>
        <p:spPr>
          <a:xfrm>
            <a:off x="4416552" y="3959352"/>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On parlait de… »</a:t>
            </a:r>
            <a:endParaRPr lang="en-US" sz="1300" dirty="0"/>
          </a:p>
        </p:txBody>
      </p:sp>
      <p:sp>
        <p:nvSpPr>
          <p:cNvPr id="30" name="Shape 28"/>
          <p:cNvSpPr/>
          <p:nvPr/>
        </p:nvSpPr>
        <p:spPr>
          <a:xfrm>
            <a:off x="8010144" y="2999232"/>
            <a:ext cx="3566160" cy="1463040"/>
          </a:xfrm>
          <a:prstGeom prst="rect">
            <a:avLst/>
          </a:prstGeom>
          <a:solidFill>
            <a:schemeClr val="bg1"/>
          </a:solidFill>
          <a:ln w="25400">
            <a:solidFill>
              <a:schemeClr val="tx1"/>
            </a:solidFill>
            <a:prstDash val="solid"/>
          </a:ln>
        </p:spPr>
      </p:sp>
      <p:sp>
        <p:nvSpPr>
          <p:cNvPr id="31" name="Text 29"/>
          <p:cNvSpPr txBox="1"/>
          <p:nvPr/>
        </p:nvSpPr>
        <p:spPr>
          <a:xfrm>
            <a:off x="8119872" y="3108960"/>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30</a:t>
            </a:r>
            <a:endParaRPr lang="en-US" sz="3200" dirty="0"/>
          </a:p>
        </p:txBody>
      </p:sp>
      <p:sp>
        <p:nvSpPr>
          <p:cNvPr id="32" name="Text 30"/>
          <p:cNvSpPr txBox="1"/>
          <p:nvPr/>
        </p:nvSpPr>
        <p:spPr>
          <a:xfrm>
            <a:off x="9015984" y="3108960"/>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galon</a:t>
            </a:r>
            <a:endParaRPr lang="en-US" sz="1500" dirty="0"/>
          </a:p>
        </p:txBody>
      </p:sp>
      <p:sp>
        <p:nvSpPr>
          <p:cNvPr id="33" name="Text 31"/>
          <p:cNvSpPr txBox="1"/>
          <p:nvPr/>
        </p:nvSpPr>
        <p:spPr>
          <a:xfrm>
            <a:off x="9015984" y="3456432"/>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 Un expert l'a dit »</a:t>
            </a:r>
            <a:endParaRPr lang="en-US" sz="1200" dirty="0"/>
          </a:p>
        </p:txBody>
      </p:sp>
      <p:sp>
        <p:nvSpPr>
          <p:cNvPr id="34" name="Text 32"/>
          <p:cNvSpPr txBox="1"/>
          <p:nvPr/>
        </p:nvSpPr>
        <p:spPr>
          <a:xfrm>
            <a:off x="8147304" y="3959352"/>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Quelles sont ses raisons? »</a:t>
            </a:r>
            <a:endParaRPr lang="en-US" sz="1300" dirty="0"/>
          </a:p>
        </p:txBody>
      </p:sp>
      <p:sp>
        <p:nvSpPr>
          <p:cNvPr id="35" name="Shape 33"/>
          <p:cNvSpPr/>
          <p:nvPr/>
        </p:nvSpPr>
        <p:spPr>
          <a:xfrm>
            <a:off x="548640" y="4626864"/>
            <a:ext cx="3566160" cy="1463040"/>
          </a:xfrm>
          <a:prstGeom prst="rect">
            <a:avLst/>
          </a:prstGeom>
          <a:solidFill>
            <a:schemeClr val="bg1"/>
          </a:solidFill>
          <a:ln w="25400">
            <a:solidFill>
              <a:schemeClr val="tx1"/>
            </a:solidFill>
            <a:prstDash val="solid"/>
          </a:ln>
        </p:spPr>
      </p:sp>
      <p:sp>
        <p:nvSpPr>
          <p:cNvPr id="36" name="Text 34"/>
          <p:cNvSpPr txBox="1"/>
          <p:nvPr/>
        </p:nvSpPr>
        <p:spPr>
          <a:xfrm>
            <a:off x="658368" y="4736592"/>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32</a:t>
            </a:r>
            <a:endParaRPr lang="en-US" sz="3200" dirty="0"/>
          </a:p>
        </p:txBody>
      </p:sp>
      <p:sp>
        <p:nvSpPr>
          <p:cNvPr id="37" name="Text 35"/>
          <p:cNvSpPr txBox="1"/>
          <p:nvPr/>
        </p:nvSpPr>
        <p:spPr>
          <a:xfrm>
            <a:off x="1554480" y="4736592"/>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L'étiquette</a:t>
            </a:r>
            <a:endParaRPr lang="en-US" sz="1500" dirty="0"/>
          </a:p>
        </p:txBody>
      </p:sp>
      <p:sp>
        <p:nvSpPr>
          <p:cNvPr id="38" name="Text 36"/>
          <p:cNvSpPr txBox="1"/>
          <p:nvPr/>
        </p:nvSpPr>
        <p:spPr>
          <a:xfrm>
            <a:off x="1554480" y="5084064"/>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Coller un nom odieux à l'idée</a:t>
            </a:r>
            <a:endParaRPr lang="en-US" sz="1200" dirty="0"/>
          </a:p>
        </p:txBody>
      </p:sp>
      <p:sp>
        <p:nvSpPr>
          <p:cNvPr id="39" name="Text 37"/>
          <p:cNvSpPr txBox="1"/>
          <p:nvPr/>
        </p:nvSpPr>
        <p:spPr>
          <a:xfrm>
            <a:off x="685800" y="5586984"/>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Parlons de l'idée, pas du mot. »</a:t>
            </a:r>
            <a:endParaRPr lang="en-US" sz="1300" dirty="0"/>
          </a:p>
        </p:txBody>
      </p:sp>
      <p:sp>
        <p:nvSpPr>
          <p:cNvPr id="40" name="Shape 38"/>
          <p:cNvSpPr/>
          <p:nvPr/>
        </p:nvSpPr>
        <p:spPr>
          <a:xfrm>
            <a:off x="4279392" y="4626864"/>
            <a:ext cx="3566160" cy="1463040"/>
          </a:xfrm>
          <a:prstGeom prst="rect">
            <a:avLst/>
          </a:prstGeom>
          <a:solidFill>
            <a:schemeClr val="bg1"/>
          </a:solidFill>
          <a:ln w="25400">
            <a:solidFill>
              <a:schemeClr val="tx1"/>
            </a:solidFill>
            <a:prstDash val="solid"/>
          </a:ln>
        </p:spPr>
      </p:sp>
      <p:sp>
        <p:nvSpPr>
          <p:cNvPr id="41" name="Text 39"/>
          <p:cNvSpPr txBox="1"/>
          <p:nvPr/>
        </p:nvSpPr>
        <p:spPr>
          <a:xfrm>
            <a:off x="4389120" y="4736592"/>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36</a:t>
            </a:r>
            <a:endParaRPr lang="en-US" sz="3200" dirty="0"/>
          </a:p>
        </p:txBody>
      </p:sp>
      <p:sp>
        <p:nvSpPr>
          <p:cNvPr id="42" name="Text 40"/>
          <p:cNvSpPr txBox="1"/>
          <p:nvPr/>
        </p:nvSpPr>
        <p:spPr>
          <a:xfrm>
            <a:off x="5285232" y="4736592"/>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brouillard</a:t>
            </a:r>
            <a:endParaRPr lang="en-US" sz="1500" dirty="0"/>
          </a:p>
        </p:txBody>
      </p:sp>
      <p:sp>
        <p:nvSpPr>
          <p:cNvPr id="43" name="Text 41"/>
          <p:cNvSpPr txBox="1"/>
          <p:nvPr/>
        </p:nvSpPr>
        <p:spPr>
          <a:xfrm>
            <a:off x="5285232" y="5084064"/>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Noyer sous le jargon</a:t>
            </a:r>
            <a:endParaRPr lang="en-US" sz="1200" dirty="0"/>
          </a:p>
        </p:txBody>
      </p:sp>
      <p:sp>
        <p:nvSpPr>
          <p:cNvPr id="44" name="Text 42"/>
          <p:cNvSpPr txBox="1"/>
          <p:nvPr/>
        </p:nvSpPr>
        <p:spPr>
          <a:xfrm>
            <a:off x="4416552" y="5586984"/>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 Dis-le à un enfant de 10 ans. »</a:t>
            </a:r>
            <a:endParaRPr lang="en-US" sz="1300" dirty="0"/>
          </a:p>
        </p:txBody>
      </p:sp>
      <p:sp>
        <p:nvSpPr>
          <p:cNvPr id="45" name="Shape 43"/>
          <p:cNvSpPr/>
          <p:nvPr/>
        </p:nvSpPr>
        <p:spPr>
          <a:xfrm>
            <a:off x="8010144" y="4626864"/>
            <a:ext cx="3566160" cy="1463040"/>
          </a:xfrm>
          <a:prstGeom prst="rect">
            <a:avLst/>
          </a:prstGeom>
          <a:solidFill>
            <a:schemeClr val="bg1"/>
          </a:solidFill>
          <a:ln w="25400">
            <a:solidFill>
              <a:schemeClr val="tx1"/>
            </a:solidFill>
            <a:prstDash val="solid"/>
          </a:ln>
        </p:spPr>
      </p:sp>
      <p:sp>
        <p:nvSpPr>
          <p:cNvPr id="46" name="Text 44"/>
          <p:cNvSpPr txBox="1"/>
          <p:nvPr/>
        </p:nvSpPr>
        <p:spPr>
          <a:xfrm>
            <a:off x="8119872" y="4736592"/>
            <a:ext cx="868680" cy="685800"/>
          </a:xfrm>
          <a:prstGeom prst="rect">
            <a:avLst/>
          </a:prstGeom>
          <a:noFill/>
          <a:ln/>
        </p:spPr>
        <p:txBody>
          <a:bodyPr wrap="square" lIns="0" tIns="0" rIns="0" bIns="0" rtlCol="0" anchor="t"/>
          <a:lstStyle/>
          <a:p>
            <a:pPr indent="0" marL="0">
              <a:buNone/>
            </a:pPr>
            <a:r>
              <a:rPr lang="en-US" sz="3200" dirty="0">
                <a:solidFill>
                  <a:schemeClr val="accent1"/>
                </a:solidFill>
                <a:latin typeface="Rockwell Extra Bold" pitchFamily="34" charset="0"/>
                <a:ea typeface="Rockwell Extra Bold" pitchFamily="34" charset="-122"/>
                <a:cs typeface="Rockwell Extra Bold" pitchFamily="34" charset="-120"/>
              </a:rPr>
              <a:t>38</a:t>
            </a:r>
            <a:endParaRPr lang="en-US" sz="3200" dirty="0"/>
          </a:p>
        </p:txBody>
      </p:sp>
      <p:sp>
        <p:nvSpPr>
          <p:cNvPr id="47" name="Text 45"/>
          <p:cNvSpPr txBox="1"/>
          <p:nvPr/>
        </p:nvSpPr>
        <p:spPr>
          <a:xfrm>
            <a:off x="9015984" y="4736592"/>
            <a:ext cx="2468880" cy="365760"/>
          </a:xfrm>
          <a:prstGeom prst="rect">
            <a:avLst/>
          </a:prstGeom>
          <a:noFill/>
          <a:ln/>
        </p:spPr>
        <p:txBody>
          <a:bodyPr wrap="square" lIns="0" tIns="0" rIns="0" bIns="0" rtlCol="0" anchor="t"/>
          <a:lstStyle/>
          <a:p>
            <a:pPr indent="0" marL="0">
              <a:buNone/>
            </a:pPr>
            <a:r>
              <a:rPr lang="en-US" sz="1500" dirty="0">
                <a:solidFill>
                  <a:schemeClr val="tx1"/>
                </a:solidFill>
                <a:latin typeface="Rockwell Extra Bold" pitchFamily="34" charset="0"/>
                <a:ea typeface="Rockwell Extra Bold" pitchFamily="34" charset="-122"/>
                <a:cs typeface="Rockwell Extra Bold" pitchFamily="34" charset="-120"/>
              </a:rPr>
              <a:t>Le K.-O.</a:t>
            </a:r>
            <a:endParaRPr lang="en-US" sz="1500" dirty="0"/>
          </a:p>
        </p:txBody>
      </p:sp>
      <p:sp>
        <p:nvSpPr>
          <p:cNvPr id="48" name="Text 46"/>
          <p:cNvSpPr txBox="1"/>
          <p:nvPr/>
        </p:nvSpPr>
        <p:spPr>
          <a:xfrm>
            <a:off x="9015984" y="5084064"/>
            <a:ext cx="2468880" cy="411480"/>
          </a:xfrm>
          <a:prstGeom prst="rect">
            <a:avLst/>
          </a:prstGeom>
          <a:noFill/>
          <a:ln/>
        </p:spPr>
        <p:txBody>
          <a:bodyPr wrap="square" lIns="0" tIns="0" rIns="0" bIns="0" rtlCol="0" anchor="t"/>
          <a:lstStyle/>
          <a:p>
            <a:pPr indent="0" marL="0">
              <a:buNone/>
            </a:pPr>
            <a:r>
              <a:rPr lang="en-US" sz="1200" dirty="0">
                <a:solidFill>
                  <a:schemeClr val="tx1"/>
                </a:solidFill>
                <a:latin typeface="Arial" pitchFamily="34" charset="0"/>
                <a:ea typeface="Arial" pitchFamily="34" charset="-122"/>
                <a:cs typeface="Arial" pitchFamily="34" charset="-120"/>
              </a:rPr>
              <a:t>L'attaque personnelle</a:t>
            </a:r>
            <a:endParaRPr lang="en-US" sz="1200" dirty="0"/>
          </a:p>
        </p:txBody>
      </p:sp>
      <p:sp>
        <p:nvSpPr>
          <p:cNvPr id="49" name="Text 47"/>
          <p:cNvSpPr txBox="1"/>
          <p:nvPr/>
        </p:nvSpPr>
        <p:spPr>
          <a:xfrm>
            <a:off x="8147304" y="5586984"/>
            <a:ext cx="3337560" cy="41148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 Le calme. Il n'a plus d'arguments.</a:t>
            </a:r>
            <a:endParaRPr lang="en-US" sz="13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par>
                          <p:cTn id="108" presetID="53" presetClass="entr" presetSubtype="16" fill="hold" nodeType="withEffect">
                            <p:stCondLst>
                              <p:cond delay="2600"/>
                            </p:stCondLst>
                            <p:childTnLst>
                              <p:set>
                                <p:cBhvr>
                                  <p:cTn id="109" dur="1" fill="hold">
                                    <p:stCondLst>
                                      <p:cond delay="0"/>
                                    </p:stCondLst>
                                  </p:cTn>
                                  <p:tgtEl>
                                    <p:spTgt spid="29"/>
                                  </p:tgtEl>
                                  <p:attrNameLst>
                                    <p:attrName>style.visibility</p:attrName>
                                  </p:attrNameLst>
                                </p:cBhvr>
                                <p:to>
                                  <p:strVal val="visible"/>
                                </p:to>
                              </p:set>
                              <p:anim calcmode="lin" valueType="num">
                                <p:cBhvr>
                                  <p:cTn id="110" dur="450" fill="hold"/>
                                  <p:tgtEl>
                                    <p:spTgt spid="29"/>
                                  </p:tgtEl>
                                  <p:attrNameLst>
                                    <p:attrName>ppt_w</p:attrName>
                                  </p:attrNameLst>
                                </p:cBhvr>
                                <p:tavLst>
                                  <p:tav tm="0">
                                    <p:val>
                                      <p:strVal val="#ppt_w*0.85"/>
                                    </p:val>
                                  </p:tav>
                                  <p:tav tm="100000">
                                    <p:val>
                                      <p:strVal val="#ppt_w"/>
                                    </p:val>
                                  </p:tav>
                                </p:tavLst>
                              </p:anim>
                              <p:animEffect transition="in" filter="fade">
                                <p:cBhvr>
                                  <p:cTn id="111" dur="450"/>
                                  <p:tgtEl>
                                    <p:spTgt spid="29"/>
                                  </p:tgtEl>
                                </p:cBhvr>
                              </p:animEffect>
                            </p:childTnLst>
                          </p:cTn>
                        </p:par>
                        <p:par>
                          <p:cTn id="112" presetID="53" presetClass="entr" presetSubtype="16" fill="hold" nodeType="withEffect">
                            <p:stCondLst>
                              <p:cond delay="2600"/>
                            </p:stCondLst>
                            <p:childTnLst>
                              <p:set>
                                <p:cBhvr>
                                  <p:cTn id="113" dur="1" fill="hold">
                                    <p:stCondLst>
                                      <p:cond delay="0"/>
                                    </p:stCondLst>
                                  </p:cTn>
                                  <p:tgtEl>
                                    <p:spTgt spid="30"/>
                                  </p:tgtEl>
                                  <p:attrNameLst>
                                    <p:attrName>style.visibility</p:attrName>
                                  </p:attrNameLst>
                                </p:cBhvr>
                                <p:to>
                                  <p:strVal val="visible"/>
                                </p:to>
                              </p:set>
                              <p:anim calcmode="lin" valueType="num">
                                <p:cBhvr>
                                  <p:cTn id="114" dur="450" fill="hold"/>
                                  <p:tgtEl>
                                    <p:spTgt spid="30"/>
                                  </p:tgtEl>
                                  <p:attrNameLst>
                                    <p:attrName>ppt_w</p:attrName>
                                  </p:attrNameLst>
                                </p:cBhvr>
                                <p:tavLst>
                                  <p:tav tm="0">
                                    <p:val>
                                      <p:strVal val="#ppt_w*0.85"/>
                                    </p:val>
                                  </p:tav>
                                  <p:tav tm="100000">
                                    <p:val>
                                      <p:strVal val="#ppt_w"/>
                                    </p:val>
                                  </p:tav>
                                </p:tavLst>
                              </p:anim>
                              <p:animEffect transition="in" filter="fade">
                                <p:cBhvr>
                                  <p:cTn id="115" dur="450"/>
                                  <p:tgtEl>
                                    <p:spTgt spid="30"/>
                                  </p:tgtEl>
                                </p:cBhvr>
                              </p:animEffect>
                            </p:childTnLst>
                          </p:cTn>
                        </p:par>
                        <p:par>
                          <p:cTn id="116" presetID="53" presetClass="entr" presetSubtype="16" fill="hold" nodeType="withEffect">
                            <p:stCondLst>
                              <p:cond delay="2600"/>
                            </p:stCondLst>
                            <p:childTnLst>
                              <p:set>
                                <p:cBhvr>
                                  <p:cTn id="117" dur="1" fill="hold">
                                    <p:stCondLst>
                                      <p:cond delay="0"/>
                                    </p:stCondLst>
                                  </p:cTn>
                                  <p:tgtEl>
                                    <p:spTgt spid="31"/>
                                  </p:tgtEl>
                                  <p:attrNameLst>
                                    <p:attrName>style.visibility</p:attrName>
                                  </p:attrNameLst>
                                </p:cBhvr>
                                <p:to>
                                  <p:strVal val="visible"/>
                                </p:to>
                              </p:set>
                              <p:anim calcmode="lin" valueType="num">
                                <p:cBhvr>
                                  <p:cTn id="118" dur="450" fill="hold"/>
                                  <p:tgtEl>
                                    <p:spTgt spid="31"/>
                                  </p:tgtEl>
                                  <p:attrNameLst>
                                    <p:attrName>ppt_w</p:attrName>
                                  </p:attrNameLst>
                                </p:cBhvr>
                                <p:tavLst>
                                  <p:tav tm="0">
                                    <p:val>
                                      <p:strVal val="#ppt_w*0.85"/>
                                    </p:val>
                                  </p:tav>
                                  <p:tav tm="100000">
                                    <p:val>
                                      <p:strVal val="#ppt_w"/>
                                    </p:val>
                                  </p:tav>
                                </p:tavLst>
                              </p:anim>
                              <p:animEffect transition="in" filter="fade">
                                <p:cBhvr>
                                  <p:cTn id="119" dur="450"/>
                                  <p:tgtEl>
                                    <p:spTgt spid="31"/>
                                  </p:tgtEl>
                                </p:cBhvr>
                              </p:animEffect>
                            </p:childTnLst>
                          </p:cTn>
                        </p:par>
                        <p:par>
                          <p:cTn id="120" presetID="53" presetClass="entr" presetSubtype="16" fill="hold" nodeType="withEffect">
                            <p:stCondLst>
                              <p:cond delay="2600"/>
                            </p:stCondLst>
                            <p:childTnLst>
                              <p:set>
                                <p:cBhvr>
                                  <p:cTn id="121" dur="1" fill="hold">
                                    <p:stCondLst>
                                      <p:cond delay="0"/>
                                    </p:stCondLst>
                                  </p:cTn>
                                  <p:tgtEl>
                                    <p:spTgt spid="32"/>
                                  </p:tgtEl>
                                  <p:attrNameLst>
                                    <p:attrName>style.visibility</p:attrName>
                                  </p:attrNameLst>
                                </p:cBhvr>
                                <p:to>
                                  <p:strVal val="visible"/>
                                </p:to>
                              </p:set>
                              <p:anim calcmode="lin" valueType="num">
                                <p:cBhvr>
                                  <p:cTn id="122" dur="450" fill="hold"/>
                                  <p:tgtEl>
                                    <p:spTgt spid="32"/>
                                  </p:tgtEl>
                                  <p:attrNameLst>
                                    <p:attrName>ppt_w</p:attrName>
                                  </p:attrNameLst>
                                </p:cBhvr>
                                <p:tavLst>
                                  <p:tav tm="0">
                                    <p:val>
                                      <p:strVal val="#ppt_w*0.85"/>
                                    </p:val>
                                  </p:tav>
                                  <p:tav tm="100000">
                                    <p:val>
                                      <p:strVal val="#ppt_w"/>
                                    </p:val>
                                  </p:tav>
                                </p:tavLst>
                              </p:anim>
                              <p:animEffect transition="in" filter="fade">
                                <p:cBhvr>
                                  <p:cTn id="123" dur="450"/>
                                  <p:tgtEl>
                                    <p:spTgt spid="32"/>
                                  </p:tgtEl>
                                </p:cBhvr>
                              </p:animEffect>
                            </p:childTnLst>
                          </p:cTn>
                        </p:par>
                        <p:par>
                          <p:cTn id="124" presetID="53" presetClass="entr" presetSubtype="16" fill="hold" nodeType="withEffect">
                            <p:stCondLst>
                              <p:cond delay="2600"/>
                            </p:stCondLst>
                            <p:childTnLst>
                              <p:set>
                                <p:cBhvr>
                                  <p:cTn id="125" dur="1" fill="hold">
                                    <p:stCondLst>
                                      <p:cond delay="0"/>
                                    </p:stCondLst>
                                  </p:cTn>
                                  <p:tgtEl>
                                    <p:spTgt spid="33"/>
                                  </p:tgtEl>
                                  <p:attrNameLst>
                                    <p:attrName>style.visibility</p:attrName>
                                  </p:attrNameLst>
                                </p:cBhvr>
                                <p:to>
                                  <p:strVal val="visible"/>
                                </p:to>
                              </p:set>
                              <p:anim calcmode="lin" valueType="num">
                                <p:cBhvr>
                                  <p:cTn id="126" dur="450" fill="hold"/>
                                  <p:tgtEl>
                                    <p:spTgt spid="33"/>
                                  </p:tgtEl>
                                  <p:attrNameLst>
                                    <p:attrName>ppt_w</p:attrName>
                                  </p:attrNameLst>
                                </p:cBhvr>
                                <p:tavLst>
                                  <p:tav tm="0">
                                    <p:val>
                                      <p:strVal val="#ppt_w*0.85"/>
                                    </p:val>
                                  </p:tav>
                                  <p:tav tm="100000">
                                    <p:val>
                                      <p:strVal val="#ppt_w"/>
                                    </p:val>
                                  </p:tav>
                                </p:tavLst>
                              </p:anim>
                              <p:animEffect transition="in" filter="fade">
                                <p:cBhvr>
                                  <p:cTn id="127" dur="450"/>
                                  <p:tgtEl>
                                    <p:spTgt spid="33"/>
                                  </p:tgtEl>
                                </p:cBhvr>
                              </p:animEffect>
                            </p:childTnLst>
                          </p:cTn>
                        </p:par>
                        <p:par>
                          <p:cTn id="128" presetID="53" presetClass="entr" presetSubtype="16" fill="hold" nodeType="withEffect">
                            <p:stCondLst>
                              <p:cond delay="2600"/>
                            </p:stCondLst>
                            <p:childTnLst>
                              <p:set>
                                <p:cBhvr>
                                  <p:cTn id="129" dur="1" fill="hold">
                                    <p:stCondLst>
                                      <p:cond delay="0"/>
                                    </p:stCondLst>
                                  </p:cTn>
                                  <p:tgtEl>
                                    <p:spTgt spid="34"/>
                                  </p:tgtEl>
                                  <p:attrNameLst>
                                    <p:attrName>style.visibility</p:attrName>
                                  </p:attrNameLst>
                                </p:cBhvr>
                                <p:to>
                                  <p:strVal val="visible"/>
                                </p:to>
                              </p:set>
                              <p:anim calcmode="lin" valueType="num">
                                <p:cBhvr>
                                  <p:cTn id="130" dur="450" fill="hold"/>
                                  <p:tgtEl>
                                    <p:spTgt spid="34"/>
                                  </p:tgtEl>
                                  <p:attrNameLst>
                                    <p:attrName>ppt_w</p:attrName>
                                  </p:attrNameLst>
                                </p:cBhvr>
                                <p:tavLst>
                                  <p:tav tm="0">
                                    <p:val>
                                      <p:strVal val="#ppt_w*0.85"/>
                                    </p:val>
                                  </p:tav>
                                  <p:tav tm="100000">
                                    <p:val>
                                      <p:strVal val="#ppt_w"/>
                                    </p:val>
                                  </p:tav>
                                </p:tavLst>
                              </p:anim>
                              <p:animEffect transition="in" filter="fade">
                                <p:cBhvr>
                                  <p:cTn id="131" dur="450"/>
                                  <p:tgtEl>
                                    <p:spTgt spid="34"/>
                                  </p:tgtEl>
                                </p:cBhvr>
                              </p:animEffect>
                            </p:childTnLst>
                          </p:cTn>
                        </p:par>
                        <p:par>
                          <p:cTn id="132" presetID="53" presetClass="entr" presetSubtype="16" fill="hold" nodeType="withEffect">
                            <p:stCondLst>
                              <p:cond delay="2600"/>
                            </p:stCondLst>
                            <p:childTnLst>
                              <p:set>
                                <p:cBhvr>
                                  <p:cTn id="133" dur="1" fill="hold">
                                    <p:stCondLst>
                                      <p:cond delay="0"/>
                                    </p:stCondLst>
                                  </p:cTn>
                                  <p:tgtEl>
                                    <p:spTgt spid="35"/>
                                  </p:tgtEl>
                                  <p:attrNameLst>
                                    <p:attrName>style.visibility</p:attrName>
                                  </p:attrNameLst>
                                </p:cBhvr>
                                <p:to>
                                  <p:strVal val="visible"/>
                                </p:to>
                              </p:set>
                              <p:anim calcmode="lin" valueType="num">
                                <p:cBhvr>
                                  <p:cTn id="134" dur="450" fill="hold"/>
                                  <p:tgtEl>
                                    <p:spTgt spid="35"/>
                                  </p:tgtEl>
                                  <p:attrNameLst>
                                    <p:attrName>ppt_w</p:attrName>
                                  </p:attrNameLst>
                                </p:cBhvr>
                                <p:tavLst>
                                  <p:tav tm="0">
                                    <p:val>
                                      <p:strVal val="#ppt_w*0.85"/>
                                    </p:val>
                                  </p:tav>
                                  <p:tav tm="100000">
                                    <p:val>
                                      <p:strVal val="#ppt_w"/>
                                    </p:val>
                                  </p:tav>
                                </p:tavLst>
                              </p:anim>
                              <p:animEffect transition="in" filter="fade">
                                <p:cBhvr>
                                  <p:cTn id="135" dur="450"/>
                                  <p:tgtEl>
                                    <p:spTgt spid="35"/>
                                  </p:tgtEl>
                                </p:cBhvr>
                              </p:animEffect>
                            </p:childTnLst>
                          </p:cTn>
                        </p:par>
                        <p:par>
                          <p:cTn id="136" presetID="53" presetClass="entr" presetSubtype="16" fill="hold" nodeType="withEffect">
                            <p:stCondLst>
                              <p:cond delay="2600"/>
                            </p:stCondLst>
                            <p:childTnLst>
                              <p:set>
                                <p:cBhvr>
                                  <p:cTn id="137" dur="1" fill="hold">
                                    <p:stCondLst>
                                      <p:cond delay="0"/>
                                    </p:stCondLst>
                                  </p:cTn>
                                  <p:tgtEl>
                                    <p:spTgt spid="36"/>
                                  </p:tgtEl>
                                  <p:attrNameLst>
                                    <p:attrName>style.visibility</p:attrName>
                                  </p:attrNameLst>
                                </p:cBhvr>
                                <p:to>
                                  <p:strVal val="visible"/>
                                </p:to>
                              </p:set>
                              <p:anim calcmode="lin" valueType="num">
                                <p:cBhvr>
                                  <p:cTn id="138" dur="450" fill="hold"/>
                                  <p:tgtEl>
                                    <p:spTgt spid="36"/>
                                  </p:tgtEl>
                                  <p:attrNameLst>
                                    <p:attrName>ppt_w</p:attrName>
                                  </p:attrNameLst>
                                </p:cBhvr>
                                <p:tavLst>
                                  <p:tav tm="0">
                                    <p:val>
                                      <p:strVal val="#ppt_w*0.85"/>
                                    </p:val>
                                  </p:tav>
                                  <p:tav tm="100000">
                                    <p:val>
                                      <p:strVal val="#ppt_w"/>
                                    </p:val>
                                  </p:tav>
                                </p:tavLst>
                              </p:anim>
                              <p:animEffect transition="in" filter="fade">
                                <p:cBhvr>
                                  <p:cTn id="139" dur="450"/>
                                  <p:tgtEl>
                                    <p:spTgt spid="36"/>
                                  </p:tgtEl>
                                </p:cBhvr>
                              </p:animEffect>
                            </p:childTnLst>
                          </p:cTn>
                        </p:par>
                        <p:par>
                          <p:cTn id="140" presetID="53" presetClass="entr" presetSubtype="16" fill="hold" nodeType="withEffect">
                            <p:stCondLst>
                              <p:cond delay="2600"/>
                            </p:stCondLst>
                            <p:childTnLst>
                              <p:set>
                                <p:cBhvr>
                                  <p:cTn id="141" dur="1" fill="hold">
                                    <p:stCondLst>
                                      <p:cond delay="0"/>
                                    </p:stCondLst>
                                  </p:cTn>
                                  <p:tgtEl>
                                    <p:spTgt spid="37"/>
                                  </p:tgtEl>
                                  <p:attrNameLst>
                                    <p:attrName>style.visibility</p:attrName>
                                  </p:attrNameLst>
                                </p:cBhvr>
                                <p:to>
                                  <p:strVal val="visible"/>
                                </p:to>
                              </p:set>
                              <p:anim calcmode="lin" valueType="num">
                                <p:cBhvr>
                                  <p:cTn id="142" dur="450" fill="hold"/>
                                  <p:tgtEl>
                                    <p:spTgt spid="37"/>
                                  </p:tgtEl>
                                  <p:attrNameLst>
                                    <p:attrName>ppt_w</p:attrName>
                                  </p:attrNameLst>
                                </p:cBhvr>
                                <p:tavLst>
                                  <p:tav tm="0">
                                    <p:val>
                                      <p:strVal val="#ppt_w*0.85"/>
                                    </p:val>
                                  </p:tav>
                                  <p:tav tm="100000">
                                    <p:val>
                                      <p:strVal val="#ppt_w"/>
                                    </p:val>
                                  </p:tav>
                                </p:tavLst>
                              </p:anim>
                              <p:animEffect transition="in" filter="fade">
                                <p:cBhvr>
                                  <p:cTn id="143" dur="450"/>
                                  <p:tgtEl>
                                    <p:spTgt spid="37"/>
                                  </p:tgtEl>
                                </p:cBhvr>
                              </p:animEffect>
                            </p:childTnLst>
                          </p:cTn>
                        </p:par>
                        <p:par>
                          <p:cTn id="144" presetID="53" presetClass="entr" presetSubtype="16" fill="hold" nodeType="withEffect">
                            <p:stCondLst>
                              <p:cond delay="2600"/>
                            </p:stCondLst>
                            <p:childTnLst>
                              <p:set>
                                <p:cBhvr>
                                  <p:cTn id="145" dur="1" fill="hold">
                                    <p:stCondLst>
                                      <p:cond delay="0"/>
                                    </p:stCondLst>
                                  </p:cTn>
                                  <p:tgtEl>
                                    <p:spTgt spid="38"/>
                                  </p:tgtEl>
                                  <p:attrNameLst>
                                    <p:attrName>style.visibility</p:attrName>
                                  </p:attrNameLst>
                                </p:cBhvr>
                                <p:to>
                                  <p:strVal val="visible"/>
                                </p:to>
                              </p:set>
                              <p:anim calcmode="lin" valueType="num">
                                <p:cBhvr>
                                  <p:cTn id="146" dur="450" fill="hold"/>
                                  <p:tgtEl>
                                    <p:spTgt spid="38"/>
                                  </p:tgtEl>
                                  <p:attrNameLst>
                                    <p:attrName>ppt_w</p:attrName>
                                  </p:attrNameLst>
                                </p:cBhvr>
                                <p:tavLst>
                                  <p:tav tm="0">
                                    <p:val>
                                      <p:strVal val="#ppt_w*0.85"/>
                                    </p:val>
                                  </p:tav>
                                  <p:tav tm="100000">
                                    <p:val>
                                      <p:strVal val="#ppt_w"/>
                                    </p:val>
                                  </p:tav>
                                </p:tavLst>
                              </p:anim>
                              <p:animEffect transition="in" filter="fade">
                                <p:cBhvr>
                                  <p:cTn id="147" dur="450"/>
                                  <p:tgtEl>
                                    <p:spTgt spid="38"/>
                                  </p:tgtEl>
                                </p:cBhvr>
                              </p:animEffect>
                            </p:childTnLst>
                          </p:cTn>
                        </p:par>
                        <p:par>
                          <p:cTn id="148" presetID="53" presetClass="entr" presetSubtype="16" fill="hold" nodeType="withEffect">
                            <p:stCondLst>
                              <p:cond delay="2600"/>
                            </p:stCondLst>
                            <p:childTnLst>
                              <p:set>
                                <p:cBhvr>
                                  <p:cTn id="149" dur="1" fill="hold">
                                    <p:stCondLst>
                                      <p:cond delay="0"/>
                                    </p:stCondLst>
                                  </p:cTn>
                                  <p:tgtEl>
                                    <p:spTgt spid="39"/>
                                  </p:tgtEl>
                                  <p:attrNameLst>
                                    <p:attrName>style.visibility</p:attrName>
                                  </p:attrNameLst>
                                </p:cBhvr>
                                <p:to>
                                  <p:strVal val="visible"/>
                                </p:to>
                              </p:set>
                              <p:anim calcmode="lin" valueType="num">
                                <p:cBhvr>
                                  <p:cTn id="150" dur="450" fill="hold"/>
                                  <p:tgtEl>
                                    <p:spTgt spid="39"/>
                                  </p:tgtEl>
                                  <p:attrNameLst>
                                    <p:attrName>ppt_w</p:attrName>
                                  </p:attrNameLst>
                                </p:cBhvr>
                                <p:tavLst>
                                  <p:tav tm="0">
                                    <p:val>
                                      <p:strVal val="#ppt_w*0.85"/>
                                    </p:val>
                                  </p:tav>
                                  <p:tav tm="100000">
                                    <p:val>
                                      <p:strVal val="#ppt_w"/>
                                    </p:val>
                                  </p:tav>
                                </p:tavLst>
                              </p:anim>
                              <p:animEffect transition="in" filter="fade">
                                <p:cBhvr>
                                  <p:cTn id="151" dur="450"/>
                                  <p:tgtEl>
                                    <p:spTgt spid="39"/>
                                  </p:tgtEl>
                                </p:cBhvr>
                              </p:animEffect>
                            </p:childTnLst>
                          </p:cTn>
                        </p:par>
                        <p:par>
                          <p:cTn id="152" presetID="53" presetClass="entr" presetSubtype="16" fill="hold" nodeType="withEffect">
                            <p:stCondLst>
                              <p:cond delay="2600"/>
                            </p:stCondLst>
                            <p:childTnLst>
                              <p:set>
                                <p:cBhvr>
                                  <p:cTn id="153" dur="1" fill="hold">
                                    <p:stCondLst>
                                      <p:cond delay="0"/>
                                    </p:stCondLst>
                                  </p:cTn>
                                  <p:tgtEl>
                                    <p:spTgt spid="40"/>
                                  </p:tgtEl>
                                  <p:attrNameLst>
                                    <p:attrName>style.visibility</p:attrName>
                                  </p:attrNameLst>
                                </p:cBhvr>
                                <p:to>
                                  <p:strVal val="visible"/>
                                </p:to>
                              </p:set>
                              <p:anim calcmode="lin" valueType="num">
                                <p:cBhvr>
                                  <p:cTn id="154" dur="450" fill="hold"/>
                                  <p:tgtEl>
                                    <p:spTgt spid="40"/>
                                  </p:tgtEl>
                                  <p:attrNameLst>
                                    <p:attrName>ppt_w</p:attrName>
                                  </p:attrNameLst>
                                </p:cBhvr>
                                <p:tavLst>
                                  <p:tav tm="0">
                                    <p:val>
                                      <p:strVal val="#ppt_w*0.85"/>
                                    </p:val>
                                  </p:tav>
                                  <p:tav tm="100000">
                                    <p:val>
                                      <p:strVal val="#ppt_w"/>
                                    </p:val>
                                  </p:tav>
                                </p:tavLst>
                              </p:anim>
                              <p:animEffect transition="in" filter="fade">
                                <p:cBhvr>
                                  <p:cTn id="155" dur="450"/>
                                  <p:tgtEl>
                                    <p:spTgt spid="40"/>
                                  </p:tgtEl>
                                </p:cBhvr>
                              </p:animEffect>
                            </p:childTnLst>
                          </p:cTn>
                        </p:par>
                        <p:par>
                          <p:cTn id="156" presetID="53" presetClass="entr" presetSubtype="16" fill="hold" nodeType="withEffect">
                            <p:stCondLst>
                              <p:cond delay="2600"/>
                            </p:stCondLst>
                            <p:childTnLst>
                              <p:set>
                                <p:cBhvr>
                                  <p:cTn id="157" dur="1" fill="hold">
                                    <p:stCondLst>
                                      <p:cond delay="0"/>
                                    </p:stCondLst>
                                  </p:cTn>
                                  <p:tgtEl>
                                    <p:spTgt spid="41"/>
                                  </p:tgtEl>
                                  <p:attrNameLst>
                                    <p:attrName>style.visibility</p:attrName>
                                  </p:attrNameLst>
                                </p:cBhvr>
                                <p:to>
                                  <p:strVal val="visible"/>
                                </p:to>
                              </p:set>
                              <p:anim calcmode="lin" valueType="num">
                                <p:cBhvr>
                                  <p:cTn id="158" dur="450" fill="hold"/>
                                  <p:tgtEl>
                                    <p:spTgt spid="41"/>
                                  </p:tgtEl>
                                  <p:attrNameLst>
                                    <p:attrName>ppt_w</p:attrName>
                                  </p:attrNameLst>
                                </p:cBhvr>
                                <p:tavLst>
                                  <p:tav tm="0">
                                    <p:val>
                                      <p:strVal val="#ppt_w*0.85"/>
                                    </p:val>
                                  </p:tav>
                                  <p:tav tm="100000">
                                    <p:val>
                                      <p:strVal val="#ppt_w"/>
                                    </p:val>
                                  </p:tav>
                                </p:tavLst>
                              </p:anim>
                              <p:animEffect transition="in" filter="fade">
                                <p:cBhvr>
                                  <p:cTn id="159" dur="450"/>
                                  <p:tgtEl>
                                    <p:spTgt spid="41"/>
                                  </p:tgtEl>
                                </p:cBhvr>
                              </p:animEffect>
                            </p:childTnLst>
                          </p:cTn>
                        </p:par>
                        <p:par>
                          <p:cTn id="160" presetID="53" presetClass="entr" presetSubtype="16" fill="hold" nodeType="withEffect">
                            <p:stCondLst>
                              <p:cond delay="2600"/>
                            </p:stCondLst>
                            <p:childTnLst>
                              <p:set>
                                <p:cBhvr>
                                  <p:cTn id="161" dur="1" fill="hold">
                                    <p:stCondLst>
                                      <p:cond delay="0"/>
                                    </p:stCondLst>
                                  </p:cTn>
                                  <p:tgtEl>
                                    <p:spTgt spid="42"/>
                                  </p:tgtEl>
                                  <p:attrNameLst>
                                    <p:attrName>style.visibility</p:attrName>
                                  </p:attrNameLst>
                                </p:cBhvr>
                                <p:to>
                                  <p:strVal val="visible"/>
                                </p:to>
                              </p:set>
                              <p:anim calcmode="lin" valueType="num">
                                <p:cBhvr>
                                  <p:cTn id="162" dur="450" fill="hold"/>
                                  <p:tgtEl>
                                    <p:spTgt spid="42"/>
                                  </p:tgtEl>
                                  <p:attrNameLst>
                                    <p:attrName>ppt_w</p:attrName>
                                  </p:attrNameLst>
                                </p:cBhvr>
                                <p:tavLst>
                                  <p:tav tm="0">
                                    <p:val>
                                      <p:strVal val="#ppt_w*0.85"/>
                                    </p:val>
                                  </p:tav>
                                  <p:tav tm="100000">
                                    <p:val>
                                      <p:strVal val="#ppt_w"/>
                                    </p:val>
                                  </p:tav>
                                </p:tavLst>
                              </p:anim>
                              <p:animEffect transition="in" filter="fade">
                                <p:cBhvr>
                                  <p:cTn id="163" dur="450"/>
                                  <p:tgtEl>
                                    <p:spTgt spid="42"/>
                                  </p:tgtEl>
                                </p:cBhvr>
                              </p:animEffect>
                            </p:childTnLst>
                          </p:cTn>
                        </p:par>
                        <p:par>
                          <p:cTn id="164" presetID="53" presetClass="entr" presetSubtype="16" fill="hold" nodeType="withEffect">
                            <p:stCondLst>
                              <p:cond delay="2600"/>
                            </p:stCondLst>
                            <p:childTnLst>
                              <p:set>
                                <p:cBhvr>
                                  <p:cTn id="165" dur="1" fill="hold">
                                    <p:stCondLst>
                                      <p:cond delay="0"/>
                                    </p:stCondLst>
                                  </p:cTn>
                                  <p:tgtEl>
                                    <p:spTgt spid="43"/>
                                  </p:tgtEl>
                                  <p:attrNameLst>
                                    <p:attrName>style.visibility</p:attrName>
                                  </p:attrNameLst>
                                </p:cBhvr>
                                <p:to>
                                  <p:strVal val="visible"/>
                                </p:to>
                              </p:set>
                              <p:anim calcmode="lin" valueType="num">
                                <p:cBhvr>
                                  <p:cTn id="166" dur="450" fill="hold"/>
                                  <p:tgtEl>
                                    <p:spTgt spid="43"/>
                                  </p:tgtEl>
                                  <p:attrNameLst>
                                    <p:attrName>ppt_w</p:attrName>
                                  </p:attrNameLst>
                                </p:cBhvr>
                                <p:tavLst>
                                  <p:tav tm="0">
                                    <p:val>
                                      <p:strVal val="#ppt_w*0.85"/>
                                    </p:val>
                                  </p:tav>
                                  <p:tav tm="100000">
                                    <p:val>
                                      <p:strVal val="#ppt_w"/>
                                    </p:val>
                                  </p:tav>
                                </p:tavLst>
                              </p:anim>
                              <p:animEffect transition="in" filter="fade">
                                <p:cBhvr>
                                  <p:cTn id="167" dur="450"/>
                                  <p:tgtEl>
                                    <p:spTgt spid="43"/>
                                  </p:tgtEl>
                                </p:cBhvr>
                              </p:animEffect>
                            </p:childTnLst>
                          </p:cTn>
                        </p:par>
                        <p:par>
                          <p:cTn id="168" presetID="53" presetClass="entr" presetSubtype="16" fill="hold" nodeType="withEffect">
                            <p:stCondLst>
                              <p:cond delay="2600"/>
                            </p:stCondLst>
                            <p:childTnLst>
                              <p:set>
                                <p:cBhvr>
                                  <p:cTn id="169" dur="1" fill="hold">
                                    <p:stCondLst>
                                      <p:cond delay="0"/>
                                    </p:stCondLst>
                                  </p:cTn>
                                  <p:tgtEl>
                                    <p:spTgt spid="44"/>
                                  </p:tgtEl>
                                  <p:attrNameLst>
                                    <p:attrName>style.visibility</p:attrName>
                                  </p:attrNameLst>
                                </p:cBhvr>
                                <p:to>
                                  <p:strVal val="visible"/>
                                </p:to>
                              </p:set>
                              <p:anim calcmode="lin" valueType="num">
                                <p:cBhvr>
                                  <p:cTn id="170" dur="450" fill="hold"/>
                                  <p:tgtEl>
                                    <p:spTgt spid="44"/>
                                  </p:tgtEl>
                                  <p:attrNameLst>
                                    <p:attrName>ppt_w</p:attrName>
                                  </p:attrNameLst>
                                </p:cBhvr>
                                <p:tavLst>
                                  <p:tav tm="0">
                                    <p:val>
                                      <p:strVal val="#ppt_w*0.85"/>
                                    </p:val>
                                  </p:tav>
                                  <p:tav tm="100000">
                                    <p:val>
                                      <p:strVal val="#ppt_w"/>
                                    </p:val>
                                  </p:tav>
                                </p:tavLst>
                              </p:anim>
                              <p:animEffect transition="in" filter="fade">
                                <p:cBhvr>
                                  <p:cTn id="171" dur="450"/>
                                  <p:tgtEl>
                                    <p:spTgt spid="44"/>
                                  </p:tgtEl>
                                </p:cBhvr>
                              </p:animEffect>
                            </p:childTnLst>
                          </p:cTn>
                        </p:par>
                        <p:par>
                          <p:cTn id="172" presetID="53" presetClass="entr" presetSubtype="16" fill="hold" nodeType="withEffect">
                            <p:stCondLst>
                              <p:cond delay="2600"/>
                            </p:stCondLst>
                            <p:childTnLst>
                              <p:set>
                                <p:cBhvr>
                                  <p:cTn id="173" dur="1" fill="hold">
                                    <p:stCondLst>
                                      <p:cond delay="0"/>
                                    </p:stCondLst>
                                  </p:cTn>
                                  <p:tgtEl>
                                    <p:spTgt spid="45"/>
                                  </p:tgtEl>
                                  <p:attrNameLst>
                                    <p:attrName>style.visibility</p:attrName>
                                  </p:attrNameLst>
                                </p:cBhvr>
                                <p:to>
                                  <p:strVal val="visible"/>
                                </p:to>
                              </p:set>
                              <p:anim calcmode="lin" valueType="num">
                                <p:cBhvr>
                                  <p:cTn id="174" dur="450" fill="hold"/>
                                  <p:tgtEl>
                                    <p:spTgt spid="45"/>
                                  </p:tgtEl>
                                  <p:attrNameLst>
                                    <p:attrName>ppt_w</p:attrName>
                                  </p:attrNameLst>
                                </p:cBhvr>
                                <p:tavLst>
                                  <p:tav tm="0">
                                    <p:val>
                                      <p:strVal val="#ppt_w*0.85"/>
                                    </p:val>
                                  </p:tav>
                                  <p:tav tm="100000">
                                    <p:val>
                                      <p:strVal val="#ppt_w"/>
                                    </p:val>
                                  </p:tav>
                                </p:tavLst>
                              </p:anim>
                              <p:animEffect transition="in" filter="fade">
                                <p:cBhvr>
                                  <p:cTn id="175" dur="450"/>
                                  <p:tgtEl>
                                    <p:spTgt spid="45"/>
                                  </p:tgtEl>
                                </p:cBhvr>
                              </p:animEffect>
                            </p:childTnLst>
                          </p:cTn>
                        </p:par>
                        <p:par>
                          <p:cTn id="176" presetID="53" presetClass="entr" presetSubtype="16" fill="hold" nodeType="withEffect">
                            <p:stCondLst>
                              <p:cond delay="2600"/>
                            </p:stCondLst>
                            <p:childTnLst>
                              <p:set>
                                <p:cBhvr>
                                  <p:cTn id="177" dur="1" fill="hold">
                                    <p:stCondLst>
                                      <p:cond delay="0"/>
                                    </p:stCondLst>
                                  </p:cTn>
                                  <p:tgtEl>
                                    <p:spTgt spid="46"/>
                                  </p:tgtEl>
                                  <p:attrNameLst>
                                    <p:attrName>style.visibility</p:attrName>
                                  </p:attrNameLst>
                                </p:cBhvr>
                                <p:to>
                                  <p:strVal val="visible"/>
                                </p:to>
                              </p:set>
                              <p:anim calcmode="lin" valueType="num">
                                <p:cBhvr>
                                  <p:cTn id="178" dur="450" fill="hold"/>
                                  <p:tgtEl>
                                    <p:spTgt spid="46"/>
                                  </p:tgtEl>
                                  <p:attrNameLst>
                                    <p:attrName>ppt_w</p:attrName>
                                  </p:attrNameLst>
                                </p:cBhvr>
                                <p:tavLst>
                                  <p:tav tm="0">
                                    <p:val>
                                      <p:strVal val="#ppt_w*0.85"/>
                                    </p:val>
                                  </p:tav>
                                  <p:tav tm="100000">
                                    <p:val>
                                      <p:strVal val="#ppt_w"/>
                                    </p:val>
                                  </p:tav>
                                </p:tavLst>
                              </p:anim>
                              <p:animEffect transition="in" filter="fade">
                                <p:cBhvr>
                                  <p:cTn id="179" dur="450"/>
                                  <p:tgtEl>
                                    <p:spTgt spid="46"/>
                                  </p:tgtEl>
                                </p:cBhvr>
                              </p:animEffect>
                            </p:childTnLst>
                          </p:cTn>
                        </p:par>
                        <p:par>
                          <p:cTn id="180" presetID="53" presetClass="entr" presetSubtype="16" fill="hold" nodeType="withEffect">
                            <p:stCondLst>
                              <p:cond delay="2600"/>
                            </p:stCondLst>
                            <p:childTnLst>
                              <p:set>
                                <p:cBhvr>
                                  <p:cTn id="181" dur="1" fill="hold">
                                    <p:stCondLst>
                                      <p:cond delay="0"/>
                                    </p:stCondLst>
                                  </p:cTn>
                                  <p:tgtEl>
                                    <p:spTgt spid="47"/>
                                  </p:tgtEl>
                                  <p:attrNameLst>
                                    <p:attrName>style.visibility</p:attrName>
                                  </p:attrNameLst>
                                </p:cBhvr>
                                <p:to>
                                  <p:strVal val="visible"/>
                                </p:to>
                              </p:set>
                              <p:anim calcmode="lin" valueType="num">
                                <p:cBhvr>
                                  <p:cTn id="182" dur="450" fill="hold"/>
                                  <p:tgtEl>
                                    <p:spTgt spid="47"/>
                                  </p:tgtEl>
                                  <p:attrNameLst>
                                    <p:attrName>ppt_w</p:attrName>
                                  </p:attrNameLst>
                                </p:cBhvr>
                                <p:tavLst>
                                  <p:tav tm="0">
                                    <p:val>
                                      <p:strVal val="#ppt_w*0.85"/>
                                    </p:val>
                                  </p:tav>
                                  <p:tav tm="100000">
                                    <p:val>
                                      <p:strVal val="#ppt_w"/>
                                    </p:val>
                                  </p:tav>
                                </p:tavLst>
                              </p:anim>
                              <p:animEffect transition="in" filter="fade">
                                <p:cBhvr>
                                  <p:cTn id="183" dur="450"/>
                                  <p:tgtEl>
                                    <p:spTgt spid="47"/>
                                  </p:tgtEl>
                                </p:cBhvr>
                              </p:animEffect>
                            </p:childTnLst>
                          </p:cTn>
                        </p:par>
                        <p:par>
                          <p:cTn id="184" presetID="53" presetClass="entr" presetSubtype="16" fill="hold" nodeType="withEffect">
                            <p:stCondLst>
                              <p:cond delay="2600"/>
                            </p:stCondLst>
                            <p:childTnLst>
                              <p:set>
                                <p:cBhvr>
                                  <p:cTn id="185" dur="1" fill="hold">
                                    <p:stCondLst>
                                      <p:cond delay="0"/>
                                    </p:stCondLst>
                                  </p:cTn>
                                  <p:tgtEl>
                                    <p:spTgt spid="48"/>
                                  </p:tgtEl>
                                  <p:attrNameLst>
                                    <p:attrName>style.visibility</p:attrName>
                                  </p:attrNameLst>
                                </p:cBhvr>
                                <p:to>
                                  <p:strVal val="visible"/>
                                </p:to>
                              </p:set>
                              <p:anim calcmode="lin" valueType="num">
                                <p:cBhvr>
                                  <p:cTn id="186" dur="450" fill="hold"/>
                                  <p:tgtEl>
                                    <p:spTgt spid="48"/>
                                  </p:tgtEl>
                                  <p:attrNameLst>
                                    <p:attrName>ppt_w</p:attrName>
                                  </p:attrNameLst>
                                </p:cBhvr>
                                <p:tavLst>
                                  <p:tav tm="0">
                                    <p:val>
                                      <p:strVal val="#ppt_w*0.85"/>
                                    </p:val>
                                  </p:tav>
                                  <p:tav tm="100000">
                                    <p:val>
                                      <p:strVal val="#ppt_w"/>
                                    </p:val>
                                  </p:tav>
                                </p:tavLst>
                              </p:anim>
                              <p:animEffect transition="in" filter="fade">
                                <p:cBhvr>
                                  <p:cTn id="187" dur="450"/>
                                  <p:tgtEl>
                                    <p:spTgt spid="48"/>
                                  </p:tgtEl>
                                </p:cBhvr>
                              </p:animEffect>
                            </p:childTnLst>
                          </p:cTn>
                        </p:par>
                        <p:par>
                          <p:cTn id="188" presetID="53" presetClass="entr" presetSubtype="16" fill="hold" nodeType="withEffect">
                            <p:stCondLst>
                              <p:cond delay="2600"/>
                            </p:stCondLst>
                            <p:childTnLst>
                              <p:set>
                                <p:cBhvr>
                                  <p:cTn id="189" dur="1" fill="hold">
                                    <p:stCondLst>
                                      <p:cond delay="0"/>
                                    </p:stCondLst>
                                  </p:cTn>
                                  <p:tgtEl>
                                    <p:spTgt spid="49"/>
                                  </p:tgtEl>
                                  <p:attrNameLst>
                                    <p:attrName>style.visibility</p:attrName>
                                  </p:attrNameLst>
                                </p:cBhvr>
                                <p:to>
                                  <p:strVal val="visible"/>
                                </p:to>
                              </p:set>
                              <p:anim calcmode="lin" valueType="num">
                                <p:cBhvr>
                                  <p:cTn id="190" dur="450" fill="hold"/>
                                  <p:tgtEl>
                                    <p:spTgt spid="49"/>
                                  </p:tgtEl>
                                  <p:attrNameLst>
                                    <p:attrName>ppt_w</p:attrName>
                                  </p:attrNameLst>
                                </p:cBhvr>
                                <p:tavLst>
                                  <p:tav tm="0">
                                    <p:val>
                                      <p:strVal val="#ppt_w*0.85"/>
                                    </p:val>
                                  </p:tav>
                                  <p:tav tm="100000">
                                    <p:val>
                                      <p:strVal val="#ppt_w"/>
                                    </p:val>
                                  </p:tav>
                                </p:tavLst>
                              </p:anim>
                              <p:animEffect transition="in" filter="fade">
                                <p:cBhvr>
                                  <p:cTn id="191" dur="450"/>
                                  <p:tgtEl>
                                    <p:spTgt spid="49"/>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p:bldP spid="8" grpId="0"/>
      <p:bldP spid="9" grpId="0"/>
      <p:bldP spid="11" grpId="0"/>
      <p:bldP spid="12" grpId="0"/>
      <p:bldP spid="13" grpId="0"/>
      <p:bldP spid="14" grpId="0"/>
      <p:bldP spid="16" grpId="0"/>
      <p:bldP spid="17" grpId="0"/>
      <p:bldP spid="18" grpId="0"/>
      <p:bldP spid="19" grpId="0"/>
      <p:bldP spid="21" grpId="0"/>
      <p:bldP spid="22" grpId="0"/>
      <p:bldP spid="23" grpId="0"/>
      <p:bldP spid="24" grpId="0"/>
      <p:bldP spid="26" grpId="0"/>
      <p:bldP spid="27" grpId="0"/>
      <p:bldP spid="28" grpId="0"/>
      <p:bldP spid="29" grpId="0"/>
      <p:bldP spid="31" grpId="0"/>
      <p:bldP spid="32" grpId="0"/>
      <p:bldP spid="33" grpId="0"/>
      <p:bldP spid="34" grpId="0"/>
      <p:bldP spid="36" grpId="0"/>
      <p:bldP spid="37" grpId="0"/>
      <p:bldP spid="38" grpId="0"/>
      <p:bldP spid="39" grpId="0"/>
      <p:bldP spid="41" grpId="0"/>
      <p:bldP spid="42" grpId="0"/>
      <p:bldP spid="43" grpId="0"/>
      <p:bldP spid="44" grpId="0"/>
      <p:bldP spid="46" grpId="0"/>
      <p:bldP spid="47" grpId="0"/>
      <p:bldP spid="48" grpId="0"/>
      <p:bldP spid="49"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Les coups bas dans la vraie vie</a:t>
            </a:r>
            <a:endParaRPr lang="en-US" sz="3600" dirty="0"/>
          </a:p>
        </p:txBody>
      </p:sp>
      <p:sp>
        <p:nvSpPr>
          <p:cNvPr id="3" name="Text 1"/>
          <p:cNvSpPr txBox="1"/>
          <p:nvPr/>
        </p:nvSpPr>
        <p:spPr>
          <a:xfrm>
            <a:off x="548640" y="1325880"/>
            <a:ext cx="11064240" cy="548640"/>
          </a:xfrm>
          <a:prstGeom prst="rect">
            <a:avLst/>
          </a:prstGeom>
          <a:noFill/>
          <a:ln/>
        </p:spPr>
        <p:txBody>
          <a:bodyPr wrap="square" lIns="0" tIns="0" rIns="0" bIns="0" rtlCol="0" anchor="t"/>
          <a:lstStyle/>
          <a:p>
            <a:pPr indent="0" marL="0">
              <a:buNone/>
            </a:pPr>
            <a:r>
              <a:rPr lang="en-US" sz="1600" dirty="0">
                <a:solidFill>
                  <a:schemeClr val="tx1"/>
                </a:solidFill>
                <a:latin typeface="Arial" pitchFamily="34" charset="0"/>
                <a:ea typeface="Arial" pitchFamily="34" charset="-122"/>
                <a:cs typeface="Arial" pitchFamily="34" charset="-120"/>
              </a:rPr>
              <a:t>Ils ne restent pas dans les livres de philosophie. On les croise chaque semaine.</a:t>
            </a:r>
            <a:endParaRPr lang="en-US" sz="1600" dirty="0"/>
          </a:p>
        </p:txBody>
      </p:sp>
      <p:sp>
        <p:nvSpPr>
          <p:cNvPr id="4" name="Text 2"/>
          <p:cNvSpPr txBox="1"/>
          <p:nvPr/>
        </p:nvSpPr>
        <p:spPr>
          <a:xfrm>
            <a:off x="731520" y="2011680"/>
            <a:ext cx="22860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Où</a:t>
            </a:r>
            <a:endParaRPr lang="en-US" sz="1400" dirty="0"/>
          </a:p>
        </p:txBody>
      </p:sp>
      <p:sp>
        <p:nvSpPr>
          <p:cNvPr id="5" name="Text 3"/>
          <p:cNvSpPr txBox="1"/>
          <p:nvPr/>
        </p:nvSpPr>
        <p:spPr>
          <a:xfrm>
            <a:off x="3291840" y="2011680"/>
            <a:ext cx="45720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Ce qu'on entend</a:t>
            </a:r>
            <a:endParaRPr lang="en-US" sz="1400" dirty="0"/>
          </a:p>
        </p:txBody>
      </p:sp>
      <p:sp>
        <p:nvSpPr>
          <p:cNvPr id="6" name="Text 4"/>
          <p:cNvSpPr txBox="1"/>
          <p:nvPr/>
        </p:nvSpPr>
        <p:spPr>
          <a:xfrm>
            <a:off x="8778240" y="2011680"/>
            <a:ext cx="274320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Le coup bas</a:t>
            </a:r>
            <a:endParaRPr lang="en-US" sz="1400" dirty="0"/>
          </a:p>
        </p:txBody>
      </p:sp>
      <p:sp>
        <p:nvSpPr>
          <p:cNvPr id="7" name="Shape 5"/>
          <p:cNvSpPr/>
          <p:nvPr/>
        </p:nvSpPr>
        <p:spPr>
          <a:xfrm>
            <a:off x="548640" y="2423160"/>
            <a:ext cx="2560320" cy="512064"/>
          </a:xfrm>
          <a:prstGeom prst="rect">
            <a:avLst/>
          </a:prstGeom>
          <a:solidFill>
            <a:schemeClr val="tx1"/>
          </a:solidFill>
          <a:ln w="19050">
            <a:solidFill>
              <a:schemeClr val="tx1"/>
            </a:solidFill>
            <a:prstDash val="solid"/>
          </a:ln>
        </p:spPr>
      </p:sp>
      <p:sp>
        <p:nvSpPr>
          <p:cNvPr id="8" name="Text 6"/>
          <p:cNvSpPr txBox="1"/>
          <p:nvPr/>
        </p:nvSpPr>
        <p:spPr>
          <a:xfrm>
            <a:off x="685800" y="2423160"/>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Souper de famille</a:t>
            </a:r>
            <a:endParaRPr lang="en-US" sz="1500" dirty="0"/>
          </a:p>
        </p:txBody>
      </p:sp>
      <p:sp>
        <p:nvSpPr>
          <p:cNvPr id="9" name="Shape 7"/>
          <p:cNvSpPr/>
          <p:nvPr/>
        </p:nvSpPr>
        <p:spPr>
          <a:xfrm>
            <a:off x="3108960" y="2423160"/>
            <a:ext cx="5486400" cy="512064"/>
          </a:xfrm>
          <a:prstGeom prst="rect">
            <a:avLst/>
          </a:prstGeom>
          <a:solidFill>
            <a:schemeClr val="bg1"/>
          </a:solidFill>
          <a:ln w="19050">
            <a:solidFill>
              <a:schemeClr val="tx1"/>
            </a:solidFill>
            <a:prstDash val="solid"/>
          </a:ln>
        </p:spPr>
      </p:sp>
      <p:sp>
        <p:nvSpPr>
          <p:cNvPr id="10" name="Text 8"/>
          <p:cNvSpPr txBox="1"/>
          <p:nvPr/>
        </p:nvSpPr>
        <p:spPr>
          <a:xfrm>
            <a:off x="3291840" y="2423160"/>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Toi, de toute façon, t'as toujours été comme ça. »</a:t>
            </a:r>
            <a:endParaRPr lang="en-US" sz="1500" dirty="0"/>
          </a:p>
        </p:txBody>
      </p:sp>
      <p:sp>
        <p:nvSpPr>
          <p:cNvPr id="11" name="Shape 9"/>
          <p:cNvSpPr/>
          <p:nvPr/>
        </p:nvSpPr>
        <p:spPr>
          <a:xfrm>
            <a:off x="8595360" y="2423160"/>
            <a:ext cx="3017520" cy="512064"/>
          </a:xfrm>
          <a:prstGeom prst="rect">
            <a:avLst/>
          </a:prstGeom>
          <a:solidFill>
            <a:schemeClr val="accent2"/>
          </a:solidFill>
          <a:ln w="19050">
            <a:solidFill>
              <a:schemeClr val="tx1"/>
            </a:solidFill>
            <a:prstDash val="solid"/>
          </a:ln>
        </p:spPr>
      </p:sp>
      <p:sp>
        <p:nvSpPr>
          <p:cNvPr id="12" name="Text 10"/>
          <p:cNvSpPr txBox="1"/>
          <p:nvPr/>
        </p:nvSpPr>
        <p:spPr>
          <a:xfrm>
            <a:off x="8778240" y="2423160"/>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38 · Le K.-O.</a:t>
            </a:r>
            <a:endParaRPr lang="en-US" sz="1500" dirty="0"/>
          </a:p>
        </p:txBody>
      </p:sp>
      <p:sp>
        <p:nvSpPr>
          <p:cNvPr id="13" name="Shape 11"/>
          <p:cNvSpPr/>
          <p:nvPr/>
        </p:nvSpPr>
        <p:spPr>
          <a:xfrm>
            <a:off x="548640" y="3044952"/>
            <a:ext cx="2560320" cy="512064"/>
          </a:xfrm>
          <a:prstGeom prst="rect">
            <a:avLst/>
          </a:prstGeom>
          <a:solidFill>
            <a:schemeClr val="tx1"/>
          </a:solidFill>
          <a:ln w="19050">
            <a:solidFill>
              <a:schemeClr val="tx1"/>
            </a:solidFill>
            <a:prstDash val="solid"/>
          </a:ln>
        </p:spPr>
      </p:sp>
      <p:sp>
        <p:nvSpPr>
          <p:cNvPr id="14" name="Text 12"/>
          <p:cNvSpPr txBox="1"/>
          <p:nvPr/>
        </p:nvSpPr>
        <p:spPr>
          <a:xfrm>
            <a:off x="685800" y="3044952"/>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Réunion d'équipe</a:t>
            </a:r>
            <a:endParaRPr lang="en-US" sz="1500" dirty="0"/>
          </a:p>
        </p:txBody>
      </p:sp>
      <p:sp>
        <p:nvSpPr>
          <p:cNvPr id="15" name="Shape 13"/>
          <p:cNvSpPr/>
          <p:nvPr/>
        </p:nvSpPr>
        <p:spPr>
          <a:xfrm>
            <a:off x="3108960" y="3044952"/>
            <a:ext cx="5486400" cy="512064"/>
          </a:xfrm>
          <a:prstGeom prst="rect">
            <a:avLst/>
          </a:prstGeom>
          <a:solidFill>
            <a:schemeClr val="bg1"/>
          </a:solidFill>
          <a:ln w="19050">
            <a:solidFill>
              <a:schemeClr val="tx1"/>
            </a:solidFill>
            <a:prstDash val="solid"/>
          </a:ln>
        </p:spPr>
      </p:sp>
      <p:sp>
        <p:nvSpPr>
          <p:cNvPr id="16" name="Text 14"/>
          <p:cNvSpPr txBox="1"/>
          <p:nvPr/>
        </p:nvSpPr>
        <p:spPr>
          <a:xfrm>
            <a:off x="3291840" y="3044952"/>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C'est ça ou on ferme le projet. »</a:t>
            </a:r>
            <a:endParaRPr lang="en-US" sz="1500" dirty="0"/>
          </a:p>
        </p:txBody>
      </p:sp>
      <p:sp>
        <p:nvSpPr>
          <p:cNvPr id="17" name="Shape 15"/>
          <p:cNvSpPr/>
          <p:nvPr/>
        </p:nvSpPr>
        <p:spPr>
          <a:xfrm>
            <a:off x="8595360" y="3044952"/>
            <a:ext cx="3017520" cy="512064"/>
          </a:xfrm>
          <a:prstGeom prst="rect">
            <a:avLst/>
          </a:prstGeom>
          <a:solidFill>
            <a:schemeClr val="accent2"/>
          </a:solidFill>
          <a:ln w="19050">
            <a:solidFill>
              <a:schemeClr val="tx1"/>
            </a:solidFill>
            <a:prstDash val="solid"/>
          </a:ln>
        </p:spPr>
      </p:sp>
      <p:sp>
        <p:nvSpPr>
          <p:cNvPr id="18" name="Text 16"/>
          <p:cNvSpPr txBox="1"/>
          <p:nvPr/>
        </p:nvSpPr>
        <p:spPr>
          <a:xfrm>
            <a:off x="8778240" y="3044952"/>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13 · Le faux choix</a:t>
            </a:r>
            <a:endParaRPr lang="en-US" sz="1500" dirty="0"/>
          </a:p>
        </p:txBody>
      </p:sp>
      <p:sp>
        <p:nvSpPr>
          <p:cNvPr id="19" name="Shape 17"/>
          <p:cNvSpPr/>
          <p:nvPr/>
        </p:nvSpPr>
        <p:spPr>
          <a:xfrm>
            <a:off x="548640" y="3666744"/>
            <a:ext cx="2560320" cy="512064"/>
          </a:xfrm>
          <a:prstGeom prst="rect">
            <a:avLst/>
          </a:prstGeom>
          <a:solidFill>
            <a:schemeClr val="tx1"/>
          </a:solidFill>
          <a:ln w="19050">
            <a:solidFill>
              <a:schemeClr val="tx1"/>
            </a:solidFill>
            <a:prstDash val="solid"/>
          </a:ln>
        </p:spPr>
      </p:sp>
      <p:sp>
        <p:nvSpPr>
          <p:cNvPr id="20" name="Text 18"/>
          <p:cNvSpPr txBox="1"/>
          <p:nvPr/>
        </p:nvSpPr>
        <p:spPr>
          <a:xfrm>
            <a:off x="685800" y="3666744"/>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Réseaux sociaux</a:t>
            </a:r>
            <a:endParaRPr lang="en-US" sz="1500" dirty="0"/>
          </a:p>
        </p:txBody>
      </p:sp>
      <p:sp>
        <p:nvSpPr>
          <p:cNvPr id="21" name="Shape 19"/>
          <p:cNvSpPr/>
          <p:nvPr/>
        </p:nvSpPr>
        <p:spPr>
          <a:xfrm>
            <a:off x="3108960" y="3666744"/>
            <a:ext cx="5486400" cy="512064"/>
          </a:xfrm>
          <a:prstGeom prst="rect">
            <a:avLst/>
          </a:prstGeom>
          <a:solidFill>
            <a:schemeClr val="bg1"/>
          </a:solidFill>
          <a:ln w="19050">
            <a:solidFill>
              <a:schemeClr val="tx1"/>
            </a:solidFill>
            <a:prstDash val="solid"/>
          </a:ln>
        </p:spPr>
      </p:sp>
      <p:sp>
        <p:nvSpPr>
          <p:cNvPr id="22" name="Text 20"/>
          <p:cNvSpPr txBox="1"/>
          <p:nvPr/>
        </p:nvSpPr>
        <p:spPr>
          <a:xfrm>
            <a:off x="3291840" y="3666744"/>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Donc tu veux qu'on abolisse la police? »</a:t>
            </a:r>
            <a:endParaRPr lang="en-US" sz="1500" dirty="0"/>
          </a:p>
        </p:txBody>
      </p:sp>
      <p:sp>
        <p:nvSpPr>
          <p:cNvPr id="23" name="Shape 21"/>
          <p:cNvSpPr/>
          <p:nvPr/>
        </p:nvSpPr>
        <p:spPr>
          <a:xfrm>
            <a:off x="8595360" y="3666744"/>
            <a:ext cx="3017520" cy="512064"/>
          </a:xfrm>
          <a:prstGeom prst="rect">
            <a:avLst/>
          </a:prstGeom>
          <a:solidFill>
            <a:schemeClr val="accent2"/>
          </a:solidFill>
          <a:ln w="19050">
            <a:solidFill>
              <a:schemeClr val="tx1"/>
            </a:solidFill>
            <a:prstDash val="solid"/>
          </a:ln>
        </p:spPr>
      </p:sp>
      <p:sp>
        <p:nvSpPr>
          <p:cNvPr id="24" name="Text 22"/>
          <p:cNvSpPr txBox="1"/>
          <p:nvPr/>
        </p:nvSpPr>
        <p:spPr>
          <a:xfrm>
            <a:off x="8778240" y="3666744"/>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1 · L'élastique</a:t>
            </a:r>
            <a:endParaRPr lang="en-US" sz="1500" dirty="0"/>
          </a:p>
        </p:txBody>
      </p:sp>
      <p:sp>
        <p:nvSpPr>
          <p:cNvPr id="25" name="Shape 23"/>
          <p:cNvSpPr/>
          <p:nvPr/>
        </p:nvSpPr>
        <p:spPr>
          <a:xfrm>
            <a:off x="548640" y="4288536"/>
            <a:ext cx="2560320" cy="512064"/>
          </a:xfrm>
          <a:prstGeom prst="rect">
            <a:avLst/>
          </a:prstGeom>
          <a:solidFill>
            <a:schemeClr val="tx1"/>
          </a:solidFill>
          <a:ln w="19050">
            <a:solidFill>
              <a:schemeClr val="tx1"/>
            </a:solidFill>
            <a:prstDash val="solid"/>
          </a:ln>
        </p:spPr>
      </p:sp>
      <p:sp>
        <p:nvSpPr>
          <p:cNvPr id="26" name="Text 24"/>
          <p:cNvSpPr txBox="1"/>
          <p:nvPr/>
        </p:nvSpPr>
        <p:spPr>
          <a:xfrm>
            <a:off x="685800" y="4288536"/>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Conseil municipal</a:t>
            </a:r>
            <a:endParaRPr lang="en-US" sz="1500" dirty="0"/>
          </a:p>
        </p:txBody>
      </p:sp>
      <p:sp>
        <p:nvSpPr>
          <p:cNvPr id="27" name="Shape 25"/>
          <p:cNvSpPr/>
          <p:nvPr/>
        </p:nvSpPr>
        <p:spPr>
          <a:xfrm>
            <a:off x="3108960" y="4288536"/>
            <a:ext cx="5486400" cy="512064"/>
          </a:xfrm>
          <a:prstGeom prst="rect">
            <a:avLst/>
          </a:prstGeom>
          <a:solidFill>
            <a:schemeClr val="bg1"/>
          </a:solidFill>
          <a:ln w="19050">
            <a:solidFill>
              <a:schemeClr val="tx1"/>
            </a:solidFill>
            <a:prstDash val="solid"/>
          </a:ln>
        </p:spPr>
      </p:sp>
      <p:sp>
        <p:nvSpPr>
          <p:cNvPr id="28" name="Text 26"/>
          <p:cNvSpPr txBox="1"/>
          <p:nvPr/>
        </p:nvSpPr>
        <p:spPr>
          <a:xfrm>
            <a:off x="3291840" y="4288536"/>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Ça, c'est une idée de radicaux. »</a:t>
            </a:r>
            <a:endParaRPr lang="en-US" sz="1500" dirty="0"/>
          </a:p>
        </p:txBody>
      </p:sp>
      <p:sp>
        <p:nvSpPr>
          <p:cNvPr id="29" name="Shape 27"/>
          <p:cNvSpPr/>
          <p:nvPr/>
        </p:nvSpPr>
        <p:spPr>
          <a:xfrm>
            <a:off x="8595360" y="4288536"/>
            <a:ext cx="3017520" cy="512064"/>
          </a:xfrm>
          <a:prstGeom prst="rect">
            <a:avLst/>
          </a:prstGeom>
          <a:solidFill>
            <a:schemeClr val="accent2"/>
          </a:solidFill>
          <a:ln w="19050">
            <a:solidFill>
              <a:schemeClr val="tx1"/>
            </a:solidFill>
            <a:prstDash val="solid"/>
          </a:ln>
        </p:spPr>
      </p:sp>
      <p:sp>
        <p:nvSpPr>
          <p:cNvPr id="30" name="Text 28"/>
          <p:cNvSpPr txBox="1"/>
          <p:nvPr/>
        </p:nvSpPr>
        <p:spPr>
          <a:xfrm>
            <a:off x="8778240" y="4288536"/>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32 · L'étiquette</a:t>
            </a:r>
            <a:endParaRPr lang="en-US" sz="1500" dirty="0"/>
          </a:p>
        </p:txBody>
      </p:sp>
      <p:sp>
        <p:nvSpPr>
          <p:cNvPr id="31" name="Shape 29"/>
          <p:cNvSpPr/>
          <p:nvPr/>
        </p:nvSpPr>
        <p:spPr>
          <a:xfrm>
            <a:off x="548640" y="4910328"/>
            <a:ext cx="2560320" cy="512064"/>
          </a:xfrm>
          <a:prstGeom prst="rect">
            <a:avLst/>
          </a:prstGeom>
          <a:solidFill>
            <a:schemeClr val="tx1"/>
          </a:solidFill>
          <a:ln w="19050">
            <a:solidFill>
              <a:schemeClr val="tx1"/>
            </a:solidFill>
            <a:prstDash val="solid"/>
          </a:ln>
        </p:spPr>
      </p:sp>
      <p:sp>
        <p:nvSpPr>
          <p:cNvPr id="32" name="Text 30"/>
          <p:cNvSpPr txBox="1"/>
          <p:nvPr/>
        </p:nvSpPr>
        <p:spPr>
          <a:xfrm>
            <a:off x="685800" y="4910328"/>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Entre ami·es</a:t>
            </a:r>
            <a:endParaRPr lang="en-US" sz="1500" dirty="0"/>
          </a:p>
        </p:txBody>
      </p:sp>
      <p:sp>
        <p:nvSpPr>
          <p:cNvPr id="33" name="Shape 31"/>
          <p:cNvSpPr/>
          <p:nvPr/>
        </p:nvSpPr>
        <p:spPr>
          <a:xfrm>
            <a:off x="3108960" y="4910328"/>
            <a:ext cx="5486400" cy="512064"/>
          </a:xfrm>
          <a:prstGeom prst="rect">
            <a:avLst/>
          </a:prstGeom>
          <a:solidFill>
            <a:schemeClr val="bg1"/>
          </a:solidFill>
          <a:ln w="19050">
            <a:solidFill>
              <a:schemeClr val="tx1"/>
            </a:solidFill>
            <a:prstDash val="solid"/>
          </a:ln>
        </p:spPr>
      </p:sp>
      <p:sp>
        <p:nvSpPr>
          <p:cNvPr id="34" name="Text 32"/>
          <p:cNvSpPr txBox="1"/>
          <p:nvPr/>
        </p:nvSpPr>
        <p:spPr>
          <a:xfrm>
            <a:off x="3291840" y="4910328"/>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Un médecin l'a dit à la télé, c'est réglé. »</a:t>
            </a:r>
            <a:endParaRPr lang="en-US" sz="1500" dirty="0"/>
          </a:p>
        </p:txBody>
      </p:sp>
      <p:sp>
        <p:nvSpPr>
          <p:cNvPr id="35" name="Shape 33"/>
          <p:cNvSpPr/>
          <p:nvPr/>
        </p:nvSpPr>
        <p:spPr>
          <a:xfrm>
            <a:off x="8595360" y="4910328"/>
            <a:ext cx="3017520" cy="512064"/>
          </a:xfrm>
          <a:prstGeom prst="rect">
            <a:avLst/>
          </a:prstGeom>
          <a:solidFill>
            <a:schemeClr val="accent2"/>
          </a:solidFill>
          <a:ln w="19050">
            <a:solidFill>
              <a:schemeClr val="tx1"/>
            </a:solidFill>
            <a:prstDash val="solid"/>
          </a:ln>
        </p:spPr>
      </p:sp>
      <p:sp>
        <p:nvSpPr>
          <p:cNvPr id="36" name="Text 34"/>
          <p:cNvSpPr txBox="1"/>
          <p:nvPr/>
        </p:nvSpPr>
        <p:spPr>
          <a:xfrm>
            <a:off x="8778240" y="4910328"/>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30 · Le galon</a:t>
            </a:r>
            <a:endParaRPr lang="en-US" sz="1500" dirty="0"/>
          </a:p>
        </p:txBody>
      </p:sp>
      <p:sp>
        <p:nvSpPr>
          <p:cNvPr id="37" name="Shape 35"/>
          <p:cNvSpPr/>
          <p:nvPr/>
        </p:nvSpPr>
        <p:spPr>
          <a:xfrm>
            <a:off x="548640" y="5532120"/>
            <a:ext cx="2560320" cy="512064"/>
          </a:xfrm>
          <a:prstGeom prst="rect">
            <a:avLst/>
          </a:prstGeom>
          <a:solidFill>
            <a:schemeClr val="tx1"/>
          </a:solidFill>
          <a:ln w="19050">
            <a:solidFill>
              <a:schemeClr val="tx1"/>
            </a:solidFill>
            <a:prstDash val="solid"/>
          </a:ln>
        </p:spPr>
      </p:sp>
      <p:sp>
        <p:nvSpPr>
          <p:cNvPr id="38" name="Text 36"/>
          <p:cNvSpPr txBox="1"/>
          <p:nvPr/>
        </p:nvSpPr>
        <p:spPr>
          <a:xfrm>
            <a:off x="685800" y="5532120"/>
            <a:ext cx="2377440" cy="512064"/>
          </a:xfrm>
          <a:prstGeom prst="rect">
            <a:avLst/>
          </a:prstGeom>
          <a:noFill/>
          <a:ln/>
        </p:spPr>
        <p:txBody>
          <a:bodyPr wrap="square" lIns="0" tIns="0" rIns="0" bIns="0" rtlCol="0" anchor="ctr"/>
          <a:lstStyle/>
          <a:p>
            <a:pPr indent="0" marL="0">
              <a:buNone/>
            </a:pPr>
            <a:r>
              <a:rPr lang="en-US" sz="1500" b="1" dirty="0">
                <a:solidFill>
                  <a:schemeClr val="bg2"/>
                </a:solidFill>
                <a:latin typeface="Arial" pitchFamily="34" charset="0"/>
                <a:ea typeface="Arial" pitchFamily="34" charset="-122"/>
                <a:cs typeface="Arial" pitchFamily="34" charset="-120"/>
              </a:rPr>
              <a:t>Couple</a:t>
            </a:r>
            <a:endParaRPr lang="en-US" sz="1500" dirty="0"/>
          </a:p>
        </p:txBody>
      </p:sp>
      <p:sp>
        <p:nvSpPr>
          <p:cNvPr id="39" name="Shape 37"/>
          <p:cNvSpPr/>
          <p:nvPr/>
        </p:nvSpPr>
        <p:spPr>
          <a:xfrm>
            <a:off x="3108960" y="5532120"/>
            <a:ext cx="5486400" cy="512064"/>
          </a:xfrm>
          <a:prstGeom prst="rect">
            <a:avLst/>
          </a:prstGeom>
          <a:solidFill>
            <a:schemeClr val="bg1"/>
          </a:solidFill>
          <a:ln w="19050">
            <a:solidFill>
              <a:schemeClr val="tx1"/>
            </a:solidFill>
            <a:prstDash val="solid"/>
          </a:ln>
        </p:spPr>
      </p:sp>
      <p:sp>
        <p:nvSpPr>
          <p:cNvPr id="40" name="Text 38"/>
          <p:cNvSpPr txBox="1"/>
          <p:nvPr/>
        </p:nvSpPr>
        <p:spPr>
          <a:xfrm>
            <a:off x="3291840" y="5532120"/>
            <a:ext cx="5212080" cy="512064"/>
          </a:xfrm>
          <a:prstGeom prst="rect">
            <a:avLst/>
          </a:prstGeom>
          <a:noFill/>
          <a:ln/>
        </p:spPr>
        <p:txBody>
          <a:bodyPr wrap="square" lIns="0" tIns="0" rIns="0" bIns="0" rtlCol="0" anchor="ctr"/>
          <a:lstStyle/>
          <a:p>
            <a:pPr indent="0" marL="0">
              <a:buNone/>
            </a:pPr>
            <a:r>
              <a:rPr lang="en-US" sz="1500" i="1" dirty="0">
                <a:solidFill>
                  <a:schemeClr val="tx1"/>
                </a:solidFill>
                <a:latin typeface="Arial" pitchFamily="34" charset="0"/>
                <a:ea typeface="Arial" pitchFamily="34" charset="-122"/>
                <a:cs typeface="Arial" pitchFamily="34" charset="-120"/>
              </a:rPr>
              <a:t>« Pis toi, la semaine passée, hein? »</a:t>
            </a:r>
            <a:endParaRPr lang="en-US" sz="1500" dirty="0"/>
          </a:p>
        </p:txBody>
      </p:sp>
      <p:sp>
        <p:nvSpPr>
          <p:cNvPr id="41" name="Shape 39"/>
          <p:cNvSpPr/>
          <p:nvPr/>
        </p:nvSpPr>
        <p:spPr>
          <a:xfrm>
            <a:off x="8595360" y="5532120"/>
            <a:ext cx="3017520" cy="512064"/>
          </a:xfrm>
          <a:prstGeom prst="rect">
            <a:avLst/>
          </a:prstGeom>
          <a:solidFill>
            <a:schemeClr val="accent2"/>
          </a:solidFill>
          <a:ln w="19050">
            <a:solidFill>
              <a:schemeClr val="tx1"/>
            </a:solidFill>
            <a:prstDash val="solid"/>
          </a:ln>
        </p:spPr>
      </p:sp>
      <p:sp>
        <p:nvSpPr>
          <p:cNvPr id="42" name="Text 40"/>
          <p:cNvSpPr txBox="1"/>
          <p:nvPr/>
        </p:nvSpPr>
        <p:spPr>
          <a:xfrm>
            <a:off x="8778240" y="5532120"/>
            <a:ext cx="2743200" cy="512064"/>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29 · La diversion</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par>
                          <p:cTn id="108" presetID="53" presetClass="entr" presetSubtype="16" fill="hold" nodeType="withEffect">
                            <p:stCondLst>
                              <p:cond delay="2600"/>
                            </p:stCondLst>
                            <p:childTnLst>
                              <p:set>
                                <p:cBhvr>
                                  <p:cTn id="109" dur="1" fill="hold">
                                    <p:stCondLst>
                                      <p:cond delay="0"/>
                                    </p:stCondLst>
                                  </p:cTn>
                                  <p:tgtEl>
                                    <p:spTgt spid="29"/>
                                  </p:tgtEl>
                                  <p:attrNameLst>
                                    <p:attrName>style.visibility</p:attrName>
                                  </p:attrNameLst>
                                </p:cBhvr>
                                <p:to>
                                  <p:strVal val="visible"/>
                                </p:to>
                              </p:set>
                              <p:anim calcmode="lin" valueType="num">
                                <p:cBhvr>
                                  <p:cTn id="110" dur="450" fill="hold"/>
                                  <p:tgtEl>
                                    <p:spTgt spid="29"/>
                                  </p:tgtEl>
                                  <p:attrNameLst>
                                    <p:attrName>ppt_w</p:attrName>
                                  </p:attrNameLst>
                                </p:cBhvr>
                                <p:tavLst>
                                  <p:tav tm="0">
                                    <p:val>
                                      <p:strVal val="#ppt_w*0.85"/>
                                    </p:val>
                                  </p:tav>
                                  <p:tav tm="100000">
                                    <p:val>
                                      <p:strVal val="#ppt_w"/>
                                    </p:val>
                                  </p:tav>
                                </p:tavLst>
                              </p:anim>
                              <p:animEffect transition="in" filter="fade">
                                <p:cBhvr>
                                  <p:cTn id="111" dur="450"/>
                                  <p:tgtEl>
                                    <p:spTgt spid="29"/>
                                  </p:tgtEl>
                                </p:cBhvr>
                              </p:animEffect>
                            </p:childTnLst>
                          </p:cTn>
                        </p:par>
                        <p:par>
                          <p:cTn id="112" presetID="53" presetClass="entr" presetSubtype="16" fill="hold" nodeType="withEffect">
                            <p:stCondLst>
                              <p:cond delay="2600"/>
                            </p:stCondLst>
                            <p:childTnLst>
                              <p:set>
                                <p:cBhvr>
                                  <p:cTn id="113" dur="1" fill="hold">
                                    <p:stCondLst>
                                      <p:cond delay="0"/>
                                    </p:stCondLst>
                                  </p:cTn>
                                  <p:tgtEl>
                                    <p:spTgt spid="30"/>
                                  </p:tgtEl>
                                  <p:attrNameLst>
                                    <p:attrName>style.visibility</p:attrName>
                                  </p:attrNameLst>
                                </p:cBhvr>
                                <p:to>
                                  <p:strVal val="visible"/>
                                </p:to>
                              </p:set>
                              <p:anim calcmode="lin" valueType="num">
                                <p:cBhvr>
                                  <p:cTn id="114" dur="450" fill="hold"/>
                                  <p:tgtEl>
                                    <p:spTgt spid="30"/>
                                  </p:tgtEl>
                                  <p:attrNameLst>
                                    <p:attrName>ppt_w</p:attrName>
                                  </p:attrNameLst>
                                </p:cBhvr>
                                <p:tavLst>
                                  <p:tav tm="0">
                                    <p:val>
                                      <p:strVal val="#ppt_w*0.85"/>
                                    </p:val>
                                  </p:tav>
                                  <p:tav tm="100000">
                                    <p:val>
                                      <p:strVal val="#ppt_w"/>
                                    </p:val>
                                  </p:tav>
                                </p:tavLst>
                              </p:anim>
                              <p:animEffect transition="in" filter="fade">
                                <p:cBhvr>
                                  <p:cTn id="115" dur="450"/>
                                  <p:tgtEl>
                                    <p:spTgt spid="30"/>
                                  </p:tgtEl>
                                </p:cBhvr>
                              </p:animEffect>
                            </p:childTnLst>
                          </p:cTn>
                        </p:par>
                        <p:par>
                          <p:cTn id="116" presetID="53" presetClass="entr" presetSubtype="16" fill="hold" nodeType="withEffect">
                            <p:stCondLst>
                              <p:cond delay="2600"/>
                            </p:stCondLst>
                            <p:childTnLst>
                              <p:set>
                                <p:cBhvr>
                                  <p:cTn id="117" dur="1" fill="hold">
                                    <p:stCondLst>
                                      <p:cond delay="0"/>
                                    </p:stCondLst>
                                  </p:cTn>
                                  <p:tgtEl>
                                    <p:spTgt spid="31"/>
                                  </p:tgtEl>
                                  <p:attrNameLst>
                                    <p:attrName>style.visibility</p:attrName>
                                  </p:attrNameLst>
                                </p:cBhvr>
                                <p:to>
                                  <p:strVal val="visible"/>
                                </p:to>
                              </p:set>
                              <p:anim calcmode="lin" valueType="num">
                                <p:cBhvr>
                                  <p:cTn id="118" dur="450" fill="hold"/>
                                  <p:tgtEl>
                                    <p:spTgt spid="31"/>
                                  </p:tgtEl>
                                  <p:attrNameLst>
                                    <p:attrName>ppt_w</p:attrName>
                                  </p:attrNameLst>
                                </p:cBhvr>
                                <p:tavLst>
                                  <p:tav tm="0">
                                    <p:val>
                                      <p:strVal val="#ppt_w*0.85"/>
                                    </p:val>
                                  </p:tav>
                                  <p:tav tm="100000">
                                    <p:val>
                                      <p:strVal val="#ppt_w"/>
                                    </p:val>
                                  </p:tav>
                                </p:tavLst>
                              </p:anim>
                              <p:animEffect transition="in" filter="fade">
                                <p:cBhvr>
                                  <p:cTn id="119" dur="450"/>
                                  <p:tgtEl>
                                    <p:spTgt spid="31"/>
                                  </p:tgtEl>
                                </p:cBhvr>
                              </p:animEffect>
                            </p:childTnLst>
                          </p:cTn>
                        </p:par>
                        <p:par>
                          <p:cTn id="120" presetID="53" presetClass="entr" presetSubtype="16" fill="hold" nodeType="withEffect">
                            <p:stCondLst>
                              <p:cond delay="2600"/>
                            </p:stCondLst>
                            <p:childTnLst>
                              <p:set>
                                <p:cBhvr>
                                  <p:cTn id="121" dur="1" fill="hold">
                                    <p:stCondLst>
                                      <p:cond delay="0"/>
                                    </p:stCondLst>
                                  </p:cTn>
                                  <p:tgtEl>
                                    <p:spTgt spid="32"/>
                                  </p:tgtEl>
                                  <p:attrNameLst>
                                    <p:attrName>style.visibility</p:attrName>
                                  </p:attrNameLst>
                                </p:cBhvr>
                                <p:to>
                                  <p:strVal val="visible"/>
                                </p:to>
                              </p:set>
                              <p:anim calcmode="lin" valueType="num">
                                <p:cBhvr>
                                  <p:cTn id="122" dur="450" fill="hold"/>
                                  <p:tgtEl>
                                    <p:spTgt spid="32"/>
                                  </p:tgtEl>
                                  <p:attrNameLst>
                                    <p:attrName>ppt_w</p:attrName>
                                  </p:attrNameLst>
                                </p:cBhvr>
                                <p:tavLst>
                                  <p:tav tm="0">
                                    <p:val>
                                      <p:strVal val="#ppt_w*0.85"/>
                                    </p:val>
                                  </p:tav>
                                  <p:tav tm="100000">
                                    <p:val>
                                      <p:strVal val="#ppt_w"/>
                                    </p:val>
                                  </p:tav>
                                </p:tavLst>
                              </p:anim>
                              <p:animEffect transition="in" filter="fade">
                                <p:cBhvr>
                                  <p:cTn id="123" dur="450"/>
                                  <p:tgtEl>
                                    <p:spTgt spid="32"/>
                                  </p:tgtEl>
                                </p:cBhvr>
                              </p:animEffect>
                            </p:childTnLst>
                          </p:cTn>
                        </p:par>
                        <p:par>
                          <p:cTn id="124" presetID="53" presetClass="entr" presetSubtype="16" fill="hold" nodeType="withEffect">
                            <p:stCondLst>
                              <p:cond delay="2600"/>
                            </p:stCondLst>
                            <p:childTnLst>
                              <p:set>
                                <p:cBhvr>
                                  <p:cTn id="125" dur="1" fill="hold">
                                    <p:stCondLst>
                                      <p:cond delay="0"/>
                                    </p:stCondLst>
                                  </p:cTn>
                                  <p:tgtEl>
                                    <p:spTgt spid="33"/>
                                  </p:tgtEl>
                                  <p:attrNameLst>
                                    <p:attrName>style.visibility</p:attrName>
                                  </p:attrNameLst>
                                </p:cBhvr>
                                <p:to>
                                  <p:strVal val="visible"/>
                                </p:to>
                              </p:set>
                              <p:anim calcmode="lin" valueType="num">
                                <p:cBhvr>
                                  <p:cTn id="126" dur="450" fill="hold"/>
                                  <p:tgtEl>
                                    <p:spTgt spid="33"/>
                                  </p:tgtEl>
                                  <p:attrNameLst>
                                    <p:attrName>ppt_w</p:attrName>
                                  </p:attrNameLst>
                                </p:cBhvr>
                                <p:tavLst>
                                  <p:tav tm="0">
                                    <p:val>
                                      <p:strVal val="#ppt_w*0.85"/>
                                    </p:val>
                                  </p:tav>
                                  <p:tav tm="100000">
                                    <p:val>
                                      <p:strVal val="#ppt_w"/>
                                    </p:val>
                                  </p:tav>
                                </p:tavLst>
                              </p:anim>
                              <p:animEffect transition="in" filter="fade">
                                <p:cBhvr>
                                  <p:cTn id="127" dur="450"/>
                                  <p:tgtEl>
                                    <p:spTgt spid="33"/>
                                  </p:tgtEl>
                                </p:cBhvr>
                              </p:animEffect>
                            </p:childTnLst>
                          </p:cTn>
                        </p:par>
                        <p:par>
                          <p:cTn id="128" presetID="53" presetClass="entr" presetSubtype="16" fill="hold" nodeType="withEffect">
                            <p:stCondLst>
                              <p:cond delay="2600"/>
                            </p:stCondLst>
                            <p:childTnLst>
                              <p:set>
                                <p:cBhvr>
                                  <p:cTn id="129" dur="1" fill="hold">
                                    <p:stCondLst>
                                      <p:cond delay="0"/>
                                    </p:stCondLst>
                                  </p:cTn>
                                  <p:tgtEl>
                                    <p:spTgt spid="34"/>
                                  </p:tgtEl>
                                  <p:attrNameLst>
                                    <p:attrName>style.visibility</p:attrName>
                                  </p:attrNameLst>
                                </p:cBhvr>
                                <p:to>
                                  <p:strVal val="visible"/>
                                </p:to>
                              </p:set>
                              <p:anim calcmode="lin" valueType="num">
                                <p:cBhvr>
                                  <p:cTn id="130" dur="450" fill="hold"/>
                                  <p:tgtEl>
                                    <p:spTgt spid="34"/>
                                  </p:tgtEl>
                                  <p:attrNameLst>
                                    <p:attrName>ppt_w</p:attrName>
                                  </p:attrNameLst>
                                </p:cBhvr>
                                <p:tavLst>
                                  <p:tav tm="0">
                                    <p:val>
                                      <p:strVal val="#ppt_w*0.85"/>
                                    </p:val>
                                  </p:tav>
                                  <p:tav tm="100000">
                                    <p:val>
                                      <p:strVal val="#ppt_w"/>
                                    </p:val>
                                  </p:tav>
                                </p:tavLst>
                              </p:anim>
                              <p:animEffect transition="in" filter="fade">
                                <p:cBhvr>
                                  <p:cTn id="131" dur="450"/>
                                  <p:tgtEl>
                                    <p:spTgt spid="34"/>
                                  </p:tgtEl>
                                </p:cBhvr>
                              </p:animEffect>
                            </p:childTnLst>
                          </p:cTn>
                        </p:par>
                        <p:par>
                          <p:cTn id="132" presetID="53" presetClass="entr" presetSubtype="16" fill="hold" nodeType="withEffect">
                            <p:stCondLst>
                              <p:cond delay="2600"/>
                            </p:stCondLst>
                            <p:childTnLst>
                              <p:set>
                                <p:cBhvr>
                                  <p:cTn id="133" dur="1" fill="hold">
                                    <p:stCondLst>
                                      <p:cond delay="0"/>
                                    </p:stCondLst>
                                  </p:cTn>
                                  <p:tgtEl>
                                    <p:spTgt spid="35"/>
                                  </p:tgtEl>
                                  <p:attrNameLst>
                                    <p:attrName>style.visibility</p:attrName>
                                  </p:attrNameLst>
                                </p:cBhvr>
                                <p:to>
                                  <p:strVal val="visible"/>
                                </p:to>
                              </p:set>
                              <p:anim calcmode="lin" valueType="num">
                                <p:cBhvr>
                                  <p:cTn id="134" dur="450" fill="hold"/>
                                  <p:tgtEl>
                                    <p:spTgt spid="35"/>
                                  </p:tgtEl>
                                  <p:attrNameLst>
                                    <p:attrName>ppt_w</p:attrName>
                                  </p:attrNameLst>
                                </p:cBhvr>
                                <p:tavLst>
                                  <p:tav tm="0">
                                    <p:val>
                                      <p:strVal val="#ppt_w*0.85"/>
                                    </p:val>
                                  </p:tav>
                                  <p:tav tm="100000">
                                    <p:val>
                                      <p:strVal val="#ppt_w"/>
                                    </p:val>
                                  </p:tav>
                                </p:tavLst>
                              </p:anim>
                              <p:animEffect transition="in" filter="fade">
                                <p:cBhvr>
                                  <p:cTn id="135" dur="450"/>
                                  <p:tgtEl>
                                    <p:spTgt spid="35"/>
                                  </p:tgtEl>
                                </p:cBhvr>
                              </p:animEffect>
                            </p:childTnLst>
                          </p:cTn>
                        </p:par>
                        <p:par>
                          <p:cTn id="136" presetID="53" presetClass="entr" presetSubtype="16" fill="hold" nodeType="withEffect">
                            <p:stCondLst>
                              <p:cond delay="2600"/>
                            </p:stCondLst>
                            <p:childTnLst>
                              <p:set>
                                <p:cBhvr>
                                  <p:cTn id="137" dur="1" fill="hold">
                                    <p:stCondLst>
                                      <p:cond delay="0"/>
                                    </p:stCondLst>
                                  </p:cTn>
                                  <p:tgtEl>
                                    <p:spTgt spid="36"/>
                                  </p:tgtEl>
                                  <p:attrNameLst>
                                    <p:attrName>style.visibility</p:attrName>
                                  </p:attrNameLst>
                                </p:cBhvr>
                                <p:to>
                                  <p:strVal val="visible"/>
                                </p:to>
                              </p:set>
                              <p:anim calcmode="lin" valueType="num">
                                <p:cBhvr>
                                  <p:cTn id="138" dur="450" fill="hold"/>
                                  <p:tgtEl>
                                    <p:spTgt spid="36"/>
                                  </p:tgtEl>
                                  <p:attrNameLst>
                                    <p:attrName>ppt_w</p:attrName>
                                  </p:attrNameLst>
                                </p:cBhvr>
                                <p:tavLst>
                                  <p:tav tm="0">
                                    <p:val>
                                      <p:strVal val="#ppt_w*0.85"/>
                                    </p:val>
                                  </p:tav>
                                  <p:tav tm="100000">
                                    <p:val>
                                      <p:strVal val="#ppt_w"/>
                                    </p:val>
                                  </p:tav>
                                </p:tavLst>
                              </p:anim>
                              <p:animEffect transition="in" filter="fade">
                                <p:cBhvr>
                                  <p:cTn id="139" dur="450"/>
                                  <p:tgtEl>
                                    <p:spTgt spid="36"/>
                                  </p:tgtEl>
                                </p:cBhvr>
                              </p:animEffect>
                            </p:childTnLst>
                          </p:cTn>
                        </p:par>
                        <p:par>
                          <p:cTn id="140" presetID="53" presetClass="entr" presetSubtype="16" fill="hold" nodeType="withEffect">
                            <p:stCondLst>
                              <p:cond delay="2600"/>
                            </p:stCondLst>
                            <p:childTnLst>
                              <p:set>
                                <p:cBhvr>
                                  <p:cTn id="141" dur="1" fill="hold">
                                    <p:stCondLst>
                                      <p:cond delay="0"/>
                                    </p:stCondLst>
                                  </p:cTn>
                                  <p:tgtEl>
                                    <p:spTgt spid="37"/>
                                  </p:tgtEl>
                                  <p:attrNameLst>
                                    <p:attrName>style.visibility</p:attrName>
                                  </p:attrNameLst>
                                </p:cBhvr>
                                <p:to>
                                  <p:strVal val="visible"/>
                                </p:to>
                              </p:set>
                              <p:anim calcmode="lin" valueType="num">
                                <p:cBhvr>
                                  <p:cTn id="142" dur="450" fill="hold"/>
                                  <p:tgtEl>
                                    <p:spTgt spid="37"/>
                                  </p:tgtEl>
                                  <p:attrNameLst>
                                    <p:attrName>ppt_w</p:attrName>
                                  </p:attrNameLst>
                                </p:cBhvr>
                                <p:tavLst>
                                  <p:tav tm="0">
                                    <p:val>
                                      <p:strVal val="#ppt_w*0.85"/>
                                    </p:val>
                                  </p:tav>
                                  <p:tav tm="100000">
                                    <p:val>
                                      <p:strVal val="#ppt_w"/>
                                    </p:val>
                                  </p:tav>
                                </p:tavLst>
                              </p:anim>
                              <p:animEffect transition="in" filter="fade">
                                <p:cBhvr>
                                  <p:cTn id="143" dur="450"/>
                                  <p:tgtEl>
                                    <p:spTgt spid="37"/>
                                  </p:tgtEl>
                                </p:cBhvr>
                              </p:animEffect>
                            </p:childTnLst>
                          </p:cTn>
                        </p:par>
                        <p:par>
                          <p:cTn id="144" presetID="53" presetClass="entr" presetSubtype="16" fill="hold" nodeType="withEffect">
                            <p:stCondLst>
                              <p:cond delay="2600"/>
                            </p:stCondLst>
                            <p:childTnLst>
                              <p:set>
                                <p:cBhvr>
                                  <p:cTn id="145" dur="1" fill="hold">
                                    <p:stCondLst>
                                      <p:cond delay="0"/>
                                    </p:stCondLst>
                                  </p:cTn>
                                  <p:tgtEl>
                                    <p:spTgt spid="38"/>
                                  </p:tgtEl>
                                  <p:attrNameLst>
                                    <p:attrName>style.visibility</p:attrName>
                                  </p:attrNameLst>
                                </p:cBhvr>
                                <p:to>
                                  <p:strVal val="visible"/>
                                </p:to>
                              </p:set>
                              <p:anim calcmode="lin" valueType="num">
                                <p:cBhvr>
                                  <p:cTn id="146" dur="450" fill="hold"/>
                                  <p:tgtEl>
                                    <p:spTgt spid="38"/>
                                  </p:tgtEl>
                                  <p:attrNameLst>
                                    <p:attrName>ppt_w</p:attrName>
                                  </p:attrNameLst>
                                </p:cBhvr>
                                <p:tavLst>
                                  <p:tav tm="0">
                                    <p:val>
                                      <p:strVal val="#ppt_w*0.85"/>
                                    </p:val>
                                  </p:tav>
                                  <p:tav tm="100000">
                                    <p:val>
                                      <p:strVal val="#ppt_w"/>
                                    </p:val>
                                  </p:tav>
                                </p:tavLst>
                              </p:anim>
                              <p:animEffect transition="in" filter="fade">
                                <p:cBhvr>
                                  <p:cTn id="147" dur="450"/>
                                  <p:tgtEl>
                                    <p:spTgt spid="38"/>
                                  </p:tgtEl>
                                </p:cBhvr>
                              </p:animEffect>
                            </p:childTnLst>
                          </p:cTn>
                        </p:par>
                        <p:par>
                          <p:cTn id="148" presetID="53" presetClass="entr" presetSubtype="16" fill="hold" nodeType="withEffect">
                            <p:stCondLst>
                              <p:cond delay="2600"/>
                            </p:stCondLst>
                            <p:childTnLst>
                              <p:set>
                                <p:cBhvr>
                                  <p:cTn id="149" dur="1" fill="hold">
                                    <p:stCondLst>
                                      <p:cond delay="0"/>
                                    </p:stCondLst>
                                  </p:cTn>
                                  <p:tgtEl>
                                    <p:spTgt spid="39"/>
                                  </p:tgtEl>
                                  <p:attrNameLst>
                                    <p:attrName>style.visibility</p:attrName>
                                  </p:attrNameLst>
                                </p:cBhvr>
                                <p:to>
                                  <p:strVal val="visible"/>
                                </p:to>
                              </p:set>
                              <p:anim calcmode="lin" valueType="num">
                                <p:cBhvr>
                                  <p:cTn id="150" dur="450" fill="hold"/>
                                  <p:tgtEl>
                                    <p:spTgt spid="39"/>
                                  </p:tgtEl>
                                  <p:attrNameLst>
                                    <p:attrName>ppt_w</p:attrName>
                                  </p:attrNameLst>
                                </p:cBhvr>
                                <p:tavLst>
                                  <p:tav tm="0">
                                    <p:val>
                                      <p:strVal val="#ppt_w*0.85"/>
                                    </p:val>
                                  </p:tav>
                                  <p:tav tm="100000">
                                    <p:val>
                                      <p:strVal val="#ppt_w"/>
                                    </p:val>
                                  </p:tav>
                                </p:tavLst>
                              </p:anim>
                              <p:animEffect transition="in" filter="fade">
                                <p:cBhvr>
                                  <p:cTn id="151" dur="450"/>
                                  <p:tgtEl>
                                    <p:spTgt spid="39"/>
                                  </p:tgtEl>
                                </p:cBhvr>
                              </p:animEffect>
                            </p:childTnLst>
                          </p:cTn>
                        </p:par>
                        <p:par>
                          <p:cTn id="152" presetID="53" presetClass="entr" presetSubtype="16" fill="hold" nodeType="withEffect">
                            <p:stCondLst>
                              <p:cond delay="2600"/>
                            </p:stCondLst>
                            <p:childTnLst>
                              <p:set>
                                <p:cBhvr>
                                  <p:cTn id="153" dur="1" fill="hold">
                                    <p:stCondLst>
                                      <p:cond delay="0"/>
                                    </p:stCondLst>
                                  </p:cTn>
                                  <p:tgtEl>
                                    <p:spTgt spid="40"/>
                                  </p:tgtEl>
                                  <p:attrNameLst>
                                    <p:attrName>style.visibility</p:attrName>
                                  </p:attrNameLst>
                                </p:cBhvr>
                                <p:to>
                                  <p:strVal val="visible"/>
                                </p:to>
                              </p:set>
                              <p:anim calcmode="lin" valueType="num">
                                <p:cBhvr>
                                  <p:cTn id="154" dur="450" fill="hold"/>
                                  <p:tgtEl>
                                    <p:spTgt spid="40"/>
                                  </p:tgtEl>
                                  <p:attrNameLst>
                                    <p:attrName>ppt_w</p:attrName>
                                  </p:attrNameLst>
                                </p:cBhvr>
                                <p:tavLst>
                                  <p:tav tm="0">
                                    <p:val>
                                      <p:strVal val="#ppt_w*0.85"/>
                                    </p:val>
                                  </p:tav>
                                  <p:tav tm="100000">
                                    <p:val>
                                      <p:strVal val="#ppt_w"/>
                                    </p:val>
                                  </p:tav>
                                </p:tavLst>
                              </p:anim>
                              <p:animEffect transition="in" filter="fade">
                                <p:cBhvr>
                                  <p:cTn id="155" dur="450"/>
                                  <p:tgtEl>
                                    <p:spTgt spid="40"/>
                                  </p:tgtEl>
                                </p:cBhvr>
                              </p:animEffect>
                            </p:childTnLst>
                          </p:cTn>
                        </p:par>
                        <p:par>
                          <p:cTn id="156" presetID="53" presetClass="entr" presetSubtype="16" fill="hold" nodeType="withEffect">
                            <p:stCondLst>
                              <p:cond delay="2600"/>
                            </p:stCondLst>
                            <p:childTnLst>
                              <p:set>
                                <p:cBhvr>
                                  <p:cTn id="157" dur="1" fill="hold">
                                    <p:stCondLst>
                                      <p:cond delay="0"/>
                                    </p:stCondLst>
                                  </p:cTn>
                                  <p:tgtEl>
                                    <p:spTgt spid="41"/>
                                  </p:tgtEl>
                                  <p:attrNameLst>
                                    <p:attrName>style.visibility</p:attrName>
                                  </p:attrNameLst>
                                </p:cBhvr>
                                <p:to>
                                  <p:strVal val="visible"/>
                                </p:to>
                              </p:set>
                              <p:anim calcmode="lin" valueType="num">
                                <p:cBhvr>
                                  <p:cTn id="158" dur="450" fill="hold"/>
                                  <p:tgtEl>
                                    <p:spTgt spid="41"/>
                                  </p:tgtEl>
                                  <p:attrNameLst>
                                    <p:attrName>ppt_w</p:attrName>
                                  </p:attrNameLst>
                                </p:cBhvr>
                                <p:tavLst>
                                  <p:tav tm="0">
                                    <p:val>
                                      <p:strVal val="#ppt_w*0.85"/>
                                    </p:val>
                                  </p:tav>
                                  <p:tav tm="100000">
                                    <p:val>
                                      <p:strVal val="#ppt_w"/>
                                    </p:val>
                                  </p:tav>
                                </p:tavLst>
                              </p:anim>
                              <p:animEffect transition="in" filter="fade">
                                <p:cBhvr>
                                  <p:cTn id="159" dur="450"/>
                                  <p:tgtEl>
                                    <p:spTgt spid="41"/>
                                  </p:tgtEl>
                                </p:cBhvr>
                              </p:animEffect>
                            </p:childTnLst>
                          </p:cTn>
                        </p:par>
                        <p:par>
                          <p:cTn id="160" presetID="53" presetClass="entr" presetSubtype="16" fill="hold" nodeType="withEffect">
                            <p:stCondLst>
                              <p:cond delay="2600"/>
                            </p:stCondLst>
                            <p:childTnLst>
                              <p:set>
                                <p:cBhvr>
                                  <p:cTn id="161" dur="1" fill="hold">
                                    <p:stCondLst>
                                      <p:cond delay="0"/>
                                    </p:stCondLst>
                                  </p:cTn>
                                  <p:tgtEl>
                                    <p:spTgt spid="42"/>
                                  </p:tgtEl>
                                  <p:attrNameLst>
                                    <p:attrName>style.visibility</p:attrName>
                                  </p:attrNameLst>
                                </p:cBhvr>
                                <p:to>
                                  <p:strVal val="visible"/>
                                </p:to>
                              </p:set>
                              <p:anim calcmode="lin" valueType="num">
                                <p:cBhvr>
                                  <p:cTn id="162" dur="450" fill="hold"/>
                                  <p:tgtEl>
                                    <p:spTgt spid="42"/>
                                  </p:tgtEl>
                                  <p:attrNameLst>
                                    <p:attrName>ppt_w</p:attrName>
                                  </p:attrNameLst>
                                </p:cBhvr>
                                <p:tavLst>
                                  <p:tav tm="0">
                                    <p:val>
                                      <p:strVal val="#ppt_w*0.85"/>
                                    </p:val>
                                  </p:tav>
                                  <p:tav tm="100000">
                                    <p:val>
                                      <p:strVal val="#ppt_w"/>
                                    </p:val>
                                  </p:tav>
                                </p:tavLst>
                              </p:anim>
                              <p:animEffect transition="in" filter="fade">
                                <p:cBhvr>
                                  <p:cTn id="163" dur="450"/>
                                  <p:tgtEl>
                                    <p:spTgt spid="4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8" grpId="0"/>
      <p:bldP spid="10" grpId="0"/>
      <p:bldP spid="12" grpId="0"/>
      <p:bldP spid="14" grpId="0"/>
      <p:bldP spid="16" grpId="0"/>
      <p:bldP spid="18" grpId="0"/>
      <p:bldP spid="20" grpId="0"/>
      <p:bldP spid="22" grpId="0"/>
      <p:bldP spid="24" grpId="0"/>
      <p:bldP spid="26" grpId="0"/>
      <p:bldP spid="28" grpId="0"/>
      <p:bldP spid="30" grpId="0"/>
      <p:bldP spid="32" grpId="0"/>
      <p:bldP spid="34" grpId="0"/>
      <p:bldP spid="36" grpId="0"/>
      <p:bldP spid="38" grpId="0"/>
      <p:bldP spid="40" grpId="0"/>
      <p:bldP spid="42"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Monte la pyramide du désaccord</a:t>
            </a:r>
            <a:endParaRPr lang="en-US" sz="3600" dirty="0"/>
          </a:p>
        </p:txBody>
      </p:sp>
      <p:sp>
        <p:nvSpPr>
          <p:cNvPr id="3" name="Shape 1"/>
          <p:cNvSpPr/>
          <p:nvPr/>
        </p:nvSpPr>
        <p:spPr>
          <a:xfrm>
            <a:off x="2834640" y="1325880"/>
            <a:ext cx="2377440" cy="621792"/>
          </a:xfrm>
          <a:prstGeom prst="rect">
            <a:avLst/>
          </a:prstGeom>
          <a:solidFill>
            <a:schemeClr val="accent1"/>
          </a:solidFill>
          <a:ln/>
        </p:spPr>
      </p:sp>
      <p:sp>
        <p:nvSpPr>
          <p:cNvPr id="4" name="Text 2"/>
          <p:cNvSpPr txBox="1"/>
          <p:nvPr/>
        </p:nvSpPr>
        <p:spPr>
          <a:xfrm>
            <a:off x="2834640" y="1325880"/>
            <a:ext cx="237744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6 · Réfuter le cœur</a:t>
            </a:r>
            <a:endParaRPr lang="en-US" sz="1500" dirty="0"/>
          </a:p>
        </p:txBody>
      </p:sp>
      <p:sp>
        <p:nvSpPr>
          <p:cNvPr id="5" name="Text 3"/>
          <p:cNvSpPr txBox="1"/>
          <p:nvPr/>
        </p:nvSpPr>
        <p:spPr>
          <a:xfrm>
            <a:off x="7589520" y="1325880"/>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Ton idée centrale ne tient pas parce que… »</a:t>
            </a:r>
            <a:endParaRPr lang="en-US" sz="1300" dirty="0"/>
          </a:p>
        </p:txBody>
      </p:sp>
      <p:sp>
        <p:nvSpPr>
          <p:cNvPr id="6" name="Shape 4"/>
          <p:cNvSpPr/>
          <p:nvPr/>
        </p:nvSpPr>
        <p:spPr>
          <a:xfrm>
            <a:off x="5303520" y="1636776"/>
            <a:ext cx="2194560" cy="0"/>
          </a:xfrm>
          <a:prstGeom prst="line">
            <a:avLst/>
          </a:prstGeom>
          <a:noFill/>
          <a:ln w="12700">
            <a:solidFill>
              <a:schemeClr val="tx2"/>
            </a:solidFill>
            <a:prstDash val="sysDot"/>
          </a:ln>
        </p:spPr>
      </p:sp>
      <p:sp>
        <p:nvSpPr>
          <p:cNvPr id="7" name="Shape 5"/>
          <p:cNvSpPr/>
          <p:nvPr/>
        </p:nvSpPr>
        <p:spPr>
          <a:xfrm>
            <a:off x="2468880" y="1984248"/>
            <a:ext cx="3108960" cy="621792"/>
          </a:xfrm>
          <a:prstGeom prst="rect">
            <a:avLst/>
          </a:prstGeom>
          <a:solidFill>
            <a:schemeClr val="accent1"/>
          </a:solidFill>
          <a:ln/>
        </p:spPr>
      </p:sp>
      <p:sp>
        <p:nvSpPr>
          <p:cNvPr id="8" name="Text 6"/>
          <p:cNvSpPr txBox="1"/>
          <p:nvPr/>
        </p:nvSpPr>
        <p:spPr>
          <a:xfrm>
            <a:off x="2468880" y="1984248"/>
            <a:ext cx="310896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5 · Réfutation</a:t>
            </a:r>
            <a:endParaRPr lang="en-US" sz="1500" dirty="0"/>
          </a:p>
        </p:txBody>
      </p:sp>
      <p:sp>
        <p:nvSpPr>
          <p:cNvPr id="9" name="Text 7"/>
          <p:cNvSpPr txBox="1"/>
          <p:nvPr/>
        </p:nvSpPr>
        <p:spPr>
          <a:xfrm>
            <a:off x="7589520" y="1984248"/>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Citer l'autre et montrer l'erreur</a:t>
            </a:r>
            <a:endParaRPr lang="en-US" sz="1300" dirty="0"/>
          </a:p>
        </p:txBody>
      </p:sp>
      <p:sp>
        <p:nvSpPr>
          <p:cNvPr id="10" name="Shape 8"/>
          <p:cNvSpPr/>
          <p:nvPr/>
        </p:nvSpPr>
        <p:spPr>
          <a:xfrm>
            <a:off x="5669280" y="2295144"/>
            <a:ext cx="1828800" cy="0"/>
          </a:xfrm>
          <a:prstGeom prst="line">
            <a:avLst/>
          </a:prstGeom>
          <a:noFill/>
          <a:ln w="12700">
            <a:solidFill>
              <a:schemeClr val="tx2"/>
            </a:solidFill>
            <a:prstDash val="sysDot"/>
          </a:ln>
        </p:spPr>
      </p:sp>
      <p:sp>
        <p:nvSpPr>
          <p:cNvPr id="11" name="Shape 9"/>
          <p:cNvSpPr/>
          <p:nvPr/>
        </p:nvSpPr>
        <p:spPr>
          <a:xfrm>
            <a:off x="2103120" y="2642616"/>
            <a:ext cx="3840480" cy="621792"/>
          </a:xfrm>
          <a:prstGeom prst="rect">
            <a:avLst/>
          </a:prstGeom>
          <a:solidFill>
            <a:schemeClr val="accent1"/>
          </a:solidFill>
          <a:ln/>
        </p:spPr>
      </p:sp>
      <p:sp>
        <p:nvSpPr>
          <p:cNvPr id="12" name="Text 10"/>
          <p:cNvSpPr txBox="1"/>
          <p:nvPr/>
        </p:nvSpPr>
        <p:spPr>
          <a:xfrm>
            <a:off x="2103120" y="2642616"/>
            <a:ext cx="384048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4 · Contre-argument</a:t>
            </a:r>
            <a:endParaRPr lang="en-US" sz="1500" dirty="0"/>
          </a:p>
        </p:txBody>
      </p:sp>
      <p:sp>
        <p:nvSpPr>
          <p:cNvPr id="13" name="Text 11"/>
          <p:cNvSpPr txBox="1"/>
          <p:nvPr/>
        </p:nvSpPr>
        <p:spPr>
          <a:xfrm>
            <a:off x="7589520" y="2642616"/>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Une autre raison, avec preuve</a:t>
            </a:r>
            <a:endParaRPr lang="en-US" sz="1300" dirty="0"/>
          </a:p>
        </p:txBody>
      </p:sp>
      <p:sp>
        <p:nvSpPr>
          <p:cNvPr id="14" name="Shape 12"/>
          <p:cNvSpPr/>
          <p:nvPr/>
        </p:nvSpPr>
        <p:spPr>
          <a:xfrm>
            <a:off x="6035040" y="2953512"/>
            <a:ext cx="1463040" cy="0"/>
          </a:xfrm>
          <a:prstGeom prst="line">
            <a:avLst/>
          </a:prstGeom>
          <a:noFill/>
          <a:ln w="12700">
            <a:solidFill>
              <a:schemeClr val="tx2"/>
            </a:solidFill>
            <a:prstDash val="sysDot"/>
          </a:ln>
        </p:spPr>
      </p:sp>
      <p:sp>
        <p:nvSpPr>
          <p:cNvPr id="15" name="Shape 13"/>
          <p:cNvSpPr/>
          <p:nvPr/>
        </p:nvSpPr>
        <p:spPr>
          <a:xfrm>
            <a:off x="1737360" y="3300984"/>
            <a:ext cx="4572000" cy="621792"/>
          </a:xfrm>
          <a:prstGeom prst="rect">
            <a:avLst/>
          </a:prstGeom>
          <a:solidFill>
            <a:schemeClr val="accent2"/>
          </a:solidFill>
          <a:ln/>
        </p:spPr>
      </p:sp>
      <p:sp>
        <p:nvSpPr>
          <p:cNvPr id="16" name="Text 14"/>
          <p:cNvSpPr txBox="1"/>
          <p:nvPr/>
        </p:nvSpPr>
        <p:spPr>
          <a:xfrm>
            <a:off x="1737360" y="3300984"/>
            <a:ext cx="4572000" cy="621792"/>
          </a:xfrm>
          <a:prstGeom prst="rect">
            <a:avLst/>
          </a:prstGeom>
          <a:noFill/>
          <a:ln/>
        </p:spPr>
        <p:txBody>
          <a:bodyPr wrap="square" lIns="0" tIns="0" rIns="0" bIns="0" rtlCol="0" anchor="ctr"/>
          <a:lstStyle/>
          <a:p>
            <a:pPr algn="ctr" indent="0" marL="0">
              <a:buNone/>
            </a:pPr>
            <a:r>
              <a:rPr lang="en-US" sz="1500" dirty="0">
                <a:solidFill>
                  <a:schemeClr val="tx1"/>
                </a:solidFill>
                <a:latin typeface="Rockwell Extra Bold" pitchFamily="34" charset="0"/>
                <a:ea typeface="Rockwell Extra Bold" pitchFamily="34" charset="-122"/>
                <a:cs typeface="Rockwell Extra Bold" pitchFamily="34" charset="-120"/>
              </a:rPr>
              <a:t>3 · Contradiction</a:t>
            </a:r>
            <a:endParaRPr lang="en-US" sz="1500" dirty="0"/>
          </a:p>
        </p:txBody>
      </p:sp>
      <p:sp>
        <p:nvSpPr>
          <p:cNvPr id="17" name="Text 15"/>
          <p:cNvSpPr txBox="1"/>
          <p:nvPr/>
        </p:nvSpPr>
        <p:spPr>
          <a:xfrm>
            <a:off x="7589520" y="3300984"/>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Non, c'est faux. » (sans raison)</a:t>
            </a:r>
            <a:endParaRPr lang="en-US" sz="1300" dirty="0"/>
          </a:p>
        </p:txBody>
      </p:sp>
      <p:sp>
        <p:nvSpPr>
          <p:cNvPr id="18" name="Shape 16"/>
          <p:cNvSpPr/>
          <p:nvPr/>
        </p:nvSpPr>
        <p:spPr>
          <a:xfrm>
            <a:off x="6400800" y="3611880"/>
            <a:ext cx="1097280" cy="0"/>
          </a:xfrm>
          <a:prstGeom prst="line">
            <a:avLst/>
          </a:prstGeom>
          <a:noFill/>
          <a:ln w="12700">
            <a:solidFill>
              <a:schemeClr val="tx2"/>
            </a:solidFill>
            <a:prstDash val="sysDot"/>
          </a:ln>
        </p:spPr>
      </p:sp>
      <p:sp>
        <p:nvSpPr>
          <p:cNvPr id="19" name="Shape 17"/>
          <p:cNvSpPr/>
          <p:nvPr/>
        </p:nvSpPr>
        <p:spPr>
          <a:xfrm>
            <a:off x="1371600" y="3959352"/>
            <a:ext cx="5303520" cy="621792"/>
          </a:xfrm>
          <a:prstGeom prst="rect">
            <a:avLst/>
          </a:prstGeom>
          <a:solidFill>
            <a:schemeClr val="tx1"/>
          </a:solidFill>
          <a:ln/>
        </p:spPr>
      </p:sp>
      <p:sp>
        <p:nvSpPr>
          <p:cNvPr id="20" name="Text 18"/>
          <p:cNvSpPr txBox="1"/>
          <p:nvPr/>
        </p:nvSpPr>
        <p:spPr>
          <a:xfrm>
            <a:off x="1371600" y="3959352"/>
            <a:ext cx="530352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2 · Critique du ton</a:t>
            </a:r>
            <a:endParaRPr lang="en-US" sz="1500" dirty="0"/>
          </a:p>
        </p:txBody>
      </p:sp>
      <p:sp>
        <p:nvSpPr>
          <p:cNvPr id="21" name="Text 19"/>
          <p:cNvSpPr txBox="1"/>
          <p:nvPr/>
        </p:nvSpPr>
        <p:spPr>
          <a:xfrm>
            <a:off x="7589520" y="3959352"/>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Calme-toi! »</a:t>
            </a:r>
            <a:endParaRPr lang="en-US" sz="1300" dirty="0"/>
          </a:p>
        </p:txBody>
      </p:sp>
      <p:sp>
        <p:nvSpPr>
          <p:cNvPr id="22" name="Shape 20"/>
          <p:cNvSpPr/>
          <p:nvPr/>
        </p:nvSpPr>
        <p:spPr>
          <a:xfrm>
            <a:off x="6766560" y="4270248"/>
            <a:ext cx="731520" cy="0"/>
          </a:xfrm>
          <a:prstGeom prst="line">
            <a:avLst/>
          </a:prstGeom>
          <a:noFill/>
          <a:ln w="12700">
            <a:solidFill>
              <a:schemeClr val="tx2"/>
            </a:solidFill>
            <a:prstDash val="sysDot"/>
          </a:ln>
        </p:spPr>
      </p:sp>
      <p:sp>
        <p:nvSpPr>
          <p:cNvPr id="23" name="Shape 21"/>
          <p:cNvSpPr/>
          <p:nvPr/>
        </p:nvSpPr>
        <p:spPr>
          <a:xfrm>
            <a:off x="1005840" y="4617720"/>
            <a:ext cx="6035040" cy="621792"/>
          </a:xfrm>
          <a:prstGeom prst="rect">
            <a:avLst/>
          </a:prstGeom>
          <a:solidFill>
            <a:schemeClr val="tx1"/>
          </a:solidFill>
          <a:ln/>
        </p:spPr>
      </p:sp>
      <p:sp>
        <p:nvSpPr>
          <p:cNvPr id="24" name="Text 22"/>
          <p:cNvSpPr txBox="1"/>
          <p:nvPr/>
        </p:nvSpPr>
        <p:spPr>
          <a:xfrm>
            <a:off x="1005840" y="4617720"/>
            <a:ext cx="603504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1 · Ad hominem</a:t>
            </a:r>
            <a:endParaRPr lang="en-US" sz="1500" dirty="0"/>
          </a:p>
        </p:txBody>
      </p:sp>
      <p:sp>
        <p:nvSpPr>
          <p:cNvPr id="25" name="Text 23"/>
          <p:cNvSpPr txBox="1"/>
          <p:nvPr/>
        </p:nvSpPr>
        <p:spPr>
          <a:xfrm>
            <a:off x="7589520" y="4617720"/>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Tu dis ça parce que t'es de ta génération. »</a:t>
            </a:r>
            <a:endParaRPr lang="en-US" sz="1300" dirty="0"/>
          </a:p>
        </p:txBody>
      </p:sp>
      <p:sp>
        <p:nvSpPr>
          <p:cNvPr id="26" name="Shape 24"/>
          <p:cNvSpPr/>
          <p:nvPr/>
        </p:nvSpPr>
        <p:spPr>
          <a:xfrm>
            <a:off x="7132320" y="4928616"/>
            <a:ext cx="365760" cy="0"/>
          </a:xfrm>
          <a:prstGeom prst="line">
            <a:avLst/>
          </a:prstGeom>
          <a:noFill/>
          <a:ln w="12700">
            <a:solidFill>
              <a:schemeClr val="tx2"/>
            </a:solidFill>
            <a:prstDash val="sysDot"/>
          </a:ln>
        </p:spPr>
      </p:sp>
      <p:sp>
        <p:nvSpPr>
          <p:cNvPr id="27" name="Shape 25"/>
          <p:cNvSpPr/>
          <p:nvPr/>
        </p:nvSpPr>
        <p:spPr>
          <a:xfrm>
            <a:off x="640080" y="5276088"/>
            <a:ext cx="6766560" cy="621792"/>
          </a:xfrm>
          <a:prstGeom prst="rect">
            <a:avLst/>
          </a:prstGeom>
          <a:solidFill>
            <a:schemeClr val="tx1"/>
          </a:solidFill>
          <a:ln/>
        </p:spPr>
      </p:sp>
      <p:sp>
        <p:nvSpPr>
          <p:cNvPr id="28" name="Text 26"/>
          <p:cNvSpPr txBox="1"/>
          <p:nvPr/>
        </p:nvSpPr>
        <p:spPr>
          <a:xfrm>
            <a:off x="640080" y="5276088"/>
            <a:ext cx="6766560" cy="621792"/>
          </a:xfrm>
          <a:prstGeom prst="rect">
            <a:avLst/>
          </a:prstGeom>
          <a:noFill/>
          <a:ln/>
        </p:spPr>
        <p:txBody>
          <a:bodyPr wrap="square" lIns="0" tIns="0" rIns="0" bIns="0" rtlCol="0" anchor="ctr"/>
          <a:lstStyle/>
          <a:p>
            <a:pPr algn="ctr" indent="0" marL="0">
              <a:buNone/>
            </a:pPr>
            <a:r>
              <a:rPr lang="en-US" sz="1500" dirty="0">
                <a:solidFill>
                  <a:schemeClr val="bg2"/>
                </a:solidFill>
                <a:latin typeface="Rockwell Extra Bold" pitchFamily="34" charset="0"/>
                <a:ea typeface="Rockwell Extra Bold" pitchFamily="34" charset="-122"/>
                <a:cs typeface="Rockwell Extra Bold" pitchFamily="34" charset="-120"/>
              </a:rPr>
              <a:t>0 · Insulte</a:t>
            </a:r>
            <a:endParaRPr lang="en-US" sz="1500" dirty="0"/>
          </a:p>
        </p:txBody>
      </p:sp>
      <p:sp>
        <p:nvSpPr>
          <p:cNvPr id="29" name="Text 27"/>
          <p:cNvSpPr txBox="1"/>
          <p:nvPr/>
        </p:nvSpPr>
        <p:spPr>
          <a:xfrm>
            <a:off x="7589520" y="5276088"/>
            <a:ext cx="4023360" cy="621792"/>
          </a:xfrm>
          <a:prstGeom prst="rect">
            <a:avLst/>
          </a:prstGeom>
          <a:noFill/>
          <a:ln/>
        </p:spPr>
        <p:txBody>
          <a:bodyPr wrap="square" lIns="0" tIns="0" rIns="0" bIns="0" rtlCol="0" anchor="ctr"/>
          <a:lstStyle/>
          <a:p>
            <a:pPr indent="0" marL="0">
              <a:buNone/>
            </a:pPr>
            <a:r>
              <a:rPr lang="en-US" sz="1300" dirty="0">
                <a:solidFill>
                  <a:schemeClr val="tx1"/>
                </a:solidFill>
                <a:latin typeface="Arial" pitchFamily="34" charset="0"/>
                <a:ea typeface="Arial" pitchFamily="34" charset="-122"/>
                <a:cs typeface="Arial" pitchFamily="34" charset="-120"/>
              </a:rPr>
              <a:t>« T'es niaiseux. »</a:t>
            </a:r>
            <a:endParaRPr lang="en-US" sz="1300" dirty="0"/>
          </a:p>
        </p:txBody>
      </p:sp>
      <p:sp>
        <p:nvSpPr>
          <p:cNvPr id="30" name="Shape 28"/>
          <p:cNvSpPr/>
          <p:nvPr/>
        </p:nvSpPr>
        <p:spPr>
          <a:xfrm>
            <a:off x="7498080" y="5586984"/>
            <a:ext cx="0" cy="0"/>
          </a:xfrm>
          <a:prstGeom prst="line">
            <a:avLst/>
          </a:prstGeom>
          <a:noFill/>
          <a:ln w="12700">
            <a:solidFill>
              <a:schemeClr val="tx2"/>
            </a:solidFill>
            <a:prstDash val="sysDot"/>
          </a:ln>
        </p:spPr>
      </p:sp>
      <p:sp>
        <p:nvSpPr>
          <p:cNvPr id="31" name="Text 29"/>
          <p:cNvSpPr txBox="1"/>
          <p:nvPr/>
        </p:nvSpPr>
        <p:spPr>
          <a:xfrm>
            <a:off x="548640" y="1371600"/>
            <a:ext cx="1463040" cy="365760"/>
          </a:xfrm>
          <a:prstGeom prst="rect">
            <a:avLst/>
          </a:prstGeom>
          <a:noFill/>
          <a:ln/>
        </p:spPr>
        <p:txBody>
          <a:bodyPr wrap="square" lIns="0" tIns="0" rIns="0" bIns="0" rtlCol="0" anchor="t"/>
          <a:lstStyle/>
          <a:p>
            <a:pPr indent="0" marL="0">
              <a:buNone/>
            </a:pPr>
            <a:r>
              <a:rPr lang="en-US" sz="1400" b="1" dirty="0">
                <a:solidFill>
                  <a:schemeClr val="accent1"/>
                </a:solidFill>
                <a:latin typeface="Arial" pitchFamily="34" charset="0"/>
                <a:ea typeface="Arial" pitchFamily="34" charset="-122"/>
                <a:cs typeface="Arial" pitchFamily="34" charset="-120"/>
              </a:rPr>
              <a:t>↑ agréable</a:t>
            </a:r>
            <a:endParaRPr lang="en-US" sz="1400" dirty="0"/>
          </a:p>
        </p:txBody>
      </p:sp>
      <p:sp>
        <p:nvSpPr>
          <p:cNvPr id="32" name="Text 30"/>
          <p:cNvSpPr txBox="1"/>
          <p:nvPr/>
        </p:nvSpPr>
        <p:spPr>
          <a:xfrm>
            <a:off x="548640" y="5943600"/>
            <a:ext cx="1463040" cy="36576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toxique</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par>
                          <p:cTn id="108" presetID="53" presetClass="entr" presetSubtype="16" fill="hold" nodeType="withEffect">
                            <p:stCondLst>
                              <p:cond delay="2600"/>
                            </p:stCondLst>
                            <p:childTnLst>
                              <p:set>
                                <p:cBhvr>
                                  <p:cTn id="109" dur="1" fill="hold">
                                    <p:stCondLst>
                                      <p:cond delay="0"/>
                                    </p:stCondLst>
                                  </p:cTn>
                                  <p:tgtEl>
                                    <p:spTgt spid="29"/>
                                  </p:tgtEl>
                                  <p:attrNameLst>
                                    <p:attrName>style.visibility</p:attrName>
                                  </p:attrNameLst>
                                </p:cBhvr>
                                <p:to>
                                  <p:strVal val="visible"/>
                                </p:to>
                              </p:set>
                              <p:anim calcmode="lin" valueType="num">
                                <p:cBhvr>
                                  <p:cTn id="110" dur="450" fill="hold"/>
                                  <p:tgtEl>
                                    <p:spTgt spid="29"/>
                                  </p:tgtEl>
                                  <p:attrNameLst>
                                    <p:attrName>ppt_w</p:attrName>
                                  </p:attrNameLst>
                                </p:cBhvr>
                                <p:tavLst>
                                  <p:tav tm="0">
                                    <p:val>
                                      <p:strVal val="#ppt_w*0.85"/>
                                    </p:val>
                                  </p:tav>
                                  <p:tav tm="100000">
                                    <p:val>
                                      <p:strVal val="#ppt_w"/>
                                    </p:val>
                                  </p:tav>
                                </p:tavLst>
                              </p:anim>
                              <p:animEffect transition="in" filter="fade">
                                <p:cBhvr>
                                  <p:cTn id="111" dur="450"/>
                                  <p:tgtEl>
                                    <p:spTgt spid="29"/>
                                  </p:tgtEl>
                                </p:cBhvr>
                              </p:animEffect>
                            </p:childTnLst>
                          </p:cTn>
                        </p:par>
                        <p:par>
                          <p:cTn id="112" presetID="53" presetClass="entr" presetSubtype="16" fill="hold" nodeType="withEffect">
                            <p:stCondLst>
                              <p:cond delay="2600"/>
                            </p:stCondLst>
                            <p:childTnLst>
                              <p:set>
                                <p:cBhvr>
                                  <p:cTn id="113" dur="1" fill="hold">
                                    <p:stCondLst>
                                      <p:cond delay="0"/>
                                    </p:stCondLst>
                                  </p:cTn>
                                  <p:tgtEl>
                                    <p:spTgt spid="30"/>
                                  </p:tgtEl>
                                  <p:attrNameLst>
                                    <p:attrName>style.visibility</p:attrName>
                                  </p:attrNameLst>
                                </p:cBhvr>
                                <p:to>
                                  <p:strVal val="visible"/>
                                </p:to>
                              </p:set>
                              <p:anim calcmode="lin" valueType="num">
                                <p:cBhvr>
                                  <p:cTn id="114" dur="450" fill="hold"/>
                                  <p:tgtEl>
                                    <p:spTgt spid="30"/>
                                  </p:tgtEl>
                                  <p:attrNameLst>
                                    <p:attrName>ppt_w</p:attrName>
                                  </p:attrNameLst>
                                </p:cBhvr>
                                <p:tavLst>
                                  <p:tav tm="0">
                                    <p:val>
                                      <p:strVal val="#ppt_w*0.85"/>
                                    </p:val>
                                  </p:tav>
                                  <p:tav tm="100000">
                                    <p:val>
                                      <p:strVal val="#ppt_w"/>
                                    </p:val>
                                  </p:tav>
                                </p:tavLst>
                              </p:anim>
                              <p:animEffect transition="in" filter="fade">
                                <p:cBhvr>
                                  <p:cTn id="115" dur="450"/>
                                  <p:tgtEl>
                                    <p:spTgt spid="30"/>
                                  </p:tgtEl>
                                </p:cBhvr>
                              </p:animEffect>
                            </p:childTnLst>
                          </p:cTn>
                        </p:par>
                        <p:par>
                          <p:cTn id="116" presetID="53" presetClass="entr" presetSubtype="16" fill="hold" nodeType="withEffect">
                            <p:stCondLst>
                              <p:cond delay="2600"/>
                            </p:stCondLst>
                            <p:childTnLst>
                              <p:set>
                                <p:cBhvr>
                                  <p:cTn id="117" dur="1" fill="hold">
                                    <p:stCondLst>
                                      <p:cond delay="0"/>
                                    </p:stCondLst>
                                  </p:cTn>
                                  <p:tgtEl>
                                    <p:spTgt spid="31"/>
                                  </p:tgtEl>
                                  <p:attrNameLst>
                                    <p:attrName>style.visibility</p:attrName>
                                  </p:attrNameLst>
                                </p:cBhvr>
                                <p:to>
                                  <p:strVal val="visible"/>
                                </p:to>
                              </p:set>
                              <p:anim calcmode="lin" valueType="num">
                                <p:cBhvr>
                                  <p:cTn id="118" dur="450" fill="hold"/>
                                  <p:tgtEl>
                                    <p:spTgt spid="31"/>
                                  </p:tgtEl>
                                  <p:attrNameLst>
                                    <p:attrName>ppt_w</p:attrName>
                                  </p:attrNameLst>
                                </p:cBhvr>
                                <p:tavLst>
                                  <p:tav tm="0">
                                    <p:val>
                                      <p:strVal val="#ppt_w*0.85"/>
                                    </p:val>
                                  </p:tav>
                                  <p:tav tm="100000">
                                    <p:val>
                                      <p:strVal val="#ppt_w"/>
                                    </p:val>
                                  </p:tav>
                                </p:tavLst>
                              </p:anim>
                              <p:animEffect transition="in" filter="fade">
                                <p:cBhvr>
                                  <p:cTn id="119" dur="450"/>
                                  <p:tgtEl>
                                    <p:spTgt spid="31"/>
                                  </p:tgtEl>
                                </p:cBhvr>
                              </p:animEffect>
                            </p:childTnLst>
                          </p:cTn>
                        </p:par>
                        <p:par>
                          <p:cTn id="120" presetID="53" presetClass="entr" presetSubtype="16" fill="hold" nodeType="withEffect">
                            <p:stCondLst>
                              <p:cond delay="2600"/>
                            </p:stCondLst>
                            <p:childTnLst>
                              <p:set>
                                <p:cBhvr>
                                  <p:cTn id="121" dur="1" fill="hold">
                                    <p:stCondLst>
                                      <p:cond delay="0"/>
                                    </p:stCondLst>
                                  </p:cTn>
                                  <p:tgtEl>
                                    <p:spTgt spid="32"/>
                                  </p:tgtEl>
                                  <p:attrNameLst>
                                    <p:attrName>style.visibility</p:attrName>
                                  </p:attrNameLst>
                                </p:cBhvr>
                                <p:to>
                                  <p:strVal val="visible"/>
                                </p:to>
                              </p:set>
                              <p:anim calcmode="lin" valueType="num">
                                <p:cBhvr>
                                  <p:cTn id="122" dur="450" fill="hold"/>
                                  <p:tgtEl>
                                    <p:spTgt spid="32"/>
                                  </p:tgtEl>
                                  <p:attrNameLst>
                                    <p:attrName>ppt_w</p:attrName>
                                  </p:attrNameLst>
                                </p:cBhvr>
                                <p:tavLst>
                                  <p:tav tm="0">
                                    <p:val>
                                      <p:strVal val="#ppt_w*0.85"/>
                                    </p:val>
                                  </p:tav>
                                  <p:tav tm="100000">
                                    <p:val>
                                      <p:strVal val="#ppt_w"/>
                                    </p:val>
                                  </p:tav>
                                </p:tavLst>
                              </p:anim>
                              <p:animEffect transition="in" filter="fade">
                                <p:cBhvr>
                                  <p:cTn id="123" dur="450"/>
                                  <p:tgtEl>
                                    <p:spTgt spid="32"/>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9" grpId="0"/>
      <p:bldP spid="12" grpId="0"/>
      <p:bldP spid="13" grpId="0"/>
      <p:bldP spid="16" grpId="0"/>
      <p:bldP spid="17" grpId="0"/>
      <p:bldP spid="20" grpId="0"/>
      <p:bldP spid="21" grpId="0"/>
      <p:bldP spid="24" grpId="0"/>
      <p:bldP spid="25" grpId="0"/>
      <p:bldP spid="28" grpId="0"/>
      <p:bldP spid="29" grpId="0"/>
      <p:bldP spid="31" grpId="0"/>
      <p:bldP spid="32"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Gagner le droit de critiquer</a:t>
            </a:r>
            <a:endParaRPr lang="en-US" sz="3600" dirty="0"/>
          </a:p>
        </p:txBody>
      </p:sp>
      <p:sp>
        <p:nvSpPr>
          <p:cNvPr id="3" name="Text 1"/>
          <p:cNvSpPr txBox="1"/>
          <p:nvPr/>
        </p:nvSpPr>
        <p:spPr>
          <a:xfrm>
            <a:off x="548640" y="1280160"/>
            <a:ext cx="6400800" cy="365760"/>
          </a:xfrm>
          <a:prstGeom prst="rect">
            <a:avLst/>
          </a:prstGeom>
          <a:noFill/>
          <a:ln/>
        </p:spPr>
        <p:txBody>
          <a:bodyPr wrap="square" lIns="0" tIns="0" rIns="0" bIns="0" rtlCol="0" anchor="t"/>
          <a:lstStyle/>
          <a:p>
            <a:pPr indent="0" marL="0">
              <a:buNone/>
            </a:pPr>
            <a:r>
              <a:rPr lang="en-US" sz="1400" i="1" dirty="0">
                <a:solidFill>
                  <a:schemeClr val="tx2"/>
                </a:solidFill>
                <a:latin typeface="Arial" pitchFamily="34" charset="0"/>
                <a:ea typeface="Arial" pitchFamily="34" charset="-122"/>
                <a:cs typeface="Arial" pitchFamily="34" charset="-120"/>
              </a:rPr>
              <a:t>Les règles de Rapoport (popularisées par Daniel Dennett)</a:t>
            </a:r>
            <a:endParaRPr lang="en-US" sz="1400" dirty="0"/>
          </a:p>
        </p:txBody>
      </p:sp>
      <p:sp>
        <p:nvSpPr>
          <p:cNvPr id="4" name="Shape 2"/>
          <p:cNvSpPr/>
          <p:nvPr/>
        </p:nvSpPr>
        <p:spPr>
          <a:xfrm>
            <a:off x="548640" y="1783080"/>
            <a:ext cx="640080" cy="640080"/>
          </a:xfrm>
          <a:prstGeom prst="ellipse">
            <a:avLst/>
          </a:prstGeom>
          <a:solidFill>
            <a:schemeClr val="accent1"/>
          </a:solidFill>
          <a:ln w="19050">
            <a:solidFill>
              <a:schemeClr val="tx1"/>
            </a:solidFill>
            <a:prstDash val="solid"/>
          </a:ln>
        </p:spPr>
      </p:sp>
      <p:sp>
        <p:nvSpPr>
          <p:cNvPr id="5" name="Text 3"/>
          <p:cNvSpPr txBox="1"/>
          <p:nvPr/>
        </p:nvSpPr>
        <p:spPr>
          <a:xfrm>
            <a:off x="548640" y="1783080"/>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1</a:t>
            </a:r>
            <a:endParaRPr lang="en-US" sz="2400" dirty="0"/>
          </a:p>
        </p:txBody>
      </p:sp>
      <p:sp>
        <p:nvSpPr>
          <p:cNvPr id="6" name="Text 4"/>
          <p:cNvSpPr txBox="1"/>
          <p:nvPr/>
        </p:nvSpPr>
        <p:spPr>
          <a:xfrm>
            <a:off x="1371600" y="1810512"/>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Reformule l'idée de l'autre si bien qu'il dise : « J'aurais aimé le dire comme ça. »</a:t>
            </a:r>
            <a:endParaRPr lang="en-US" sz="1600" dirty="0"/>
          </a:p>
        </p:txBody>
      </p:sp>
      <p:sp>
        <p:nvSpPr>
          <p:cNvPr id="7" name="Shape 5"/>
          <p:cNvSpPr/>
          <p:nvPr/>
        </p:nvSpPr>
        <p:spPr>
          <a:xfrm>
            <a:off x="548640" y="2770632"/>
            <a:ext cx="640080" cy="640080"/>
          </a:xfrm>
          <a:prstGeom prst="ellipse">
            <a:avLst/>
          </a:prstGeom>
          <a:solidFill>
            <a:schemeClr val="accent1"/>
          </a:solidFill>
          <a:ln w="19050">
            <a:solidFill>
              <a:schemeClr val="tx1"/>
            </a:solidFill>
            <a:prstDash val="solid"/>
          </a:ln>
        </p:spPr>
      </p:sp>
      <p:sp>
        <p:nvSpPr>
          <p:cNvPr id="8" name="Text 6"/>
          <p:cNvSpPr txBox="1"/>
          <p:nvPr/>
        </p:nvSpPr>
        <p:spPr>
          <a:xfrm>
            <a:off x="548640" y="2770632"/>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2</a:t>
            </a:r>
            <a:endParaRPr lang="en-US" sz="2400" dirty="0"/>
          </a:p>
        </p:txBody>
      </p:sp>
      <p:sp>
        <p:nvSpPr>
          <p:cNvPr id="9" name="Text 7"/>
          <p:cNvSpPr txBox="1"/>
          <p:nvPr/>
        </p:nvSpPr>
        <p:spPr>
          <a:xfrm>
            <a:off x="1371600" y="2798064"/>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Nomme tes points d'accord, surtout les surprenants.</a:t>
            </a:r>
            <a:endParaRPr lang="en-US" sz="1600" dirty="0"/>
          </a:p>
        </p:txBody>
      </p:sp>
      <p:sp>
        <p:nvSpPr>
          <p:cNvPr id="10" name="Shape 8"/>
          <p:cNvSpPr/>
          <p:nvPr/>
        </p:nvSpPr>
        <p:spPr>
          <a:xfrm>
            <a:off x="548640" y="3758184"/>
            <a:ext cx="640080" cy="640080"/>
          </a:xfrm>
          <a:prstGeom prst="ellipse">
            <a:avLst/>
          </a:prstGeom>
          <a:solidFill>
            <a:schemeClr val="accent1"/>
          </a:solidFill>
          <a:ln w="19050">
            <a:solidFill>
              <a:schemeClr val="tx1"/>
            </a:solidFill>
            <a:prstDash val="solid"/>
          </a:ln>
        </p:spPr>
      </p:sp>
      <p:sp>
        <p:nvSpPr>
          <p:cNvPr id="11" name="Text 9"/>
          <p:cNvSpPr txBox="1"/>
          <p:nvPr/>
        </p:nvSpPr>
        <p:spPr>
          <a:xfrm>
            <a:off x="548640" y="3758184"/>
            <a:ext cx="640080" cy="640080"/>
          </a:xfrm>
          <a:prstGeom prst="rect">
            <a:avLst/>
          </a:prstGeom>
          <a:noFill/>
          <a:ln/>
        </p:spPr>
        <p:txBody>
          <a:bodyPr wrap="square" lIns="0" tIns="0" rIns="0" bIns="0" rtlCol="0" anchor="ctr"/>
          <a:lstStyle/>
          <a:p>
            <a:pPr algn="ctr" indent="0" marL="0">
              <a:buNone/>
            </a:pPr>
            <a:r>
              <a:rPr lang="en-US" sz="2400" dirty="0">
                <a:solidFill>
                  <a:schemeClr val="bg2"/>
                </a:solidFill>
                <a:latin typeface="Rockwell Extra Bold" pitchFamily="34" charset="0"/>
                <a:ea typeface="Rockwell Extra Bold" pitchFamily="34" charset="-122"/>
                <a:cs typeface="Rockwell Extra Bold" pitchFamily="34" charset="-120"/>
              </a:rPr>
              <a:t>3</a:t>
            </a:r>
            <a:endParaRPr lang="en-US" sz="2400" dirty="0"/>
          </a:p>
        </p:txBody>
      </p:sp>
      <p:sp>
        <p:nvSpPr>
          <p:cNvPr id="12" name="Text 10"/>
          <p:cNvSpPr txBox="1"/>
          <p:nvPr/>
        </p:nvSpPr>
        <p:spPr>
          <a:xfrm>
            <a:off x="1371600" y="3785616"/>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Dis ce que tu as appris de cette personne.</a:t>
            </a:r>
            <a:endParaRPr lang="en-US" sz="1600" dirty="0"/>
          </a:p>
        </p:txBody>
      </p:sp>
      <p:sp>
        <p:nvSpPr>
          <p:cNvPr id="13" name="Shape 11"/>
          <p:cNvSpPr/>
          <p:nvPr/>
        </p:nvSpPr>
        <p:spPr>
          <a:xfrm>
            <a:off x="548640" y="4745736"/>
            <a:ext cx="640080" cy="640080"/>
          </a:xfrm>
          <a:prstGeom prst="ellipse">
            <a:avLst/>
          </a:prstGeom>
          <a:solidFill>
            <a:schemeClr val="accent2"/>
          </a:solidFill>
          <a:ln w="19050">
            <a:solidFill>
              <a:schemeClr val="tx1"/>
            </a:solidFill>
            <a:prstDash val="solid"/>
          </a:ln>
        </p:spPr>
      </p:sp>
      <p:sp>
        <p:nvSpPr>
          <p:cNvPr id="14" name="Text 12"/>
          <p:cNvSpPr txBox="1"/>
          <p:nvPr/>
        </p:nvSpPr>
        <p:spPr>
          <a:xfrm>
            <a:off x="548640" y="4745736"/>
            <a:ext cx="640080" cy="640080"/>
          </a:xfrm>
          <a:prstGeom prst="rect">
            <a:avLst/>
          </a:prstGeom>
          <a:noFill/>
          <a:ln/>
        </p:spPr>
        <p:txBody>
          <a:bodyPr wrap="square" lIns="0" tIns="0" rIns="0" bIns="0" rtlCol="0" anchor="ctr"/>
          <a:lstStyle/>
          <a:p>
            <a:pPr algn="ctr" indent="0" marL="0">
              <a:buNone/>
            </a:pPr>
            <a:r>
              <a:rPr lang="en-US" sz="2400" dirty="0">
                <a:solidFill>
                  <a:schemeClr val="tx1"/>
                </a:solidFill>
                <a:latin typeface="Rockwell Extra Bold" pitchFamily="34" charset="0"/>
                <a:ea typeface="Rockwell Extra Bold" pitchFamily="34" charset="-122"/>
                <a:cs typeface="Rockwell Extra Bold" pitchFamily="34" charset="-120"/>
              </a:rPr>
              <a:t>4</a:t>
            </a:r>
            <a:endParaRPr lang="en-US" sz="2400" dirty="0"/>
          </a:p>
        </p:txBody>
      </p:sp>
      <p:sp>
        <p:nvSpPr>
          <p:cNvPr id="15" name="Text 13"/>
          <p:cNvSpPr txBox="1"/>
          <p:nvPr/>
        </p:nvSpPr>
        <p:spPr>
          <a:xfrm>
            <a:off x="1371600" y="4773168"/>
            <a:ext cx="5394960" cy="822960"/>
          </a:xfrm>
          <a:prstGeom prst="rect">
            <a:avLst/>
          </a:prstGeom>
          <a:noFill/>
          <a:ln/>
        </p:spPr>
        <p:txBody>
          <a:bodyPr wrap="square" lIns="0" tIns="0" rIns="0" bIns="0" rtlCol="0" anchor="ctr"/>
          <a:lstStyle/>
          <a:p>
            <a:pPr indent="0" marL="0">
              <a:buNone/>
            </a:pPr>
            <a:r>
              <a:rPr lang="en-US" sz="1600" dirty="0">
                <a:solidFill>
                  <a:schemeClr val="tx1"/>
                </a:solidFill>
                <a:latin typeface="Arial" pitchFamily="34" charset="0"/>
                <a:ea typeface="Arial" pitchFamily="34" charset="-122"/>
                <a:cs typeface="Arial" pitchFamily="34" charset="-120"/>
              </a:rPr>
              <a:t>Seulement là, ta critique.</a:t>
            </a:r>
            <a:endParaRPr lang="en-US" sz="1600" dirty="0"/>
          </a:p>
        </p:txBody>
      </p:sp>
      <p:sp>
        <p:nvSpPr>
          <p:cNvPr id="16" name="Shape 14"/>
          <p:cNvSpPr/>
          <p:nvPr/>
        </p:nvSpPr>
        <p:spPr>
          <a:xfrm>
            <a:off x="7223760" y="1325880"/>
            <a:ext cx="4389120" cy="4526280"/>
          </a:xfrm>
          <a:prstGeom prst="rect">
            <a:avLst/>
          </a:prstGeom>
          <a:solidFill>
            <a:schemeClr val="tx1"/>
          </a:solidFill>
          <a:ln w="25400">
            <a:solidFill>
              <a:schemeClr val="tx1"/>
            </a:solidFill>
            <a:prstDash val="solid"/>
          </a:ln>
        </p:spPr>
      </p:sp>
      <p:sp>
        <p:nvSpPr>
          <p:cNvPr id="17" name="Text 15"/>
          <p:cNvSpPr txBox="1"/>
          <p:nvPr/>
        </p:nvSpPr>
        <p:spPr>
          <a:xfrm>
            <a:off x="7452360" y="1508760"/>
            <a:ext cx="3931920" cy="457200"/>
          </a:xfrm>
          <a:prstGeom prst="rect">
            <a:avLst/>
          </a:prstGeom>
          <a:noFill/>
          <a:ln/>
        </p:spPr>
        <p:txBody>
          <a:bodyPr wrap="square" lIns="0" tIns="0" rIns="0" bIns="0" rtlCol="0" anchor="t"/>
          <a:lstStyle/>
          <a:p>
            <a:pPr indent="0" marL="0">
              <a:buNone/>
            </a:pPr>
            <a:r>
              <a:rPr lang="en-US" sz="2000" dirty="0">
                <a:solidFill>
                  <a:schemeClr val="bg2"/>
                </a:solidFill>
                <a:latin typeface="Rockwell Extra Bold" pitchFamily="34" charset="0"/>
                <a:ea typeface="Rockwell Extra Bold" pitchFamily="34" charset="-122"/>
                <a:cs typeface="Rockwell Extra Bold" pitchFamily="34" charset="-120"/>
              </a:rPr>
              <a:t>Homme de paille</a:t>
            </a:r>
            <a:endParaRPr lang="en-US" sz="2000" dirty="0"/>
          </a:p>
        </p:txBody>
      </p:sp>
      <p:sp>
        <p:nvSpPr>
          <p:cNvPr id="18" name="Text 16"/>
          <p:cNvSpPr txBox="1"/>
          <p:nvPr/>
        </p:nvSpPr>
        <p:spPr>
          <a:xfrm>
            <a:off x="7452360" y="2011680"/>
            <a:ext cx="3931920" cy="731520"/>
          </a:xfrm>
          <a:prstGeom prst="rect">
            <a:avLst/>
          </a:prstGeom>
          <a:noFill/>
          <a:ln/>
        </p:spPr>
        <p:txBody>
          <a:bodyPr wrap="square" lIns="0" tIns="0" rIns="0" bIns="0" rtlCol="0" anchor="t"/>
          <a:lstStyle/>
          <a:p>
            <a:pPr indent="0" marL="0">
              <a:buNone/>
            </a:pPr>
            <a:r>
              <a:rPr lang="en-US" sz="1500" dirty="0">
                <a:solidFill>
                  <a:schemeClr val="bg2"/>
                </a:solidFill>
                <a:latin typeface="Arial" pitchFamily="34" charset="0"/>
                <a:ea typeface="Arial" pitchFamily="34" charset="-122"/>
                <a:cs typeface="Arial" pitchFamily="34" charset="-120"/>
              </a:rPr>
              <a:t>Affaiblir la thèse adverse pour mieux la frapper.</a:t>
            </a:r>
            <a:endParaRPr lang="en-US" sz="1500" dirty="0"/>
          </a:p>
        </p:txBody>
      </p:sp>
      <p:sp>
        <p:nvSpPr>
          <p:cNvPr id="19" name="Text 17"/>
          <p:cNvSpPr txBox="1"/>
          <p:nvPr/>
        </p:nvSpPr>
        <p:spPr>
          <a:xfrm>
            <a:off x="7452360" y="2743200"/>
            <a:ext cx="3931920" cy="548640"/>
          </a:xfrm>
          <a:prstGeom prst="rect">
            <a:avLst/>
          </a:prstGeom>
          <a:noFill/>
          <a:ln/>
        </p:spPr>
        <p:txBody>
          <a:bodyPr wrap="square" lIns="0" tIns="0" rIns="0" bIns="0" rtlCol="0" anchor="t"/>
          <a:lstStyle/>
          <a:p>
            <a:pPr algn="ctr" indent="0" marL="0">
              <a:buNone/>
            </a:pPr>
            <a:r>
              <a:rPr lang="en-US" sz="2800" dirty="0">
                <a:solidFill>
                  <a:schemeClr val="accent2"/>
                </a:solidFill>
                <a:latin typeface="Rockwell Extra Bold" pitchFamily="34" charset="0"/>
                <a:ea typeface="Rockwell Extra Bold" pitchFamily="34" charset="-122"/>
                <a:cs typeface="Rockwell Extra Bold" pitchFamily="34" charset="-120"/>
              </a:rPr>
              <a:t>↓</a:t>
            </a:r>
            <a:endParaRPr lang="en-US" sz="2800" dirty="0"/>
          </a:p>
        </p:txBody>
      </p:sp>
      <p:sp>
        <p:nvSpPr>
          <p:cNvPr id="20" name="Text 18"/>
          <p:cNvSpPr txBox="1"/>
          <p:nvPr/>
        </p:nvSpPr>
        <p:spPr>
          <a:xfrm>
            <a:off x="7452360" y="3383280"/>
            <a:ext cx="3931920" cy="457200"/>
          </a:xfrm>
          <a:prstGeom prst="rect">
            <a:avLst/>
          </a:prstGeom>
          <a:noFill/>
          <a:ln/>
        </p:spPr>
        <p:txBody>
          <a:bodyPr wrap="square" lIns="0" tIns="0" rIns="0" bIns="0" rtlCol="0" anchor="t"/>
          <a:lstStyle/>
          <a:p>
            <a:pPr indent="0" marL="0">
              <a:buNone/>
            </a:pPr>
            <a:r>
              <a:rPr lang="en-US" sz="2000" dirty="0">
                <a:solidFill>
                  <a:schemeClr val="accent2"/>
                </a:solidFill>
                <a:latin typeface="Rockwell Extra Bold" pitchFamily="34" charset="0"/>
                <a:ea typeface="Rockwell Extra Bold" pitchFamily="34" charset="-122"/>
                <a:cs typeface="Rockwell Extra Bold" pitchFamily="34" charset="-120"/>
              </a:rPr>
              <a:t>Homme d'acier</a:t>
            </a:r>
            <a:endParaRPr lang="en-US" sz="2000" dirty="0"/>
          </a:p>
        </p:txBody>
      </p:sp>
      <p:sp>
        <p:nvSpPr>
          <p:cNvPr id="21" name="Text 19"/>
          <p:cNvSpPr txBox="1"/>
          <p:nvPr/>
        </p:nvSpPr>
        <p:spPr>
          <a:xfrm>
            <a:off x="7452360" y="3886200"/>
            <a:ext cx="3931920" cy="1737360"/>
          </a:xfrm>
          <a:prstGeom prst="rect">
            <a:avLst/>
          </a:prstGeom>
          <a:noFill/>
          <a:ln/>
        </p:spPr>
        <p:txBody>
          <a:bodyPr wrap="square" lIns="0" tIns="0" rIns="0" bIns="0" rtlCol="0" anchor="t"/>
          <a:lstStyle/>
          <a:p>
            <a:pPr indent="0" marL="0">
              <a:buNone/>
            </a:pPr>
            <a:r>
              <a:rPr lang="en-US" sz="1500" dirty="0">
                <a:solidFill>
                  <a:schemeClr val="bg2"/>
                </a:solidFill>
                <a:latin typeface="Arial" pitchFamily="34" charset="0"/>
                <a:ea typeface="Arial" pitchFamily="34" charset="-122"/>
                <a:cs typeface="Arial" pitchFamily="34" charset="-120"/>
              </a:rPr>
              <a:t>Rendre la thèse adverse plus forte qu'elle ne l'était, puis l'affronter. Si tu gagnes, tu as vraiment gagné. Si tu perds, tu as appris.</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6" grpId="0"/>
      <p:bldP spid="8" grpId="0"/>
      <p:bldP spid="9" grpId="0"/>
      <p:bldP spid="11" grpId="0"/>
      <p:bldP spid="12" grpId="0"/>
      <p:bldP spid="14" grpId="0"/>
      <p:bldP spid="15" grpId="0"/>
      <p:bldP spid="17" grpId="0"/>
      <p:bldP spid="18" grpId="0"/>
      <p:bldP spid="19" grpId="0"/>
      <p:bldP spid="20" grpId="0"/>
      <p:bldP spid="21"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2</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Le bestiaire du débat</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Reconnaître les débatteurs… et se reconnaître</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450" fill="hold"/>
                                  <p:tgtEl>
                                    <p:spTgt spid="2"/>
                                  </p:tgtEl>
                                  <p:attrNameLst>
                                    <p:attrName>ppt_w</p:attrName>
                                  </p:attrNameLst>
                                </p:cBhvr>
                                <p:tavLst>
                                  <p:tav tm="0">
                                    <p:val>
                                      <p:strVal val="#ppt_w*0.85"/>
                                    </p:val>
                                  </p:tav>
                                  <p:tav tm="100000">
                                    <p:val>
                                      <p:strVal val="#ppt_w"/>
                                    </p:val>
                                  </p:tav>
                                </p:tavLst>
                              </p:anim>
                              <p:animEffect transition="in" filter="fade">
                                <p:cBhvr>
                                  <p:cTn id="7" dur="450"/>
                                  <p:tgtEl>
                                    <p:spTgt spid="2"/>
                                  </p:tgtEl>
                                </p:cBhvr>
                              </p:animEffect>
                            </p:childTnLst>
                          </p:cTn>
                        </p:par>
                        <p:par>
                          <p:cTn id="8" presetID="53" presetClass="entr" presetSubtype="16" fill="hold" nodeType="withEffect">
                            <p:stCondLst>
                              <p:cond delay="140"/>
                            </p:stCondLst>
                            <p:childTnLst>
                              <p:set>
                                <p:cBhvr>
                                  <p:cTn id="9" dur="1" fill="hold">
                                    <p:stCondLst>
                                      <p:cond delay="0"/>
                                    </p:stCondLst>
                                  </p:cTn>
                                  <p:tgtEl>
                                    <p:spTgt spid="5"/>
                                  </p:tgtEl>
                                  <p:attrNameLst>
                                    <p:attrName>style.visibility</p:attrName>
                                  </p:attrNameLst>
                                </p:cBhvr>
                                <p:to>
                                  <p:strVal val="visible"/>
                                </p:to>
                              </p:set>
                              <p:anim calcmode="lin" valueType="num">
                                <p:cBhvr>
                                  <p:cTn id="10" dur="450" fill="hold"/>
                                  <p:tgtEl>
                                    <p:spTgt spid="5"/>
                                  </p:tgtEl>
                                  <p:attrNameLst>
                                    <p:attrName>ppt_w</p:attrName>
                                  </p:attrNameLst>
                                </p:cBhvr>
                                <p:tavLst>
                                  <p:tav tm="0">
                                    <p:val>
                                      <p:strVal val="#ppt_w*0.85"/>
                                    </p:val>
                                  </p:tav>
                                  <p:tav tm="100000">
                                    <p:val>
                                      <p:strVal val="#ppt_w"/>
                                    </p:val>
                                  </p:tav>
                                </p:tavLst>
                              </p:anim>
                              <p:animEffect transition="in" filter="fade">
                                <p:cBhvr>
                                  <p:cTn id="11" dur="45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8 créatures à reconnaître</a:t>
            </a:r>
            <a:endParaRPr lang="en-US" sz="3600" dirty="0"/>
          </a:p>
        </p:txBody>
      </p:sp>
      <p:sp>
        <p:nvSpPr>
          <p:cNvPr id="3" name="Shape 1"/>
          <p:cNvSpPr/>
          <p:nvPr/>
        </p:nvSpPr>
        <p:spPr>
          <a:xfrm>
            <a:off x="548640" y="1325880"/>
            <a:ext cx="2651760" cy="233172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508760"/>
            <a:ext cx="960120" cy="1161288"/>
          </a:xfrm>
          <a:prstGeom prst="rect">
            <a:avLst/>
          </a:prstGeom>
        </p:spPr>
      </p:pic>
      <p:sp>
        <p:nvSpPr>
          <p:cNvPr id="5" name="Text 2"/>
          <p:cNvSpPr txBox="1"/>
          <p:nvPr/>
        </p:nvSpPr>
        <p:spPr>
          <a:xfrm>
            <a:off x="1691640"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Bulldozer</a:t>
            </a:r>
            <a:endParaRPr lang="en-US" sz="1600" dirty="0"/>
          </a:p>
        </p:txBody>
      </p:sp>
      <p:sp>
        <p:nvSpPr>
          <p:cNvPr id="6" name="Text 3"/>
          <p:cNvSpPr txBox="1"/>
          <p:nvPr/>
        </p:nvSpPr>
        <p:spPr>
          <a:xfrm>
            <a:off x="685800"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Laisse-moi finir! » (il parle depuis 3 minutes)</a:t>
            </a:r>
            <a:endParaRPr lang="en-US" sz="1400" dirty="0"/>
          </a:p>
        </p:txBody>
      </p:sp>
      <p:sp>
        <p:nvSpPr>
          <p:cNvPr id="7" name="Shape 4"/>
          <p:cNvSpPr/>
          <p:nvPr/>
        </p:nvSpPr>
        <p:spPr>
          <a:xfrm>
            <a:off x="3355848" y="1325880"/>
            <a:ext cx="2651760" cy="2331720"/>
          </a:xfrm>
          <a:prstGeom prst="rect">
            <a:avLst/>
          </a:prstGeom>
          <a:solidFill>
            <a:schemeClr val="bg1"/>
          </a:solidFill>
          <a:ln w="25400">
            <a:solidFill>
              <a:schemeClr val="tx1"/>
            </a:solidFill>
            <a:prstDash val="solid"/>
          </a:ln>
        </p:spPr>
      </p:sp>
      <p:pic>
        <p:nvPicPr>
          <p:cNvPr id="8" name="Image 1" descr="preencoded.png">    </p:cNvPr>
          <p:cNvPicPr>
            <a:picLocks noChangeAspect="1"/>
          </p:cNvPicPr>
          <p:nvPr/>
        </p:nvPicPr>
        <p:blipFill>
          <a:blip r:embed="rId2"/>
          <a:stretch>
            <a:fillRect/>
          </a:stretch>
        </p:blipFill>
        <p:spPr>
          <a:xfrm>
            <a:off x="3493008" y="1508760"/>
            <a:ext cx="960120" cy="1161288"/>
          </a:xfrm>
          <a:prstGeom prst="rect">
            <a:avLst/>
          </a:prstGeom>
        </p:spPr>
      </p:pic>
      <p:sp>
        <p:nvSpPr>
          <p:cNvPr id="9" name="Text 5"/>
          <p:cNvSpPr txBox="1"/>
          <p:nvPr/>
        </p:nvSpPr>
        <p:spPr>
          <a:xfrm>
            <a:off x="4498848"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Brouillard</a:t>
            </a:r>
            <a:endParaRPr lang="en-US" sz="1600" dirty="0"/>
          </a:p>
        </p:txBody>
      </p:sp>
      <p:sp>
        <p:nvSpPr>
          <p:cNvPr id="10" name="Text 6"/>
          <p:cNvSpPr txBox="1"/>
          <p:nvPr/>
        </p:nvSpPr>
        <p:spPr>
          <a:xfrm>
            <a:off x="3493008"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Oui, mais le vrai problème, c'est… »</a:t>
            </a:r>
            <a:endParaRPr lang="en-US" sz="1400" dirty="0"/>
          </a:p>
        </p:txBody>
      </p:sp>
      <p:sp>
        <p:nvSpPr>
          <p:cNvPr id="11" name="Shape 7"/>
          <p:cNvSpPr/>
          <p:nvPr/>
        </p:nvSpPr>
        <p:spPr>
          <a:xfrm>
            <a:off x="6163056" y="1325880"/>
            <a:ext cx="2651760" cy="2331720"/>
          </a:xfrm>
          <a:prstGeom prst="rect">
            <a:avLst/>
          </a:prstGeom>
          <a:solidFill>
            <a:schemeClr val="bg1"/>
          </a:solidFill>
          <a:ln w="25400">
            <a:solidFill>
              <a:schemeClr val="tx1"/>
            </a:solidFill>
            <a:prstDash val="solid"/>
          </a:ln>
        </p:spPr>
      </p:sp>
      <p:pic>
        <p:nvPicPr>
          <p:cNvPr id="12" name="Image 2" descr="preencoded.png">    </p:cNvPr>
          <p:cNvPicPr>
            <a:picLocks noChangeAspect="1"/>
          </p:cNvPicPr>
          <p:nvPr/>
        </p:nvPicPr>
        <p:blipFill>
          <a:blip r:embed="rId3"/>
          <a:stretch>
            <a:fillRect/>
          </a:stretch>
        </p:blipFill>
        <p:spPr>
          <a:xfrm>
            <a:off x="6300216" y="1508760"/>
            <a:ext cx="960120" cy="1161288"/>
          </a:xfrm>
          <a:prstGeom prst="rect">
            <a:avLst/>
          </a:prstGeom>
        </p:spPr>
      </p:pic>
      <p:sp>
        <p:nvSpPr>
          <p:cNvPr id="13" name="Text 8"/>
          <p:cNvSpPr txBox="1"/>
          <p:nvPr/>
        </p:nvSpPr>
        <p:spPr>
          <a:xfrm>
            <a:off x="7306056"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Sniper</a:t>
            </a:r>
            <a:endParaRPr lang="en-US" sz="1600" dirty="0"/>
          </a:p>
        </p:txBody>
      </p:sp>
      <p:sp>
        <p:nvSpPr>
          <p:cNvPr id="14" name="Text 9"/>
          <p:cNvSpPr txBox="1"/>
          <p:nvPr/>
        </p:nvSpPr>
        <p:spPr>
          <a:xfrm>
            <a:off x="6300216"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Venant de toi, franchement… »</a:t>
            </a:r>
            <a:endParaRPr lang="en-US" sz="1400" dirty="0"/>
          </a:p>
        </p:txBody>
      </p:sp>
      <p:sp>
        <p:nvSpPr>
          <p:cNvPr id="15" name="Shape 10"/>
          <p:cNvSpPr/>
          <p:nvPr/>
        </p:nvSpPr>
        <p:spPr>
          <a:xfrm>
            <a:off x="8970264" y="1325880"/>
            <a:ext cx="2651760" cy="2331720"/>
          </a:xfrm>
          <a:prstGeom prst="rect">
            <a:avLst/>
          </a:prstGeom>
          <a:solidFill>
            <a:schemeClr val="bg1"/>
          </a:solidFill>
          <a:ln w="25400">
            <a:solidFill>
              <a:schemeClr val="tx1"/>
            </a:solidFill>
            <a:prstDash val="solid"/>
          </a:ln>
        </p:spPr>
      </p:sp>
      <p:pic>
        <p:nvPicPr>
          <p:cNvPr id="16" name="Image 3" descr="preencoded.png">    </p:cNvPr>
          <p:cNvPicPr>
            <a:picLocks noChangeAspect="1"/>
          </p:cNvPicPr>
          <p:nvPr/>
        </p:nvPicPr>
        <p:blipFill>
          <a:blip r:embed="rId4"/>
          <a:stretch>
            <a:fillRect/>
          </a:stretch>
        </p:blipFill>
        <p:spPr>
          <a:xfrm>
            <a:off x="9107424" y="1508760"/>
            <a:ext cx="960120" cy="1161288"/>
          </a:xfrm>
          <a:prstGeom prst="rect">
            <a:avLst/>
          </a:prstGeom>
        </p:spPr>
      </p:pic>
      <p:sp>
        <p:nvSpPr>
          <p:cNvPr id="17" name="Text 11"/>
          <p:cNvSpPr txBox="1"/>
          <p:nvPr/>
        </p:nvSpPr>
        <p:spPr>
          <a:xfrm>
            <a:off x="10113264" y="16002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Professeur</a:t>
            </a:r>
            <a:endParaRPr lang="en-US" sz="1600" dirty="0"/>
          </a:p>
        </p:txBody>
      </p:sp>
      <p:sp>
        <p:nvSpPr>
          <p:cNvPr id="18" name="Text 12"/>
          <p:cNvSpPr txBox="1"/>
          <p:nvPr/>
        </p:nvSpPr>
        <p:spPr>
          <a:xfrm>
            <a:off x="9107424" y="27889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Les études montrent que… »</a:t>
            </a:r>
            <a:endParaRPr lang="en-US" sz="1400" dirty="0"/>
          </a:p>
        </p:txBody>
      </p:sp>
      <p:sp>
        <p:nvSpPr>
          <p:cNvPr id="19" name="Shape 13"/>
          <p:cNvSpPr/>
          <p:nvPr/>
        </p:nvSpPr>
        <p:spPr>
          <a:xfrm>
            <a:off x="548640" y="3840480"/>
            <a:ext cx="2651760" cy="2331720"/>
          </a:xfrm>
          <a:prstGeom prst="rect">
            <a:avLst/>
          </a:prstGeom>
          <a:solidFill>
            <a:schemeClr val="bg1"/>
          </a:solidFill>
          <a:ln w="25400">
            <a:solidFill>
              <a:schemeClr val="tx1"/>
            </a:solidFill>
            <a:prstDash val="solid"/>
          </a:ln>
        </p:spPr>
      </p:sp>
      <p:pic>
        <p:nvPicPr>
          <p:cNvPr id="20" name="Image 4" descr="preencoded.png">    </p:cNvPr>
          <p:cNvPicPr>
            <a:picLocks noChangeAspect="1"/>
          </p:cNvPicPr>
          <p:nvPr/>
        </p:nvPicPr>
        <p:blipFill>
          <a:blip r:embed="rId5"/>
          <a:stretch>
            <a:fillRect/>
          </a:stretch>
        </p:blipFill>
        <p:spPr>
          <a:xfrm>
            <a:off x="685800" y="4023360"/>
            <a:ext cx="960120" cy="1161288"/>
          </a:xfrm>
          <a:prstGeom prst="rect">
            <a:avLst/>
          </a:prstGeom>
        </p:spPr>
      </p:pic>
      <p:sp>
        <p:nvSpPr>
          <p:cNvPr id="21" name="Text 14"/>
          <p:cNvSpPr txBox="1"/>
          <p:nvPr/>
        </p:nvSpPr>
        <p:spPr>
          <a:xfrm>
            <a:off x="1691640"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La Girouette</a:t>
            </a:r>
            <a:endParaRPr lang="en-US" sz="1600" dirty="0"/>
          </a:p>
        </p:txBody>
      </p:sp>
      <p:sp>
        <p:nvSpPr>
          <p:cNvPr id="22" name="Text 15"/>
          <p:cNvSpPr txBox="1"/>
          <p:nvPr/>
        </p:nvSpPr>
        <p:spPr>
          <a:xfrm>
            <a:off x="685800"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T'as raison… Toi aussi, t'as raison. »</a:t>
            </a:r>
            <a:endParaRPr lang="en-US" sz="1400" dirty="0"/>
          </a:p>
        </p:txBody>
      </p:sp>
      <p:sp>
        <p:nvSpPr>
          <p:cNvPr id="23" name="Shape 16"/>
          <p:cNvSpPr/>
          <p:nvPr/>
        </p:nvSpPr>
        <p:spPr>
          <a:xfrm>
            <a:off x="3355848" y="3840480"/>
            <a:ext cx="2651760" cy="2331720"/>
          </a:xfrm>
          <a:prstGeom prst="rect">
            <a:avLst/>
          </a:prstGeom>
          <a:solidFill>
            <a:schemeClr val="bg1"/>
          </a:solidFill>
          <a:ln w="25400">
            <a:solidFill>
              <a:schemeClr val="tx1"/>
            </a:solidFill>
            <a:prstDash val="solid"/>
          </a:ln>
        </p:spPr>
      </p:sp>
      <p:pic>
        <p:nvPicPr>
          <p:cNvPr id="24" name="Image 5" descr="preencoded.png">    </p:cNvPr>
          <p:cNvPicPr>
            <a:picLocks noChangeAspect="1"/>
          </p:cNvPicPr>
          <p:nvPr/>
        </p:nvPicPr>
        <p:blipFill>
          <a:blip r:embed="rId6"/>
          <a:stretch>
            <a:fillRect/>
          </a:stretch>
        </p:blipFill>
        <p:spPr>
          <a:xfrm>
            <a:off x="3493008" y="4023360"/>
            <a:ext cx="960120" cy="1161288"/>
          </a:xfrm>
          <a:prstGeom prst="rect">
            <a:avLst/>
          </a:prstGeom>
        </p:spPr>
      </p:pic>
      <p:sp>
        <p:nvSpPr>
          <p:cNvPr id="25" name="Text 17"/>
          <p:cNvSpPr txBox="1"/>
          <p:nvPr/>
        </p:nvSpPr>
        <p:spPr>
          <a:xfrm>
            <a:off x="4498848"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La Tortue</a:t>
            </a:r>
            <a:endParaRPr lang="en-US" sz="1600" dirty="0"/>
          </a:p>
        </p:txBody>
      </p:sp>
      <p:sp>
        <p:nvSpPr>
          <p:cNvPr id="26" name="Text 18"/>
          <p:cNvSpPr txBox="1"/>
          <p:nvPr/>
        </p:nvSpPr>
        <p:spPr>
          <a:xfrm>
            <a:off x="3493008"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 » ou « Je sais pas » (alors qu'elle sait)</a:t>
            </a:r>
            <a:endParaRPr lang="en-US" sz="1400" dirty="0"/>
          </a:p>
        </p:txBody>
      </p:sp>
      <p:sp>
        <p:nvSpPr>
          <p:cNvPr id="27" name="Shape 19"/>
          <p:cNvSpPr/>
          <p:nvPr/>
        </p:nvSpPr>
        <p:spPr>
          <a:xfrm>
            <a:off x="6163056" y="3840480"/>
            <a:ext cx="2651760" cy="2331720"/>
          </a:xfrm>
          <a:prstGeom prst="rect">
            <a:avLst/>
          </a:prstGeom>
          <a:solidFill>
            <a:schemeClr val="bg1"/>
          </a:solidFill>
          <a:ln w="25400">
            <a:solidFill>
              <a:schemeClr val="tx1"/>
            </a:solidFill>
            <a:prstDash val="solid"/>
          </a:ln>
        </p:spPr>
      </p:sp>
      <p:pic>
        <p:nvPicPr>
          <p:cNvPr id="28" name="Image 6" descr="preencoded.png">    </p:cNvPr>
          <p:cNvPicPr>
            <a:picLocks noChangeAspect="1"/>
          </p:cNvPicPr>
          <p:nvPr/>
        </p:nvPicPr>
        <p:blipFill>
          <a:blip r:embed="rId7"/>
          <a:stretch>
            <a:fillRect/>
          </a:stretch>
        </p:blipFill>
        <p:spPr>
          <a:xfrm>
            <a:off x="6300216" y="4023360"/>
            <a:ext cx="960120" cy="1161288"/>
          </a:xfrm>
          <a:prstGeom prst="rect">
            <a:avLst/>
          </a:prstGeom>
        </p:spPr>
      </p:pic>
      <p:sp>
        <p:nvSpPr>
          <p:cNvPr id="29" name="Text 20"/>
          <p:cNvSpPr txBox="1"/>
          <p:nvPr/>
        </p:nvSpPr>
        <p:spPr>
          <a:xfrm>
            <a:off x="7306056"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L'Avocat du diable</a:t>
            </a:r>
            <a:endParaRPr lang="en-US" sz="1600" dirty="0"/>
          </a:p>
        </p:txBody>
      </p:sp>
      <p:sp>
        <p:nvSpPr>
          <p:cNvPr id="30" name="Text 21"/>
          <p:cNvSpPr txBox="1"/>
          <p:nvPr/>
        </p:nvSpPr>
        <p:spPr>
          <a:xfrm>
            <a:off x="6300216"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Juste pour jouer l'avocat du diable… »</a:t>
            </a:r>
            <a:endParaRPr lang="en-US" sz="1400" dirty="0"/>
          </a:p>
        </p:txBody>
      </p:sp>
      <p:sp>
        <p:nvSpPr>
          <p:cNvPr id="31" name="Shape 22"/>
          <p:cNvSpPr/>
          <p:nvPr/>
        </p:nvSpPr>
        <p:spPr>
          <a:xfrm>
            <a:off x="8970264" y="3840480"/>
            <a:ext cx="2651760" cy="2331720"/>
          </a:xfrm>
          <a:prstGeom prst="rect">
            <a:avLst/>
          </a:prstGeom>
          <a:solidFill>
            <a:schemeClr val="accent2"/>
          </a:solidFill>
          <a:ln w="25400">
            <a:solidFill>
              <a:schemeClr val="tx1"/>
            </a:solidFill>
            <a:prstDash val="solid"/>
          </a:ln>
        </p:spPr>
      </p:sp>
      <p:pic>
        <p:nvPicPr>
          <p:cNvPr id="32" name="Image 7" descr="preencoded.png">    </p:cNvPr>
          <p:cNvPicPr>
            <a:picLocks noChangeAspect="1"/>
          </p:cNvPicPr>
          <p:nvPr/>
        </p:nvPicPr>
        <p:blipFill>
          <a:blip r:embed="rId8"/>
          <a:stretch>
            <a:fillRect/>
          </a:stretch>
        </p:blipFill>
        <p:spPr>
          <a:xfrm>
            <a:off x="9107424" y="4023360"/>
            <a:ext cx="960120" cy="1161288"/>
          </a:xfrm>
          <a:prstGeom prst="rect">
            <a:avLst/>
          </a:prstGeom>
        </p:spPr>
      </p:pic>
      <p:sp>
        <p:nvSpPr>
          <p:cNvPr id="33" name="Text 23"/>
          <p:cNvSpPr txBox="1"/>
          <p:nvPr/>
        </p:nvSpPr>
        <p:spPr>
          <a:xfrm>
            <a:off x="10113264" y="4114800"/>
            <a:ext cx="1417320" cy="914400"/>
          </a:xfrm>
          <a:prstGeom prst="rect">
            <a:avLst/>
          </a:prstGeom>
          <a:noFill/>
          <a:ln/>
        </p:spPr>
        <p:txBody>
          <a:bodyPr wrap="square" lIns="0" tIns="0" rIns="0" bIns="0" rtlCol="0" anchor="ctr"/>
          <a:lstStyle/>
          <a:p>
            <a:pPr indent="0" marL="0">
              <a:buNone/>
            </a:pPr>
            <a:r>
              <a:rPr lang="en-US" sz="1600" dirty="0">
                <a:solidFill>
                  <a:schemeClr val="accent1"/>
                </a:solidFill>
                <a:latin typeface="Rockwell Extra Bold" pitchFamily="34" charset="0"/>
                <a:ea typeface="Rockwell Extra Bold" pitchFamily="34" charset="-122"/>
                <a:cs typeface="Rockwell Extra Bold" pitchFamily="34" charset="-120"/>
              </a:rPr>
              <a:t>Le Bâtisseur</a:t>
            </a:r>
            <a:endParaRPr lang="en-US" sz="1600" dirty="0"/>
          </a:p>
        </p:txBody>
      </p:sp>
      <p:sp>
        <p:nvSpPr>
          <p:cNvPr id="34" name="Text 24"/>
          <p:cNvSpPr txBox="1"/>
          <p:nvPr/>
        </p:nvSpPr>
        <p:spPr>
          <a:xfrm>
            <a:off x="9107424" y="5303520"/>
            <a:ext cx="2377440" cy="777240"/>
          </a:xfrm>
          <a:prstGeom prst="rect">
            <a:avLst/>
          </a:prstGeom>
          <a:noFill/>
          <a:ln/>
        </p:spPr>
        <p:txBody>
          <a:bodyPr wrap="square" lIns="0" tIns="0" rIns="0" bIns="0" rtlCol="0" anchor="t"/>
          <a:lstStyle/>
          <a:p>
            <a:pPr indent="0" marL="0">
              <a:buNone/>
            </a:pPr>
            <a:r>
              <a:rPr lang="en-US" sz="1400" i="1" dirty="0">
                <a:solidFill>
                  <a:schemeClr val="tx1"/>
                </a:solidFill>
                <a:latin typeface="Arial" pitchFamily="34" charset="0"/>
                <a:ea typeface="Arial" pitchFamily="34" charset="-122"/>
                <a:cs typeface="Arial" pitchFamily="34" charset="-120"/>
              </a:rPr>
              <a:t>« Si je te comprends bien, tu dis que… »</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par>
                          <p:cTn id="108" presetID="53" presetClass="entr" presetSubtype="16" fill="hold" nodeType="withEffect">
                            <p:stCondLst>
                              <p:cond delay="2600"/>
                            </p:stCondLst>
                            <p:childTnLst>
                              <p:set>
                                <p:cBhvr>
                                  <p:cTn id="109" dur="1" fill="hold">
                                    <p:stCondLst>
                                      <p:cond delay="0"/>
                                    </p:stCondLst>
                                  </p:cTn>
                                  <p:tgtEl>
                                    <p:spTgt spid="29"/>
                                  </p:tgtEl>
                                  <p:attrNameLst>
                                    <p:attrName>style.visibility</p:attrName>
                                  </p:attrNameLst>
                                </p:cBhvr>
                                <p:to>
                                  <p:strVal val="visible"/>
                                </p:to>
                              </p:set>
                              <p:anim calcmode="lin" valueType="num">
                                <p:cBhvr>
                                  <p:cTn id="110" dur="450" fill="hold"/>
                                  <p:tgtEl>
                                    <p:spTgt spid="29"/>
                                  </p:tgtEl>
                                  <p:attrNameLst>
                                    <p:attrName>ppt_w</p:attrName>
                                  </p:attrNameLst>
                                </p:cBhvr>
                                <p:tavLst>
                                  <p:tav tm="0">
                                    <p:val>
                                      <p:strVal val="#ppt_w*0.85"/>
                                    </p:val>
                                  </p:tav>
                                  <p:tav tm="100000">
                                    <p:val>
                                      <p:strVal val="#ppt_w"/>
                                    </p:val>
                                  </p:tav>
                                </p:tavLst>
                              </p:anim>
                              <p:animEffect transition="in" filter="fade">
                                <p:cBhvr>
                                  <p:cTn id="111" dur="450"/>
                                  <p:tgtEl>
                                    <p:spTgt spid="29"/>
                                  </p:tgtEl>
                                </p:cBhvr>
                              </p:animEffect>
                            </p:childTnLst>
                          </p:cTn>
                        </p:par>
                        <p:par>
                          <p:cTn id="112" presetID="53" presetClass="entr" presetSubtype="16" fill="hold" nodeType="withEffect">
                            <p:stCondLst>
                              <p:cond delay="2600"/>
                            </p:stCondLst>
                            <p:childTnLst>
                              <p:set>
                                <p:cBhvr>
                                  <p:cTn id="113" dur="1" fill="hold">
                                    <p:stCondLst>
                                      <p:cond delay="0"/>
                                    </p:stCondLst>
                                  </p:cTn>
                                  <p:tgtEl>
                                    <p:spTgt spid="30"/>
                                  </p:tgtEl>
                                  <p:attrNameLst>
                                    <p:attrName>style.visibility</p:attrName>
                                  </p:attrNameLst>
                                </p:cBhvr>
                                <p:to>
                                  <p:strVal val="visible"/>
                                </p:to>
                              </p:set>
                              <p:anim calcmode="lin" valueType="num">
                                <p:cBhvr>
                                  <p:cTn id="114" dur="450" fill="hold"/>
                                  <p:tgtEl>
                                    <p:spTgt spid="30"/>
                                  </p:tgtEl>
                                  <p:attrNameLst>
                                    <p:attrName>ppt_w</p:attrName>
                                  </p:attrNameLst>
                                </p:cBhvr>
                                <p:tavLst>
                                  <p:tav tm="0">
                                    <p:val>
                                      <p:strVal val="#ppt_w*0.85"/>
                                    </p:val>
                                  </p:tav>
                                  <p:tav tm="100000">
                                    <p:val>
                                      <p:strVal val="#ppt_w"/>
                                    </p:val>
                                  </p:tav>
                                </p:tavLst>
                              </p:anim>
                              <p:animEffect transition="in" filter="fade">
                                <p:cBhvr>
                                  <p:cTn id="115" dur="450"/>
                                  <p:tgtEl>
                                    <p:spTgt spid="30"/>
                                  </p:tgtEl>
                                </p:cBhvr>
                              </p:animEffect>
                            </p:childTnLst>
                          </p:cTn>
                        </p:par>
                        <p:par>
                          <p:cTn id="116" presetID="53" presetClass="entr" presetSubtype="16" fill="hold" nodeType="withEffect">
                            <p:stCondLst>
                              <p:cond delay="2600"/>
                            </p:stCondLst>
                            <p:childTnLst>
                              <p:set>
                                <p:cBhvr>
                                  <p:cTn id="117" dur="1" fill="hold">
                                    <p:stCondLst>
                                      <p:cond delay="0"/>
                                    </p:stCondLst>
                                  </p:cTn>
                                  <p:tgtEl>
                                    <p:spTgt spid="31"/>
                                  </p:tgtEl>
                                  <p:attrNameLst>
                                    <p:attrName>style.visibility</p:attrName>
                                  </p:attrNameLst>
                                </p:cBhvr>
                                <p:to>
                                  <p:strVal val="visible"/>
                                </p:to>
                              </p:set>
                              <p:anim calcmode="lin" valueType="num">
                                <p:cBhvr>
                                  <p:cTn id="118" dur="450" fill="hold"/>
                                  <p:tgtEl>
                                    <p:spTgt spid="31"/>
                                  </p:tgtEl>
                                  <p:attrNameLst>
                                    <p:attrName>ppt_w</p:attrName>
                                  </p:attrNameLst>
                                </p:cBhvr>
                                <p:tavLst>
                                  <p:tav tm="0">
                                    <p:val>
                                      <p:strVal val="#ppt_w*0.85"/>
                                    </p:val>
                                  </p:tav>
                                  <p:tav tm="100000">
                                    <p:val>
                                      <p:strVal val="#ppt_w"/>
                                    </p:val>
                                  </p:tav>
                                </p:tavLst>
                              </p:anim>
                              <p:animEffect transition="in" filter="fade">
                                <p:cBhvr>
                                  <p:cTn id="119" dur="450"/>
                                  <p:tgtEl>
                                    <p:spTgt spid="31"/>
                                  </p:tgtEl>
                                </p:cBhvr>
                              </p:animEffect>
                            </p:childTnLst>
                          </p:cTn>
                        </p:par>
                        <p:par>
                          <p:cTn id="120" presetID="53" presetClass="entr" presetSubtype="16" fill="hold" nodeType="withEffect">
                            <p:stCondLst>
                              <p:cond delay="2600"/>
                            </p:stCondLst>
                            <p:childTnLst>
                              <p:set>
                                <p:cBhvr>
                                  <p:cTn id="121" dur="1" fill="hold">
                                    <p:stCondLst>
                                      <p:cond delay="0"/>
                                    </p:stCondLst>
                                  </p:cTn>
                                  <p:tgtEl>
                                    <p:spTgt spid="32"/>
                                  </p:tgtEl>
                                  <p:attrNameLst>
                                    <p:attrName>style.visibility</p:attrName>
                                  </p:attrNameLst>
                                </p:cBhvr>
                                <p:to>
                                  <p:strVal val="visible"/>
                                </p:to>
                              </p:set>
                              <p:anim calcmode="lin" valueType="num">
                                <p:cBhvr>
                                  <p:cTn id="122" dur="450" fill="hold"/>
                                  <p:tgtEl>
                                    <p:spTgt spid="32"/>
                                  </p:tgtEl>
                                  <p:attrNameLst>
                                    <p:attrName>ppt_w</p:attrName>
                                  </p:attrNameLst>
                                </p:cBhvr>
                                <p:tavLst>
                                  <p:tav tm="0">
                                    <p:val>
                                      <p:strVal val="#ppt_w*0.85"/>
                                    </p:val>
                                  </p:tav>
                                  <p:tav tm="100000">
                                    <p:val>
                                      <p:strVal val="#ppt_w"/>
                                    </p:val>
                                  </p:tav>
                                </p:tavLst>
                              </p:anim>
                              <p:animEffect transition="in" filter="fade">
                                <p:cBhvr>
                                  <p:cTn id="123" dur="450"/>
                                  <p:tgtEl>
                                    <p:spTgt spid="32"/>
                                  </p:tgtEl>
                                </p:cBhvr>
                              </p:animEffect>
                            </p:childTnLst>
                          </p:cTn>
                        </p:par>
                        <p:par>
                          <p:cTn id="124" presetID="53" presetClass="entr" presetSubtype="16" fill="hold" nodeType="withEffect">
                            <p:stCondLst>
                              <p:cond delay="2600"/>
                            </p:stCondLst>
                            <p:childTnLst>
                              <p:set>
                                <p:cBhvr>
                                  <p:cTn id="125" dur="1" fill="hold">
                                    <p:stCondLst>
                                      <p:cond delay="0"/>
                                    </p:stCondLst>
                                  </p:cTn>
                                  <p:tgtEl>
                                    <p:spTgt spid="33"/>
                                  </p:tgtEl>
                                  <p:attrNameLst>
                                    <p:attrName>style.visibility</p:attrName>
                                  </p:attrNameLst>
                                </p:cBhvr>
                                <p:to>
                                  <p:strVal val="visible"/>
                                </p:to>
                              </p:set>
                              <p:anim calcmode="lin" valueType="num">
                                <p:cBhvr>
                                  <p:cTn id="126" dur="450" fill="hold"/>
                                  <p:tgtEl>
                                    <p:spTgt spid="33"/>
                                  </p:tgtEl>
                                  <p:attrNameLst>
                                    <p:attrName>ppt_w</p:attrName>
                                  </p:attrNameLst>
                                </p:cBhvr>
                                <p:tavLst>
                                  <p:tav tm="0">
                                    <p:val>
                                      <p:strVal val="#ppt_w*0.85"/>
                                    </p:val>
                                  </p:tav>
                                  <p:tav tm="100000">
                                    <p:val>
                                      <p:strVal val="#ppt_w"/>
                                    </p:val>
                                  </p:tav>
                                </p:tavLst>
                              </p:anim>
                              <p:animEffect transition="in" filter="fade">
                                <p:cBhvr>
                                  <p:cTn id="127" dur="450"/>
                                  <p:tgtEl>
                                    <p:spTgt spid="33"/>
                                  </p:tgtEl>
                                </p:cBhvr>
                              </p:animEffect>
                            </p:childTnLst>
                          </p:cTn>
                        </p:par>
                        <p:par>
                          <p:cTn id="128" presetID="53" presetClass="entr" presetSubtype="16" fill="hold" nodeType="withEffect">
                            <p:stCondLst>
                              <p:cond delay="2600"/>
                            </p:stCondLst>
                            <p:childTnLst>
                              <p:set>
                                <p:cBhvr>
                                  <p:cTn id="129" dur="1" fill="hold">
                                    <p:stCondLst>
                                      <p:cond delay="0"/>
                                    </p:stCondLst>
                                  </p:cTn>
                                  <p:tgtEl>
                                    <p:spTgt spid="34"/>
                                  </p:tgtEl>
                                  <p:attrNameLst>
                                    <p:attrName>style.visibility</p:attrName>
                                  </p:attrNameLst>
                                </p:cBhvr>
                                <p:to>
                                  <p:strVal val="visible"/>
                                </p:to>
                              </p:set>
                              <p:anim calcmode="lin" valueType="num">
                                <p:cBhvr>
                                  <p:cTn id="130" dur="450" fill="hold"/>
                                  <p:tgtEl>
                                    <p:spTgt spid="34"/>
                                  </p:tgtEl>
                                  <p:attrNameLst>
                                    <p:attrName>ppt_w</p:attrName>
                                  </p:attrNameLst>
                                </p:cBhvr>
                                <p:tavLst>
                                  <p:tav tm="0">
                                    <p:val>
                                      <p:strVal val="#ppt_w*0.85"/>
                                    </p:val>
                                  </p:tav>
                                  <p:tav tm="100000">
                                    <p:val>
                                      <p:strVal val="#ppt_w"/>
                                    </p:val>
                                  </p:tav>
                                </p:tavLst>
                              </p:anim>
                              <p:animEffect transition="in" filter="fade">
                                <p:cBhvr>
                                  <p:cTn id="131" dur="450"/>
                                  <p:tgtEl>
                                    <p:spTgt spid="3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9" grpId="0"/>
      <p:bldP spid="10" grpId="0"/>
      <p:bldP spid="13" grpId="0"/>
      <p:bldP spid="14" grpId="0"/>
      <p:bldP spid="17" grpId="0"/>
      <p:bldP spid="18" grpId="0"/>
      <p:bldP spid="21" grpId="0"/>
      <p:bldP spid="22" grpId="0"/>
      <p:bldP spid="25" grpId="0"/>
      <p:bldP spid="26" grpId="0"/>
      <p:bldP spid="29" grpId="0"/>
      <p:bldP spid="30" grpId="0"/>
      <p:bldP spid="33" grpId="0"/>
      <p:bldP spid="34" grpId="0"/>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bestiaire en action · 1/4</a:t>
            </a:r>
            <a:endParaRPr lang="en-US" sz="3600" dirty="0"/>
          </a:p>
        </p:txBody>
      </p:sp>
      <p:sp>
        <p:nvSpPr>
          <p:cNvPr id="3" name="Shape 1"/>
          <p:cNvSpPr/>
          <p:nvPr/>
        </p:nvSpPr>
        <p:spPr>
          <a:xfrm>
            <a:off x="621792" y="1399032"/>
            <a:ext cx="5440680" cy="3063240"/>
          </a:xfrm>
          <a:prstGeom prst="rect">
            <a:avLst/>
          </a:prstGeom>
          <a:solidFill>
            <a:schemeClr val="accent2"/>
          </a:solidFill>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325880"/>
            <a:ext cx="5440680" cy="3063240"/>
          </a:xfrm>
          <a:prstGeom prst="rect">
            <a:avLst/>
          </a:prstGeom>
        </p:spPr>
      </p:pic>
      <p:sp>
        <p:nvSpPr>
          <p:cNvPr id="5" name="Shape 2"/>
          <p:cNvSpPr/>
          <p:nvPr/>
        </p:nvSpPr>
        <p:spPr>
          <a:xfrm>
            <a:off x="548640" y="1325880"/>
            <a:ext cx="5440680" cy="3063240"/>
          </a:xfrm>
          <a:prstGeom prst="rect">
            <a:avLst/>
          </a:prstGeom>
          <a:ln w="31750">
            <a:solidFill>
              <a:schemeClr val="tx1"/>
            </a:solidFill>
            <a:prstDash val="solid"/>
          </a:ln>
        </p:spPr>
      </p:sp>
      <p:sp>
        <p:nvSpPr>
          <p:cNvPr id="6" name="Text 3"/>
          <p:cNvSpPr txBox="1"/>
          <p:nvPr/>
        </p:nvSpPr>
        <p:spPr>
          <a:xfrm>
            <a:off x="548640" y="4572000"/>
            <a:ext cx="544068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Bulldozer</a:t>
            </a:r>
            <a:endParaRPr lang="en-US" sz="2200" dirty="0"/>
          </a:p>
        </p:txBody>
      </p:sp>
      <p:sp>
        <p:nvSpPr>
          <p:cNvPr id="7" name="Text 4"/>
          <p:cNvSpPr txBox="1"/>
          <p:nvPr/>
        </p:nvSpPr>
        <p:spPr>
          <a:xfrm>
            <a:off x="548640" y="507492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DIT  </a:t>
            </a:r>
            <a:pPr indent="0" marL="0">
              <a:buNone/>
            </a:pPr>
            <a:r>
              <a:rPr lang="en-US" sz="1600" i="1" dirty="0">
                <a:solidFill>
                  <a:schemeClr val="tx1"/>
                </a:solidFill>
                <a:latin typeface="Arial" pitchFamily="34" charset="0"/>
                <a:ea typeface="Arial" pitchFamily="34" charset="-122"/>
                <a:cs typeface="Arial" pitchFamily="34" charset="-120"/>
              </a:rPr>
              <a:t>« Laisse-moi finir! »</a:t>
            </a:r>
            <a:endParaRPr lang="en-US" sz="1600" dirty="0"/>
          </a:p>
        </p:txBody>
      </p:sp>
      <p:sp>
        <p:nvSpPr>
          <p:cNvPr id="8" name="Text 5"/>
          <p:cNvSpPr txBox="1"/>
          <p:nvPr/>
        </p:nvSpPr>
        <p:spPr>
          <a:xfrm>
            <a:off x="548640" y="548640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FAIT  </a:t>
            </a:r>
            <a:pPr indent="0" marL="0">
              <a:buNone/>
            </a:pPr>
            <a:r>
              <a:rPr lang="en-US" sz="1600" dirty="0">
                <a:solidFill>
                  <a:schemeClr val="tx1"/>
                </a:solidFill>
                <a:latin typeface="Arial" pitchFamily="34" charset="0"/>
                <a:ea typeface="Arial" pitchFamily="34" charset="-122"/>
                <a:cs typeface="Arial" pitchFamily="34" charset="-120"/>
              </a:rPr>
              <a:t>coupe la parole et pousse</a:t>
            </a:r>
            <a:endParaRPr lang="en-US" sz="1600" dirty="0"/>
          </a:p>
        </p:txBody>
      </p:sp>
      <p:sp>
        <p:nvSpPr>
          <p:cNvPr id="9" name="Shape 6"/>
          <p:cNvSpPr/>
          <p:nvPr/>
        </p:nvSpPr>
        <p:spPr>
          <a:xfrm>
            <a:off x="6245352" y="1399032"/>
            <a:ext cx="5440680" cy="3063240"/>
          </a:xfrm>
          <a:prstGeom prst="rect">
            <a:avLst/>
          </a:prstGeom>
          <a:solidFill>
            <a:schemeClr val="accent2"/>
          </a:solidFill>
          <a:ln/>
        </p:spPr>
      </p:sp>
      <p:pic>
        <p:nvPicPr>
          <p:cNvPr id="6"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6172200" y="1325880"/>
            <a:ext cx="5440680" cy="3063240"/>
          </a:xfrm>
          <a:prstGeom prst="rect">
            <a:avLst/>
          </a:prstGeom>
        </p:spPr>
      </p:pic>
      <p:sp>
        <p:nvSpPr>
          <p:cNvPr id="11" name="Shape 7"/>
          <p:cNvSpPr/>
          <p:nvPr/>
        </p:nvSpPr>
        <p:spPr>
          <a:xfrm>
            <a:off x="6172200" y="1325880"/>
            <a:ext cx="5440680" cy="3063240"/>
          </a:xfrm>
          <a:prstGeom prst="rect">
            <a:avLst/>
          </a:prstGeom>
          <a:ln w="31750">
            <a:solidFill>
              <a:schemeClr val="tx1"/>
            </a:solidFill>
            <a:prstDash val="solid"/>
          </a:ln>
        </p:spPr>
      </p:sp>
      <p:sp>
        <p:nvSpPr>
          <p:cNvPr id="12" name="Text 8"/>
          <p:cNvSpPr txBox="1"/>
          <p:nvPr/>
        </p:nvSpPr>
        <p:spPr>
          <a:xfrm>
            <a:off x="6172200" y="4572000"/>
            <a:ext cx="544068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Brouillard</a:t>
            </a:r>
            <a:endParaRPr lang="en-US" sz="2200" dirty="0"/>
          </a:p>
        </p:txBody>
      </p:sp>
      <p:sp>
        <p:nvSpPr>
          <p:cNvPr id="13" name="Text 9"/>
          <p:cNvSpPr txBox="1"/>
          <p:nvPr/>
        </p:nvSpPr>
        <p:spPr>
          <a:xfrm>
            <a:off x="6172200" y="507492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DIT  </a:t>
            </a:r>
            <a:pPr indent="0" marL="0">
              <a:buNone/>
            </a:pPr>
            <a:r>
              <a:rPr lang="en-US" sz="1600" i="1" dirty="0">
                <a:solidFill>
                  <a:schemeClr val="tx1"/>
                </a:solidFill>
                <a:latin typeface="Arial" pitchFamily="34" charset="0"/>
                <a:ea typeface="Arial" pitchFamily="34" charset="-122"/>
                <a:cs typeface="Arial" pitchFamily="34" charset="-120"/>
              </a:rPr>
              <a:t>« Oui, mais le vrai problème… »</a:t>
            </a:r>
            <a:endParaRPr lang="en-US" sz="1600" dirty="0"/>
          </a:p>
        </p:txBody>
      </p:sp>
      <p:sp>
        <p:nvSpPr>
          <p:cNvPr id="14" name="Text 10"/>
          <p:cNvSpPr txBox="1"/>
          <p:nvPr/>
        </p:nvSpPr>
        <p:spPr>
          <a:xfrm>
            <a:off x="6172200" y="548640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FAIT  </a:t>
            </a:r>
            <a:pPr indent="0" marL="0">
              <a:buNone/>
            </a:pPr>
            <a:r>
              <a:rPr lang="en-US" sz="1600" dirty="0">
                <a:solidFill>
                  <a:schemeClr val="tx1"/>
                </a:solidFill>
                <a:latin typeface="Arial" pitchFamily="34" charset="0"/>
                <a:ea typeface="Arial" pitchFamily="34" charset="-122"/>
                <a:cs typeface="Arial" pitchFamily="34" charset="-120"/>
              </a:rPr>
              <a:t>change de sujet quand ça chauffe</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5"/>
                                  </p:tgtEl>
                                  <p:attrNameLst>
                                    <p:attrName>style.visibility</p:attrName>
                                  </p:attrNameLst>
                                </p:cBhvr>
                                <p:to>
                                  <p:strVal val="visible"/>
                                </p:to>
                              </p:set>
                              <p:anim calcmode="lin" valueType="num">
                                <p:cBhvr>
                                  <p:cTn id="10" dur="450" fill="hold"/>
                                  <p:tgtEl>
                                    <p:spTgt spid="5"/>
                                  </p:tgtEl>
                                  <p:attrNameLst>
                                    <p:attrName>ppt_w</p:attrName>
                                  </p:attrNameLst>
                                </p:cBhvr>
                                <p:tavLst>
                                  <p:tav tm="0">
                                    <p:val>
                                      <p:strVal val="#ppt_w*0.85"/>
                                    </p:val>
                                  </p:tav>
                                  <p:tav tm="100000">
                                    <p:val>
                                      <p:strVal val="#ppt_w"/>
                                    </p:val>
                                  </p:tav>
                                </p:tavLst>
                              </p:anim>
                              <p:animEffect transition="in" filter="fade">
                                <p:cBhvr>
                                  <p:cTn id="11" dur="450"/>
                                  <p:tgtEl>
                                    <p:spTgt spid="5"/>
                                  </p:tgtEl>
                                </p:cBhvr>
                              </p:animEffect>
                            </p:childTnLst>
                          </p:cTn>
                        </p:par>
                        <p:par>
                          <p:cTn id="12" presetID="53" presetClass="entr" presetSubtype="16" fill="hold" nodeType="withEffect">
                            <p:stCondLst>
                              <p:cond delay="280"/>
                            </p:stCondLst>
                            <p:childTnLst>
                              <p:set>
                                <p:cBhvr>
                                  <p:cTn id="13" dur="1" fill="hold">
                                    <p:stCondLst>
                                      <p:cond delay="0"/>
                                    </p:stCondLst>
                                  </p:cTn>
                                  <p:tgtEl>
                                    <p:spTgt spid="6"/>
                                  </p:tgtEl>
                                  <p:attrNameLst>
                                    <p:attrName>style.visibility</p:attrName>
                                  </p:attrNameLst>
                                </p:cBhvr>
                                <p:to>
                                  <p:strVal val="visible"/>
                                </p:to>
                              </p:set>
                              <p:anim calcmode="lin" valueType="num">
                                <p:cBhvr>
                                  <p:cTn id="14" dur="450" fill="hold"/>
                                  <p:tgtEl>
                                    <p:spTgt spid="6"/>
                                  </p:tgtEl>
                                  <p:attrNameLst>
                                    <p:attrName>ppt_w</p:attrName>
                                  </p:attrNameLst>
                                </p:cBhvr>
                                <p:tavLst>
                                  <p:tav tm="0">
                                    <p:val>
                                      <p:strVal val="#ppt_w*0.85"/>
                                    </p:val>
                                  </p:tav>
                                  <p:tav tm="100000">
                                    <p:val>
                                      <p:strVal val="#ppt_w"/>
                                    </p:val>
                                  </p:tav>
                                </p:tavLst>
                              </p:anim>
                              <p:animEffect transition="in" filter="fade">
                                <p:cBhvr>
                                  <p:cTn id="15" dur="450"/>
                                  <p:tgtEl>
                                    <p:spTgt spid="6"/>
                                  </p:tgtEl>
                                </p:cBhvr>
                              </p:animEffect>
                            </p:childTnLst>
                          </p:cTn>
                        </p:par>
                        <p:par>
                          <p:cTn id="16" presetID="53" presetClass="entr" presetSubtype="16" fill="hold" nodeType="withEffect">
                            <p:stCondLst>
                              <p:cond delay="420"/>
                            </p:stCondLst>
                            <p:childTnLst>
                              <p:set>
                                <p:cBhvr>
                                  <p:cTn id="17" dur="1" fill="hold">
                                    <p:stCondLst>
                                      <p:cond delay="0"/>
                                    </p:stCondLst>
                                  </p:cTn>
                                  <p:tgtEl>
                                    <p:spTgt spid="7"/>
                                  </p:tgtEl>
                                  <p:attrNameLst>
                                    <p:attrName>style.visibility</p:attrName>
                                  </p:attrNameLst>
                                </p:cBhvr>
                                <p:to>
                                  <p:strVal val="visible"/>
                                </p:to>
                              </p:set>
                              <p:anim calcmode="lin" valueType="num">
                                <p:cBhvr>
                                  <p:cTn id="18" dur="450" fill="hold"/>
                                  <p:tgtEl>
                                    <p:spTgt spid="7"/>
                                  </p:tgtEl>
                                  <p:attrNameLst>
                                    <p:attrName>ppt_w</p:attrName>
                                  </p:attrNameLst>
                                </p:cBhvr>
                                <p:tavLst>
                                  <p:tav tm="0">
                                    <p:val>
                                      <p:strVal val="#ppt_w*0.85"/>
                                    </p:val>
                                  </p:tav>
                                  <p:tav tm="100000">
                                    <p:val>
                                      <p:strVal val="#ppt_w"/>
                                    </p:val>
                                  </p:tav>
                                </p:tavLst>
                              </p:anim>
                              <p:animEffect transition="in" filter="fade">
                                <p:cBhvr>
                                  <p:cTn id="19" dur="450"/>
                                  <p:tgtEl>
                                    <p:spTgt spid="7"/>
                                  </p:tgtEl>
                                </p:cBhvr>
                              </p:animEffect>
                            </p:childTnLst>
                          </p:cTn>
                        </p:par>
                        <p:par>
                          <p:cTn id="20" presetID="53" presetClass="entr" presetSubtype="16" fill="hold" nodeType="withEffect">
                            <p:stCondLst>
                              <p:cond delay="560"/>
                            </p:stCondLst>
                            <p:childTnLst>
                              <p:set>
                                <p:cBhvr>
                                  <p:cTn id="21" dur="1" fill="hold">
                                    <p:stCondLst>
                                      <p:cond delay="0"/>
                                    </p:stCondLst>
                                  </p:cTn>
                                  <p:tgtEl>
                                    <p:spTgt spid="8"/>
                                  </p:tgtEl>
                                  <p:attrNameLst>
                                    <p:attrName>style.visibility</p:attrName>
                                  </p:attrNameLst>
                                </p:cBhvr>
                                <p:to>
                                  <p:strVal val="visible"/>
                                </p:to>
                              </p:set>
                              <p:anim calcmode="lin" valueType="num">
                                <p:cBhvr>
                                  <p:cTn id="22" dur="450" fill="hold"/>
                                  <p:tgtEl>
                                    <p:spTgt spid="8"/>
                                  </p:tgtEl>
                                  <p:attrNameLst>
                                    <p:attrName>ppt_w</p:attrName>
                                  </p:attrNameLst>
                                </p:cBhvr>
                                <p:tavLst>
                                  <p:tav tm="0">
                                    <p:val>
                                      <p:strVal val="#ppt_w*0.85"/>
                                    </p:val>
                                  </p:tav>
                                  <p:tav tm="100000">
                                    <p:val>
                                      <p:strVal val="#ppt_w"/>
                                    </p:val>
                                  </p:tav>
                                </p:tavLst>
                              </p:anim>
                              <p:animEffect transition="in" filter="fade">
                                <p:cBhvr>
                                  <p:cTn id="23" dur="450"/>
                                  <p:tgtEl>
                                    <p:spTgt spid="8"/>
                                  </p:tgtEl>
                                </p:cBhvr>
                              </p:animEffect>
                            </p:childTnLst>
                          </p:cTn>
                        </p:par>
                        <p:par>
                          <p:cTn id="24" presetID="53" presetClass="entr" presetSubtype="16" fill="hold" nodeType="withEffect">
                            <p:stCondLst>
                              <p:cond delay="700"/>
                            </p:stCondLst>
                            <p:childTnLst>
                              <p:set>
                                <p:cBhvr>
                                  <p:cTn id="25" dur="1" fill="hold">
                                    <p:stCondLst>
                                      <p:cond delay="0"/>
                                    </p:stCondLst>
                                  </p:cTn>
                                  <p:tgtEl>
                                    <p:spTgt spid="9"/>
                                  </p:tgtEl>
                                  <p:attrNameLst>
                                    <p:attrName>style.visibility</p:attrName>
                                  </p:attrNameLst>
                                </p:cBhvr>
                                <p:to>
                                  <p:strVal val="visible"/>
                                </p:to>
                              </p:set>
                              <p:anim calcmode="lin" valueType="num">
                                <p:cBhvr>
                                  <p:cTn id="26" dur="450" fill="hold"/>
                                  <p:tgtEl>
                                    <p:spTgt spid="9"/>
                                  </p:tgtEl>
                                  <p:attrNameLst>
                                    <p:attrName>ppt_w</p:attrName>
                                  </p:attrNameLst>
                                </p:cBhvr>
                                <p:tavLst>
                                  <p:tav tm="0">
                                    <p:val>
                                      <p:strVal val="#ppt_w*0.85"/>
                                    </p:val>
                                  </p:tav>
                                  <p:tav tm="100000">
                                    <p:val>
                                      <p:strVal val="#ppt_w"/>
                                    </p:val>
                                  </p:tav>
                                </p:tavLst>
                              </p:anim>
                              <p:animEffect transition="in" filter="fade">
                                <p:cBhvr>
                                  <p:cTn id="27" dur="450"/>
                                  <p:tgtEl>
                                    <p:spTgt spid="9"/>
                                  </p:tgtEl>
                                </p:cBhvr>
                              </p:animEffect>
                            </p:childTnLst>
                          </p:cTn>
                        </p:par>
                        <p:par>
                          <p:cTn id="28" presetID="53" presetClass="entr" presetSubtype="16" fill="hold" nodeType="withEffect">
                            <p:stCondLst>
                              <p:cond delay="840"/>
                            </p:stCondLst>
                            <p:childTnLst>
                              <p:set>
                                <p:cBhvr>
                                  <p:cTn id="29" dur="1" fill="hold">
                                    <p:stCondLst>
                                      <p:cond delay="0"/>
                                    </p:stCondLst>
                                  </p:cTn>
                                  <p:tgtEl>
                                    <p:spTgt spid="11"/>
                                  </p:tgtEl>
                                  <p:attrNameLst>
                                    <p:attrName>style.visibility</p:attrName>
                                  </p:attrNameLst>
                                </p:cBhvr>
                                <p:to>
                                  <p:strVal val="visible"/>
                                </p:to>
                              </p:set>
                              <p:anim calcmode="lin" valueType="num">
                                <p:cBhvr>
                                  <p:cTn id="30" dur="450" fill="hold"/>
                                  <p:tgtEl>
                                    <p:spTgt spid="11"/>
                                  </p:tgtEl>
                                  <p:attrNameLst>
                                    <p:attrName>ppt_w</p:attrName>
                                  </p:attrNameLst>
                                </p:cBhvr>
                                <p:tavLst>
                                  <p:tav tm="0">
                                    <p:val>
                                      <p:strVal val="#ppt_w*0.85"/>
                                    </p:val>
                                  </p:tav>
                                  <p:tav tm="100000">
                                    <p:val>
                                      <p:strVal val="#ppt_w"/>
                                    </p:val>
                                  </p:tav>
                                </p:tavLst>
                              </p:anim>
                              <p:animEffect transition="in" filter="fade">
                                <p:cBhvr>
                                  <p:cTn id="31" dur="450"/>
                                  <p:tgtEl>
                                    <p:spTgt spid="11"/>
                                  </p:tgtEl>
                                </p:cBhvr>
                              </p:animEffect>
                            </p:childTnLst>
                          </p:cTn>
                        </p:par>
                        <p:par>
                          <p:cTn id="32" presetID="53" presetClass="entr" presetSubtype="16" fill="hold" nodeType="withEffect">
                            <p:stCondLst>
                              <p:cond delay="980"/>
                            </p:stCondLst>
                            <p:childTnLst>
                              <p:set>
                                <p:cBhvr>
                                  <p:cTn id="33" dur="1" fill="hold">
                                    <p:stCondLst>
                                      <p:cond delay="0"/>
                                    </p:stCondLst>
                                  </p:cTn>
                                  <p:tgtEl>
                                    <p:spTgt spid="12"/>
                                  </p:tgtEl>
                                  <p:attrNameLst>
                                    <p:attrName>style.visibility</p:attrName>
                                  </p:attrNameLst>
                                </p:cBhvr>
                                <p:to>
                                  <p:strVal val="visible"/>
                                </p:to>
                              </p:set>
                              <p:anim calcmode="lin" valueType="num">
                                <p:cBhvr>
                                  <p:cTn id="34" dur="450" fill="hold"/>
                                  <p:tgtEl>
                                    <p:spTgt spid="12"/>
                                  </p:tgtEl>
                                  <p:attrNameLst>
                                    <p:attrName>ppt_w</p:attrName>
                                  </p:attrNameLst>
                                </p:cBhvr>
                                <p:tavLst>
                                  <p:tav tm="0">
                                    <p:val>
                                      <p:strVal val="#ppt_w*0.85"/>
                                    </p:val>
                                  </p:tav>
                                  <p:tav tm="100000">
                                    <p:val>
                                      <p:strVal val="#ppt_w"/>
                                    </p:val>
                                  </p:tav>
                                </p:tavLst>
                              </p:anim>
                              <p:animEffect transition="in" filter="fade">
                                <p:cBhvr>
                                  <p:cTn id="35" dur="450"/>
                                  <p:tgtEl>
                                    <p:spTgt spid="12"/>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3"/>
                                  </p:tgtEl>
                                  <p:attrNameLst>
                                    <p:attrName>style.visibility</p:attrName>
                                  </p:attrNameLst>
                                </p:cBhvr>
                                <p:to>
                                  <p:strVal val="visible"/>
                                </p:to>
                              </p:set>
                              <p:anim calcmode="lin" valueType="num">
                                <p:cBhvr>
                                  <p:cTn id="38" dur="450" fill="hold"/>
                                  <p:tgtEl>
                                    <p:spTgt spid="13"/>
                                  </p:tgtEl>
                                  <p:attrNameLst>
                                    <p:attrName>ppt_w</p:attrName>
                                  </p:attrNameLst>
                                </p:cBhvr>
                                <p:tavLst>
                                  <p:tav tm="0">
                                    <p:val>
                                      <p:strVal val="#ppt_w*0.85"/>
                                    </p:val>
                                  </p:tav>
                                  <p:tav tm="100000">
                                    <p:val>
                                      <p:strVal val="#ppt_w"/>
                                    </p:val>
                                  </p:tav>
                                </p:tavLst>
                              </p:anim>
                              <p:animEffect transition="in" filter="fade">
                                <p:cBhvr>
                                  <p:cTn id="39" dur="450"/>
                                  <p:tgtEl>
                                    <p:spTgt spid="13"/>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4"/>
                                  </p:tgtEl>
                                  <p:attrNameLst>
                                    <p:attrName>style.visibility</p:attrName>
                                  </p:attrNameLst>
                                </p:cBhvr>
                                <p:to>
                                  <p:strVal val="visible"/>
                                </p:to>
                              </p:set>
                              <p:anim calcmode="lin" valueType="num">
                                <p:cBhvr>
                                  <p:cTn id="42" dur="450" fill="hold"/>
                                  <p:tgtEl>
                                    <p:spTgt spid="14"/>
                                  </p:tgtEl>
                                  <p:attrNameLst>
                                    <p:attrName>ppt_w</p:attrName>
                                  </p:attrNameLst>
                                </p:cBhvr>
                                <p:tavLst>
                                  <p:tav tm="0">
                                    <p:val>
                                      <p:strVal val="#ppt_w*0.85"/>
                                    </p:val>
                                  </p:tav>
                                  <p:tav tm="100000">
                                    <p:val>
                                      <p:strVal val="#ppt_w"/>
                                    </p:val>
                                  </p:tav>
                                </p:tavLst>
                              </p:anim>
                              <p:animEffect transition="in" filter="fade">
                                <p:cBhvr>
                                  <p:cTn id="43" dur="450"/>
                                  <p:tgtEl>
                                    <p:spTgt spid="1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2" grpId="0"/>
      <p:bldP spid="13" grpId="0"/>
      <p:bldP spid="14"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bestiaire en action · 2/4</a:t>
            </a:r>
            <a:endParaRPr lang="en-US" sz="3600" dirty="0"/>
          </a:p>
        </p:txBody>
      </p:sp>
      <p:sp>
        <p:nvSpPr>
          <p:cNvPr id="3" name="Shape 1"/>
          <p:cNvSpPr/>
          <p:nvPr/>
        </p:nvSpPr>
        <p:spPr>
          <a:xfrm>
            <a:off x="621792" y="1399032"/>
            <a:ext cx="5440680" cy="3063240"/>
          </a:xfrm>
          <a:prstGeom prst="rect">
            <a:avLst/>
          </a:prstGeom>
          <a:solidFill>
            <a:schemeClr val="accent2"/>
          </a:solidFill>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325880"/>
            <a:ext cx="5440680" cy="3063240"/>
          </a:xfrm>
          <a:prstGeom prst="rect">
            <a:avLst/>
          </a:prstGeom>
        </p:spPr>
      </p:pic>
      <p:sp>
        <p:nvSpPr>
          <p:cNvPr id="5" name="Shape 2"/>
          <p:cNvSpPr/>
          <p:nvPr/>
        </p:nvSpPr>
        <p:spPr>
          <a:xfrm>
            <a:off x="548640" y="1325880"/>
            <a:ext cx="5440680" cy="3063240"/>
          </a:xfrm>
          <a:prstGeom prst="rect">
            <a:avLst/>
          </a:prstGeom>
          <a:ln w="31750">
            <a:solidFill>
              <a:schemeClr val="tx1"/>
            </a:solidFill>
            <a:prstDash val="solid"/>
          </a:ln>
        </p:spPr>
      </p:sp>
      <p:sp>
        <p:nvSpPr>
          <p:cNvPr id="6" name="Text 3"/>
          <p:cNvSpPr txBox="1"/>
          <p:nvPr/>
        </p:nvSpPr>
        <p:spPr>
          <a:xfrm>
            <a:off x="548640" y="4572000"/>
            <a:ext cx="544068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Sniper</a:t>
            </a:r>
            <a:endParaRPr lang="en-US" sz="2200" dirty="0"/>
          </a:p>
        </p:txBody>
      </p:sp>
      <p:sp>
        <p:nvSpPr>
          <p:cNvPr id="7" name="Text 4"/>
          <p:cNvSpPr txBox="1"/>
          <p:nvPr/>
        </p:nvSpPr>
        <p:spPr>
          <a:xfrm>
            <a:off x="548640" y="507492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DIT  </a:t>
            </a:r>
            <a:pPr indent="0" marL="0">
              <a:buNone/>
            </a:pPr>
            <a:r>
              <a:rPr lang="en-US" sz="1600" i="1" dirty="0">
                <a:solidFill>
                  <a:schemeClr val="tx1"/>
                </a:solidFill>
                <a:latin typeface="Arial" pitchFamily="34" charset="0"/>
                <a:ea typeface="Arial" pitchFamily="34" charset="-122"/>
                <a:cs typeface="Arial" pitchFamily="34" charset="-120"/>
              </a:rPr>
              <a:t>« Venant de toi, franchement… »</a:t>
            </a:r>
            <a:endParaRPr lang="en-US" sz="1600" dirty="0"/>
          </a:p>
        </p:txBody>
      </p:sp>
      <p:sp>
        <p:nvSpPr>
          <p:cNvPr id="8" name="Text 5"/>
          <p:cNvSpPr txBox="1"/>
          <p:nvPr/>
        </p:nvSpPr>
        <p:spPr>
          <a:xfrm>
            <a:off x="548640" y="548640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FAIT  </a:t>
            </a:r>
            <a:pPr indent="0" marL="0">
              <a:buNone/>
            </a:pPr>
            <a:r>
              <a:rPr lang="en-US" sz="1600" dirty="0">
                <a:solidFill>
                  <a:schemeClr val="tx1"/>
                </a:solidFill>
                <a:latin typeface="Arial" pitchFamily="34" charset="0"/>
                <a:ea typeface="Arial" pitchFamily="34" charset="-122"/>
                <a:cs typeface="Arial" pitchFamily="34" charset="-120"/>
              </a:rPr>
              <a:t>vise la personne, pas l'idée</a:t>
            </a:r>
            <a:endParaRPr lang="en-US" sz="1600" dirty="0"/>
          </a:p>
        </p:txBody>
      </p:sp>
      <p:sp>
        <p:nvSpPr>
          <p:cNvPr id="9" name="Shape 6"/>
          <p:cNvSpPr/>
          <p:nvPr/>
        </p:nvSpPr>
        <p:spPr>
          <a:xfrm>
            <a:off x="6245352" y="1399032"/>
            <a:ext cx="5440680" cy="3063240"/>
          </a:xfrm>
          <a:prstGeom prst="rect">
            <a:avLst/>
          </a:prstGeom>
          <a:solidFill>
            <a:schemeClr val="accent2"/>
          </a:solidFill>
          <a:ln/>
        </p:spPr>
      </p:sp>
      <p:pic>
        <p:nvPicPr>
          <p:cNvPr id="6"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6172200" y="1325880"/>
            <a:ext cx="5440680" cy="3063240"/>
          </a:xfrm>
          <a:prstGeom prst="rect">
            <a:avLst/>
          </a:prstGeom>
        </p:spPr>
      </p:pic>
      <p:sp>
        <p:nvSpPr>
          <p:cNvPr id="11" name="Shape 7"/>
          <p:cNvSpPr/>
          <p:nvPr/>
        </p:nvSpPr>
        <p:spPr>
          <a:xfrm>
            <a:off x="6172200" y="1325880"/>
            <a:ext cx="5440680" cy="3063240"/>
          </a:xfrm>
          <a:prstGeom prst="rect">
            <a:avLst/>
          </a:prstGeom>
          <a:ln w="31750">
            <a:solidFill>
              <a:schemeClr val="tx1"/>
            </a:solidFill>
            <a:prstDash val="solid"/>
          </a:ln>
        </p:spPr>
      </p:sp>
      <p:sp>
        <p:nvSpPr>
          <p:cNvPr id="12" name="Text 8"/>
          <p:cNvSpPr txBox="1"/>
          <p:nvPr/>
        </p:nvSpPr>
        <p:spPr>
          <a:xfrm>
            <a:off x="6172200" y="4572000"/>
            <a:ext cx="544068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Professeur</a:t>
            </a:r>
            <a:endParaRPr lang="en-US" sz="2200" dirty="0"/>
          </a:p>
        </p:txBody>
      </p:sp>
      <p:sp>
        <p:nvSpPr>
          <p:cNvPr id="13" name="Text 9"/>
          <p:cNvSpPr txBox="1"/>
          <p:nvPr/>
        </p:nvSpPr>
        <p:spPr>
          <a:xfrm>
            <a:off x="6172200" y="507492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DIT  </a:t>
            </a:r>
            <a:pPr indent="0" marL="0">
              <a:buNone/>
            </a:pPr>
            <a:r>
              <a:rPr lang="en-US" sz="1600" i="1" dirty="0">
                <a:solidFill>
                  <a:schemeClr val="tx1"/>
                </a:solidFill>
                <a:latin typeface="Arial" pitchFamily="34" charset="0"/>
                <a:ea typeface="Arial" pitchFamily="34" charset="-122"/>
                <a:cs typeface="Arial" pitchFamily="34" charset="-120"/>
              </a:rPr>
              <a:t>« Les études montrent que… »</a:t>
            </a:r>
            <a:endParaRPr lang="en-US" sz="1600" dirty="0"/>
          </a:p>
        </p:txBody>
      </p:sp>
      <p:sp>
        <p:nvSpPr>
          <p:cNvPr id="14" name="Text 10"/>
          <p:cNvSpPr txBox="1"/>
          <p:nvPr/>
        </p:nvSpPr>
        <p:spPr>
          <a:xfrm>
            <a:off x="6172200" y="548640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FAIT  </a:t>
            </a:r>
            <a:pPr indent="0" marL="0">
              <a:buNone/>
            </a:pPr>
            <a:r>
              <a:rPr lang="en-US" sz="1600" dirty="0">
                <a:solidFill>
                  <a:schemeClr val="tx1"/>
                </a:solidFill>
                <a:latin typeface="Arial" pitchFamily="34" charset="0"/>
                <a:ea typeface="Arial" pitchFamily="34" charset="-122"/>
                <a:cs typeface="Arial" pitchFamily="34" charset="-120"/>
              </a:rPr>
              <a:t>brandit l'autorité</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5"/>
                                  </p:tgtEl>
                                  <p:attrNameLst>
                                    <p:attrName>style.visibility</p:attrName>
                                  </p:attrNameLst>
                                </p:cBhvr>
                                <p:to>
                                  <p:strVal val="visible"/>
                                </p:to>
                              </p:set>
                              <p:anim calcmode="lin" valueType="num">
                                <p:cBhvr>
                                  <p:cTn id="10" dur="450" fill="hold"/>
                                  <p:tgtEl>
                                    <p:spTgt spid="5"/>
                                  </p:tgtEl>
                                  <p:attrNameLst>
                                    <p:attrName>ppt_w</p:attrName>
                                  </p:attrNameLst>
                                </p:cBhvr>
                                <p:tavLst>
                                  <p:tav tm="0">
                                    <p:val>
                                      <p:strVal val="#ppt_w*0.85"/>
                                    </p:val>
                                  </p:tav>
                                  <p:tav tm="100000">
                                    <p:val>
                                      <p:strVal val="#ppt_w"/>
                                    </p:val>
                                  </p:tav>
                                </p:tavLst>
                              </p:anim>
                              <p:animEffect transition="in" filter="fade">
                                <p:cBhvr>
                                  <p:cTn id="11" dur="450"/>
                                  <p:tgtEl>
                                    <p:spTgt spid="5"/>
                                  </p:tgtEl>
                                </p:cBhvr>
                              </p:animEffect>
                            </p:childTnLst>
                          </p:cTn>
                        </p:par>
                        <p:par>
                          <p:cTn id="12" presetID="53" presetClass="entr" presetSubtype="16" fill="hold" nodeType="withEffect">
                            <p:stCondLst>
                              <p:cond delay="280"/>
                            </p:stCondLst>
                            <p:childTnLst>
                              <p:set>
                                <p:cBhvr>
                                  <p:cTn id="13" dur="1" fill="hold">
                                    <p:stCondLst>
                                      <p:cond delay="0"/>
                                    </p:stCondLst>
                                  </p:cTn>
                                  <p:tgtEl>
                                    <p:spTgt spid="6"/>
                                  </p:tgtEl>
                                  <p:attrNameLst>
                                    <p:attrName>style.visibility</p:attrName>
                                  </p:attrNameLst>
                                </p:cBhvr>
                                <p:to>
                                  <p:strVal val="visible"/>
                                </p:to>
                              </p:set>
                              <p:anim calcmode="lin" valueType="num">
                                <p:cBhvr>
                                  <p:cTn id="14" dur="450" fill="hold"/>
                                  <p:tgtEl>
                                    <p:spTgt spid="6"/>
                                  </p:tgtEl>
                                  <p:attrNameLst>
                                    <p:attrName>ppt_w</p:attrName>
                                  </p:attrNameLst>
                                </p:cBhvr>
                                <p:tavLst>
                                  <p:tav tm="0">
                                    <p:val>
                                      <p:strVal val="#ppt_w*0.85"/>
                                    </p:val>
                                  </p:tav>
                                  <p:tav tm="100000">
                                    <p:val>
                                      <p:strVal val="#ppt_w"/>
                                    </p:val>
                                  </p:tav>
                                </p:tavLst>
                              </p:anim>
                              <p:animEffect transition="in" filter="fade">
                                <p:cBhvr>
                                  <p:cTn id="15" dur="450"/>
                                  <p:tgtEl>
                                    <p:spTgt spid="6"/>
                                  </p:tgtEl>
                                </p:cBhvr>
                              </p:animEffect>
                            </p:childTnLst>
                          </p:cTn>
                        </p:par>
                        <p:par>
                          <p:cTn id="16" presetID="53" presetClass="entr" presetSubtype="16" fill="hold" nodeType="withEffect">
                            <p:stCondLst>
                              <p:cond delay="420"/>
                            </p:stCondLst>
                            <p:childTnLst>
                              <p:set>
                                <p:cBhvr>
                                  <p:cTn id="17" dur="1" fill="hold">
                                    <p:stCondLst>
                                      <p:cond delay="0"/>
                                    </p:stCondLst>
                                  </p:cTn>
                                  <p:tgtEl>
                                    <p:spTgt spid="7"/>
                                  </p:tgtEl>
                                  <p:attrNameLst>
                                    <p:attrName>style.visibility</p:attrName>
                                  </p:attrNameLst>
                                </p:cBhvr>
                                <p:to>
                                  <p:strVal val="visible"/>
                                </p:to>
                              </p:set>
                              <p:anim calcmode="lin" valueType="num">
                                <p:cBhvr>
                                  <p:cTn id="18" dur="450" fill="hold"/>
                                  <p:tgtEl>
                                    <p:spTgt spid="7"/>
                                  </p:tgtEl>
                                  <p:attrNameLst>
                                    <p:attrName>ppt_w</p:attrName>
                                  </p:attrNameLst>
                                </p:cBhvr>
                                <p:tavLst>
                                  <p:tav tm="0">
                                    <p:val>
                                      <p:strVal val="#ppt_w*0.85"/>
                                    </p:val>
                                  </p:tav>
                                  <p:tav tm="100000">
                                    <p:val>
                                      <p:strVal val="#ppt_w"/>
                                    </p:val>
                                  </p:tav>
                                </p:tavLst>
                              </p:anim>
                              <p:animEffect transition="in" filter="fade">
                                <p:cBhvr>
                                  <p:cTn id="19" dur="450"/>
                                  <p:tgtEl>
                                    <p:spTgt spid="7"/>
                                  </p:tgtEl>
                                </p:cBhvr>
                              </p:animEffect>
                            </p:childTnLst>
                          </p:cTn>
                        </p:par>
                        <p:par>
                          <p:cTn id="20" presetID="53" presetClass="entr" presetSubtype="16" fill="hold" nodeType="withEffect">
                            <p:stCondLst>
                              <p:cond delay="560"/>
                            </p:stCondLst>
                            <p:childTnLst>
                              <p:set>
                                <p:cBhvr>
                                  <p:cTn id="21" dur="1" fill="hold">
                                    <p:stCondLst>
                                      <p:cond delay="0"/>
                                    </p:stCondLst>
                                  </p:cTn>
                                  <p:tgtEl>
                                    <p:spTgt spid="8"/>
                                  </p:tgtEl>
                                  <p:attrNameLst>
                                    <p:attrName>style.visibility</p:attrName>
                                  </p:attrNameLst>
                                </p:cBhvr>
                                <p:to>
                                  <p:strVal val="visible"/>
                                </p:to>
                              </p:set>
                              <p:anim calcmode="lin" valueType="num">
                                <p:cBhvr>
                                  <p:cTn id="22" dur="450" fill="hold"/>
                                  <p:tgtEl>
                                    <p:spTgt spid="8"/>
                                  </p:tgtEl>
                                  <p:attrNameLst>
                                    <p:attrName>ppt_w</p:attrName>
                                  </p:attrNameLst>
                                </p:cBhvr>
                                <p:tavLst>
                                  <p:tav tm="0">
                                    <p:val>
                                      <p:strVal val="#ppt_w*0.85"/>
                                    </p:val>
                                  </p:tav>
                                  <p:tav tm="100000">
                                    <p:val>
                                      <p:strVal val="#ppt_w"/>
                                    </p:val>
                                  </p:tav>
                                </p:tavLst>
                              </p:anim>
                              <p:animEffect transition="in" filter="fade">
                                <p:cBhvr>
                                  <p:cTn id="23" dur="450"/>
                                  <p:tgtEl>
                                    <p:spTgt spid="8"/>
                                  </p:tgtEl>
                                </p:cBhvr>
                              </p:animEffect>
                            </p:childTnLst>
                          </p:cTn>
                        </p:par>
                        <p:par>
                          <p:cTn id="24" presetID="53" presetClass="entr" presetSubtype="16" fill="hold" nodeType="withEffect">
                            <p:stCondLst>
                              <p:cond delay="700"/>
                            </p:stCondLst>
                            <p:childTnLst>
                              <p:set>
                                <p:cBhvr>
                                  <p:cTn id="25" dur="1" fill="hold">
                                    <p:stCondLst>
                                      <p:cond delay="0"/>
                                    </p:stCondLst>
                                  </p:cTn>
                                  <p:tgtEl>
                                    <p:spTgt spid="9"/>
                                  </p:tgtEl>
                                  <p:attrNameLst>
                                    <p:attrName>style.visibility</p:attrName>
                                  </p:attrNameLst>
                                </p:cBhvr>
                                <p:to>
                                  <p:strVal val="visible"/>
                                </p:to>
                              </p:set>
                              <p:anim calcmode="lin" valueType="num">
                                <p:cBhvr>
                                  <p:cTn id="26" dur="450" fill="hold"/>
                                  <p:tgtEl>
                                    <p:spTgt spid="9"/>
                                  </p:tgtEl>
                                  <p:attrNameLst>
                                    <p:attrName>ppt_w</p:attrName>
                                  </p:attrNameLst>
                                </p:cBhvr>
                                <p:tavLst>
                                  <p:tav tm="0">
                                    <p:val>
                                      <p:strVal val="#ppt_w*0.85"/>
                                    </p:val>
                                  </p:tav>
                                  <p:tav tm="100000">
                                    <p:val>
                                      <p:strVal val="#ppt_w"/>
                                    </p:val>
                                  </p:tav>
                                </p:tavLst>
                              </p:anim>
                              <p:animEffect transition="in" filter="fade">
                                <p:cBhvr>
                                  <p:cTn id="27" dur="450"/>
                                  <p:tgtEl>
                                    <p:spTgt spid="9"/>
                                  </p:tgtEl>
                                </p:cBhvr>
                              </p:animEffect>
                            </p:childTnLst>
                          </p:cTn>
                        </p:par>
                        <p:par>
                          <p:cTn id="28" presetID="53" presetClass="entr" presetSubtype="16" fill="hold" nodeType="withEffect">
                            <p:stCondLst>
                              <p:cond delay="840"/>
                            </p:stCondLst>
                            <p:childTnLst>
                              <p:set>
                                <p:cBhvr>
                                  <p:cTn id="29" dur="1" fill="hold">
                                    <p:stCondLst>
                                      <p:cond delay="0"/>
                                    </p:stCondLst>
                                  </p:cTn>
                                  <p:tgtEl>
                                    <p:spTgt spid="11"/>
                                  </p:tgtEl>
                                  <p:attrNameLst>
                                    <p:attrName>style.visibility</p:attrName>
                                  </p:attrNameLst>
                                </p:cBhvr>
                                <p:to>
                                  <p:strVal val="visible"/>
                                </p:to>
                              </p:set>
                              <p:anim calcmode="lin" valueType="num">
                                <p:cBhvr>
                                  <p:cTn id="30" dur="450" fill="hold"/>
                                  <p:tgtEl>
                                    <p:spTgt spid="11"/>
                                  </p:tgtEl>
                                  <p:attrNameLst>
                                    <p:attrName>ppt_w</p:attrName>
                                  </p:attrNameLst>
                                </p:cBhvr>
                                <p:tavLst>
                                  <p:tav tm="0">
                                    <p:val>
                                      <p:strVal val="#ppt_w*0.85"/>
                                    </p:val>
                                  </p:tav>
                                  <p:tav tm="100000">
                                    <p:val>
                                      <p:strVal val="#ppt_w"/>
                                    </p:val>
                                  </p:tav>
                                </p:tavLst>
                              </p:anim>
                              <p:animEffect transition="in" filter="fade">
                                <p:cBhvr>
                                  <p:cTn id="31" dur="450"/>
                                  <p:tgtEl>
                                    <p:spTgt spid="11"/>
                                  </p:tgtEl>
                                </p:cBhvr>
                              </p:animEffect>
                            </p:childTnLst>
                          </p:cTn>
                        </p:par>
                        <p:par>
                          <p:cTn id="32" presetID="53" presetClass="entr" presetSubtype="16" fill="hold" nodeType="withEffect">
                            <p:stCondLst>
                              <p:cond delay="980"/>
                            </p:stCondLst>
                            <p:childTnLst>
                              <p:set>
                                <p:cBhvr>
                                  <p:cTn id="33" dur="1" fill="hold">
                                    <p:stCondLst>
                                      <p:cond delay="0"/>
                                    </p:stCondLst>
                                  </p:cTn>
                                  <p:tgtEl>
                                    <p:spTgt spid="12"/>
                                  </p:tgtEl>
                                  <p:attrNameLst>
                                    <p:attrName>style.visibility</p:attrName>
                                  </p:attrNameLst>
                                </p:cBhvr>
                                <p:to>
                                  <p:strVal val="visible"/>
                                </p:to>
                              </p:set>
                              <p:anim calcmode="lin" valueType="num">
                                <p:cBhvr>
                                  <p:cTn id="34" dur="450" fill="hold"/>
                                  <p:tgtEl>
                                    <p:spTgt spid="12"/>
                                  </p:tgtEl>
                                  <p:attrNameLst>
                                    <p:attrName>ppt_w</p:attrName>
                                  </p:attrNameLst>
                                </p:cBhvr>
                                <p:tavLst>
                                  <p:tav tm="0">
                                    <p:val>
                                      <p:strVal val="#ppt_w*0.85"/>
                                    </p:val>
                                  </p:tav>
                                  <p:tav tm="100000">
                                    <p:val>
                                      <p:strVal val="#ppt_w"/>
                                    </p:val>
                                  </p:tav>
                                </p:tavLst>
                              </p:anim>
                              <p:animEffect transition="in" filter="fade">
                                <p:cBhvr>
                                  <p:cTn id="35" dur="450"/>
                                  <p:tgtEl>
                                    <p:spTgt spid="12"/>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3"/>
                                  </p:tgtEl>
                                  <p:attrNameLst>
                                    <p:attrName>style.visibility</p:attrName>
                                  </p:attrNameLst>
                                </p:cBhvr>
                                <p:to>
                                  <p:strVal val="visible"/>
                                </p:to>
                              </p:set>
                              <p:anim calcmode="lin" valueType="num">
                                <p:cBhvr>
                                  <p:cTn id="38" dur="450" fill="hold"/>
                                  <p:tgtEl>
                                    <p:spTgt spid="13"/>
                                  </p:tgtEl>
                                  <p:attrNameLst>
                                    <p:attrName>ppt_w</p:attrName>
                                  </p:attrNameLst>
                                </p:cBhvr>
                                <p:tavLst>
                                  <p:tav tm="0">
                                    <p:val>
                                      <p:strVal val="#ppt_w*0.85"/>
                                    </p:val>
                                  </p:tav>
                                  <p:tav tm="100000">
                                    <p:val>
                                      <p:strVal val="#ppt_w"/>
                                    </p:val>
                                  </p:tav>
                                </p:tavLst>
                              </p:anim>
                              <p:animEffect transition="in" filter="fade">
                                <p:cBhvr>
                                  <p:cTn id="39" dur="450"/>
                                  <p:tgtEl>
                                    <p:spTgt spid="13"/>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4"/>
                                  </p:tgtEl>
                                  <p:attrNameLst>
                                    <p:attrName>style.visibility</p:attrName>
                                  </p:attrNameLst>
                                </p:cBhvr>
                                <p:to>
                                  <p:strVal val="visible"/>
                                </p:to>
                              </p:set>
                              <p:anim calcmode="lin" valueType="num">
                                <p:cBhvr>
                                  <p:cTn id="42" dur="450" fill="hold"/>
                                  <p:tgtEl>
                                    <p:spTgt spid="14"/>
                                  </p:tgtEl>
                                  <p:attrNameLst>
                                    <p:attrName>ppt_w</p:attrName>
                                  </p:attrNameLst>
                                </p:cBhvr>
                                <p:tavLst>
                                  <p:tav tm="0">
                                    <p:val>
                                      <p:strVal val="#ppt_w*0.85"/>
                                    </p:val>
                                  </p:tav>
                                  <p:tav tm="100000">
                                    <p:val>
                                      <p:strVal val="#ppt_w"/>
                                    </p:val>
                                  </p:tav>
                                </p:tavLst>
                              </p:anim>
                              <p:animEffect transition="in" filter="fade">
                                <p:cBhvr>
                                  <p:cTn id="43" dur="450"/>
                                  <p:tgtEl>
                                    <p:spTgt spid="1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2" grpId="0"/>
      <p:bldP spid="13" grpId="0"/>
      <p:bldP spid="14"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bestiaire en action · 3/4</a:t>
            </a:r>
            <a:endParaRPr lang="en-US" sz="3600" dirty="0"/>
          </a:p>
        </p:txBody>
      </p:sp>
      <p:sp>
        <p:nvSpPr>
          <p:cNvPr id="3" name="Shape 1"/>
          <p:cNvSpPr/>
          <p:nvPr/>
        </p:nvSpPr>
        <p:spPr>
          <a:xfrm>
            <a:off x="621792" y="1399032"/>
            <a:ext cx="5440680" cy="3063240"/>
          </a:xfrm>
          <a:prstGeom prst="rect">
            <a:avLst/>
          </a:prstGeom>
          <a:solidFill>
            <a:schemeClr val="accent2"/>
          </a:solidFill>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325880"/>
            <a:ext cx="5440680" cy="3063240"/>
          </a:xfrm>
          <a:prstGeom prst="rect">
            <a:avLst/>
          </a:prstGeom>
        </p:spPr>
      </p:pic>
      <p:sp>
        <p:nvSpPr>
          <p:cNvPr id="5" name="Shape 2"/>
          <p:cNvSpPr/>
          <p:nvPr/>
        </p:nvSpPr>
        <p:spPr>
          <a:xfrm>
            <a:off x="548640" y="1325880"/>
            <a:ext cx="5440680" cy="3063240"/>
          </a:xfrm>
          <a:prstGeom prst="rect">
            <a:avLst/>
          </a:prstGeom>
          <a:ln w="31750">
            <a:solidFill>
              <a:schemeClr val="tx1"/>
            </a:solidFill>
            <a:prstDash val="solid"/>
          </a:ln>
        </p:spPr>
      </p:sp>
      <p:sp>
        <p:nvSpPr>
          <p:cNvPr id="6" name="Text 3"/>
          <p:cNvSpPr txBox="1"/>
          <p:nvPr/>
        </p:nvSpPr>
        <p:spPr>
          <a:xfrm>
            <a:off x="548640" y="4572000"/>
            <a:ext cx="544068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 Girouette</a:t>
            </a:r>
            <a:endParaRPr lang="en-US" sz="2200" dirty="0"/>
          </a:p>
        </p:txBody>
      </p:sp>
      <p:sp>
        <p:nvSpPr>
          <p:cNvPr id="7" name="Text 4"/>
          <p:cNvSpPr txBox="1"/>
          <p:nvPr/>
        </p:nvSpPr>
        <p:spPr>
          <a:xfrm>
            <a:off x="548640" y="507492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DIT  </a:t>
            </a:r>
            <a:pPr indent="0" marL="0">
              <a:buNone/>
            </a:pPr>
            <a:r>
              <a:rPr lang="en-US" sz="1600" i="1" dirty="0">
                <a:solidFill>
                  <a:schemeClr val="tx1"/>
                </a:solidFill>
                <a:latin typeface="Arial" pitchFamily="34" charset="0"/>
                <a:ea typeface="Arial" pitchFamily="34" charset="-122"/>
                <a:cs typeface="Arial" pitchFamily="34" charset="-120"/>
              </a:rPr>
              <a:t>« T'as raison! Toi aussi! »</a:t>
            </a:r>
            <a:endParaRPr lang="en-US" sz="1600" dirty="0"/>
          </a:p>
        </p:txBody>
      </p:sp>
      <p:sp>
        <p:nvSpPr>
          <p:cNvPr id="8" name="Text 5"/>
          <p:cNvSpPr txBox="1"/>
          <p:nvPr/>
        </p:nvSpPr>
        <p:spPr>
          <a:xfrm>
            <a:off x="548640" y="548640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FAIT  </a:t>
            </a:r>
            <a:pPr indent="0" marL="0">
              <a:buNone/>
            </a:pPr>
            <a:r>
              <a:rPr lang="en-US" sz="1600" dirty="0">
                <a:solidFill>
                  <a:schemeClr val="tx1"/>
                </a:solidFill>
                <a:latin typeface="Arial" pitchFamily="34" charset="0"/>
                <a:ea typeface="Arial" pitchFamily="34" charset="-122"/>
                <a:cs typeface="Arial" pitchFamily="34" charset="-120"/>
              </a:rPr>
              <a:t>suit le dernier qui parle</a:t>
            </a:r>
            <a:endParaRPr lang="en-US" sz="1600" dirty="0"/>
          </a:p>
        </p:txBody>
      </p:sp>
      <p:sp>
        <p:nvSpPr>
          <p:cNvPr id="9" name="Shape 6"/>
          <p:cNvSpPr/>
          <p:nvPr/>
        </p:nvSpPr>
        <p:spPr>
          <a:xfrm>
            <a:off x="6245352" y="1399032"/>
            <a:ext cx="5440680" cy="3063240"/>
          </a:xfrm>
          <a:prstGeom prst="rect">
            <a:avLst/>
          </a:prstGeom>
          <a:solidFill>
            <a:schemeClr val="accent2"/>
          </a:solidFill>
          <a:ln/>
        </p:spPr>
      </p:sp>
      <p:pic>
        <p:nvPicPr>
          <p:cNvPr id="6"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6172200" y="1325880"/>
            <a:ext cx="5440680" cy="3063240"/>
          </a:xfrm>
          <a:prstGeom prst="rect">
            <a:avLst/>
          </a:prstGeom>
        </p:spPr>
      </p:pic>
      <p:sp>
        <p:nvSpPr>
          <p:cNvPr id="11" name="Shape 7"/>
          <p:cNvSpPr/>
          <p:nvPr/>
        </p:nvSpPr>
        <p:spPr>
          <a:xfrm>
            <a:off x="6172200" y="1325880"/>
            <a:ext cx="5440680" cy="3063240"/>
          </a:xfrm>
          <a:prstGeom prst="rect">
            <a:avLst/>
          </a:prstGeom>
          <a:ln w="31750">
            <a:solidFill>
              <a:schemeClr val="tx1"/>
            </a:solidFill>
            <a:prstDash val="solid"/>
          </a:ln>
        </p:spPr>
      </p:sp>
      <p:sp>
        <p:nvSpPr>
          <p:cNvPr id="12" name="Text 8"/>
          <p:cNvSpPr txBox="1"/>
          <p:nvPr/>
        </p:nvSpPr>
        <p:spPr>
          <a:xfrm>
            <a:off x="6172200" y="4572000"/>
            <a:ext cx="544068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 Tortue</a:t>
            </a:r>
            <a:endParaRPr lang="en-US" sz="2200" dirty="0"/>
          </a:p>
        </p:txBody>
      </p:sp>
      <p:sp>
        <p:nvSpPr>
          <p:cNvPr id="13" name="Text 9"/>
          <p:cNvSpPr txBox="1"/>
          <p:nvPr/>
        </p:nvSpPr>
        <p:spPr>
          <a:xfrm>
            <a:off x="6172200" y="507492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DIT  </a:t>
            </a:r>
            <a:pPr indent="0" marL="0">
              <a:buNone/>
            </a:pPr>
            <a:r>
              <a:rPr lang="en-US" sz="1600" i="1" dirty="0">
                <a:solidFill>
                  <a:schemeClr val="tx1"/>
                </a:solidFill>
                <a:latin typeface="Arial" pitchFamily="34" charset="0"/>
                <a:ea typeface="Arial" pitchFamily="34" charset="-122"/>
                <a:cs typeface="Arial" pitchFamily="34" charset="-120"/>
              </a:rPr>
              <a:t>« … »</a:t>
            </a:r>
            <a:endParaRPr lang="en-US" sz="1600" dirty="0"/>
          </a:p>
        </p:txBody>
      </p:sp>
      <p:sp>
        <p:nvSpPr>
          <p:cNvPr id="14" name="Text 10"/>
          <p:cNvSpPr txBox="1"/>
          <p:nvPr/>
        </p:nvSpPr>
        <p:spPr>
          <a:xfrm>
            <a:off x="6172200" y="548640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FAIT  </a:t>
            </a:r>
            <a:pPr indent="0" marL="0">
              <a:buNone/>
            </a:pPr>
            <a:r>
              <a:rPr lang="en-US" sz="1600" dirty="0">
                <a:solidFill>
                  <a:schemeClr val="tx1"/>
                </a:solidFill>
                <a:latin typeface="Arial" pitchFamily="34" charset="0"/>
                <a:ea typeface="Arial" pitchFamily="34" charset="-122"/>
                <a:cs typeface="Arial" pitchFamily="34" charset="-120"/>
              </a:rPr>
              <a:t>se tait avec la meilleure idée</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5"/>
                                  </p:tgtEl>
                                  <p:attrNameLst>
                                    <p:attrName>style.visibility</p:attrName>
                                  </p:attrNameLst>
                                </p:cBhvr>
                                <p:to>
                                  <p:strVal val="visible"/>
                                </p:to>
                              </p:set>
                              <p:anim calcmode="lin" valueType="num">
                                <p:cBhvr>
                                  <p:cTn id="10" dur="450" fill="hold"/>
                                  <p:tgtEl>
                                    <p:spTgt spid="5"/>
                                  </p:tgtEl>
                                  <p:attrNameLst>
                                    <p:attrName>ppt_w</p:attrName>
                                  </p:attrNameLst>
                                </p:cBhvr>
                                <p:tavLst>
                                  <p:tav tm="0">
                                    <p:val>
                                      <p:strVal val="#ppt_w*0.85"/>
                                    </p:val>
                                  </p:tav>
                                  <p:tav tm="100000">
                                    <p:val>
                                      <p:strVal val="#ppt_w"/>
                                    </p:val>
                                  </p:tav>
                                </p:tavLst>
                              </p:anim>
                              <p:animEffect transition="in" filter="fade">
                                <p:cBhvr>
                                  <p:cTn id="11" dur="450"/>
                                  <p:tgtEl>
                                    <p:spTgt spid="5"/>
                                  </p:tgtEl>
                                </p:cBhvr>
                              </p:animEffect>
                            </p:childTnLst>
                          </p:cTn>
                        </p:par>
                        <p:par>
                          <p:cTn id="12" presetID="53" presetClass="entr" presetSubtype="16" fill="hold" nodeType="withEffect">
                            <p:stCondLst>
                              <p:cond delay="280"/>
                            </p:stCondLst>
                            <p:childTnLst>
                              <p:set>
                                <p:cBhvr>
                                  <p:cTn id="13" dur="1" fill="hold">
                                    <p:stCondLst>
                                      <p:cond delay="0"/>
                                    </p:stCondLst>
                                  </p:cTn>
                                  <p:tgtEl>
                                    <p:spTgt spid="6"/>
                                  </p:tgtEl>
                                  <p:attrNameLst>
                                    <p:attrName>style.visibility</p:attrName>
                                  </p:attrNameLst>
                                </p:cBhvr>
                                <p:to>
                                  <p:strVal val="visible"/>
                                </p:to>
                              </p:set>
                              <p:anim calcmode="lin" valueType="num">
                                <p:cBhvr>
                                  <p:cTn id="14" dur="450" fill="hold"/>
                                  <p:tgtEl>
                                    <p:spTgt spid="6"/>
                                  </p:tgtEl>
                                  <p:attrNameLst>
                                    <p:attrName>ppt_w</p:attrName>
                                  </p:attrNameLst>
                                </p:cBhvr>
                                <p:tavLst>
                                  <p:tav tm="0">
                                    <p:val>
                                      <p:strVal val="#ppt_w*0.85"/>
                                    </p:val>
                                  </p:tav>
                                  <p:tav tm="100000">
                                    <p:val>
                                      <p:strVal val="#ppt_w"/>
                                    </p:val>
                                  </p:tav>
                                </p:tavLst>
                              </p:anim>
                              <p:animEffect transition="in" filter="fade">
                                <p:cBhvr>
                                  <p:cTn id="15" dur="450"/>
                                  <p:tgtEl>
                                    <p:spTgt spid="6"/>
                                  </p:tgtEl>
                                </p:cBhvr>
                              </p:animEffect>
                            </p:childTnLst>
                          </p:cTn>
                        </p:par>
                        <p:par>
                          <p:cTn id="16" presetID="53" presetClass="entr" presetSubtype="16" fill="hold" nodeType="withEffect">
                            <p:stCondLst>
                              <p:cond delay="420"/>
                            </p:stCondLst>
                            <p:childTnLst>
                              <p:set>
                                <p:cBhvr>
                                  <p:cTn id="17" dur="1" fill="hold">
                                    <p:stCondLst>
                                      <p:cond delay="0"/>
                                    </p:stCondLst>
                                  </p:cTn>
                                  <p:tgtEl>
                                    <p:spTgt spid="7"/>
                                  </p:tgtEl>
                                  <p:attrNameLst>
                                    <p:attrName>style.visibility</p:attrName>
                                  </p:attrNameLst>
                                </p:cBhvr>
                                <p:to>
                                  <p:strVal val="visible"/>
                                </p:to>
                              </p:set>
                              <p:anim calcmode="lin" valueType="num">
                                <p:cBhvr>
                                  <p:cTn id="18" dur="450" fill="hold"/>
                                  <p:tgtEl>
                                    <p:spTgt spid="7"/>
                                  </p:tgtEl>
                                  <p:attrNameLst>
                                    <p:attrName>ppt_w</p:attrName>
                                  </p:attrNameLst>
                                </p:cBhvr>
                                <p:tavLst>
                                  <p:tav tm="0">
                                    <p:val>
                                      <p:strVal val="#ppt_w*0.85"/>
                                    </p:val>
                                  </p:tav>
                                  <p:tav tm="100000">
                                    <p:val>
                                      <p:strVal val="#ppt_w"/>
                                    </p:val>
                                  </p:tav>
                                </p:tavLst>
                              </p:anim>
                              <p:animEffect transition="in" filter="fade">
                                <p:cBhvr>
                                  <p:cTn id="19" dur="450"/>
                                  <p:tgtEl>
                                    <p:spTgt spid="7"/>
                                  </p:tgtEl>
                                </p:cBhvr>
                              </p:animEffect>
                            </p:childTnLst>
                          </p:cTn>
                        </p:par>
                        <p:par>
                          <p:cTn id="20" presetID="53" presetClass="entr" presetSubtype="16" fill="hold" nodeType="withEffect">
                            <p:stCondLst>
                              <p:cond delay="560"/>
                            </p:stCondLst>
                            <p:childTnLst>
                              <p:set>
                                <p:cBhvr>
                                  <p:cTn id="21" dur="1" fill="hold">
                                    <p:stCondLst>
                                      <p:cond delay="0"/>
                                    </p:stCondLst>
                                  </p:cTn>
                                  <p:tgtEl>
                                    <p:spTgt spid="8"/>
                                  </p:tgtEl>
                                  <p:attrNameLst>
                                    <p:attrName>style.visibility</p:attrName>
                                  </p:attrNameLst>
                                </p:cBhvr>
                                <p:to>
                                  <p:strVal val="visible"/>
                                </p:to>
                              </p:set>
                              <p:anim calcmode="lin" valueType="num">
                                <p:cBhvr>
                                  <p:cTn id="22" dur="450" fill="hold"/>
                                  <p:tgtEl>
                                    <p:spTgt spid="8"/>
                                  </p:tgtEl>
                                  <p:attrNameLst>
                                    <p:attrName>ppt_w</p:attrName>
                                  </p:attrNameLst>
                                </p:cBhvr>
                                <p:tavLst>
                                  <p:tav tm="0">
                                    <p:val>
                                      <p:strVal val="#ppt_w*0.85"/>
                                    </p:val>
                                  </p:tav>
                                  <p:tav tm="100000">
                                    <p:val>
                                      <p:strVal val="#ppt_w"/>
                                    </p:val>
                                  </p:tav>
                                </p:tavLst>
                              </p:anim>
                              <p:animEffect transition="in" filter="fade">
                                <p:cBhvr>
                                  <p:cTn id="23" dur="450"/>
                                  <p:tgtEl>
                                    <p:spTgt spid="8"/>
                                  </p:tgtEl>
                                </p:cBhvr>
                              </p:animEffect>
                            </p:childTnLst>
                          </p:cTn>
                        </p:par>
                        <p:par>
                          <p:cTn id="24" presetID="53" presetClass="entr" presetSubtype="16" fill="hold" nodeType="withEffect">
                            <p:stCondLst>
                              <p:cond delay="700"/>
                            </p:stCondLst>
                            <p:childTnLst>
                              <p:set>
                                <p:cBhvr>
                                  <p:cTn id="25" dur="1" fill="hold">
                                    <p:stCondLst>
                                      <p:cond delay="0"/>
                                    </p:stCondLst>
                                  </p:cTn>
                                  <p:tgtEl>
                                    <p:spTgt spid="9"/>
                                  </p:tgtEl>
                                  <p:attrNameLst>
                                    <p:attrName>style.visibility</p:attrName>
                                  </p:attrNameLst>
                                </p:cBhvr>
                                <p:to>
                                  <p:strVal val="visible"/>
                                </p:to>
                              </p:set>
                              <p:anim calcmode="lin" valueType="num">
                                <p:cBhvr>
                                  <p:cTn id="26" dur="450" fill="hold"/>
                                  <p:tgtEl>
                                    <p:spTgt spid="9"/>
                                  </p:tgtEl>
                                  <p:attrNameLst>
                                    <p:attrName>ppt_w</p:attrName>
                                  </p:attrNameLst>
                                </p:cBhvr>
                                <p:tavLst>
                                  <p:tav tm="0">
                                    <p:val>
                                      <p:strVal val="#ppt_w*0.85"/>
                                    </p:val>
                                  </p:tav>
                                  <p:tav tm="100000">
                                    <p:val>
                                      <p:strVal val="#ppt_w"/>
                                    </p:val>
                                  </p:tav>
                                </p:tavLst>
                              </p:anim>
                              <p:animEffect transition="in" filter="fade">
                                <p:cBhvr>
                                  <p:cTn id="27" dur="450"/>
                                  <p:tgtEl>
                                    <p:spTgt spid="9"/>
                                  </p:tgtEl>
                                </p:cBhvr>
                              </p:animEffect>
                            </p:childTnLst>
                          </p:cTn>
                        </p:par>
                        <p:par>
                          <p:cTn id="28" presetID="53" presetClass="entr" presetSubtype="16" fill="hold" nodeType="withEffect">
                            <p:stCondLst>
                              <p:cond delay="840"/>
                            </p:stCondLst>
                            <p:childTnLst>
                              <p:set>
                                <p:cBhvr>
                                  <p:cTn id="29" dur="1" fill="hold">
                                    <p:stCondLst>
                                      <p:cond delay="0"/>
                                    </p:stCondLst>
                                  </p:cTn>
                                  <p:tgtEl>
                                    <p:spTgt spid="11"/>
                                  </p:tgtEl>
                                  <p:attrNameLst>
                                    <p:attrName>style.visibility</p:attrName>
                                  </p:attrNameLst>
                                </p:cBhvr>
                                <p:to>
                                  <p:strVal val="visible"/>
                                </p:to>
                              </p:set>
                              <p:anim calcmode="lin" valueType="num">
                                <p:cBhvr>
                                  <p:cTn id="30" dur="450" fill="hold"/>
                                  <p:tgtEl>
                                    <p:spTgt spid="11"/>
                                  </p:tgtEl>
                                  <p:attrNameLst>
                                    <p:attrName>ppt_w</p:attrName>
                                  </p:attrNameLst>
                                </p:cBhvr>
                                <p:tavLst>
                                  <p:tav tm="0">
                                    <p:val>
                                      <p:strVal val="#ppt_w*0.85"/>
                                    </p:val>
                                  </p:tav>
                                  <p:tav tm="100000">
                                    <p:val>
                                      <p:strVal val="#ppt_w"/>
                                    </p:val>
                                  </p:tav>
                                </p:tavLst>
                              </p:anim>
                              <p:animEffect transition="in" filter="fade">
                                <p:cBhvr>
                                  <p:cTn id="31" dur="450"/>
                                  <p:tgtEl>
                                    <p:spTgt spid="11"/>
                                  </p:tgtEl>
                                </p:cBhvr>
                              </p:animEffect>
                            </p:childTnLst>
                          </p:cTn>
                        </p:par>
                        <p:par>
                          <p:cTn id="32" presetID="53" presetClass="entr" presetSubtype="16" fill="hold" nodeType="withEffect">
                            <p:stCondLst>
                              <p:cond delay="980"/>
                            </p:stCondLst>
                            <p:childTnLst>
                              <p:set>
                                <p:cBhvr>
                                  <p:cTn id="33" dur="1" fill="hold">
                                    <p:stCondLst>
                                      <p:cond delay="0"/>
                                    </p:stCondLst>
                                  </p:cTn>
                                  <p:tgtEl>
                                    <p:spTgt spid="12"/>
                                  </p:tgtEl>
                                  <p:attrNameLst>
                                    <p:attrName>style.visibility</p:attrName>
                                  </p:attrNameLst>
                                </p:cBhvr>
                                <p:to>
                                  <p:strVal val="visible"/>
                                </p:to>
                              </p:set>
                              <p:anim calcmode="lin" valueType="num">
                                <p:cBhvr>
                                  <p:cTn id="34" dur="450" fill="hold"/>
                                  <p:tgtEl>
                                    <p:spTgt spid="12"/>
                                  </p:tgtEl>
                                  <p:attrNameLst>
                                    <p:attrName>ppt_w</p:attrName>
                                  </p:attrNameLst>
                                </p:cBhvr>
                                <p:tavLst>
                                  <p:tav tm="0">
                                    <p:val>
                                      <p:strVal val="#ppt_w*0.85"/>
                                    </p:val>
                                  </p:tav>
                                  <p:tav tm="100000">
                                    <p:val>
                                      <p:strVal val="#ppt_w"/>
                                    </p:val>
                                  </p:tav>
                                </p:tavLst>
                              </p:anim>
                              <p:animEffect transition="in" filter="fade">
                                <p:cBhvr>
                                  <p:cTn id="35" dur="450"/>
                                  <p:tgtEl>
                                    <p:spTgt spid="12"/>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3"/>
                                  </p:tgtEl>
                                  <p:attrNameLst>
                                    <p:attrName>style.visibility</p:attrName>
                                  </p:attrNameLst>
                                </p:cBhvr>
                                <p:to>
                                  <p:strVal val="visible"/>
                                </p:to>
                              </p:set>
                              <p:anim calcmode="lin" valueType="num">
                                <p:cBhvr>
                                  <p:cTn id="38" dur="450" fill="hold"/>
                                  <p:tgtEl>
                                    <p:spTgt spid="13"/>
                                  </p:tgtEl>
                                  <p:attrNameLst>
                                    <p:attrName>ppt_w</p:attrName>
                                  </p:attrNameLst>
                                </p:cBhvr>
                                <p:tavLst>
                                  <p:tav tm="0">
                                    <p:val>
                                      <p:strVal val="#ppt_w*0.85"/>
                                    </p:val>
                                  </p:tav>
                                  <p:tav tm="100000">
                                    <p:val>
                                      <p:strVal val="#ppt_w"/>
                                    </p:val>
                                  </p:tav>
                                </p:tavLst>
                              </p:anim>
                              <p:animEffect transition="in" filter="fade">
                                <p:cBhvr>
                                  <p:cTn id="39" dur="450"/>
                                  <p:tgtEl>
                                    <p:spTgt spid="13"/>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4"/>
                                  </p:tgtEl>
                                  <p:attrNameLst>
                                    <p:attrName>style.visibility</p:attrName>
                                  </p:attrNameLst>
                                </p:cBhvr>
                                <p:to>
                                  <p:strVal val="visible"/>
                                </p:to>
                              </p:set>
                              <p:anim calcmode="lin" valueType="num">
                                <p:cBhvr>
                                  <p:cTn id="42" dur="450" fill="hold"/>
                                  <p:tgtEl>
                                    <p:spTgt spid="14"/>
                                  </p:tgtEl>
                                  <p:attrNameLst>
                                    <p:attrName>ppt_w</p:attrName>
                                  </p:attrNameLst>
                                </p:cBhvr>
                                <p:tavLst>
                                  <p:tav tm="0">
                                    <p:val>
                                      <p:strVal val="#ppt_w*0.85"/>
                                    </p:val>
                                  </p:tav>
                                  <p:tav tm="100000">
                                    <p:val>
                                      <p:strVal val="#ppt_w"/>
                                    </p:val>
                                  </p:tav>
                                </p:tavLst>
                              </p:anim>
                              <p:animEffect transition="in" filter="fade">
                                <p:cBhvr>
                                  <p:cTn id="43" dur="450"/>
                                  <p:tgtEl>
                                    <p:spTgt spid="1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2" grpId="0"/>
      <p:bldP spid="13"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bestiaire en action · 4/4</a:t>
            </a:r>
            <a:endParaRPr lang="en-US" sz="3600" dirty="0"/>
          </a:p>
        </p:txBody>
      </p:sp>
      <p:sp>
        <p:nvSpPr>
          <p:cNvPr id="3" name="Shape 1"/>
          <p:cNvSpPr/>
          <p:nvPr/>
        </p:nvSpPr>
        <p:spPr>
          <a:xfrm>
            <a:off x="621792" y="1399032"/>
            <a:ext cx="5440680" cy="3063240"/>
          </a:xfrm>
          <a:prstGeom prst="rect">
            <a:avLst/>
          </a:prstGeom>
          <a:solidFill>
            <a:schemeClr val="accent2"/>
          </a:solidFill>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325880"/>
            <a:ext cx="5440680" cy="3063240"/>
          </a:xfrm>
          <a:prstGeom prst="rect">
            <a:avLst/>
          </a:prstGeom>
        </p:spPr>
      </p:pic>
      <p:sp>
        <p:nvSpPr>
          <p:cNvPr id="5" name="Shape 2"/>
          <p:cNvSpPr/>
          <p:nvPr/>
        </p:nvSpPr>
        <p:spPr>
          <a:xfrm>
            <a:off x="548640" y="1325880"/>
            <a:ext cx="5440680" cy="3063240"/>
          </a:xfrm>
          <a:prstGeom prst="rect">
            <a:avLst/>
          </a:prstGeom>
          <a:ln w="31750">
            <a:solidFill>
              <a:schemeClr val="tx1"/>
            </a:solidFill>
            <a:prstDash val="solid"/>
          </a:ln>
        </p:spPr>
      </p:sp>
      <p:sp>
        <p:nvSpPr>
          <p:cNvPr id="6" name="Text 3"/>
          <p:cNvSpPr txBox="1"/>
          <p:nvPr/>
        </p:nvSpPr>
        <p:spPr>
          <a:xfrm>
            <a:off x="548640" y="4572000"/>
            <a:ext cx="544068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L'Avocat du diable</a:t>
            </a:r>
            <a:endParaRPr lang="en-US" sz="2200" dirty="0"/>
          </a:p>
        </p:txBody>
      </p:sp>
      <p:sp>
        <p:nvSpPr>
          <p:cNvPr id="7" name="Text 4"/>
          <p:cNvSpPr txBox="1"/>
          <p:nvPr/>
        </p:nvSpPr>
        <p:spPr>
          <a:xfrm>
            <a:off x="548640" y="507492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DIT  </a:t>
            </a:r>
            <a:pPr indent="0" marL="0">
              <a:buNone/>
            </a:pPr>
            <a:r>
              <a:rPr lang="en-US" sz="1600" i="1" dirty="0">
                <a:solidFill>
                  <a:schemeClr val="tx1"/>
                </a:solidFill>
                <a:latin typeface="Arial" pitchFamily="34" charset="0"/>
                <a:ea typeface="Arial" pitchFamily="34" charset="-122"/>
                <a:cs typeface="Arial" pitchFamily="34" charset="-120"/>
              </a:rPr>
              <a:t>« Juste pour jouer… prouve-le! »</a:t>
            </a:r>
            <a:endParaRPr lang="en-US" sz="1600" dirty="0"/>
          </a:p>
        </p:txBody>
      </p:sp>
      <p:sp>
        <p:nvSpPr>
          <p:cNvPr id="8" name="Text 5"/>
          <p:cNvSpPr txBox="1"/>
          <p:nvPr/>
        </p:nvSpPr>
        <p:spPr>
          <a:xfrm>
            <a:off x="548640" y="548640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FAIT  </a:t>
            </a:r>
            <a:pPr indent="0" marL="0">
              <a:buNone/>
            </a:pPr>
            <a:r>
              <a:rPr lang="en-US" sz="1600" dirty="0">
                <a:solidFill>
                  <a:schemeClr val="tx1"/>
                </a:solidFill>
                <a:latin typeface="Arial" pitchFamily="34" charset="0"/>
                <a:ea typeface="Arial" pitchFamily="34" charset="-122"/>
                <a:cs typeface="Arial" pitchFamily="34" charset="-120"/>
              </a:rPr>
              <a:t>contredit tout</a:t>
            </a:r>
            <a:endParaRPr lang="en-US" sz="1600" dirty="0"/>
          </a:p>
        </p:txBody>
      </p:sp>
      <p:sp>
        <p:nvSpPr>
          <p:cNvPr id="9" name="Shape 6"/>
          <p:cNvSpPr/>
          <p:nvPr/>
        </p:nvSpPr>
        <p:spPr>
          <a:xfrm>
            <a:off x="6245352" y="1399032"/>
            <a:ext cx="5440680" cy="3063240"/>
          </a:xfrm>
          <a:prstGeom prst="rect">
            <a:avLst/>
          </a:prstGeom>
          <a:solidFill>
            <a:schemeClr val="accent2"/>
          </a:solidFill>
          <a:ln/>
        </p:spPr>
      </p:sp>
      <p:pic>
        <p:nvPicPr>
          <p:cNvPr id="6"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6172200" y="1325880"/>
            <a:ext cx="5440680" cy="3063240"/>
          </a:xfrm>
          <a:prstGeom prst="rect">
            <a:avLst/>
          </a:prstGeom>
        </p:spPr>
      </p:pic>
      <p:sp>
        <p:nvSpPr>
          <p:cNvPr id="11" name="Shape 7"/>
          <p:cNvSpPr/>
          <p:nvPr/>
        </p:nvSpPr>
        <p:spPr>
          <a:xfrm>
            <a:off x="6172200" y="1325880"/>
            <a:ext cx="5440680" cy="3063240"/>
          </a:xfrm>
          <a:prstGeom prst="rect">
            <a:avLst/>
          </a:prstGeom>
          <a:ln w="31750">
            <a:solidFill>
              <a:schemeClr val="tx1"/>
            </a:solidFill>
            <a:prstDash val="solid"/>
          </a:ln>
        </p:spPr>
      </p:sp>
      <p:sp>
        <p:nvSpPr>
          <p:cNvPr id="12" name="Text 8"/>
          <p:cNvSpPr txBox="1"/>
          <p:nvPr/>
        </p:nvSpPr>
        <p:spPr>
          <a:xfrm>
            <a:off x="6172200" y="4572000"/>
            <a:ext cx="544068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Bâtisseur</a:t>
            </a:r>
            <a:endParaRPr lang="en-US" sz="2200" dirty="0"/>
          </a:p>
        </p:txBody>
      </p:sp>
      <p:sp>
        <p:nvSpPr>
          <p:cNvPr id="13" name="Text 9"/>
          <p:cNvSpPr txBox="1"/>
          <p:nvPr/>
        </p:nvSpPr>
        <p:spPr>
          <a:xfrm>
            <a:off x="6172200" y="507492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DIT  </a:t>
            </a:r>
            <a:pPr indent="0" marL="0">
              <a:buNone/>
            </a:pPr>
            <a:r>
              <a:rPr lang="en-US" sz="1600" i="1" dirty="0">
                <a:solidFill>
                  <a:schemeClr val="tx1"/>
                </a:solidFill>
                <a:latin typeface="Arial" pitchFamily="34" charset="0"/>
                <a:ea typeface="Arial" pitchFamily="34" charset="-122"/>
                <a:cs typeface="Arial" pitchFamily="34" charset="-120"/>
              </a:rPr>
              <a:t>« Si je te comprends bien… »</a:t>
            </a:r>
            <a:endParaRPr lang="en-US" sz="1600" dirty="0"/>
          </a:p>
        </p:txBody>
      </p:sp>
      <p:sp>
        <p:nvSpPr>
          <p:cNvPr id="14" name="Text 10"/>
          <p:cNvSpPr txBox="1"/>
          <p:nvPr/>
        </p:nvSpPr>
        <p:spPr>
          <a:xfrm>
            <a:off x="6172200" y="5486400"/>
            <a:ext cx="5440680" cy="41148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FAIT  </a:t>
            </a:r>
            <a:pPr indent="0" marL="0">
              <a:buNone/>
            </a:pPr>
            <a:r>
              <a:rPr lang="en-US" sz="1600" dirty="0">
                <a:solidFill>
                  <a:schemeClr val="tx1"/>
                </a:solidFill>
                <a:latin typeface="Arial" pitchFamily="34" charset="0"/>
                <a:ea typeface="Arial" pitchFamily="34" charset="-122"/>
                <a:cs typeface="Arial" pitchFamily="34" charset="-120"/>
              </a:rPr>
              <a:t>reformule, puis construit</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5"/>
                                  </p:tgtEl>
                                  <p:attrNameLst>
                                    <p:attrName>style.visibility</p:attrName>
                                  </p:attrNameLst>
                                </p:cBhvr>
                                <p:to>
                                  <p:strVal val="visible"/>
                                </p:to>
                              </p:set>
                              <p:anim calcmode="lin" valueType="num">
                                <p:cBhvr>
                                  <p:cTn id="10" dur="450" fill="hold"/>
                                  <p:tgtEl>
                                    <p:spTgt spid="5"/>
                                  </p:tgtEl>
                                  <p:attrNameLst>
                                    <p:attrName>ppt_w</p:attrName>
                                  </p:attrNameLst>
                                </p:cBhvr>
                                <p:tavLst>
                                  <p:tav tm="0">
                                    <p:val>
                                      <p:strVal val="#ppt_w*0.85"/>
                                    </p:val>
                                  </p:tav>
                                  <p:tav tm="100000">
                                    <p:val>
                                      <p:strVal val="#ppt_w"/>
                                    </p:val>
                                  </p:tav>
                                </p:tavLst>
                              </p:anim>
                              <p:animEffect transition="in" filter="fade">
                                <p:cBhvr>
                                  <p:cTn id="11" dur="450"/>
                                  <p:tgtEl>
                                    <p:spTgt spid="5"/>
                                  </p:tgtEl>
                                </p:cBhvr>
                              </p:animEffect>
                            </p:childTnLst>
                          </p:cTn>
                        </p:par>
                        <p:par>
                          <p:cTn id="12" presetID="53" presetClass="entr" presetSubtype="16" fill="hold" nodeType="withEffect">
                            <p:stCondLst>
                              <p:cond delay="280"/>
                            </p:stCondLst>
                            <p:childTnLst>
                              <p:set>
                                <p:cBhvr>
                                  <p:cTn id="13" dur="1" fill="hold">
                                    <p:stCondLst>
                                      <p:cond delay="0"/>
                                    </p:stCondLst>
                                  </p:cTn>
                                  <p:tgtEl>
                                    <p:spTgt spid="6"/>
                                  </p:tgtEl>
                                  <p:attrNameLst>
                                    <p:attrName>style.visibility</p:attrName>
                                  </p:attrNameLst>
                                </p:cBhvr>
                                <p:to>
                                  <p:strVal val="visible"/>
                                </p:to>
                              </p:set>
                              <p:anim calcmode="lin" valueType="num">
                                <p:cBhvr>
                                  <p:cTn id="14" dur="450" fill="hold"/>
                                  <p:tgtEl>
                                    <p:spTgt spid="6"/>
                                  </p:tgtEl>
                                  <p:attrNameLst>
                                    <p:attrName>ppt_w</p:attrName>
                                  </p:attrNameLst>
                                </p:cBhvr>
                                <p:tavLst>
                                  <p:tav tm="0">
                                    <p:val>
                                      <p:strVal val="#ppt_w*0.85"/>
                                    </p:val>
                                  </p:tav>
                                  <p:tav tm="100000">
                                    <p:val>
                                      <p:strVal val="#ppt_w"/>
                                    </p:val>
                                  </p:tav>
                                </p:tavLst>
                              </p:anim>
                              <p:animEffect transition="in" filter="fade">
                                <p:cBhvr>
                                  <p:cTn id="15" dur="450"/>
                                  <p:tgtEl>
                                    <p:spTgt spid="6"/>
                                  </p:tgtEl>
                                </p:cBhvr>
                              </p:animEffect>
                            </p:childTnLst>
                          </p:cTn>
                        </p:par>
                        <p:par>
                          <p:cTn id="16" presetID="53" presetClass="entr" presetSubtype="16" fill="hold" nodeType="withEffect">
                            <p:stCondLst>
                              <p:cond delay="420"/>
                            </p:stCondLst>
                            <p:childTnLst>
                              <p:set>
                                <p:cBhvr>
                                  <p:cTn id="17" dur="1" fill="hold">
                                    <p:stCondLst>
                                      <p:cond delay="0"/>
                                    </p:stCondLst>
                                  </p:cTn>
                                  <p:tgtEl>
                                    <p:spTgt spid="7"/>
                                  </p:tgtEl>
                                  <p:attrNameLst>
                                    <p:attrName>style.visibility</p:attrName>
                                  </p:attrNameLst>
                                </p:cBhvr>
                                <p:to>
                                  <p:strVal val="visible"/>
                                </p:to>
                              </p:set>
                              <p:anim calcmode="lin" valueType="num">
                                <p:cBhvr>
                                  <p:cTn id="18" dur="450" fill="hold"/>
                                  <p:tgtEl>
                                    <p:spTgt spid="7"/>
                                  </p:tgtEl>
                                  <p:attrNameLst>
                                    <p:attrName>ppt_w</p:attrName>
                                  </p:attrNameLst>
                                </p:cBhvr>
                                <p:tavLst>
                                  <p:tav tm="0">
                                    <p:val>
                                      <p:strVal val="#ppt_w*0.85"/>
                                    </p:val>
                                  </p:tav>
                                  <p:tav tm="100000">
                                    <p:val>
                                      <p:strVal val="#ppt_w"/>
                                    </p:val>
                                  </p:tav>
                                </p:tavLst>
                              </p:anim>
                              <p:animEffect transition="in" filter="fade">
                                <p:cBhvr>
                                  <p:cTn id="19" dur="450"/>
                                  <p:tgtEl>
                                    <p:spTgt spid="7"/>
                                  </p:tgtEl>
                                </p:cBhvr>
                              </p:animEffect>
                            </p:childTnLst>
                          </p:cTn>
                        </p:par>
                        <p:par>
                          <p:cTn id="20" presetID="53" presetClass="entr" presetSubtype="16" fill="hold" nodeType="withEffect">
                            <p:stCondLst>
                              <p:cond delay="560"/>
                            </p:stCondLst>
                            <p:childTnLst>
                              <p:set>
                                <p:cBhvr>
                                  <p:cTn id="21" dur="1" fill="hold">
                                    <p:stCondLst>
                                      <p:cond delay="0"/>
                                    </p:stCondLst>
                                  </p:cTn>
                                  <p:tgtEl>
                                    <p:spTgt spid="8"/>
                                  </p:tgtEl>
                                  <p:attrNameLst>
                                    <p:attrName>style.visibility</p:attrName>
                                  </p:attrNameLst>
                                </p:cBhvr>
                                <p:to>
                                  <p:strVal val="visible"/>
                                </p:to>
                              </p:set>
                              <p:anim calcmode="lin" valueType="num">
                                <p:cBhvr>
                                  <p:cTn id="22" dur="450" fill="hold"/>
                                  <p:tgtEl>
                                    <p:spTgt spid="8"/>
                                  </p:tgtEl>
                                  <p:attrNameLst>
                                    <p:attrName>ppt_w</p:attrName>
                                  </p:attrNameLst>
                                </p:cBhvr>
                                <p:tavLst>
                                  <p:tav tm="0">
                                    <p:val>
                                      <p:strVal val="#ppt_w*0.85"/>
                                    </p:val>
                                  </p:tav>
                                  <p:tav tm="100000">
                                    <p:val>
                                      <p:strVal val="#ppt_w"/>
                                    </p:val>
                                  </p:tav>
                                </p:tavLst>
                              </p:anim>
                              <p:animEffect transition="in" filter="fade">
                                <p:cBhvr>
                                  <p:cTn id="23" dur="450"/>
                                  <p:tgtEl>
                                    <p:spTgt spid="8"/>
                                  </p:tgtEl>
                                </p:cBhvr>
                              </p:animEffect>
                            </p:childTnLst>
                          </p:cTn>
                        </p:par>
                        <p:par>
                          <p:cTn id="24" presetID="53" presetClass="entr" presetSubtype="16" fill="hold" nodeType="withEffect">
                            <p:stCondLst>
                              <p:cond delay="700"/>
                            </p:stCondLst>
                            <p:childTnLst>
                              <p:set>
                                <p:cBhvr>
                                  <p:cTn id="25" dur="1" fill="hold">
                                    <p:stCondLst>
                                      <p:cond delay="0"/>
                                    </p:stCondLst>
                                  </p:cTn>
                                  <p:tgtEl>
                                    <p:spTgt spid="9"/>
                                  </p:tgtEl>
                                  <p:attrNameLst>
                                    <p:attrName>style.visibility</p:attrName>
                                  </p:attrNameLst>
                                </p:cBhvr>
                                <p:to>
                                  <p:strVal val="visible"/>
                                </p:to>
                              </p:set>
                              <p:anim calcmode="lin" valueType="num">
                                <p:cBhvr>
                                  <p:cTn id="26" dur="450" fill="hold"/>
                                  <p:tgtEl>
                                    <p:spTgt spid="9"/>
                                  </p:tgtEl>
                                  <p:attrNameLst>
                                    <p:attrName>ppt_w</p:attrName>
                                  </p:attrNameLst>
                                </p:cBhvr>
                                <p:tavLst>
                                  <p:tav tm="0">
                                    <p:val>
                                      <p:strVal val="#ppt_w*0.85"/>
                                    </p:val>
                                  </p:tav>
                                  <p:tav tm="100000">
                                    <p:val>
                                      <p:strVal val="#ppt_w"/>
                                    </p:val>
                                  </p:tav>
                                </p:tavLst>
                              </p:anim>
                              <p:animEffect transition="in" filter="fade">
                                <p:cBhvr>
                                  <p:cTn id="27" dur="450"/>
                                  <p:tgtEl>
                                    <p:spTgt spid="9"/>
                                  </p:tgtEl>
                                </p:cBhvr>
                              </p:animEffect>
                            </p:childTnLst>
                          </p:cTn>
                        </p:par>
                        <p:par>
                          <p:cTn id="28" presetID="53" presetClass="entr" presetSubtype="16" fill="hold" nodeType="withEffect">
                            <p:stCondLst>
                              <p:cond delay="840"/>
                            </p:stCondLst>
                            <p:childTnLst>
                              <p:set>
                                <p:cBhvr>
                                  <p:cTn id="29" dur="1" fill="hold">
                                    <p:stCondLst>
                                      <p:cond delay="0"/>
                                    </p:stCondLst>
                                  </p:cTn>
                                  <p:tgtEl>
                                    <p:spTgt spid="11"/>
                                  </p:tgtEl>
                                  <p:attrNameLst>
                                    <p:attrName>style.visibility</p:attrName>
                                  </p:attrNameLst>
                                </p:cBhvr>
                                <p:to>
                                  <p:strVal val="visible"/>
                                </p:to>
                              </p:set>
                              <p:anim calcmode="lin" valueType="num">
                                <p:cBhvr>
                                  <p:cTn id="30" dur="450" fill="hold"/>
                                  <p:tgtEl>
                                    <p:spTgt spid="11"/>
                                  </p:tgtEl>
                                  <p:attrNameLst>
                                    <p:attrName>ppt_w</p:attrName>
                                  </p:attrNameLst>
                                </p:cBhvr>
                                <p:tavLst>
                                  <p:tav tm="0">
                                    <p:val>
                                      <p:strVal val="#ppt_w*0.85"/>
                                    </p:val>
                                  </p:tav>
                                  <p:tav tm="100000">
                                    <p:val>
                                      <p:strVal val="#ppt_w"/>
                                    </p:val>
                                  </p:tav>
                                </p:tavLst>
                              </p:anim>
                              <p:animEffect transition="in" filter="fade">
                                <p:cBhvr>
                                  <p:cTn id="31" dur="450"/>
                                  <p:tgtEl>
                                    <p:spTgt spid="11"/>
                                  </p:tgtEl>
                                </p:cBhvr>
                              </p:animEffect>
                            </p:childTnLst>
                          </p:cTn>
                        </p:par>
                        <p:par>
                          <p:cTn id="32" presetID="53" presetClass="entr" presetSubtype="16" fill="hold" nodeType="withEffect">
                            <p:stCondLst>
                              <p:cond delay="980"/>
                            </p:stCondLst>
                            <p:childTnLst>
                              <p:set>
                                <p:cBhvr>
                                  <p:cTn id="33" dur="1" fill="hold">
                                    <p:stCondLst>
                                      <p:cond delay="0"/>
                                    </p:stCondLst>
                                  </p:cTn>
                                  <p:tgtEl>
                                    <p:spTgt spid="12"/>
                                  </p:tgtEl>
                                  <p:attrNameLst>
                                    <p:attrName>style.visibility</p:attrName>
                                  </p:attrNameLst>
                                </p:cBhvr>
                                <p:to>
                                  <p:strVal val="visible"/>
                                </p:to>
                              </p:set>
                              <p:anim calcmode="lin" valueType="num">
                                <p:cBhvr>
                                  <p:cTn id="34" dur="450" fill="hold"/>
                                  <p:tgtEl>
                                    <p:spTgt spid="12"/>
                                  </p:tgtEl>
                                  <p:attrNameLst>
                                    <p:attrName>ppt_w</p:attrName>
                                  </p:attrNameLst>
                                </p:cBhvr>
                                <p:tavLst>
                                  <p:tav tm="0">
                                    <p:val>
                                      <p:strVal val="#ppt_w*0.85"/>
                                    </p:val>
                                  </p:tav>
                                  <p:tav tm="100000">
                                    <p:val>
                                      <p:strVal val="#ppt_w"/>
                                    </p:val>
                                  </p:tav>
                                </p:tavLst>
                              </p:anim>
                              <p:animEffect transition="in" filter="fade">
                                <p:cBhvr>
                                  <p:cTn id="35" dur="450"/>
                                  <p:tgtEl>
                                    <p:spTgt spid="12"/>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3"/>
                                  </p:tgtEl>
                                  <p:attrNameLst>
                                    <p:attrName>style.visibility</p:attrName>
                                  </p:attrNameLst>
                                </p:cBhvr>
                                <p:to>
                                  <p:strVal val="visible"/>
                                </p:to>
                              </p:set>
                              <p:anim calcmode="lin" valueType="num">
                                <p:cBhvr>
                                  <p:cTn id="38" dur="450" fill="hold"/>
                                  <p:tgtEl>
                                    <p:spTgt spid="13"/>
                                  </p:tgtEl>
                                  <p:attrNameLst>
                                    <p:attrName>ppt_w</p:attrName>
                                  </p:attrNameLst>
                                </p:cBhvr>
                                <p:tavLst>
                                  <p:tav tm="0">
                                    <p:val>
                                      <p:strVal val="#ppt_w*0.85"/>
                                    </p:val>
                                  </p:tav>
                                  <p:tav tm="100000">
                                    <p:val>
                                      <p:strVal val="#ppt_w"/>
                                    </p:val>
                                  </p:tav>
                                </p:tavLst>
                              </p:anim>
                              <p:animEffect transition="in" filter="fade">
                                <p:cBhvr>
                                  <p:cTn id="39" dur="450"/>
                                  <p:tgtEl>
                                    <p:spTgt spid="13"/>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4"/>
                                  </p:tgtEl>
                                  <p:attrNameLst>
                                    <p:attrName>style.visibility</p:attrName>
                                  </p:attrNameLst>
                                </p:cBhvr>
                                <p:to>
                                  <p:strVal val="visible"/>
                                </p:to>
                              </p:set>
                              <p:anim calcmode="lin" valueType="num">
                                <p:cBhvr>
                                  <p:cTn id="42" dur="450" fill="hold"/>
                                  <p:tgtEl>
                                    <p:spTgt spid="14"/>
                                  </p:tgtEl>
                                  <p:attrNameLst>
                                    <p:attrName>ppt_w</p:attrName>
                                  </p:attrNameLst>
                                </p:cBhvr>
                                <p:tavLst>
                                  <p:tav tm="0">
                                    <p:val>
                                      <p:strVal val="#ppt_w*0.85"/>
                                    </p:val>
                                  </p:tav>
                                  <p:tav tm="100000">
                                    <p:val>
                                      <p:strVal val="#ppt_w"/>
                                    </p:val>
                                  </p:tav>
                                </p:tavLst>
                              </p:anim>
                              <p:animEffect transition="in" filter="fade">
                                <p:cBhvr>
                                  <p:cTn id="43" dur="450"/>
                                  <p:tgtEl>
                                    <p:spTgt spid="1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2" grpId="0"/>
      <p:bldP spid="13" grpId="0"/>
      <p:bldP spid="14" grpId="0"/>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bal masqué du débat</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25 min</a:t>
            </a:r>
            <a:endParaRPr lang="en-US" sz="1400" dirty="0"/>
          </a:p>
        </p:txBody>
      </p:sp>
      <p:sp>
        <p:nvSpPr>
          <p:cNvPr id="5" name="Shape 3"/>
          <p:cNvSpPr/>
          <p:nvPr/>
        </p:nvSpPr>
        <p:spPr>
          <a:xfrm>
            <a:off x="548640" y="1371600"/>
            <a:ext cx="548640" cy="548640"/>
          </a:xfrm>
          <a:prstGeom prst="ellipse">
            <a:avLst/>
          </a:prstGeom>
          <a:solidFill>
            <a:schemeClr val="accent1"/>
          </a:solidFill>
          <a:ln w="19050">
            <a:solidFill>
              <a:schemeClr val="tx1"/>
            </a:solidFill>
            <a:prstDash val="solid"/>
          </a:ln>
        </p:spPr>
      </p:sp>
      <p:sp>
        <p:nvSpPr>
          <p:cNvPr id="6" name="Text 4"/>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7" name="Text 5"/>
          <p:cNvSpPr txBox="1"/>
          <p:nvPr/>
        </p:nvSpPr>
        <p:spPr>
          <a:xfrm>
            <a:off x="1280160" y="1389888"/>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Tirage</a:t>
            </a:r>
            <a:endParaRPr lang="en-US" sz="1700" dirty="0"/>
          </a:p>
        </p:txBody>
      </p:sp>
      <p:sp>
        <p:nvSpPr>
          <p:cNvPr id="8" name="Text 6"/>
          <p:cNvSpPr txBox="1"/>
          <p:nvPr/>
        </p:nvSpPr>
        <p:spPr>
          <a:xfrm>
            <a:off x="3291840" y="1335024"/>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Groupes de 5 débatteurs. Chacun pioche en secret une carte-créature (la Tortue compte aussi!).</a:t>
            </a:r>
            <a:endParaRPr lang="en-US" sz="1400" dirty="0"/>
          </a:p>
        </p:txBody>
      </p:sp>
      <p:sp>
        <p:nvSpPr>
          <p:cNvPr id="9" name="Shape 7"/>
          <p:cNvSpPr/>
          <p:nvPr/>
        </p:nvSpPr>
        <p:spPr>
          <a:xfrm>
            <a:off x="548640" y="2304288"/>
            <a:ext cx="548640" cy="548640"/>
          </a:xfrm>
          <a:prstGeom prst="ellipse">
            <a:avLst/>
          </a:prstGeom>
          <a:solidFill>
            <a:schemeClr val="accent1"/>
          </a:solidFill>
          <a:ln w="19050">
            <a:solidFill>
              <a:schemeClr val="tx1"/>
            </a:solidFill>
            <a:prstDash val="solid"/>
          </a:ln>
        </p:spPr>
      </p:sp>
      <p:sp>
        <p:nvSpPr>
          <p:cNvPr id="10" name="Text 8"/>
          <p:cNvSpPr txBox="1"/>
          <p:nvPr/>
        </p:nvSpPr>
        <p:spPr>
          <a:xfrm>
            <a:off x="548640" y="2304288"/>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1" name="Text 9"/>
          <p:cNvSpPr txBox="1"/>
          <p:nvPr/>
        </p:nvSpPr>
        <p:spPr>
          <a:xfrm>
            <a:off x="1280160" y="2322576"/>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Débat</a:t>
            </a:r>
            <a:endParaRPr lang="en-US" sz="1700" dirty="0"/>
          </a:p>
        </p:txBody>
      </p:sp>
      <p:sp>
        <p:nvSpPr>
          <p:cNvPr id="12" name="Text 10"/>
          <p:cNvSpPr txBox="1"/>
          <p:nvPr/>
        </p:nvSpPr>
        <p:spPr>
          <a:xfrm>
            <a:off x="3291840" y="2267712"/>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6 minutes sur un vrai sujet de société. Chacun joue sa créature… sans la nommer.</a:t>
            </a:r>
            <a:endParaRPr lang="en-US" sz="1400" dirty="0"/>
          </a:p>
        </p:txBody>
      </p:sp>
      <p:sp>
        <p:nvSpPr>
          <p:cNvPr id="13" name="Shape 11"/>
          <p:cNvSpPr/>
          <p:nvPr/>
        </p:nvSpPr>
        <p:spPr>
          <a:xfrm>
            <a:off x="548640" y="3236976"/>
            <a:ext cx="548640" cy="548640"/>
          </a:xfrm>
          <a:prstGeom prst="ellipse">
            <a:avLst/>
          </a:prstGeom>
          <a:solidFill>
            <a:schemeClr val="accent1"/>
          </a:solidFill>
          <a:ln w="19050">
            <a:solidFill>
              <a:schemeClr val="tx1"/>
            </a:solidFill>
            <a:prstDash val="solid"/>
          </a:ln>
        </p:spPr>
      </p:sp>
      <p:sp>
        <p:nvSpPr>
          <p:cNvPr id="14" name="Text 12"/>
          <p:cNvSpPr txBox="1"/>
          <p:nvPr/>
        </p:nvSpPr>
        <p:spPr>
          <a:xfrm>
            <a:off x="548640" y="3236976"/>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3</a:t>
            </a:r>
            <a:endParaRPr lang="en-US" sz="2000" dirty="0"/>
          </a:p>
        </p:txBody>
      </p:sp>
      <p:sp>
        <p:nvSpPr>
          <p:cNvPr id="15" name="Text 13"/>
          <p:cNvSpPr txBox="1"/>
          <p:nvPr/>
        </p:nvSpPr>
        <p:spPr>
          <a:xfrm>
            <a:off x="1280160" y="3255264"/>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Observation</a:t>
            </a:r>
            <a:endParaRPr lang="en-US" sz="1700" dirty="0"/>
          </a:p>
        </p:txBody>
      </p:sp>
      <p:sp>
        <p:nvSpPr>
          <p:cNvPr id="16" name="Text 14"/>
          <p:cNvSpPr txBox="1"/>
          <p:nvPr/>
        </p:nvSpPr>
        <p:spPr>
          <a:xfrm>
            <a:off x="3291840" y="3200400"/>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Les autres participants forment un cercle extérieur : ils cochent leur bingo des coups bas et devinent les créatures.</a:t>
            </a:r>
            <a:endParaRPr lang="en-US" sz="1400" dirty="0"/>
          </a:p>
        </p:txBody>
      </p:sp>
      <p:sp>
        <p:nvSpPr>
          <p:cNvPr id="17" name="Shape 15"/>
          <p:cNvSpPr/>
          <p:nvPr/>
        </p:nvSpPr>
        <p:spPr>
          <a:xfrm>
            <a:off x="548640" y="4169664"/>
            <a:ext cx="548640" cy="548640"/>
          </a:xfrm>
          <a:prstGeom prst="ellipse">
            <a:avLst/>
          </a:prstGeom>
          <a:solidFill>
            <a:schemeClr val="accent1"/>
          </a:solidFill>
          <a:ln w="19050">
            <a:solidFill>
              <a:schemeClr val="tx1"/>
            </a:solidFill>
            <a:prstDash val="solid"/>
          </a:ln>
        </p:spPr>
      </p:sp>
      <p:sp>
        <p:nvSpPr>
          <p:cNvPr id="18" name="Text 16"/>
          <p:cNvSpPr txBox="1"/>
          <p:nvPr/>
        </p:nvSpPr>
        <p:spPr>
          <a:xfrm>
            <a:off x="548640" y="4169664"/>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19" name="Text 17"/>
          <p:cNvSpPr txBox="1"/>
          <p:nvPr/>
        </p:nvSpPr>
        <p:spPr>
          <a:xfrm>
            <a:off x="1280160" y="4187952"/>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Démasquage</a:t>
            </a:r>
            <a:endParaRPr lang="en-US" sz="1700" dirty="0"/>
          </a:p>
        </p:txBody>
      </p:sp>
      <p:sp>
        <p:nvSpPr>
          <p:cNvPr id="20" name="Text 18"/>
          <p:cNvSpPr txBox="1"/>
          <p:nvPr/>
        </p:nvSpPr>
        <p:spPr>
          <a:xfrm>
            <a:off x="3291840" y="4133088"/>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Les observateurs nomment chaque créature et citent la phrase exacte qui l'a trahie.</a:t>
            </a:r>
            <a:endParaRPr lang="en-US" sz="1400" dirty="0"/>
          </a:p>
        </p:txBody>
      </p:sp>
      <p:sp>
        <p:nvSpPr>
          <p:cNvPr id="21" name="Shape 19"/>
          <p:cNvSpPr/>
          <p:nvPr/>
        </p:nvSpPr>
        <p:spPr>
          <a:xfrm>
            <a:off x="548640" y="5102352"/>
            <a:ext cx="548640" cy="548640"/>
          </a:xfrm>
          <a:prstGeom prst="ellipse">
            <a:avLst/>
          </a:prstGeom>
          <a:solidFill>
            <a:schemeClr val="accent2"/>
          </a:solidFill>
          <a:ln w="19050">
            <a:solidFill>
              <a:schemeClr val="tx1"/>
            </a:solidFill>
            <a:prstDash val="solid"/>
          </a:ln>
        </p:spPr>
      </p:sp>
      <p:sp>
        <p:nvSpPr>
          <p:cNvPr id="22" name="Text 20"/>
          <p:cNvSpPr txBox="1"/>
          <p:nvPr/>
        </p:nvSpPr>
        <p:spPr>
          <a:xfrm>
            <a:off x="548640" y="5102352"/>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5</a:t>
            </a:r>
            <a:endParaRPr lang="en-US" sz="2000" dirty="0"/>
          </a:p>
        </p:txBody>
      </p:sp>
      <p:sp>
        <p:nvSpPr>
          <p:cNvPr id="23" name="Text 21"/>
          <p:cNvSpPr txBox="1"/>
          <p:nvPr/>
        </p:nvSpPr>
        <p:spPr>
          <a:xfrm>
            <a:off x="1280160" y="5120640"/>
            <a:ext cx="2011680" cy="502920"/>
          </a:xfrm>
          <a:prstGeom prst="rect">
            <a:avLst/>
          </a:prstGeom>
          <a:noFill/>
          <a:ln/>
        </p:spPr>
        <p:txBody>
          <a:bodyPr wrap="square" lIns="0" tIns="0" rIns="0" bIns="0" rtlCol="0" anchor="ctr"/>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Rejouer</a:t>
            </a:r>
            <a:endParaRPr lang="en-US" sz="1700" dirty="0"/>
          </a:p>
        </p:txBody>
      </p:sp>
      <p:sp>
        <p:nvSpPr>
          <p:cNvPr id="24" name="Text 22"/>
          <p:cNvSpPr txBox="1"/>
          <p:nvPr/>
        </p:nvSpPr>
        <p:spPr>
          <a:xfrm>
            <a:off x="3291840" y="5065776"/>
            <a:ext cx="4572000" cy="868680"/>
          </a:xfrm>
          <a:prstGeom prst="rect">
            <a:avLst/>
          </a:prstGeom>
          <a:noFill/>
          <a:ln/>
        </p:spPr>
        <p:txBody>
          <a:bodyPr wrap="square" lIns="0" tIns="0" rIns="0" bIns="0" rtlCol="0" anchor="ctr"/>
          <a:lstStyle/>
          <a:p>
            <a:pPr indent="0" marL="0">
              <a:buNone/>
            </a:pPr>
            <a:r>
              <a:rPr lang="en-US" sz="1400" dirty="0">
                <a:solidFill>
                  <a:schemeClr val="tx1"/>
                </a:solidFill>
                <a:latin typeface="Arial" pitchFamily="34" charset="0"/>
                <a:ea typeface="Arial" pitchFamily="34" charset="-122"/>
                <a:cs typeface="Arial" pitchFamily="34" charset="-120"/>
              </a:rPr>
              <a:t>On rejoue 2 minutes : toutes les créatures deviennent des Bâtisseurs. Qu'est-ce qui a changé?</a:t>
            </a:r>
            <a:endParaRPr lang="en-US" sz="1400" dirty="0"/>
          </a:p>
        </p:txBody>
      </p:sp>
      <p:sp>
        <p:nvSpPr>
          <p:cNvPr id="25" name="Shape 23"/>
          <p:cNvSpPr/>
          <p:nvPr/>
        </p:nvSpPr>
        <p:spPr>
          <a:xfrm>
            <a:off x="8229600" y="1371600"/>
            <a:ext cx="3383280" cy="4526280"/>
          </a:xfrm>
          <a:prstGeom prst="rect">
            <a:avLst/>
          </a:prstGeom>
          <a:solidFill>
            <a:schemeClr val="tx1"/>
          </a:solidFill>
          <a:ln w="25400">
            <a:solidFill>
              <a:schemeClr val="tx1"/>
            </a:solidFill>
            <a:prstDash val="solid"/>
          </a:ln>
        </p:spPr>
      </p:sp>
      <p:sp>
        <p:nvSpPr>
          <p:cNvPr id="26" name="Text 24"/>
          <p:cNvSpPr txBox="1"/>
          <p:nvPr/>
        </p:nvSpPr>
        <p:spPr>
          <a:xfrm>
            <a:off x="8458200" y="1554480"/>
            <a:ext cx="3017520" cy="457200"/>
          </a:xfrm>
          <a:prstGeom prst="rect">
            <a:avLst/>
          </a:prstGeom>
          <a:noFill/>
          <a:ln/>
        </p:spPr>
        <p:txBody>
          <a:bodyPr wrap="square" lIns="0" tIns="0" rIns="0" bIns="0" rtlCol="0" anchor="t"/>
          <a:lstStyle/>
          <a:p>
            <a:pPr indent="0" marL="0">
              <a:buNone/>
            </a:pPr>
            <a:r>
              <a:rPr lang="en-US" sz="1800" dirty="0">
                <a:solidFill>
                  <a:schemeClr val="accent2"/>
                </a:solidFill>
                <a:latin typeface="Rockwell Extra Bold" pitchFamily="34" charset="0"/>
                <a:ea typeface="Rockwell Extra Bold" pitchFamily="34" charset="-122"/>
                <a:cs typeface="Rockwell Extra Bold" pitchFamily="34" charset="-120"/>
              </a:rPr>
              <a:t>Sujets testés</a:t>
            </a:r>
            <a:endParaRPr lang="en-US" sz="1800" dirty="0"/>
          </a:p>
        </p:txBody>
      </p:sp>
      <p:sp>
        <p:nvSpPr>
          <p:cNvPr id="27" name="Text 25"/>
          <p:cNvSpPr txBox="1"/>
          <p:nvPr/>
        </p:nvSpPr>
        <p:spPr>
          <a:xfrm>
            <a:off x="8458200" y="2103120"/>
            <a:ext cx="2971800" cy="35661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La semaine de 4 jours au travail?</a:t>
            </a:r>
            <a:endParaRPr lang="en-US" sz="1500" dirty="0"/>
          </a:p>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Bannir les cellulaires au restaurant?</a:t>
            </a:r>
            <a:endParaRPr lang="en-US" sz="1500" dirty="0"/>
          </a:p>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Le pourboire devrait-il disparaître?</a:t>
            </a:r>
            <a:endParaRPr lang="en-US" sz="1500" dirty="0"/>
          </a:p>
          <a:p>
            <a:pPr marL="342900" indent="-342900">
              <a:spcAft>
                <a:spcPts val="1000"/>
              </a:spcAft>
              <a:buSzPct val="100000"/>
              <a:buChar char="•"/>
            </a:pPr>
            <a:r>
              <a:rPr lang="en-US" sz="1500" dirty="0">
                <a:solidFill>
                  <a:schemeClr val="bg2"/>
                </a:solidFill>
                <a:latin typeface="Arial" pitchFamily="34" charset="0"/>
                <a:ea typeface="Arial" pitchFamily="34" charset="-122"/>
                <a:cs typeface="Arial" pitchFamily="34" charset="-120"/>
              </a:rPr>
              <a:t>L'IA au travail : outil ou menace?</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p:bldP spid="8" grpId="0"/>
      <p:bldP spid="10" grpId="0"/>
      <p:bldP spid="11" grpId="0"/>
      <p:bldP spid="12" grpId="0"/>
      <p:bldP spid="14" grpId="0"/>
      <p:bldP spid="15" grpId="0"/>
      <p:bldP spid="16" grpId="0"/>
      <p:bldP spid="18" grpId="0"/>
      <p:bldP spid="19" grpId="0"/>
      <p:bldP spid="20" grpId="0"/>
      <p:bldP spid="22" grpId="0"/>
      <p:bldP spid="23" grpId="0"/>
      <p:bldP spid="24" grpId="0"/>
      <p:bldP spid="26" grpId="0"/>
      <p:bldP spid="27" grpId="0"/>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Bingo des coups bas</a:t>
            </a:r>
            <a:endParaRPr lang="en-US" sz="3600" dirty="0"/>
          </a:p>
        </p:txBody>
      </p:sp>
      <p:sp>
        <p:nvSpPr>
          <p:cNvPr id="3" name="Shape 1"/>
          <p:cNvSpPr/>
          <p:nvPr/>
        </p:nvSpPr>
        <p:spPr>
          <a:xfrm>
            <a:off x="548640" y="1371600"/>
            <a:ext cx="1920240" cy="1417320"/>
          </a:xfrm>
          <a:prstGeom prst="rect">
            <a:avLst/>
          </a:prstGeom>
          <a:solidFill>
            <a:schemeClr val="bg1"/>
          </a:solidFill>
          <a:ln w="25400">
            <a:solidFill>
              <a:schemeClr val="tx1"/>
            </a:solidFill>
            <a:prstDash val="solid"/>
          </a:ln>
        </p:spPr>
      </p:sp>
      <p:sp>
        <p:nvSpPr>
          <p:cNvPr id="4" name="Text 2"/>
          <p:cNvSpPr txBox="1"/>
          <p:nvPr/>
        </p:nvSpPr>
        <p:spPr>
          <a:xfrm>
            <a:off x="640080" y="146304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L'élastique</a:t>
            </a:r>
            <a:endParaRPr lang="en-US" sz="1500" dirty="0"/>
          </a:p>
        </p:txBody>
      </p:sp>
      <p:sp>
        <p:nvSpPr>
          <p:cNvPr id="5" name="Text 3"/>
          <p:cNvSpPr txBox="1"/>
          <p:nvPr/>
        </p:nvSpPr>
        <p:spPr>
          <a:xfrm>
            <a:off x="640080" y="228600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6" name="Shape 4"/>
          <p:cNvSpPr/>
          <p:nvPr/>
        </p:nvSpPr>
        <p:spPr>
          <a:xfrm>
            <a:off x="2560320" y="1371600"/>
            <a:ext cx="1920240" cy="1417320"/>
          </a:xfrm>
          <a:prstGeom prst="rect">
            <a:avLst/>
          </a:prstGeom>
          <a:solidFill>
            <a:schemeClr val="bg1"/>
          </a:solidFill>
          <a:ln w="25400">
            <a:solidFill>
              <a:schemeClr val="tx1"/>
            </a:solidFill>
            <a:prstDash val="solid"/>
          </a:ln>
        </p:spPr>
      </p:sp>
      <p:sp>
        <p:nvSpPr>
          <p:cNvPr id="7" name="Text 5"/>
          <p:cNvSpPr txBox="1"/>
          <p:nvPr/>
        </p:nvSpPr>
        <p:spPr>
          <a:xfrm>
            <a:off x="2651760" y="146304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L'allumette</a:t>
            </a:r>
            <a:endParaRPr lang="en-US" sz="1500" dirty="0"/>
          </a:p>
        </p:txBody>
      </p:sp>
      <p:sp>
        <p:nvSpPr>
          <p:cNvPr id="8" name="Text 6"/>
          <p:cNvSpPr txBox="1"/>
          <p:nvPr/>
        </p:nvSpPr>
        <p:spPr>
          <a:xfrm>
            <a:off x="2651760" y="228600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9" name="Shape 7"/>
          <p:cNvSpPr/>
          <p:nvPr/>
        </p:nvSpPr>
        <p:spPr>
          <a:xfrm>
            <a:off x="4572000" y="1371600"/>
            <a:ext cx="1920240" cy="1417320"/>
          </a:xfrm>
          <a:prstGeom prst="rect">
            <a:avLst/>
          </a:prstGeom>
          <a:solidFill>
            <a:schemeClr val="bg1"/>
          </a:solidFill>
          <a:ln w="25400">
            <a:solidFill>
              <a:schemeClr val="tx1"/>
            </a:solidFill>
            <a:prstDash val="solid"/>
          </a:ln>
        </p:spPr>
      </p:sp>
      <p:sp>
        <p:nvSpPr>
          <p:cNvPr id="10" name="Text 8"/>
          <p:cNvSpPr txBox="1"/>
          <p:nvPr/>
        </p:nvSpPr>
        <p:spPr>
          <a:xfrm>
            <a:off x="4663440" y="146304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faux choix</a:t>
            </a:r>
            <a:endParaRPr lang="en-US" sz="1500" dirty="0"/>
          </a:p>
        </p:txBody>
      </p:sp>
      <p:sp>
        <p:nvSpPr>
          <p:cNvPr id="11" name="Text 9"/>
          <p:cNvSpPr txBox="1"/>
          <p:nvPr/>
        </p:nvSpPr>
        <p:spPr>
          <a:xfrm>
            <a:off x="4663440" y="228600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12" name="Shape 10"/>
          <p:cNvSpPr/>
          <p:nvPr/>
        </p:nvSpPr>
        <p:spPr>
          <a:xfrm>
            <a:off x="548640" y="2880360"/>
            <a:ext cx="1920240" cy="1417320"/>
          </a:xfrm>
          <a:prstGeom prst="rect">
            <a:avLst/>
          </a:prstGeom>
          <a:solidFill>
            <a:schemeClr val="bg1"/>
          </a:solidFill>
          <a:ln w="25400">
            <a:solidFill>
              <a:schemeClr val="tx1"/>
            </a:solidFill>
            <a:prstDash val="solid"/>
          </a:ln>
        </p:spPr>
      </p:sp>
      <p:sp>
        <p:nvSpPr>
          <p:cNvPr id="13" name="Text 11"/>
          <p:cNvSpPr txBox="1"/>
          <p:nvPr/>
        </p:nvSpPr>
        <p:spPr>
          <a:xfrm>
            <a:off x="640080" y="297180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coupe-fil</a:t>
            </a:r>
            <a:endParaRPr lang="en-US" sz="1500" dirty="0"/>
          </a:p>
        </p:txBody>
      </p:sp>
      <p:sp>
        <p:nvSpPr>
          <p:cNvPr id="14" name="Text 12"/>
          <p:cNvSpPr txBox="1"/>
          <p:nvPr/>
        </p:nvSpPr>
        <p:spPr>
          <a:xfrm>
            <a:off x="640080" y="379476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15" name="Shape 13"/>
          <p:cNvSpPr/>
          <p:nvPr/>
        </p:nvSpPr>
        <p:spPr>
          <a:xfrm>
            <a:off x="2560320" y="2880360"/>
            <a:ext cx="1920240" cy="1417320"/>
          </a:xfrm>
          <a:prstGeom prst="rect">
            <a:avLst/>
          </a:prstGeom>
          <a:solidFill>
            <a:schemeClr val="accent2"/>
          </a:solidFill>
          <a:ln w="25400">
            <a:solidFill>
              <a:schemeClr val="tx1"/>
            </a:solidFill>
            <a:prstDash val="solid"/>
          </a:ln>
        </p:spPr>
      </p:sp>
      <p:sp>
        <p:nvSpPr>
          <p:cNvPr id="16" name="Text 14"/>
          <p:cNvSpPr txBox="1"/>
          <p:nvPr/>
        </p:nvSpPr>
        <p:spPr>
          <a:xfrm>
            <a:off x="2651760" y="2971800"/>
            <a:ext cx="1737360" cy="731520"/>
          </a:xfrm>
          <a:prstGeom prst="rect">
            <a:avLst/>
          </a:prstGeom>
          <a:noFill/>
          <a:ln/>
        </p:spPr>
        <p:txBody>
          <a:bodyPr wrap="square" lIns="0" tIns="0" rIns="0" bIns="0" rtlCol="0" anchor="ctr"/>
          <a:lstStyle/>
          <a:p>
            <a:pPr algn="ctr" indent="0" marL="0">
              <a:buNone/>
            </a:pPr>
            <a:r>
              <a:rPr lang="en-US" sz="1500" dirty="0">
                <a:solidFill>
                  <a:schemeClr val="tx1"/>
                </a:solidFill>
                <a:latin typeface="Rockwell Extra Bold" pitchFamily="34" charset="0"/>
                <a:ea typeface="Rockwell Extra Bold" pitchFamily="34" charset="-122"/>
                <a:cs typeface="Rockwell Extra Bold" pitchFamily="34" charset="-120"/>
              </a:rPr>
              <a:t>★ Une reformulation</a:t>
            </a:r>
            <a:endParaRPr lang="en-US" sz="1500" dirty="0"/>
          </a:p>
        </p:txBody>
      </p:sp>
      <p:sp>
        <p:nvSpPr>
          <p:cNvPr id="17" name="Text 15"/>
          <p:cNvSpPr txBox="1"/>
          <p:nvPr/>
        </p:nvSpPr>
        <p:spPr>
          <a:xfrm>
            <a:off x="2651760" y="379476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18" name="Shape 16"/>
          <p:cNvSpPr/>
          <p:nvPr/>
        </p:nvSpPr>
        <p:spPr>
          <a:xfrm>
            <a:off x="4572000" y="2880360"/>
            <a:ext cx="1920240" cy="1417320"/>
          </a:xfrm>
          <a:prstGeom prst="rect">
            <a:avLst/>
          </a:prstGeom>
          <a:solidFill>
            <a:schemeClr val="bg1"/>
          </a:solidFill>
          <a:ln w="25400">
            <a:solidFill>
              <a:schemeClr val="tx1"/>
            </a:solidFill>
            <a:prstDash val="solid"/>
          </a:ln>
        </p:spPr>
      </p:sp>
      <p:sp>
        <p:nvSpPr>
          <p:cNvPr id="19" name="Text 17"/>
          <p:cNvSpPr txBox="1"/>
          <p:nvPr/>
        </p:nvSpPr>
        <p:spPr>
          <a:xfrm>
            <a:off x="4663440" y="297180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La diversion</a:t>
            </a:r>
            <a:endParaRPr lang="en-US" sz="1500" dirty="0"/>
          </a:p>
        </p:txBody>
      </p:sp>
      <p:sp>
        <p:nvSpPr>
          <p:cNvPr id="20" name="Text 18"/>
          <p:cNvSpPr txBox="1"/>
          <p:nvPr/>
        </p:nvSpPr>
        <p:spPr>
          <a:xfrm>
            <a:off x="4663440" y="379476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21" name="Shape 19"/>
          <p:cNvSpPr/>
          <p:nvPr/>
        </p:nvSpPr>
        <p:spPr>
          <a:xfrm>
            <a:off x="548640" y="4389120"/>
            <a:ext cx="1920240" cy="1417320"/>
          </a:xfrm>
          <a:prstGeom prst="rect">
            <a:avLst/>
          </a:prstGeom>
          <a:solidFill>
            <a:schemeClr val="bg1"/>
          </a:solidFill>
          <a:ln w="25400">
            <a:solidFill>
              <a:schemeClr val="tx1"/>
            </a:solidFill>
            <a:prstDash val="solid"/>
          </a:ln>
        </p:spPr>
      </p:sp>
      <p:sp>
        <p:nvSpPr>
          <p:cNvPr id="22" name="Text 20"/>
          <p:cNvSpPr txBox="1"/>
          <p:nvPr/>
        </p:nvSpPr>
        <p:spPr>
          <a:xfrm>
            <a:off x="640080" y="448056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galon</a:t>
            </a:r>
            <a:endParaRPr lang="en-US" sz="1500" dirty="0"/>
          </a:p>
        </p:txBody>
      </p:sp>
      <p:sp>
        <p:nvSpPr>
          <p:cNvPr id="23" name="Text 21"/>
          <p:cNvSpPr txBox="1"/>
          <p:nvPr/>
        </p:nvSpPr>
        <p:spPr>
          <a:xfrm>
            <a:off x="640080" y="530352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24" name="Shape 22"/>
          <p:cNvSpPr/>
          <p:nvPr/>
        </p:nvSpPr>
        <p:spPr>
          <a:xfrm>
            <a:off x="2560320" y="4389120"/>
            <a:ext cx="1920240" cy="1417320"/>
          </a:xfrm>
          <a:prstGeom prst="rect">
            <a:avLst/>
          </a:prstGeom>
          <a:solidFill>
            <a:schemeClr val="bg1"/>
          </a:solidFill>
          <a:ln w="25400">
            <a:solidFill>
              <a:schemeClr val="tx1"/>
            </a:solidFill>
            <a:prstDash val="solid"/>
          </a:ln>
        </p:spPr>
      </p:sp>
      <p:sp>
        <p:nvSpPr>
          <p:cNvPr id="25" name="Text 23"/>
          <p:cNvSpPr txBox="1"/>
          <p:nvPr/>
        </p:nvSpPr>
        <p:spPr>
          <a:xfrm>
            <a:off x="2651760" y="448056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L'étiquette</a:t>
            </a:r>
            <a:endParaRPr lang="en-US" sz="1500" dirty="0"/>
          </a:p>
        </p:txBody>
      </p:sp>
      <p:sp>
        <p:nvSpPr>
          <p:cNvPr id="26" name="Text 24"/>
          <p:cNvSpPr txBox="1"/>
          <p:nvPr/>
        </p:nvSpPr>
        <p:spPr>
          <a:xfrm>
            <a:off x="2651760" y="530352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27" name="Shape 25"/>
          <p:cNvSpPr/>
          <p:nvPr/>
        </p:nvSpPr>
        <p:spPr>
          <a:xfrm>
            <a:off x="4572000" y="4389120"/>
            <a:ext cx="1920240" cy="1417320"/>
          </a:xfrm>
          <a:prstGeom prst="rect">
            <a:avLst/>
          </a:prstGeom>
          <a:solidFill>
            <a:schemeClr val="bg1"/>
          </a:solidFill>
          <a:ln w="25400">
            <a:solidFill>
              <a:schemeClr val="tx1"/>
            </a:solidFill>
            <a:prstDash val="solid"/>
          </a:ln>
        </p:spPr>
      </p:sp>
      <p:sp>
        <p:nvSpPr>
          <p:cNvPr id="28" name="Text 26"/>
          <p:cNvSpPr txBox="1"/>
          <p:nvPr/>
        </p:nvSpPr>
        <p:spPr>
          <a:xfrm>
            <a:off x="4663440" y="4480560"/>
            <a:ext cx="1737360" cy="731520"/>
          </a:xfrm>
          <a:prstGeom prst="rect">
            <a:avLst/>
          </a:prstGeom>
          <a:noFill/>
          <a:ln/>
        </p:spPr>
        <p:txBody>
          <a:bodyPr wrap="square" lIns="0" tIns="0" rIns="0" bIns="0" rtlCol="0" anchor="ctr"/>
          <a:lstStyle/>
          <a:p>
            <a:pPr algn="ct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Le brouillard</a:t>
            </a:r>
            <a:endParaRPr lang="en-US" sz="1500" dirty="0"/>
          </a:p>
        </p:txBody>
      </p:sp>
      <p:sp>
        <p:nvSpPr>
          <p:cNvPr id="29" name="Text 27"/>
          <p:cNvSpPr txBox="1"/>
          <p:nvPr/>
        </p:nvSpPr>
        <p:spPr>
          <a:xfrm>
            <a:off x="4663440" y="5303520"/>
            <a:ext cx="1737360" cy="365760"/>
          </a:xfrm>
          <a:prstGeom prst="rect">
            <a:avLst/>
          </a:prstGeom>
          <a:noFill/>
          <a:ln/>
        </p:spPr>
        <p:txBody>
          <a:bodyPr wrap="square" lIns="0" tIns="0" rIns="0" bIns="0" rtlCol="0" anchor="t"/>
          <a:lstStyle/>
          <a:p>
            <a:pPr algn="ctr" indent="0" marL="0">
              <a:buNone/>
            </a:pPr>
            <a:r>
              <a:rPr lang="en-US" sz="1200" dirty="0">
                <a:solidFill>
                  <a:schemeClr val="tx2"/>
                </a:solidFill>
                <a:latin typeface="Arial" pitchFamily="34" charset="0"/>
                <a:ea typeface="Arial" pitchFamily="34" charset="-122"/>
                <a:cs typeface="Arial" pitchFamily="34" charset="-120"/>
              </a:rPr>
              <a:t>Qui? ______</a:t>
            </a:r>
            <a:endParaRPr lang="en-US" sz="1200" dirty="0"/>
          </a:p>
        </p:txBody>
      </p:sp>
      <p:sp>
        <p:nvSpPr>
          <p:cNvPr id="30" name="Text 28"/>
          <p:cNvSpPr txBox="1"/>
          <p:nvPr/>
        </p:nvSpPr>
        <p:spPr>
          <a:xfrm>
            <a:off x="6949440" y="1371600"/>
            <a:ext cx="457200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Règles</a:t>
            </a:r>
            <a:endParaRPr lang="en-US" sz="2000" dirty="0"/>
          </a:p>
        </p:txBody>
      </p:sp>
      <p:sp>
        <p:nvSpPr>
          <p:cNvPr id="31" name="Text 29"/>
          <p:cNvSpPr txBox="1"/>
          <p:nvPr/>
        </p:nvSpPr>
        <p:spPr>
          <a:xfrm>
            <a:off x="6949440" y="1920240"/>
            <a:ext cx="4663440" cy="39319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Coche une case quand tu entends le coup. Note qui et la phrase exacte.</a:t>
            </a:r>
            <a:endParaRPr lang="en-US" sz="1600" dirty="0"/>
          </a:p>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La case centrale est un bon coup : la reformulation loyale. Elle vaut double.</a:t>
            </a:r>
            <a:endParaRPr lang="en-US" sz="1600" dirty="0"/>
          </a:p>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Ligne complète? Lève la main en silence : le débat continue.</a:t>
            </a:r>
            <a:endParaRPr lang="en-US" sz="1600" dirty="0"/>
          </a:p>
          <a:p>
            <a:pPr marL="342900" indent="-342900">
              <a:spcAft>
                <a:spcPts val="1000"/>
              </a:spcAft>
              <a:buSzPct val="100000"/>
              <a:buChar char="•"/>
            </a:pPr>
            <a:r>
              <a:rPr lang="en-US" sz="1600" dirty="0">
                <a:solidFill>
                  <a:schemeClr val="tx1"/>
                </a:solidFill>
                <a:latin typeface="Arial" pitchFamily="34" charset="0"/>
                <a:ea typeface="Arial" pitchFamily="34" charset="-122"/>
                <a:cs typeface="Arial" pitchFamily="34" charset="-120"/>
              </a:rPr>
              <a:t>Surprise : on termine en comptant les reformulations, pas les coups bas.</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par>
                          <p:cTn id="108" presetID="53" presetClass="entr" presetSubtype="16" fill="hold" nodeType="withEffect">
                            <p:stCondLst>
                              <p:cond delay="2600"/>
                            </p:stCondLst>
                            <p:childTnLst>
                              <p:set>
                                <p:cBhvr>
                                  <p:cTn id="109" dur="1" fill="hold">
                                    <p:stCondLst>
                                      <p:cond delay="0"/>
                                    </p:stCondLst>
                                  </p:cTn>
                                  <p:tgtEl>
                                    <p:spTgt spid="29"/>
                                  </p:tgtEl>
                                  <p:attrNameLst>
                                    <p:attrName>style.visibility</p:attrName>
                                  </p:attrNameLst>
                                </p:cBhvr>
                                <p:to>
                                  <p:strVal val="visible"/>
                                </p:to>
                              </p:set>
                              <p:anim calcmode="lin" valueType="num">
                                <p:cBhvr>
                                  <p:cTn id="110" dur="450" fill="hold"/>
                                  <p:tgtEl>
                                    <p:spTgt spid="29"/>
                                  </p:tgtEl>
                                  <p:attrNameLst>
                                    <p:attrName>ppt_w</p:attrName>
                                  </p:attrNameLst>
                                </p:cBhvr>
                                <p:tavLst>
                                  <p:tav tm="0">
                                    <p:val>
                                      <p:strVal val="#ppt_w*0.85"/>
                                    </p:val>
                                  </p:tav>
                                  <p:tav tm="100000">
                                    <p:val>
                                      <p:strVal val="#ppt_w"/>
                                    </p:val>
                                  </p:tav>
                                </p:tavLst>
                              </p:anim>
                              <p:animEffect transition="in" filter="fade">
                                <p:cBhvr>
                                  <p:cTn id="111" dur="450"/>
                                  <p:tgtEl>
                                    <p:spTgt spid="29"/>
                                  </p:tgtEl>
                                </p:cBhvr>
                              </p:animEffect>
                            </p:childTnLst>
                          </p:cTn>
                        </p:par>
                        <p:par>
                          <p:cTn id="112" presetID="53" presetClass="entr" presetSubtype="16" fill="hold" nodeType="withEffect">
                            <p:stCondLst>
                              <p:cond delay="2600"/>
                            </p:stCondLst>
                            <p:childTnLst>
                              <p:set>
                                <p:cBhvr>
                                  <p:cTn id="113" dur="1" fill="hold">
                                    <p:stCondLst>
                                      <p:cond delay="0"/>
                                    </p:stCondLst>
                                  </p:cTn>
                                  <p:tgtEl>
                                    <p:spTgt spid="30"/>
                                  </p:tgtEl>
                                  <p:attrNameLst>
                                    <p:attrName>style.visibility</p:attrName>
                                  </p:attrNameLst>
                                </p:cBhvr>
                                <p:to>
                                  <p:strVal val="visible"/>
                                </p:to>
                              </p:set>
                              <p:anim calcmode="lin" valueType="num">
                                <p:cBhvr>
                                  <p:cTn id="114" dur="450" fill="hold"/>
                                  <p:tgtEl>
                                    <p:spTgt spid="30"/>
                                  </p:tgtEl>
                                  <p:attrNameLst>
                                    <p:attrName>ppt_w</p:attrName>
                                  </p:attrNameLst>
                                </p:cBhvr>
                                <p:tavLst>
                                  <p:tav tm="0">
                                    <p:val>
                                      <p:strVal val="#ppt_w*0.85"/>
                                    </p:val>
                                  </p:tav>
                                  <p:tav tm="100000">
                                    <p:val>
                                      <p:strVal val="#ppt_w"/>
                                    </p:val>
                                  </p:tav>
                                </p:tavLst>
                              </p:anim>
                              <p:animEffect transition="in" filter="fade">
                                <p:cBhvr>
                                  <p:cTn id="115" dur="450"/>
                                  <p:tgtEl>
                                    <p:spTgt spid="30"/>
                                  </p:tgtEl>
                                </p:cBhvr>
                              </p:animEffect>
                            </p:childTnLst>
                          </p:cTn>
                        </p:par>
                        <p:par>
                          <p:cTn id="116" presetID="53" presetClass="entr" presetSubtype="16" fill="hold" nodeType="withEffect">
                            <p:stCondLst>
                              <p:cond delay="2600"/>
                            </p:stCondLst>
                            <p:childTnLst>
                              <p:set>
                                <p:cBhvr>
                                  <p:cTn id="117" dur="1" fill="hold">
                                    <p:stCondLst>
                                      <p:cond delay="0"/>
                                    </p:stCondLst>
                                  </p:cTn>
                                  <p:tgtEl>
                                    <p:spTgt spid="31"/>
                                  </p:tgtEl>
                                  <p:attrNameLst>
                                    <p:attrName>style.visibility</p:attrName>
                                  </p:attrNameLst>
                                </p:cBhvr>
                                <p:to>
                                  <p:strVal val="visible"/>
                                </p:to>
                              </p:set>
                              <p:anim calcmode="lin" valueType="num">
                                <p:cBhvr>
                                  <p:cTn id="118" dur="450" fill="hold"/>
                                  <p:tgtEl>
                                    <p:spTgt spid="31"/>
                                  </p:tgtEl>
                                  <p:attrNameLst>
                                    <p:attrName>ppt_w</p:attrName>
                                  </p:attrNameLst>
                                </p:cBhvr>
                                <p:tavLst>
                                  <p:tav tm="0">
                                    <p:val>
                                      <p:strVal val="#ppt_w*0.85"/>
                                    </p:val>
                                  </p:tav>
                                  <p:tav tm="100000">
                                    <p:val>
                                      <p:strVal val="#ppt_w"/>
                                    </p:val>
                                  </p:tav>
                                </p:tavLst>
                              </p:anim>
                              <p:animEffect transition="in" filter="fade">
                                <p:cBhvr>
                                  <p:cTn id="119" dur="450"/>
                                  <p:tgtEl>
                                    <p:spTgt spid="3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8" grpId="0"/>
      <p:bldP spid="10" grpId="0"/>
      <p:bldP spid="11" grpId="0"/>
      <p:bldP spid="13" grpId="0"/>
      <p:bldP spid="14" grpId="0"/>
      <p:bldP spid="16" grpId="0"/>
      <p:bldP spid="17" grpId="0"/>
      <p:bldP spid="19" grpId="0"/>
      <p:bldP spid="20" grpId="0"/>
      <p:bldP spid="22" grpId="0"/>
      <p:bldP spid="23" grpId="0"/>
      <p:bldP spid="25" grpId="0"/>
      <p:bldP spid="26" grpId="0"/>
      <p:bldP spid="28" grpId="0"/>
      <p:bldP spid="29" grpId="0"/>
      <p:bldP spid="30" grpId="0"/>
      <p:bldP spid="31" grpId="0"/>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Croquis-éclair</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8 min</a:t>
            </a:r>
            <a:endParaRPr lang="en-US" sz="1400" dirty="0"/>
          </a:p>
        </p:txBody>
      </p:sp>
      <p:sp>
        <p:nvSpPr>
          <p:cNvPr id="5" name="Shape 3"/>
          <p:cNvSpPr/>
          <p:nvPr/>
        </p:nvSpPr>
        <p:spPr>
          <a:xfrm>
            <a:off x="548640" y="1371600"/>
            <a:ext cx="3566160" cy="3291840"/>
          </a:xfrm>
          <a:prstGeom prst="rect">
            <a:avLst/>
          </a:prstGeom>
          <a:solidFill>
            <a:schemeClr val="bg1"/>
          </a:solidFill>
          <a:ln w="25400">
            <a:solidFill>
              <a:schemeClr val="tx1"/>
            </a:solidFill>
            <a:prstDash val="solid"/>
          </a:ln>
        </p:spPr>
      </p:sp>
      <p:sp>
        <p:nvSpPr>
          <p:cNvPr id="6" name="Shape 4"/>
          <p:cNvSpPr/>
          <p:nvPr/>
        </p:nvSpPr>
        <p:spPr>
          <a:xfrm>
            <a:off x="731520" y="1554480"/>
            <a:ext cx="594360" cy="594360"/>
          </a:xfrm>
          <a:prstGeom prst="ellipse">
            <a:avLst/>
          </a:prstGeom>
          <a:solidFill>
            <a:schemeClr val="accent1"/>
          </a:solidFill>
          <a:ln w="19050">
            <a:solidFill>
              <a:schemeClr val="tx1"/>
            </a:solidFill>
            <a:prstDash val="solid"/>
          </a:ln>
        </p:spPr>
      </p:sp>
      <p:sp>
        <p:nvSpPr>
          <p:cNvPr id="7" name="Text 5"/>
          <p:cNvSpPr txBox="1"/>
          <p:nvPr/>
        </p:nvSpPr>
        <p:spPr>
          <a:xfrm>
            <a:off x="731520" y="155448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1</a:t>
            </a:r>
            <a:endParaRPr lang="en-US" sz="2200" dirty="0"/>
          </a:p>
        </p:txBody>
      </p:sp>
      <p:sp>
        <p:nvSpPr>
          <p:cNvPr id="8" name="Text 6"/>
          <p:cNvSpPr txBox="1"/>
          <p:nvPr/>
        </p:nvSpPr>
        <p:spPr>
          <a:xfrm>
            <a:off x="3108960" y="1600200"/>
            <a:ext cx="822960" cy="457200"/>
          </a:xfrm>
          <a:prstGeom prst="rect">
            <a:avLst/>
          </a:prstGeom>
          <a:noFill/>
          <a:ln/>
        </p:spPr>
        <p:txBody>
          <a:bodyPr wrap="square" lIns="0" tIns="0" rIns="0" bIns="0" rtlCol="0" anchor="t"/>
          <a:lstStyle/>
          <a:p>
            <a:pPr algn="r" indent="0" marL="0">
              <a:buNone/>
            </a:pPr>
            <a:r>
              <a:rPr lang="en-US" sz="1800" dirty="0">
                <a:solidFill>
                  <a:schemeClr val="tx2"/>
                </a:solidFill>
                <a:latin typeface="Rockwell Extra Bold" pitchFamily="34" charset="0"/>
                <a:ea typeface="Rockwell Extra Bold" pitchFamily="34" charset="-122"/>
                <a:cs typeface="Rockwell Extra Bold" pitchFamily="34" charset="-120"/>
              </a:rPr>
              <a:t>60 s</a:t>
            </a:r>
            <a:endParaRPr lang="en-US" sz="1800" dirty="0"/>
          </a:p>
        </p:txBody>
      </p:sp>
      <p:sp>
        <p:nvSpPr>
          <p:cNvPr id="9" name="Text 7"/>
          <p:cNvSpPr txBox="1"/>
          <p:nvPr/>
        </p:nvSpPr>
        <p:spPr>
          <a:xfrm>
            <a:off x="731520" y="4800600"/>
            <a:ext cx="3200400" cy="73152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Ta créature quand tu es à bout</a:t>
            </a:r>
            <a:endParaRPr lang="en-US" sz="1800" dirty="0"/>
          </a:p>
        </p:txBody>
      </p:sp>
      <p:sp>
        <p:nvSpPr>
          <p:cNvPr id="10" name="Shape 8"/>
          <p:cNvSpPr/>
          <p:nvPr/>
        </p:nvSpPr>
        <p:spPr>
          <a:xfrm>
            <a:off x="4279392" y="1371600"/>
            <a:ext cx="3566160" cy="3291840"/>
          </a:xfrm>
          <a:prstGeom prst="rect">
            <a:avLst/>
          </a:prstGeom>
          <a:solidFill>
            <a:schemeClr val="bg1"/>
          </a:solidFill>
          <a:ln w="25400">
            <a:solidFill>
              <a:schemeClr val="tx1"/>
            </a:solidFill>
            <a:prstDash val="solid"/>
          </a:ln>
        </p:spPr>
      </p:sp>
      <p:sp>
        <p:nvSpPr>
          <p:cNvPr id="11" name="Shape 9"/>
          <p:cNvSpPr/>
          <p:nvPr/>
        </p:nvSpPr>
        <p:spPr>
          <a:xfrm>
            <a:off x="4462272" y="1554480"/>
            <a:ext cx="594360" cy="594360"/>
          </a:xfrm>
          <a:prstGeom prst="ellipse">
            <a:avLst/>
          </a:prstGeom>
          <a:solidFill>
            <a:schemeClr val="accent1"/>
          </a:solidFill>
          <a:ln w="19050">
            <a:solidFill>
              <a:schemeClr val="tx1"/>
            </a:solidFill>
            <a:prstDash val="solid"/>
          </a:ln>
        </p:spPr>
      </p:sp>
      <p:sp>
        <p:nvSpPr>
          <p:cNvPr id="12" name="Text 10"/>
          <p:cNvSpPr txBox="1"/>
          <p:nvPr/>
        </p:nvSpPr>
        <p:spPr>
          <a:xfrm>
            <a:off x="4462272" y="155448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2</a:t>
            </a:r>
            <a:endParaRPr lang="en-US" sz="2200" dirty="0"/>
          </a:p>
        </p:txBody>
      </p:sp>
      <p:sp>
        <p:nvSpPr>
          <p:cNvPr id="13" name="Text 11"/>
          <p:cNvSpPr txBox="1"/>
          <p:nvPr/>
        </p:nvSpPr>
        <p:spPr>
          <a:xfrm>
            <a:off x="6839712" y="1600200"/>
            <a:ext cx="822960" cy="457200"/>
          </a:xfrm>
          <a:prstGeom prst="rect">
            <a:avLst/>
          </a:prstGeom>
          <a:noFill/>
          <a:ln/>
        </p:spPr>
        <p:txBody>
          <a:bodyPr wrap="square" lIns="0" tIns="0" rIns="0" bIns="0" rtlCol="0" anchor="t"/>
          <a:lstStyle/>
          <a:p>
            <a:pPr algn="r" indent="0" marL="0">
              <a:buNone/>
            </a:pPr>
            <a:r>
              <a:rPr lang="en-US" sz="1800" dirty="0">
                <a:solidFill>
                  <a:schemeClr val="tx2"/>
                </a:solidFill>
                <a:latin typeface="Rockwell Extra Bold" pitchFamily="34" charset="0"/>
                <a:ea typeface="Rockwell Extra Bold" pitchFamily="34" charset="-122"/>
                <a:cs typeface="Rockwell Extra Bold" pitchFamily="34" charset="-120"/>
              </a:rPr>
              <a:t>60 s</a:t>
            </a:r>
            <a:endParaRPr lang="en-US" sz="1800" dirty="0"/>
          </a:p>
        </p:txBody>
      </p:sp>
      <p:sp>
        <p:nvSpPr>
          <p:cNvPr id="14" name="Text 12"/>
          <p:cNvSpPr txBox="1"/>
          <p:nvPr/>
        </p:nvSpPr>
        <p:spPr>
          <a:xfrm>
            <a:off x="4462272" y="4800600"/>
            <a:ext cx="3200400" cy="73152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Un coup bas : le groupe devine lequel</a:t>
            </a:r>
            <a:endParaRPr lang="en-US" sz="1800" dirty="0"/>
          </a:p>
        </p:txBody>
      </p:sp>
      <p:sp>
        <p:nvSpPr>
          <p:cNvPr id="15" name="Shape 13"/>
          <p:cNvSpPr/>
          <p:nvPr/>
        </p:nvSpPr>
        <p:spPr>
          <a:xfrm>
            <a:off x="8010144" y="1371600"/>
            <a:ext cx="3566160" cy="3291840"/>
          </a:xfrm>
          <a:prstGeom prst="rect">
            <a:avLst/>
          </a:prstGeom>
          <a:solidFill>
            <a:schemeClr val="bg1"/>
          </a:solidFill>
          <a:ln w="25400">
            <a:solidFill>
              <a:schemeClr val="tx1"/>
            </a:solidFill>
            <a:prstDash val="solid"/>
          </a:ln>
        </p:spPr>
      </p:sp>
      <p:sp>
        <p:nvSpPr>
          <p:cNvPr id="16" name="Shape 14"/>
          <p:cNvSpPr/>
          <p:nvPr/>
        </p:nvSpPr>
        <p:spPr>
          <a:xfrm>
            <a:off x="8193024" y="1554480"/>
            <a:ext cx="594360" cy="594360"/>
          </a:xfrm>
          <a:prstGeom prst="ellipse">
            <a:avLst/>
          </a:prstGeom>
          <a:solidFill>
            <a:schemeClr val="accent2"/>
          </a:solidFill>
          <a:ln w="19050">
            <a:solidFill>
              <a:schemeClr val="tx1"/>
            </a:solidFill>
            <a:prstDash val="solid"/>
          </a:ln>
        </p:spPr>
      </p:sp>
      <p:sp>
        <p:nvSpPr>
          <p:cNvPr id="17" name="Text 15"/>
          <p:cNvSpPr txBox="1"/>
          <p:nvPr/>
        </p:nvSpPr>
        <p:spPr>
          <a:xfrm>
            <a:off x="8193024" y="1554480"/>
            <a:ext cx="594360" cy="594360"/>
          </a:xfrm>
          <a:prstGeom prst="rect">
            <a:avLst/>
          </a:prstGeom>
          <a:noFill/>
          <a:ln/>
        </p:spPr>
        <p:txBody>
          <a:bodyPr wrap="square" lIns="0" tIns="0" rIns="0" bIns="0" rtlCol="0" anchor="ctr"/>
          <a:lstStyle/>
          <a:p>
            <a:pPr algn="ctr" indent="0" marL="0">
              <a:buNone/>
            </a:pPr>
            <a:r>
              <a:rPr lang="en-US" sz="2200" dirty="0">
                <a:solidFill>
                  <a:schemeClr val="tx1"/>
                </a:solidFill>
                <a:latin typeface="Rockwell Extra Bold" pitchFamily="34" charset="0"/>
                <a:ea typeface="Rockwell Extra Bold" pitchFamily="34" charset="-122"/>
                <a:cs typeface="Rockwell Extra Bold" pitchFamily="34" charset="-120"/>
              </a:rPr>
              <a:t>3</a:t>
            </a:r>
            <a:endParaRPr lang="en-US" sz="2200" dirty="0"/>
          </a:p>
        </p:txBody>
      </p:sp>
      <p:sp>
        <p:nvSpPr>
          <p:cNvPr id="18" name="Text 16"/>
          <p:cNvSpPr txBox="1"/>
          <p:nvPr/>
        </p:nvSpPr>
        <p:spPr>
          <a:xfrm>
            <a:off x="10570464" y="1600200"/>
            <a:ext cx="822960" cy="457200"/>
          </a:xfrm>
          <a:prstGeom prst="rect">
            <a:avLst/>
          </a:prstGeom>
          <a:noFill/>
          <a:ln/>
        </p:spPr>
        <p:txBody>
          <a:bodyPr wrap="square" lIns="0" tIns="0" rIns="0" bIns="0" rtlCol="0" anchor="t"/>
          <a:lstStyle/>
          <a:p>
            <a:pPr algn="r" indent="0" marL="0">
              <a:buNone/>
            </a:pPr>
            <a:r>
              <a:rPr lang="en-US" sz="1800" dirty="0">
                <a:solidFill>
                  <a:schemeClr val="tx2"/>
                </a:solidFill>
                <a:latin typeface="Rockwell Extra Bold" pitchFamily="34" charset="0"/>
                <a:ea typeface="Rockwell Extra Bold" pitchFamily="34" charset="-122"/>
                <a:cs typeface="Rockwell Extra Bold" pitchFamily="34" charset="-120"/>
              </a:rPr>
              <a:t>60 s</a:t>
            </a:r>
            <a:endParaRPr lang="en-US" sz="1800" dirty="0"/>
          </a:p>
        </p:txBody>
      </p:sp>
      <p:sp>
        <p:nvSpPr>
          <p:cNvPr id="19" name="Text 17"/>
          <p:cNvSpPr txBox="1"/>
          <p:nvPr/>
        </p:nvSpPr>
        <p:spPr>
          <a:xfrm>
            <a:off x="8193024" y="4800600"/>
            <a:ext cx="3200400" cy="73152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Sa parade</a:t>
            </a:r>
            <a:endParaRPr lang="en-US" sz="1800" dirty="0"/>
          </a:p>
        </p:txBody>
      </p:sp>
      <p:pic>
        <p:nvPicPr>
          <p:cNvPr id="20" name="Image 0" descr="preencoded.png">    </p:cNvPr>
          <p:cNvPicPr>
            <a:picLocks noChangeAspect="1"/>
          </p:cNvPicPr>
          <p:nvPr/>
        </p:nvPicPr>
        <p:blipFill>
          <a:blip r:embed="rId1"/>
          <a:stretch>
            <a:fillRect/>
          </a:stretch>
        </p:blipFill>
        <p:spPr>
          <a:xfrm>
            <a:off x="1554480" y="2377440"/>
            <a:ext cx="1463040" cy="1783080"/>
          </a:xfrm>
          <a:prstGeom prst="rect">
            <a:avLst/>
          </a:prstGeom>
        </p:spPr>
      </p:pic>
      <p:pic>
        <p:nvPicPr>
          <p:cNvPr id="21" name="Image 1" descr="preencoded.png">    </p:cNvPr>
          <p:cNvPicPr>
            <a:picLocks noChangeAspect="1"/>
          </p:cNvPicPr>
          <p:nvPr/>
        </p:nvPicPr>
        <p:blipFill>
          <a:blip r:embed="rId2"/>
          <a:stretch>
            <a:fillRect/>
          </a:stretch>
        </p:blipFill>
        <p:spPr>
          <a:xfrm>
            <a:off x="5303520" y="2377440"/>
            <a:ext cx="1463040" cy="1783080"/>
          </a:xfrm>
          <a:prstGeom prst="rect">
            <a:avLst/>
          </a:prstGeom>
        </p:spPr>
      </p:pic>
      <p:pic>
        <p:nvPicPr>
          <p:cNvPr id="22" name="Image 2" descr="preencoded.png">    </p:cNvPr>
          <p:cNvPicPr>
            <a:picLocks noChangeAspect="1"/>
          </p:cNvPicPr>
          <p:nvPr/>
        </p:nvPicPr>
        <p:blipFill>
          <a:blip r:embed="rId3"/>
          <a:stretch>
            <a:fillRect/>
          </a:stretch>
        </p:blipFill>
        <p:spPr>
          <a:xfrm>
            <a:off x="9052560" y="2377440"/>
            <a:ext cx="1463040" cy="1783080"/>
          </a:xfrm>
          <a:prstGeom prst="rect">
            <a:avLst/>
          </a:prstGeom>
        </p:spPr>
      </p:pic>
      <p:sp>
        <p:nvSpPr>
          <p:cNvPr id="23" name="Text 18"/>
          <p:cNvSpPr txBox="1"/>
          <p:nvPr/>
        </p:nvSpPr>
        <p:spPr>
          <a:xfrm>
            <a:off x="548640" y="5715000"/>
            <a:ext cx="11064240" cy="457200"/>
          </a:xfrm>
          <a:prstGeom prst="rect">
            <a:avLst/>
          </a:prstGeom>
          <a:noFill/>
          <a:ln/>
        </p:spPr>
        <p:txBody>
          <a:bodyPr wrap="square" lIns="0" tIns="0" rIns="0" bIns="0" rtlCol="0" anchor="t"/>
          <a:lstStyle/>
          <a:p>
            <a:pPr indent="0" marL="0">
              <a:buNone/>
            </a:pPr>
            <a:r>
              <a:rPr lang="en-US" sz="1600" i="1" dirty="0">
                <a:solidFill>
                  <a:schemeClr val="tx2"/>
                </a:solidFill>
                <a:latin typeface="Arial" pitchFamily="34" charset="0"/>
                <a:ea typeface="Arial" pitchFamily="34" charset="-122"/>
                <a:cs typeface="Arial" pitchFamily="34" charset="-120"/>
              </a:rPr>
              <a:t>Bonshommes allumettes bienvenus. Aucun talent requis.</a:t>
            </a:r>
            <a:endParaRPr lang="en-US" sz="16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9" grpId="0"/>
      <p:bldP spid="12" grpId="0"/>
      <p:bldP spid="13" grpId="0"/>
      <p:bldP spid="14" grpId="0"/>
      <p:bldP spid="17" grpId="0"/>
      <p:bldP spid="18" grpId="0"/>
      <p:bldP spid="19" grpId="0"/>
      <p:bldP spid="23" grpId="0"/>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3</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Ateliers d'écriture</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L'agréabilité se travaille aussi au crayon</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450" fill="hold"/>
                                  <p:tgtEl>
                                    <p:spTgt spid="2"/>
                                  </p:tgtEl>
                                  <p:attrNameLst>
                                    <p:attrName>ppt_w</p:attrName>
                                  </p:attrNameLst>
                                </p:cBhvr>
                                <p:tavLst>
                                  <p:tav tm="0">
                                    <p:val>
                                      <p:strVal val="#ppt_w*0.85"/>
                                    </p:val>
                                  </p:tav>
                                  <p:tav tm="100000">
                                    <p:val>
                                      <p:strVal val="#ppt_w"/>
                                    </p:val>
                                  </p:tav>
                                </p:tavLst>
                              </p:anim>
                              <p:animEffect transition="in" filter="fade">
                                <p:cBhvr>
                                  <p:cTn id="7" dur="450"/>
                                  <p:tgtEl>
                                    <p:spTgt spid="2"/>
                                  </p:tgtEl>
                                </p:cBhvr>
                              </p:animEffect>
                            </p:childTnLst>
                          </p:cTn>
                        </p:par>
                        <p:par>
                          <p:cTn id="8" presetID="53" presetClass="entr" presetSubtype="16" fill="hold" nodeType="withEffect">
                            <p:stCondLst>
                              <p:cond delay="140"/>
                            </p:stCondLst>
                            <p:childTnLst>
                              <p:set>
                                <p:cBhvr>
                                  <p:cTn id="9" dur="1" fill="hold">
                                    <p:stCondLst>
                                      <p:cond delay="0"/>
                                    </p:stCondLst>
                                  </p:cTn>
                                  <p:tgtEl>
                                    <p:spTgt spid="5"/>
                                  </p:tgtEl>
                                  <p:attrNameLst>
                                    <p:attrName>style.visibility</p:attrName>
                                  </p:attrNameLst>
                                </p:cBhvr>
                                <p:to>
                                  <p:strVal val="visible"/>
                                </p:to>
                              </p:set>
                              <p:anim calcmode="lin" valueType="num">
                                <p:cBhvr>
                                  <p:cTn id="10" dur="450" fill="hold"/>
                                  <p:tgtEl>
                                    <p:spTgt spid="5"/>
                                  </p:tgtEl>
                                  <p:attrNameLst>
                                    <p:attrName>ppt_w</p:attrName>
                                  </p:attrNameLst>
                                </p:cBhvr>
                                <p:tavLst>
                                  <p:tav tm="0">
                                    <p:val>
                                      <p:strVal val="#ppt_w*0.85"/>
                                    </p:val>
                                  </p:tav>
                                  <p:tav tm="100000">
                                    <p:val>
                                      <p:strVal val="#ppt_w"/>
                                    </p:val>
                                  </p:tav>
                                </p:tavLst>
                              </p:anim>
                              <p:animEffect transition="in" filter="fade">
                                <p:cBhvr>
                                  <p:cTn id="11" dur="45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menu des jeux d'écriture</a:t>
            </a:r>
            <a:endParaRPr lang="en-US" sz="3600" dirty="0"/>
          </a:p>
        </p:txBody>
      </p:sp>
      <p:sp>
        <p:nvSpPr>
          <p:cNvPr id="3" name="Shape 1"/>
          <p:cNvSpPr/>
          <p:nvPr/>
        </p:nvSpPr>
        <p:spPr>
          <a:xfrm>
            <a:off x="548640" y="1325880"/>
            <a:ext cx="2651760" cy="2240280"/>
          </a:xfrm>
          <a:prstGeom prst="rect">
            <a:avLst/>
          </a:prstGeom>
          <a:solidFill>
            <a:schemeClr val="bg1"/>
          </a:solidFill>
          <a:ln w="25400">
            <a:solidFill>
              <a:schemeClr val="tx1"/>
            </a:solidFill>
            <a:prstDash val="solid"/>
          </a:ln>
        </p:spPr>
      </p:sp>
      <p:sp>
        <p:nvSpPr>
          <p:cNvPr id="4" name="Text 2"/>
          <p:cNvSpPr txBox="1"/>
          <p:nvPr/>
        </p:nvSpPr>
        <p:spPr>
          <a:xfrm>
            <a:off x="685800" y="1463040"/>
            <a:ext cx="2377440" cy="77724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L'ascenseur</a:t>
            </a:r>
            <a:endParaRPr lang="en-US" sz="1700" dirty="0"/>
          </a:p>
        </p:txBody>
      </p:sp>
      <p:sp>
        <p:nvSpPr>
          <p:cNvPr id="5" name="Text 3"/>
          <p:cNvSpPr txBox="1"/>
          <p:nvPr/>
        </p:nvSpPr>
        <p:spPr>
          <a:xfrm>
            <a:off x="685800" y="2240280"/>
            <a:ext cx="2377440" cy="82296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Une réplique blessante, réécrite étage par étage</a:t>
            </a:r>
            <a:endParaRPr lang="en-US" sz="1400" dirty="0"/>
          </a:p>
        </p:txBody>
      </p:sp>
      <p:sp>
        <p:nvSpPr>
          <p:cNvPr id="6" name="Text 4"/>
          <p:cNvSpPr txBox="1"/>
          <p:nvPr/>
        </p:nvSpPr>
        <p:spPr>
          <a:xfrm>
            <a:off x="685800" y="3108960"/>
            <a:ext cx="2377440" cy="32004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10 min · à deux</a:t>
            </a:r>
            <a:endParaRPr lang="en-US" sz="1300" dirty="0"/>
          </a:p>
        </p:txBody>
      </p:sp>
      <p:sp>
        <p:nvSpPr>
          <p:cNvPr id="7" name="Shape 5"/>
          <p:cNvSpPr/>
          <p:nvPr/>
        </p:nvSpPr>
        <p:spPr>
          <a:xfrm>
            <a:off x="3355848" y="1325880"/>
            <a:ext cx="2651760" cy="2240280"/>
          </a:xfrm>
          <a:prstGeom prst="rect">
            <a:avLst/>
          </a:prstGeom>
          <a:solidFill>
            <a:schemeClr val="bg1"/>
          </a:solidFill>
          <a:ln w="25400">
            <a:solidFill>
              <a:schemeClr val="tx1"/>
            </a:solidFill>
            <a:prstDash val="solid"/>
          </a:ln>
        </p:spPr>
      </p:sp>
      <p:sp>
        <p:nvSpPr>
          <p:cNvPr id="8" name="Text 6"/>
          <p:cNvSpPr txBox="1"/>
          <p:nvPr/>
        </p:nvSpPr>
        <p:spPr>
          <a:xfrm>
            <a:off x="3493008" y="1463040"/>
            <a:ext cx="2377440" cy="77724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L'homme d'acier signé</a:t>
            </a:r>
            <a:endParaRPr lang="en-US" sz="1700" dirty="0"/>
          </a:p>
        </p:txBody>
      </p:sp>
      <p:sp>
        <p:nvSpPr>
          <p:cNvPr id="9" name="Text 7"/>
          <p:cNvSpPr txBox="1"/>
          <p:nvPr/>
        </p:nvSpPr>
        <p:spPr>
          <a:xfrm>
            <a:off x="3493008" y="2240280"/>
            <a:ext cx="2377440" cy="82296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L'autre signe si tu as bien dit sa pensée</a:t>
            </a:r>
            <a:endParaRPr lang="en-US" sz="1400" dirty="0"/>
          </a:p>
        </p:txBody>
      </p:sp>
      <p:sp>
        <p:nvSpPr>
          <p:cNvPr id="10" name="Text 8"/>
          <p:cNvSpPr txBox="1"/>
          <p:nvPr/>
        </p:nvSpPr>
        <p:spPr>
          <a:xfrm>
            <a:off x="3493008" y="3108960"/>
            <a:ext cx="2377440" cy="32004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10 min · à deux</a:t>
            </a:r>
            <a:endParaRPr lang="en-US" sz="1300" dirty="0"/>
          </a:p>
        </p:txBody>
      </p:sp>
      <p:sp>
        <p:nvSpPr>
          <p:cNvPr id="11" name="Shape 9"/>
          <p:cNvSpPr/>
          <p:nvPr/>
        </p:nvSpPr>
        <p:spPr>
          <a:xfrm>
            <a:off x="6163056" y="1325880"/>
            <a:ext cx="2651760" cy="2240280"/>
          </a:xfrm>
          <a:prstGeom prst="rect">
            <a:avLst/>
          </a:prstGeom>
          <a:solidFill>
            <a:schemeClr val="bg1"/>
          </a:solidFill>
          <a:ln w="25400">
            <a:solidFill>
              <a:schemeClr val="tx1"/>
            </a:solidFill>
            <a:prstDash val="solid"/>
          </a:ln>
        </p:spPr>
      </p:sp>
      <p:sp>
        <p:nvSpPr>
          <p:cNvPr id="12" name="Text 10"/>
          <p:cNvSpPr txBox="1"/>
          <p:nvPr/>
        </p:nvSpPr>
        <p:spPr>
          <a:xfrm>
            <a:off x="6300216" y="1463040"/>
            <a:ext cx="2377440" cy="77724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 39ᵉ stratagème</a:t>
            </a:r>
            <a:endParaRPr lang="en-US" sz="1700" dirty="0"/>
          </a:p>
        </p:txBody>
      </p:sp>
      <p:sp>
        <p:nvSpPr>
          <p:cNvPr id="13" name="Text 11"/>
          <p:cNvSpPr txBox="1"/>
          <p:nvPr/>
        </p:nvSpPr>
        <p:spPr>
          <a:xfrm>
            <a:off x="6300216" y="2240280"/>
            <a:ext cx="2377440" cy="82296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Invente un coup loyal</a:t>
            </a:r>
            <a:endParaRPr lang="en-US" sz="1400" dirty="0"/>
          </a:p>
        </p:txBody>
      </p:sp>
      <p:sp>
        <p:nvSpPr>
          <p:cNvPr id="14" name="Text 12"/>
          <p:cNvSpPr txBox="1"/>
          <p:nvPr/>
        </p:nvSpPr>
        <p:spPr>
          <a:xfrm>
            <a:off x="6300216" y="3108960"/>
            <a:ext cx="2377440" cy="32004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10 min · seul·e</a:t>
            </a:r>
            <a:endParaRPr lang="en-US" sz="1300" dirty="0"/>
          </a:p>
        </p:txBody>
      </p:sp>
      <p:sp>
        <p:nvSpPr>
          <p:cNvPr id="15" name="Shape 13"/>
          <p:cNvSpPr/>
          <p:nvPr/>
        </p:nvSpPr>
        <p:spPr>
          <a:xfrm>
            <a:off x="8970264" y="1325880"/>
            <a:ext cx="2651760" cy="2240280"/>
          </a:xfrm>
          <a:prstGeom prst="rect">
            <a:avLst/>
          </a:prstGeom>
          <a:solidFill>
            <a:schemeClr val="accent2"/>
          </a:solidFill>
          <a:ln w="25400">
            <a:solidFill>
              <a:schemeClr val="tx1"/>
            </a:solidFill>
            <a:prstDash val="solid"/>
          </a:ln>
        </p:spPr>
      </p:sp>
      <p:sp>
        <p:nvSpPr>
          <p:cNvPr id="16" name="Text 14"/>
          <p:cNvSpPr txBox="1"/>
          <p:nvPr/>
        </p:nvSpPr>
        <p:spPr>
          <a:xfrm>
            <a:off x="9107424" y="1463040"/>
            <a:ext cx="2377440" cy="77724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 relais de reformulation</a:t>
            </a:r>
            <a:endParaRPr lang="en-US" sz="1700" dirty="0"/>
          </a:p>
        </p:txBody>
      </p:sp>
      <p:sp>
        <p:nvSpPr>
          <p:cNvPr id="17" name="Text 15"/>
          <p:cNvSpPr txBox="1"/>
          <p:nvPr/>
        </p:nvSpPr>
        <p:spPr>
          <a:xfrm>
            <a:off x="9107424" y="2240280"/>
            <a:ext cx="2377440" cy="82296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Reformule, ajoute, passe la feuille</a:t>
            </a:r>
            <a:endParaRPr lang="en-US" sz="1400" dirty="0"/>
          </a:p>
        </p:txBody>
      </p:sp>
      <p:sp>
        <p:nvSpPr>
          <p:cNvPr id="18" name="Text 16"/>
          <p:cNvSpPr txBox="1"/>
          <p:nvPr/>
        </p:nvSpPr>
        <p:spPr>
          <a:xfrm>
            <a:off x="9107424" y="3108960"/>
            <a:ext cx="2377440" cy="32004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10 min · groupe de 4</a:t>
            </a:r>
            <a:endParaRPr lang="en-US" sz="1300" dirty="0"/>
          </a:p>
        </p:txBody>
      </p:sp>
      <p:sp>
        <p:nvSpPr>
          <p:cNvPr id="19" name="Shape 17"/>
          <p:cNvSpPr/>
          <p:nvPr/>
        </p:nvSpPr>
        <p:spPr>
          <a:xfrm>
            <a:off x="1947672" y="3749040"/>
            <a:ext cx="2651760" cy="2240280"/>
          </a:xfrm>
          <a:prstGeom prst="rect">
            <a:avLst/>
          </a:prstGeom>
          <a:solidFill>
            <a:schemeClr val="accent2"/>
          </a:solidFill>
          <a:ln w="25400">
            <a:solidFill>
              <a:schemeClr val="tx1"/>
            </a:solidFill>
            <a:prstDash val="solid"/>
          </a:ln>
        </p:spPr>
      </p:sp>
      <p:sp>
        <p:nvSpPr>
          <p:cNvPr id="20" name="Text 18"/>
          <p:cNvSpPr txBox="1"/>
          <p:nvPr/>
        </p:nvSpPr>
        <p:spPr>
          <a:xfrm>
            <a:off x="2084832" y="3886200"/>
            <a:ext cx="2377440" cy="77724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Débat sans « mais »</a:t>
            </a:r>
            <a:endParaRPr lang="en-US" sz="1700" dirty="0"/>
          </a:p>
        </p:txBody>
      </p:sp>
      <p:sp>
        <p:nvSpPr>
          <p:cNvPr id="21" name="Text 19"/>
          <p:cNvSpPr txBox="1"/>
          <p:nvPr/>
        </p:nvSpPr>
        <p:spPr>
          <a:xfrm>
            <a:off x="2084832" y="4663440"/>
            <a:ext cx="2377440" cy="82296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6 répliques, le mot « mais » est interdit</a:t>
            </a:r>
            <a:endParaRPr lang="en-US" sz="1400" dirty="0"/>
          </a:p>
        </p:txBody>
      </p:sp>
      <p:sp>
        <p:nvSpPr>
          <p:cNvPr id="22" name="Text 20"/>
          <p:cNvSpPr txBox="1"/>
          <p:nvPr/>
        </p:nvSpPr>
        <p:spPr>
          <a:xfrm>
            <a:off x="2084832" y="5532120"/>
            <a:ext cx="2377440" cy="32004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8 min · à deux</a:t>
            </a:r>
            <a:endParaRPr lang="en-US" sz="1300" dirty="0"/>
          </a:p>
        </p:txBody>
      </p:sp>
      <p:sp>
        <p:nvSpPr>
          <p:cNvPr id="23" name="Shape 21"/>
          <p:cNvSpPr/>
          <p:nvPr/>
        </p:nvSpPr>
        <p:spPr>
          <a:xfrm>
            <a:off x="4754880" y="3749040"/>
            <a:ext cx="2651760" cy="2240280"/>
          </a:xfrm>
          <a:prstGeom prst="rect">
            <a:avLst/>
          </a:prstGeom>
          <a:solidFill>
            <a:schemeClr val="accent2"/>
          </a:solidFill>
          <a:ln w="25400">
            <a:solidFill>
              <a:schemeClr val="tx1"/>
            </a:solidFill>
            <a:prstDash val="solid"/>
          </a:ln>
        </p:spPr>
      </p:sp>
      <p:sp>
        <p:nvSpPr>
          <p:cNvPr id="24" name="Text 22"/>
          <p:cNvSpPr txBox="1"/>
          <p:nvPr/>
        </p:nvSpPr>
        <p:spPr>
          <a:xfrm>
            <a:off x="4892040" y="3886200"/>
            <a:ext cx="2377440" cy="77724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Avis de recherche</a:t>
            </a:r>
            <a:endParaRPr lang="en-US" sz="1700" dirty="0"/>
          </a:p>
        </p:txBody>
      </p:sp>
      <p:sp>
        <p:nvSpPr>
          <p:cNvPr id="25" name="Text 23"/>
          <p:cNvSpPr txBox="1"/>
          <p:nvPr/>
        </p:nvSpPr>
        <p:spPr>
          <a:xfrm>
            <a:off x="4892040" y="4663440"/>
            <a:ext cx="2377440" cy="82296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Portrait-robot écrit et dessiné d'une créature</a:t>
            </a:r>
            <a:endParaRPr lang="en-US" sz="1400" dirty="0"/>
          </a:p>
        </p:txBody>
      </p:sp>
      <p:sp>
        <p:nvSpPr>
          <p:cNvPr id="26" name="Text 24"/>
          <p:cNvSpPr txBox="1"/>
          <p:nvPr/>
        </p:nvSpPr>
        <p:spPr>
          <a:xfrm>
            <a:off x="4892040" y="5532120"/>
            <a:ext cx="2377440" cy="32004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8 min · seul·e</a:t>
            </a:r>
            <a:endParaRPr lang="en-US" sz="1300" dirty="0"/>
          </a:p>
        </p:txBody>
      </p:sp>
      <p:sp>
        <p:nvSpPr>
          <p:cNvPr id="27" name="Shape 25"/>
          <p:cNvSpPr/>
          <p:nvPr/>
        </p:nvSpPr>
        <p:spPr>
          <a:xfrm>
            <a:off x="7562088" y="3749040"/>
            <a:ext cx="2651760" cy="2240280"/>
          </a:xfrm>
          <a:prstGeom prst="rect">
            <a:avLst/>
          </a:prstGeom>
          <a:solidFill>
            <a:schemeClr val="accent2"/>
          </a:solidFill>
          <a:ln w="25400">
            <a:solidFill>
              <a:schemeClr val="tx1"/>
            </a:solidFill>
            <a:prstDash val="solid"/>
          </a:ln>
        </p:spPr>
      </p:sp>
      <p:sp>
        <p:nvSpPr>
          <p:cNvPr id="28" name="Text 26"/>
          <p:cNvSpPr txBox="1"/>
          <p:nvPr/>
        </p:nvSpPr>
        <p:spPr>
          <a:xfrm>
            <a:off x="7699248" y="3886200"/>
            <a:ext cx="2377440" cy="77724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 tweet de paix</a:t>
            </a:r>
            <a:endParaRPr lang="en-US" sz="1700" dirty="0"/>
          </a:p>
        </p:txBody>
      </p:sp>
      <p:sp>
        <p:nvSpPr>
          <p:cNvPr id="29" name="Text 27"/>
          <p:cNvSpPr txBox="1"/>
          <p:nvPr/>
        </p:nvSpPr>
        <p:spPr>
          <a:xfrm>
            <a:off x="7699248" y="4663440"/>
            <a:ext cx="2377440" cy="82296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280 caractères pour désamorcer</a:t>
            </a:r>
            <a:endParaRPr lang="en-US" sz="1400" dirty="0"/>
          </a:p>
        </p:txBody>
      </p:sp>
      <p:sp>
        <p:nvSpPr>
          <p:cNvPr id="30" name="Text 28"/>
          <p:cNvSpPr txBox="1"/>
          <p:nvPr/>
        </p:nvSpPr>
        <p:spPr>
          <a:xfrm>
            <a:off x="7699248" y="5532120"/>
            <a:ext cx="2377440" cy="320040"/>
          </a:xfrm>
          <a:prstGeom prst="rect">
            <a:avLst/>
          </a:prstGeom>
          <a:noFill/>
          <a:ln/>
        </p:spPr>
        <p:txBody>
          <a:bodyPr wrap="square" lIns="0" tIns="0" rIns="0" bIns="0" rtlCol="0" anchor="t"/>
          <a:lstStyle/>
          <a:p>
            <a:pPr indent="0" marL="0">
              <a:buNone/>
            </a:pPr>
            <a:r>
              <a:rPr lang="en-US" sz="1300" b="1" dirty="0">
                <a:solidFill>
                  <a:schemeClr val="tx2"/>
                </a:solidFill>
                <a:latin typeface="Arial" pitchFamily="34" charset="0"/>
                <a:ea typeface="Arial" pitchFamily="34" charset="-122"/>
                <a:cs typeface="Arial" pitchFamily="34" charset="-120"/>
              </a:rPr>
              <a:t>5 min · seul·e</a:t>
            </a:r>
            <a:endParaRPr lang="en-US" sz="13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par>
                          <p:cTn id="108" presetID="53" presetClass="entr" presetSubtype="16" fill="hold" nodeType="withEffect">
                            <p:stCondLst>
                              <p:cond delay="2600"/>
                            </p:stCondLst>
                            <p:childTnLst>
                              <p:set>
                                <p:cBhvr>
                                  <p:cTn id="109" dur="1" fill="hold">
                                    <p:stCondLst>
                                      <p:cond delay="0"/>
                                    </p:stCondLst>
                                  </p:cTn>
                                  <p:tgtEl>
                                    <p:spTgt spid="29"/>
                                  </p:tgtEl>
                                  <p:attrNameLst>
                                    <p:attrName>style.visibility</p:attrName>
                                  </p:attrNameLst>
                                </p:cBhvr>
                                <p:to>
                                  <p:strVal val="visible"/>
                                </p:to>
                              </p:set>
                              <p:anim calcmode="lin" valueType="num">
                                <p:cBhvr>
                                  <p:cTn id="110" dur="450" fill="hold"/>
                                  <p:tgtEl>
                                    <p:spTgt spid="29"/>
                                  </p:tgtEl>
                                  <p:attrNameLst>
                                    <p:attrName>ppt_w</p:attrName>
                                  </p:attrNameLst>
                                </p:cBhvr>
                                <p:tavLst>
                                  <p:tav tm="0">
                                    <p:val>
                                      <p:strVal val="#ppt_w*0.85"/>
                                    </p:val>
                                  </p:tav>
                                  <p:tav tm="100000">
                                    <p:val>
                                      <p:strVal val="#ppt_w"/>
                                    </p:val>
                                  </p:tav>
                                </p:tavLst>
                              </p:anim>
                              <p:animEffect transition="in" filter="fade">
                                <p:cBhvr>
                                  <p:cTn id="111" dur="450"/>
                                  <p:tgtEl>
                                    <p:spTgt spid="29"/>
                                  </p:tgtEl>
                                </p:cBhvr>
                              </p:animEffect>
                            </p:childTnLst>
                          </p:cTn>
                        </p:par>
                        <p:par>
                          <p:cTn id="112" presetID="53" presetClass="entr" presetSubtype="16" fill="hold" nodeType="withEffect">
                            <p:stCondLst>
                              <p:cond delay="2600"/>
                            </p:stCondLst>
                            <p:childTnLst>
                              <p:set>
                                <p:cBhvr>
                                  <p:cTn id="113" dur="1" fill="hold">
                                    <p:stCondLst>
                                      <p:cond delay="0"/>
                                    </p:stCondLst>
                                  </p:cTn>
                                  <p:tgtEl>
                                    <p:spTgt spid="30"/>
                                  </p:tgtEl>
                                  <p:attrNameLst>
                                    <p:attrName>style.visibility</p:attrName>
                                  </p:attrNameLst>
                                </p:cBhvr>
                                <p:to>
                                  <p:strVal val="visible"/>
                                </p:to>
                              </p:set>
                              <p:anim calcmode="lin" valueType="num">
                                <p:cBhvr>
                                  <p:cTn id="114" dur="450" fill="hold"/>
                                  <p:tgtEl>
                                    <p:spTgt spid="30"/>
                                  </p:tgtEl>
                                  <p:attrNameLst>
                                    <p:attrName>ppt_w</p:attrName>
                                  </p:attrNameLst>
                                </p:cBhvr>
                                <p:tavLst>
                                  <p:tav tm="0">
                                    <p:val>
                                      <p:strVal val="#ppt_w*0.85"/>
                                    </p:val>
                                  </p:tav>
                                  <p:tav tm="100000">
                                    <p:val>
                                      <p:strVal val="#ppt_w"/>
                                    </p:val>
                                  </p:tav>
                                </p:tavLst>
                              </p:anim>
                              <p:animEffect transition="in" filter="fade">
                                <p:cBhvr>
                                  <p:cTn id="115" dur="450"/>
                                  <p:tgtEl>
                                    <p:spTgt spid="3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8" grpId="0"/>
      <p:bldP spid="9" grpId="0"/>
      <p:bldP spid="10" grpId="0"/>
      <p:bldP spid="12" grpId="0"/>
      <p:bldP spid="13" grpId="0"/>
      <p:bldP spid="14" grpId="0"/>
      <p:bldP spid="16" grpId="0"/>
      <p:bldP spid="17" grpId="0"/>
      <p:bldP spid="18" grpId="0"/>
      <p:bldP spid="20" grpId="0"/>
      <p:bldP spid="21" grpId="0"/>
      <p:bldP spid="22" grpId="0"/>
      <p:bldP spid="24" grpId="0"/>
      <p:bldP spid="25" grpId="0"/>
      <p:bldP spid="26" grpId="0"/>
      <p:bldP spid="28" grpId="0"/>
      <p:bldP spid="29" grpId="0"/>
      <p:bldP spid="30" grpId="0"/>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Atelier 1 · L'ascenseur</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Text 3"/>
          <p:cNvSpPr txBox="1"/>
          <p:nvPr/>
        </p:nvSpPr>
        <p:spPr>
          <a:xfrm>
            <a:off x="548640" y="1280160"/>
            <a:ext cx="10972800" cy="457200"/>
          </a:xfrm>
          <a:prstGeom prst="rect">
            <a:avLst/>
          </a:prstGeom>
          <a:noFill/>
          <a:ln/>
        </p:spPr>
        <p:txBody>
          <a:bodyPr wrap="square" lIns="0" tIns="0" rIns="0" bIns="0" rtlCol="0" anchor="t"/>
          <a:lstStyle/>
          <a:p>
            <a:pPr indent="0" marL="0">
              <a:buNone/>
            </a:pPr>
            <a:r>
              <a:rPr lang="en-US" sz="1700" dirty="0">
                <a:solidFill>
                  <a:schemeClr val="tx1"/>
                </a:solidFill>
                <a:latin typeface="Arial" pitchFamily="34" charset="0"/>
                <a:ea typeface="Arial" pitchFamily="34" charset="-122"/>
                <a:cs typeface="Arial" pitchFamily="34" charset="-120"/>
              </a:rPr>
              <a:t>Prends une réplique toxique et fais-la monter dans la pyramide, un étage à la fois.</a:t>
            </a:r>
            <a:endParaRPr lang="en-US" sz="1700" dirty="0"/>
          </a:p>
        </p:txBody>
      </p:sp>
      <p:sp>
        <p:nvSpPr>
          <p:cNvPr id="6" name="Shape 4"/>
          <p:cNvSpPr/>
          <p:nvPr/>
        </p:nvSpPr>
        <p:spPr>
          <a:xfrm>
            <a:off x="548640" y="4983480"/>
            <a:ext cx="6949440" cy="914400"/>
          </a:xfrm>
          <a:prstGeom prst="rect">
            <a:avLst/>
          </a:prstGeom>
          <a:solidFill>
            <a:schemeClr val="tx1"/>
          </a:solidFill>
          <a:ln/>
        </p:spPr>
      </p:sp>
      <p:sp>
        <p:nvSpPr>
          <p:cNvPr id="7" name="Text 5"/>
          <p:cNvSpPr txBox="1"/>
          <p:nvPr/>
        </p:nvSpPr>
        <p:spPr>
          <a:xfrm>
            <a:off x="685800" y="4983480"/>
            <a:ext cx="640080" cy="914400"/>
          </a:xfrm>
          <a:prstGeom prst="rect">
            <a:avLst/>
          </a:prstGeom>
          <a:noFill/>
          <a:ln/>
        </p:spPr>
        <p:txBody>
          <a:bodyPr wrap="square" lIns="0" tIns="0" rIns="0" bIns="0" rtlCol="0" anchor="ctr"/>
          <a:lstStyle/>
          <a:p>
            <a:pPr indent="0" marL="0">
              <a:buNone/>
            </a:pPr>
            <a:r>
              <a:rPr lang="en-US" sz="3000" dirty="0">
                <a:solidFill>
                  <a:schemeClr val="bg2"/>
                </a:solidFill>
                <a:latin typeface="Rockwell Extra Bold" pitchFamily="34" charset="0"/>
                <a:ea typeface="Rockwell Extra Bold" pitchFamily="34" charset="-122"/>
                <a:cs typeface="Rockwell Extra Bold" pitchFamily="34" charset="-120"/>
              </a:rPr>
              <a:t>0</a:t>
            </a:r>
            <a:endParaRPr lang="en-US" sz="3000" dirty="0"/>
          </a:p>
        </p:txBody>
      </p:sp>
      <p:sp>
        <p:nvSpPr>
          <p:cNvPr id="8" name="Text 6"/>
          <p:cNvSpPr txBox="1"/>
          <p:nvPr/>
        </p:nvSpPr>
        <p:spPr>
          <a:xfrm>
            <a:off x="1371600" y="5029200"/>
            <a:ext cx="5989320" cy="822960"/>
          </a:xfrm>
          <a:prstGeom prst="rect">
            <a:avLst/>
          </a:prstGeom>
          <a:noFill/>
          <a:ln/>
        </p:spPr>
        <p:txBody>
          <a:bodyPr wrap="square" lIns="0" tIns="0" rIns="0" bIns="0" rtlCol="0" anchor="ctr"/>
          <a:lstStyle/>
          <a:p>
            <a:pPr indent="0" marL="0">
              <a:buNone/>
            </a:pPr>
            <a:r>
              <a:rPr lang="en-US" sz="1500" dirty="0">
                <a:solidFill>
                  <a:schemeClr val="bg2"/>
                </a:solidFill>
                <a:latin typeface="Arial" pitchFamily="34" charset="0"/>
                <a:ea typeface="Arial" pitchFamily="34" charset="-122"/>
                <a:cs typeface="Arial" pitchFamily="34" charset="-120"/>
              </a:rPr>
              <a:t>« T'es vraiment déconnecté si tu penses que le télétravail marche. »</a:t>
            </a:r>
            <a:endParaRPr lang="en-US" sz="1500" dirty="0"/>
          </a:p>
        </p:txBody>
      </p:sp>
      <p:sp>
        <p:nvSpPr>
          <p:cNvPr id="9" name="Shape 7"/>
          <p:cNvSpPr/>
          <p:nvPr/>
        </p:nvSpPr>
        <p:spPr>
          <a:xfrm>
            <a:off x="548640" y="3931920"/>
            <a:ext cx="7315200" cy="914400"/>
          </a:xfrm>
          <a:prstGeom prst="rect">
            <a:avLst/>
          </a:prstGeom>
          <a:solidFill>
            <a:schemeClr val="accent2"/>
          </a:solidFill>
          <a:ln/>
        </p:spPr>
      </p:sp>
      <p:sp>
        <p:nvSpPr>
          <p:cNvPr id="10" name="Text 8"/>
          <p:cNvSpPr txBox="1"/>
          <p:nvPr/>
        </p:nvSpPr>
        <p:spPr>
          <a:xfrm>
            <a:off x="685800" y="3931920"/>
            <a:ext cx="640080" cy="914400"/>
          </a:xfrm>
          <a:prstGeom prst="rect">
            <a:avLst/>
          </a:prstGeom>
          <a:noFill/>
          <a:ln/>
        </p:spPr>
        <p:txBody>
          <a:bodyPr wrap="square" lIns="0" tIns="0" rIns="0" bIns="0" rtlCol="0" anchor="ctr"/>
          <a:lstStyle/>
          <a:p>
            <a:pPr indent="0" marL="0">
              <a:buNone/>
            </a:pPr>
            <a:r>
              <a:rPr lang="en-US" sz="3000" dirty="0">
                <a:solidFill>
                  <a:schemeClr val="tx1"/>
                </a:solidFill>
                <a:latin typeface="Rockwell Extra Bold" pitchFamily="34" charset="0"/>
                <a:ea typeface="Rockwell Extra Bold" pitchFamily="34" charset="-122"/>
                <a:cs typeface="Rockwell Extra Bold" pitchFamily="34" charset="-120"/>
              </a:rPr>
              <a:t>3</a:t>
            </a:r>
            <a:endParaRPr lang="en-US" sz="3000" dirty="0"/>
          </a:p>
        </p:txBody>
      </p:sp>
      <p:sp>
        <p:nvSpPr>
          <p:cNvPr id="11" name="Text 9"/>
          <p:cNvSpPr txBox="1"/>
          <p:nvPr/>
        </p:nvSpPr>
        <p:spPr>
          <a:xfrm>
            <a:off x="1371600" y="3977640"/>
            <a:ext cx="63550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Non, le télétravail ne marche pas. »</a:t>
            </a:r>
            <a:endParaRPr lang="en-US" sz="1500" dirty="0"/>
          </a:p>
        </p:txBody>
      </p:sp>
      <p:sp>
        <p:nvSpPr>
          <p:cNvPr id="12" name="Shape 10"/>
          <p:cNvSpPr/>
          <p:nvPr/>
        </p:nvSpPr>
        <p:spPr>
          <a:xfrm>
            <a:off x="548640" y="2880360"/>
            <a:ext cx="7680960" cy="914400"/>
          </a:xfrm>
          <a:prstGeom prst="rect">
            <a:avLst/>
          </a:prstGeom>
          <a:solidFill>
            <a:schemeClr val="accent1"/>
          </a:solidFill>
          <a:ln/>
        </p:spPr>
      </p:sp>
      <p:sp>
        <p:nvSpPr>
          <p:cNvPr id="13" name="Text 11"/>
          <p:cNvSpPr txBox="1"/>
          <p:nvPr/>
        </p:nvSpPr>
        <p:spPr>
          <a:xfrm>
            <a:off x="685800" y="2880360"/>
            <a:ext cx="640080" cy="914400"/>
          </a:xfrm>
          <a:prstGeom prst="rect">
            <a:avLst/>
          </a:prstGeom>
          <a:noFill/>
          <a:ln/>
        </p:spPr>
        <p:txBody>
          <a:bodyPr wrap="square" lIns="0" tIns="0" rIns="0" bIns="0" rtlCol="0" anchor="ctr"/>
          <a:lstStyle/>
          <a:p>
            <a:pPr indent="0" marL="0">
              <a:buNone/>
            </a:pPr>
            <a:r>
              <a:rPr lang="en-US" sz="3000" dirty="0">
                <a:solidFill>
                  <a:schemeClr val="bg2"/>
                </a:solidFill>
                <a:latin typeface="Rockwell Extra Bold" pitchFamily="34" charset="0"/>
                <a:ea typeface="Rockwell Extra Bold" pitchFamily="34" charset="-122"/>
                <a:cs typeface="Rockwell Extra Bold" pitchFamily="34" charset="-120"/>
              </a:rPr>
              <a:t>4</a:t>
            </a:r>
            <a:endParaRPr lang="en-US" sz="3000" dirty="0"/>
          </a:p>
        </p:txBody>
      </p:sp>
      <p:sp>
        <p:nvSpPr>
          <p:cNvPr id="14" name="Text 12"/>
          <p:cNvSpPr txBox="1"/>
          <p:nvPr/>
        </p:nvSpPr>
        <p:spPr>
          <a:xfrm>
            <a:off x="1371600" y="2926080"/>
            <a:ext cx="6720840" cy="822960"/>
          </a:xfrm>
          <a:prstGeom prst="rect">
            <a:avLst/>
          </a:prstGeom>
          <a:noFill/>
          <a:ln/>
        </p:spPr>
        <p:txBody>
          <a:bodyPr wrap="square" lIns="0" tIns="0" rIns="0" bIns="0" rtlCol="0" anchor="ctr"/>
          <a:lstStyle/>
          <a:p>
            <a:pPr indent="0" marL="0">
              <a:buNone/>
            </a:pPr>
            <a:r>
              <a:rPr lang="en-US" sz="1500" dirty="0">
                <a:solidFill>
                  <a:schemeClr val="bg2"/>
                </a:solidFill>
                <a:latin typeface="Arial" pitchFamily="34" charset="0"/>
                <a:ea typeface="Arial" pitchFamily="34" charset="-122"/>
                <a:cs typeface="Arial" pitchFamily="34" charset="-120"/>
              </a:rPr>
              <a:t>« Le télétravail isole les nouveaux employés : ils apprennent moins vite sans collègues autour. »</a:t>
            </a:r>
            <a:endParaRPr lang="en-US" sz="1500" dirty="0"/>
          </a:p>
        </p:txBody>
      </p:sp>
      <p:sp>
        <p:nvSpPr>
          <p:cNvPr id="15" name="Shape 13"/>
          <p:cNvSpPr/>
          <p:nvPr/>
        </p:nvSpPr>
        <p:spPr>
          <a:xfrm>
            <a:off x="548640" y="1828800"/>
            <a:ext cx="8046720" cy="914400"/>
          </a:xfrm>
          <a:prstGeom prst="rect">
            <a:avLst/>
          </a:prstGeom>
          <a:solidFill>
            <a:schemeClr val="accent1"/>
          </a:solidFill>
          <a:ln/>
        </p:spPr>
      </p:sp>
      <p:sp>
        <p:nvSpPr>
          <p:cNvPr id="16" name="Text 14"/>
          <p:cNvSpPr txBox="1"/>
          <p:nvPr/>
        </p:nvSpPr>
        <p:spPr>
          <a:xfrm>
            <a:off x="685800" y="1828800"/>
            <a:ext cx="640080" cy="914400"/>
          </a:xfrm>
          <a:prstGeom prst="rect">
            <a:avLst/>
          </a:prstGeom>
          <a:noFill/>
          <a:ln/>
        </p:spPr>
        <p:txBody>
          <a:bodyPr wrap="square" lIns="0" tIns="0" rIns="0" bIns="0" rtlCol="0" anchor="ctr"/>
          <a:lstStyle/>
          <a:p>
            <a:pPr indent="0" marL="0">
              <a:buNone/>
            </a:pPr>
            <a:r>
              <a:rPr lang="en-US" sz="3000" dirty="0">
                <a:solidFill>
                  <a:schemeClr val="bg2"/>
                </a:solidFill>
                <a:latin typeface="Rockwell Extra Bold" pitchFamily="34" charset="0"/>
                <a:ea typeface="Rockwell Extra Bold" pitchFamily="34" charset="-122"/>
                <a:cs typeface="Rockwell Extra Bold" pitchFamily="34" charset="-120"/>
              </a:rPr>
              <a:t>6</a:t>
            </a:r>
            <a:endParaRPr lang="en-US" sz="3000" dirty="0"/>
          </a:p>
        </p:txBody>
      </p:sp>
      <p:sp>
        <p:nvSpPr>
          <p:cNvPr id="17" name="Text 15"/>
          <p:cNvSpPr txBox="1"/>
          <p:nvPr/>
        </p:nvSpPr>
        <p:spPr>
          <a:xfrm>
            <a:off x="1371600" y="1874520"/>
            <a:ext cx="7086600" cy="822960"/>
          </a:xfrm>
          <a:prstGeom prst="rect">
            <a:avLst/>
          </a:prstGeom>
          <a:noFill/>
          <a:ln/>
        </p:spPr>
        <p:txBody>
          <a:bodyPr wrap="square" lIns="0" tIns="0" rIns="0" bIns="0" rtlCol="0" anchor="ctr"/>
          <a:lstStyle/>
          <a:p>
            <a:pPr indent="0" marL="0">
              <a:buNone/>
            </a:pPr>
            <a:r>
              <a:rPr lang="en-US" sz="1300" dirty="0">
                <a:solidFill>
                  <a:schemeClr val="bg2"/>
                </a:solidFill>
                <a:latin typeface="Arial" pitchFamily="34" charset="0"/>
                <a:ea typeface="Arial" pitchFamily="34" charset="-122"/>
                <a:cs typeface="Arial" pitchFamily="34" charset="-120"/>
              </a:rPr>
              <a:t>« Tu dis que le télétravail rend plus productif. C'est vrai pour le travail concentré. Mais si on gardait deux jours sur place pour l'accueil et la collaboration, ton argument tiendrait-il encore? »</a:t>
            </a:r>
            <a:endParaRPr lang="en-US" sz="1300" dirty="0"/>
          </a:p>
        </p:txBody>
      </p:sp>
      <p:sp>
        <p:nvSpPr>
          <p:cNvPr id="18" name="Shape 16"/>
          <p:cNvSpPr/>
          <p:nvPr/>
        </p:nvSpPr>
        <p:spPr>
          <a:xfrm>
            <a:off x="8595360" y="1965960"/>
            <a:ext cx="3017520" cy="3931920"/>
          </a:xfrm>
          <a:prstGeom prst="rect">
            <a:avLst/>
          </a:prstGeom>
          <a:solidFill>
            <a:schemeClr val="bg1"/>
          </a:solidFill>
          <a:ln w="25400">
            <a:solidFill>
              <a:schemeClr val="tx1"/>
            </a:solidFill>
            <a:prstDash val="solid"/>
          </a:ln>
        </p:spPr>
      </p:sp>
      <p:sp>
        <p:nvSpPr>
          <p:cNvPr id="19" name="Text 17"/>
          <p:cNvSpPr txBox="1"/>
          <p:nvPr/>
        </p:nvSpPr>
        <p:spPr>
          <a:xfrm>
            <a:off x="8778240" y="2103120"/>
            <a:ext cx="2743200" cy="45720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Consigne</a:t>
            </a:r>
            <a:endParaRPr lang="en-US" sz="1800" dirty="0"/>
          </a:p>
        </p:txBody>
      </p:sp>
      <p:sp>
        <p:nvSpPr>
          <p:cNvPr id="20" name="Text 18"/>
          <p:cNvSpPr txBox="1"/>
          <p:nvPr/>
        </p:nvSpPr>
        <p:spPr>
          <a:xfrm>
            <a:off x="8778240" y="2606040"/>
            <a:ext cx="2697480" cy="3200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En équipe de 2, choisissez une réplique entendue en ligne, au travail ou en famille. Réécrivez-la aux étages 3, 4 et 6. Lisez l'étage 0 et l'étage 6 à voix haute.</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8" grpId="0"/>
      <p:bldP spid="10" grpId="0"/>
      <p:bldP spid="11" grpId="0"/>
      <p:bldP spid="13" grpId="0"/>
      <p:bldP spid="14" grpId="0"/>
      <p:bldP spid="16" grpId="0"/>
      <p:bldP spid="17" grpId="0"/>
      <p:bldP spid="19" grpId="0"/>
      <p:bldP spid="20" grpId="0"/>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Atelier 2 · L'homme d'acier signé</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Shape 3"/>
          <p:cNvSpPr/>
          <p:nvPr/>
        </p:nvSpPr>
        <p:spPr>
          <a:xfrm>
            <a:off x="548640" y="1417320"/>
            <a:ext cx="2651760" cy="3291840"/>
          </a:xfrm>
          <a:prstGeom prst="rect">
            <a:avLst/>
          </a:prstGeom>
          <a:solidFill>
            <a:schemeClr val="bg1"/>
          </a:solidFill>
          <a:ln w="25400">
            <a:solidFill>
              <a:schemeClr val="tx1"/>
            </a:solidFill>
            <a:prstDash val="solid"/>
          </a:ln>
        </p:spPr>
      </p:sp>
      <p:sp>
        <p:nvSpPr>
          <p:cNvPr id="6" name="Shape 4"/>
          <p:cNvSpPr/>
          <p:nvPr/>
        </p:nvSpPr>
        <p:spPr>
          <a:xfrm>
            <a:off x="731520" y="1600200"/>
            <a:ext cx="548640" cy="548640"/>
          </a:xfrm>
          <a:prstGeom prst="ellipse">
            <a:avLst/>
          </a:prstGeom>
          <a:solidFill>
            <a:schemeClr val="accent1"/>
          </a:solidFill>
          <a:ln w="19050">
            <a:solidFill>
              <a:schemeClr val="tx1"/>
            </a:solidFill>
            <a:prstDash val="solid"/>
          </a:ln>
        </p:spPr>
      </p:sp>
      <p:sp>
        <p:nvSpPr>
          <p:cNvPr id="7" name="Text 5"/>
          <p:cNvSpPr txBox="1"/>
          <p:nvPr/>
        </p:nvSpPr>
        <p:spPr>
          <a:xfrm>
            <a:off x="731520"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8" name="Text 6"/>
          <p:cNvSpPr txBox="1"/>
          <p:nvPr/>
        </p:nvSpPr>
        <p:spPr>
          <a:xfrm>
            <a:off x="1417320"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Écoute</a:t>
            </a:r>
            <a:endParaRPr lang="en-US" sz="2000" dirty="0"/>
          </a:p>
        </p:txBody>
      </p:sp>
      <p:sp>
        <p:nvSpPr>
          <p:cNvPr id="9" name="Text 7"/>
          <p:cNvSpPr txBox="1"/>
          <p:nvPr/>
        </p:nvSpPr>
        <p:spPr>
          <a:xfrm>
            <a:off x="731520"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 défend sa position pendant 2 minutes. B ne parle pas, il prend des notes.</a:t>
            </a:r>
            <a:endParaRPr lang="en-US" sz="1500" dirty="0"/>
          </a:p>
        </p:txBody>
      </p:sp>
      <p:sp>
        <p:nvSpPr>
          <p:cNvPr id="10" name="Shape 8"/>
          <p:cNvSpPr/>
          <p:nvPr/>
        </p:nvSpPr>
        <p:spPr>
          <a:xfrm>
            <a:off x="3355848" y="1417320"/>
            <a:ext cx="2651760" cy="3291840"/>
          </a:xfrm>
          <a:prstGeom prst="rect">
            <a:avLst/>
          </a:prstGeom>
          <a:solidFill>
            <a:schemeClr val="bg1"/>
          </a:solidFill>
          <a:ln w="25400">
            <a:solidFill>
              <a:schemeClr val="tx1"/>
            </a:solidFill>
            <a:prstDash val="solid"/>
          </a:ln>
        </p:spPr>
      </p:sp>
      <p:sp>
        <p:nvSpPr>
          <p:cNvPr id="11" name="Shape 9"/>
          <p:cNvSpPr/>
          <p:nvPr/>
        </p:nvSpPr>
        <p:spPr>
          <a:xfrm>
            <a:off x="3538728" y="1600200"/>
            <a:ext cx="548640" cy="548640"/>
          </a:xfrm>
          <a:prstGeom prst="ellipse">
            <a:avLst/>
          </a:prstGeom>
          <a:solidFill>
            <a:schemeClr val="accent1"/>
          </a:solidFill>
          <a:ln w="19050">
            <a:solidFill>
              <a:schemeClr val="tx1"/>
            </a:solidFill>
            <a:prstDash val="solid"/>
          </a:ln>
        </p:spPr>
      </p:sp>
      <p:sp>
        <p:nvSpPr>
          <p:cNvPr id="12" name="Text 10"/>
          <p:cNvSpPr txBox="1"/>
          <p:nvPr/>
        </p:nvSpPr>
        <p:spPr>
          <a:xfrm>
            <a:off x="3538728"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3" name="Text 11"/>
          <p:cNvSpPr txBox="1"/>
          <p:nvPr/>
        </p:nvSpPr>
        <p:spPr>
          <a:xfrm>
            <a:off x="4224528"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Écris</a:t>
            </a:r>
            <a:endParaRPr lang="en-US" sz="2000" dirty="0"/>
          </a:p>
        </p:txBody>
      </p:sp>
      <p:sp>
        <p:nvSpPr>
          <p:cNvPr id="14" name="Text 12"/>
          <p:cNvSpPr txBox="1"/>
          <p:nvPr/>
        </p:nvSpPr>
        <p:spPr>
          <a:xfrm>
            <a:off x="3538728"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B rédige en 50 mots la meilleure version possible de l'argument de A. Meilleure que l'original, si possible.</a:t>
            </a:r>
            <a:endParaRPr lang="en-US" sz="1500" dirty="0"/>
          </a:p>
        </p:txBody>
      </p:sp>
      <p:sp>
        <p:nvSpPr>
          <p:cNvPr id="15" name="Shape 13"/>
          <p:cNvSpPr/>
          <p:nvPr/>
        </p:nvSpPr>
        <p:spPr>
          <a:xfrm>
            <a:off x="6163056" y="1417320"/>
            <a:ext cx="2651760" cy="3291840"/>
          </a:xfrm>
          <a:prstGeom prst="rect">
            <a:avLst/>
          </a:prstGeom>
          <a:solidFill>
            <a:schemeClr val="accent2"/>
          </a:solidFill>
          <a:ln w="25400">
            <a:solidFill>
              <a:schemeClr val="tx1"/>
            </a:solidFill>
            <a:prstDash val="solid"/>
          </a:ln>
        </p:spPr>
      </p:sp>
      <p:sp>
        <p:nvSpPr>
          <p:cNvPr id="16" name="Shape 14"/>
          <p:cNvSpPr/>
          <p:nvPr/>
        </p:nvSpPr>
        <p:spPr>
          <a:xfrm>
            <a:off x="6345936" y="1600200"/>
            <a:ext cx="548640" cy="548640"/>
          </a:xfrm>
          <a:prstGeom prst="ellipse">
            <a:avLst/>
          </a:prstGeom>
          <a:solidFill>
            <a:schemeClr val="accent1"/>
          </a:solidFill>
          <a:ln w="19050">
            <a:solidFill>
              <a:schemeClr val="tx1"/>
            </a:solidFill>
            <a:prstDash val="solid"/>
          </a:ln>
        </p:spPr>
      </p:sp>
      <p:sp>
        <p:nvSpPr>
          <p:cNvPr id="17" name="Text 15"/>
          <p:cNvSpPr txBox="1"/>
          <p:nvPr/>
        </p:nvSpPr>
        <p:spPr>
          <a:xfrm>
            <a:off x="6345936"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3</a:t>
            </a:r>
            <a:endParaRPr lang="en-US" sz="2000" dirty="0"/>
          </a:p>
        </p:txBody>
      </p:sp>
      <p:sp>
        <p:nvSpPr>
          <p:cNvPr id="18" name="Text 16"/>
          <p:cNvSpPr txBox="1"/>
          <p:nvPr/>
        </p:nvSpPr>
        <p:spPr>
          <a:xfrm>
            <a:off x="7031736"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Signe</a:t>
            </a:r>
            <a:endParaRPr lang="en-US" sz="2000" dirty="0"/>
          </a:p>
        </p:txBody>
      </p:sp>
      <p:sp>
        <p:nvSpPr>
          <p:cNvPr id="19" name="Text 17"/>
          <p:cNvSpPr txBox="1"/>
          <p:nvPr/>
        </p:nvSpPr>
        <p:spPr>
          <a:xfrm>
            <a:off x="6345936"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 lit. S'il peut signer « Oui, c'est exactement ce que je pense », B a gagné. Sinon, B réécrit.</a:t>
            </a:r>
            <a:endParaRPr lang="en-US" sz="1500" dirty="0"/>
          </a:p>
        </p:txBody>
      </p:sp>
      <p:sp>
        <p:nvSpPr>
          <p:cNvPr id="20" name="Shape 18"/>
          <p:cNvSpPr/>
          <p:nvPr/>
        </p:nvSpPr>
        <p:spPr>
          <a:xfrm>
            <a:off x="8970264" y="1417320"/>
            <a:ext cx="2651760" cy="3291840"/>
          </a:xfrm>
          <a:prstGeom prst="rect">
            <a:avLst/>
          </a:prstGeom>
          <a:solidFill>
            <a:schemeClr val="bg1"/>
          </a:solidFill>
          <a:ln w="25400">
            <a:solidFill>
              <a:schemeClr val="tx1"/>
            </a:solidFill>
            <a:prstDash val="solid"/>
          </a:ln>
        </p:spPr>
      </p:sp>
      <p:sp>
        <p:nvSpPr>
          <p:cNvPr id="21" name="Shape 19"/>
          <p:cNvSpPr/>
          <p:nvPr/>
        </p:nvSpPr>
        <p:spPr>
          <a:xfrm>
            <a:off x="9153144" y="1600200"/>
            <a:ext cx="548640" cy="548640"/>
          </a:xfrm>
          <a:prstGeom prst="ellipse">
            <a:avLst/>
          </a:prstGeom>
          <a:solidFill>
            <a:schemeClr val="accent1"/>
          </a:solidFill>
          <a:ln w="19050">
            <a:solidFill>
              <a:schemeClr val="tx1"/>
            </a:solidFill>
            <a:prstDash val="solid"/>
          </a:ln>
        </p:spPr>
      </p:sp>
      <p:sp>
        <p:nvSpPr>
          <p:cNvPr id="22" name="Text 20"/>
          <p:cNvSpPr txBox="1"/>
          <p:nvPr/>
        </p:nvSpPr>
        <p:spPr>
          <a:xfrm>
            <a:off x="9153144" y="16002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23" name="Text 21"/>
          <p:cNvSpPr txBox="1"/>
          <p:nvPr/>
        </p:nvSpPr>
        <p:spPr>
          <a:xfrm>
            <a:off x="9838944" y="164592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Inverse</a:t>
            </a:r>
            <a:endParaRPr lang="en-US" sz="2000" dirty="0"/>
          </a:p>
        </p:txBody>
      </p:sp>
      <p:sp>
        <p:nvSpPr>
          <p:cNvPr id="24" name="Text 22"/>
          <p:cNvSpPr txBox="1"/>
          <p:nvPr/>
        </p:nvSpPr>
        <p:spPr>
          <a:xfrm>
            <a:off x="9153144" y="2377440"/>
            <a:ext cx="2286000" cy="219456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On échange les rôles. Ensuite seulement, chacun a droit à une critique.</a:t>
            </a:r>
            <a:endParaRPr lang="en-US" sz="1500" dirty="0"/>
          </a:p>
        </p:txBody>
      </p:sp>
      <p:sp>
        <p:nvSpPr>
          <p:cNvPr id="25" name="Shape 23"/>
          <p:cNvSpPr/>
          <p:nvPr/>
        </p:nvSpPr>
        <p:spPr>
          <a:xfrm>
            <a:off x="548640" y="4937760"/>
            <a:ext cx="11064240" cy="1051560"/>
          </a:xfrm>
          <a:prstGeom prst="rect">
            <a:avLst/>
          </a:prstGeom>
          <a:solidFill>
            <a:schemeClr val="tx1"/>
          </a:solidFill>
          <a:ln w="25400">
            <a:solidFill>
              <a:schemeClr val="tx1"/>
            </a:solidFill>
            <a:prstDash val="solid"/>
          </a:ln>
        </p:spPr>
      </p:sp>
      <p:sp>
        <p:nvSpPr>
          <p:cNvPr id="26" name="Text 24"/>
          <p:cNvSpPr txBox="1"/>
          <p:nvPr/>
        </p:nvSpPr>
        <p:spPr>
          <a:xfrm>
            <a:off x="822960" y="4937760"/>
            <a:ext cx="10607040" cy="1051560"/>
          </a:xfrm>
          <a:prstGeom prst="rect">
            <a:avLst/>
          </a:prstGeom>
          <a:noFill/>
          <a:ln/>
        </p:spPr>
        <p:txBody>
          <a:bodyPr wrap="square" lIns="0" tIns="0" rIns="0" bIns="0" rtlCol="0" anchor="ctr"/>
          <a:lstStyle/>
          <a:p>
            <a:pPr indent="0" marL="0">
              <a:buNone/>
            </a:pPr>
            <a:r>
              <a:rPr lang="en-US" sz="1700" dirty="0">
                <a:solidFill>
                  <a:schemeClr val="bg2"/>
                </a:solidFill>
                <a:latin typeface="Courier New" pitchFamily="34" charset="0"/>
                <a:ea typeface="Courier New" pitchFamily="34" charset="-122"/>
                <a:cs typeface="Courier New" pitchFamily="34" charset="-120"/>
              </a:rPr>
              <a:t>Signature : ________________________   « Tu as mieux dit ma pensée que moi. »</a:t>
            </a:r>
            <a:endParaRPr lang="en-US" sz="17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9" grpId="0"/>
      <p:bldP spid="12" grpId="0"/>
      <p:bldP spid="13" grpId="0"/>
      <p:bldP spid="14" grpId="0"/>
      <p:bldP spid="17" grpId="0"/>
      <p:bldP spid="18" grpId="0"/>
      <p:bldP spid="19" grpId="0"/>
      <p:bldP spid="22" grpId="0"/>
      <p:bldP spid="23" grpId="0"/>
      <p:bldP spid="24" grpId="0"/>
      <p:bldP spid="26" grpId="0"/>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Atelier 3 · Le 39ᵉ stratagème</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Text 3"/>
          <p:cNvSpPr txBox="1"/>
          <p:nvPr/>
        </p:nvSpPr>
        <p:spPr>
          <a:xfrm>
            <a:off x="457200" y="1188720"/>
            <a:ext cx="4023360" cy="2926080"/>
          </a:xfrm>
          <a:prstGeom prst="rect">
            <a:avLst/>
          </a:prstGeom>
          <a:noFill/>
          <a:ln/>
        </p:spPr>
        <p:txBody>
          <a:bodyPr wrap="square" lIns="0" tIns="0" rIns="0" bIns="0" rtlCol="0" anchor="t"/>
          <a:lstStyle/>
          <a:p>
            <a:pPr indent="0" marL="0">
              <a:buNone/>
            </a:pPr>
            <a:r>
              <a:rPr lang="en-US" sz="20000" dirty="0">
                <a:solidFill>
                  <a:schemeClr val="accent1"/>
                </a:solidFill>
                <a:latin typeface="Rockwell Extra Bold" pitchFamily="34" charset="0"/>
                <a:ea typeface="Rockwell Extra Bold" pitchFamily="34" charset="-122"/>
                <a:cs typeface="Rockwell Extra Bold" pitchFamily="34" charset="-120"/>
              </a:rPr>
              <a:t>39</a:t>
            </a:r>
            <a:endParaRPr lang="en-US" sz="20000" dirty="0"/>
          </a:p>
        </p:txBody>
      </p:sp>
      <p:sp>
        <p:nvSpPr>
          <p:cNvPr id="6" name="Text 4"/>
          <p:cNvSpPr txBox="1"/>
          <p:nvPr/>
        </p:nvSpPr>
        <p:spPr>
          <a:xfrm>
            <a:off x="548640" y="4114800"/>
            <a:ext cx="4023360" cy="1645920"/>
          </a:xfrm>
          <a:prstGeom prst="rect">
            <a:avLst/>
          </a:prstGeom>
          <a:noFill/>
          <a:ln/>
        </p:spPr>
        <p:txBody>
          <a:bodyPr wrap="square" lIns="0" tIns="0" rIns="0" bIns="0" rtlCol="0" anchor="t"/>
          <a:lstStyle/>
          <a:p>
            <a:pPr indent="0" marL="0">
              <a:buNone/>
            </a:pPr>
            <a:r>
              <a:rPr lang="en-US" sz="1700" b="1" dirty="0">
                <a:solidFill>
                  <a:schemeClr val="tx1"/>
                </a:solidFill>
                <a:latin typeface="Arial" pitchFamily="34" charset="0"/>
                <a:ea typeface="Arial" pitchFamily="34" charset="-122"/>
                <a:cs typeface="Arial" pitchFamily="34" charset="-120"/>
              </a:rPr>
              <a:t>Schopenhauer s'est arrêté à 38 coups bas. Invente le 39ᵉ : un coup loyal qui fait gagner tout le monde.</a:t>
            </a:r>
            <a:endParaRPr lang="en-US" sz="1700" dirty="0"/>
          </a:p>
        </p:txBody>
      </p:sp>
      <p:sp>
        <p:nvSpPr>
          <p:cNvPr id="7" name="Shape 5"/>
          <p:cNvSpPr/>
          <p:nvPr/>
        </p:nvSpPr>
        <p:spPr>
          <a:xfrm>
            <a:off x="5029200" y="1371600"/>
            <a:ext cx="6583680" cy="4526280"/>
          </a:xfrm>
          <a:prstGeom prst="rect">
            <a:avLst/>
          </a:prstGeom>
          <a:solidFill>
            <a:schemeClr val="bg1"/>
          </a:solidFill>
          <a:ln w="25400">
            <a:solidFill>
              <a:schemeClr val="tx1"/>
            </a:solidFill>
            <a:prstDash val="solid"/>
          </a:ln>
        </p:spPr>
      </p:sp>
      <p:sp>
        <p:nvSpPr>
          <p:cNvPr id="8" name="Text 6"/>
          <p:cNvSpPr txBox="1"/>
          <p:nvPr/>
        </p:nvSpPr>
        <p:spPr>
          <a:xfrm>
            <a:off x="5303520" y="1554480"/>
            <a:ext cx="6035040" cy="457200"/>
          </a:xfrm>
          <a:prstGeom prst="rect">
            <a:avLst/>
          </a:prstGeom>
          <a:noFill/>
          <a:ln/>
        </p:spPr>
        <p:txBody>
          <a:bodyPr wrap="square" lIns="0" tIns="0" rIns="0" bIns="0" rtlCol="0" anchor="t"/>
          <a:lstStyle/>
          <a:p>
            <a:pPr indent="0" marL="0">
              <a:buNone/>
            </a:pPr>
            <a:r>
              <a:rPr lang="en-US" sz="1900" dirty="0">
                <a:solidFill>
                  <a:schemeClr val="accent1"/>
                </a:solidFill>
                <a:latin typeface="Rockwell Extra Bold" pitchFamily="34" charset="0"/>
                <a:ea typeface="Rockwell Extra Bold" pitchFamily="34" charset="-122"/>
                <a:cs typeface="Rockwell Extra Bold" pitchFamily="34" charset="-120"/>
              </a:rPr>
              <a:t>Gabarit de la fiche</a:t>
            </a:r>
            <a:endParaRPr lang="en-US" sz="1900" dirty="0"/>
          </a:p>
        </p:txBody>
      </p:sp>
      <p:sp>
        <p:nvSpPr>
          <p:cNvPr id="9" name="Text 7"/>
          <p:cNvSpPr txBox="1"/>
          <p:nvPr/>
        </p:nvSpPr>
        <p:spPr>
          <a:xfrm>
            <a:off x="5303520" y="2148840"/>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Nom du stratagème</a:t>
            </a:r>
            <a:endParaRPr lang="en-US" sz="1600" dirty="0"/>
          </a:p>
        </p:txBody>
      </p:sp>
      <p:sp>
        <p:nvSpPr>
          <p:cNvPr id="10" name="Text 8"/>
          <p:cNvSpPr txBox="1"/>
          <p:nvPr/>
        </p:nvSpPr>
        <p:spPr>
          <a:xfrm>
            <a:off x="5303520" y="2478024"/>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un surnom mémorable (ex. « Le parapluie »)</a:t>
            </a:r>
            <a:endParaRPr lang="en-US" sz="1300" dirty="0"/>
          </a:p>
        </p:txBody>
      </p:sp>
      <p:sp>
        <p:nvSpPr>
          <p:cNvPr id="11" name="Shape 9"/>
          <p:cNvSpPr/>
          <p:nvPr/>
        </p:nvSpPr>
        <p:spPr>
          <a:xfrm>
            <a:off x="5303520" y="2898648"/>
            <a:ext cx="6035040" cy="0"/>
          </a:xfrm>
          <a:prstGeom prst="line">
            <a:avLst/>
          </a:prstGeom>
          <a:noFill/>
          <a:ln w="12700">
            <a:solidFill>
              <a:schemeClr val="tx1"/>
            </a:solidFill>
            <a:prstDash val="solid"/>
          </a:ln>
        </p:spPr>
      </p:sp>
      <p:sp>
        <p:nvSpPr>
          <p:cNvPr id="12" name="Text 10"/>
          <p:cNvSpPr txBox="1"/>
          <p:nvPr/>
        </p:nvSpPr>
        <p:spPr>
          <a:xfrm>
            <a:off x="5303520" y="3035808"/>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Quand l'utiliser</a:t>
            </a:r>
            <a:endParaRPr lang="en-US" sz="1600" dirty="0"/>
          </a:p>
        </p:txBody>
      </p:sp>
      <p:sp>
        <p:nvSpPr>
          <p:cNvPr id="13" name="Text 11"/>
          <p:cNvSpPr txBox="1"/>
          <p:nvPr/>
        </p:nvSpPr>
        <p:spPr>
          <a:xfrm>
            <a:off x="5303520" y="3364992"/>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la situation de débat où il sert</a:t>
            </a:r>
            <a:endParaRPr lang="en-US" sz="1300" dirty="0"/>
          </a:p>
        </p:txBody>
      </p:sp>
      <p:sp>
        <p:nvSpPr>
          <p:cNvPr id="14" name="Shape 12"/>
          <p:cNvSpPr/>
          <p:nvPr/>
        </p:nvSpPr>
        <p:spPr>
          <a:xfrm>
            <a:off x="5303520" y="3785616"/>
            <a:ext cx="6035040" cy="0"/>
          </a:xfrm>
          <a:prstGeom prst="line">
            <a:avLst/>
          </a:prstGeom>
          <a:noFill/>
          <a:ln w="12700">
            <a:solidFill>
              <a:schemeClr val="tx1"/>
            </a:solidFill>
            <a:prstDash val="solid"/>
          </a:ln>
        </p:spPr>
      </p:sp>
      <p:sp>
        <p:nvSpPr>
          <p:cNvPr id="15" name="Text 13"/>
          <p:cNvSpPr txBox="1"/>
          <p:nvPr/>
        </p:nvSpPr>
        <p:spPr>
          <a:xfrm>
            <a:off x="5303520" y="3922776"/>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Comment faire</a:t>
            </a:r>
            <a:endParaRPr lang="en-US" sz="1600" dirty="0"/>
          </a:p>
        </p:txBody>
      </p:sp>
      <p:sp>
        <p:nvSpPr>
          <p:cNvPr id="16" name="Text 14"/>
          <p:cNvSpPr txBox="1"/>
          <p:nvPr/>
        </p:nvSpPr>
        <p:spPr>
          <a:xfrm>
            <a:off x="5303520" y="4251960"/>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la phrase ou le geste exact</a:t>
            </a:r>
            <a:endParaRPr lang="en-US" sz="1300" dirty="0"/>
          </a:p>
        </p:txBody>
      </p:sp>
      <p:sp>
        <p:nvSpPr>
          <p:cNvPr id="17" name="Shape 15"/>
          <p:cNvSpPr/>
          <p:nvPr/>
        </p:nvSpPr>
        <p:spPr>
          <a:xfrm>
            <a:off x="5303520" y="4672584"/>
            <a:ext cx="6035040" cy="0"/>
          </a:xfrm>
          <a:prstGeom prst="line">
            <a:avLst/>
          </a:prstGeom>
          <a:noFill/>
          <a:ln w="12700">
            <a:solidFill>
              <a:schemeClr val="tx1"/>
            </a:solidFill>
            <a:prstDash val="solid"/>
          </a:ln>
        </p:spPr>
      </p:sp>
      <p:sp>
        <p:nvSpPr>
          <p:cNvPr id="18" name="Text 16"/>
          <p:cNvSpPr txBox="1"/>
          <p:nvPr/>
        </p:nvSpPr>
        <p:spPr>
          <a:xfrm>
            <a:off x="5303520" y="4809744"/>
            <a:ext cx="60350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Ce qu'il désamorce</a:t>
            </a:r>
            <a:endParaRPr lang="en-US" sz="1600" dirty="0"/>
          </a:p>
        </p:txBody>
      </p:sp>
      <p:sp>
        <p:nvSpPr>
          <p:cNvPr id="19" name="Text 17"/>
          <p:cNvSpPr txBox="1"/>
          <p:nvPr/>
        </p:nvSpPr>
        <p:spPr>
          <a:xfrm>
            <a:off x="5303520" y="5138928"/>
            <a:ext cx="6035040" cy="320040"/>
          </a:xfrm>
          <a:prstGeom prst="rect">
            <a:avLst/>
          </a:prstGeom>
          <a:noFill/>
          <a:ln/>
        </p:spPr>
        <p:txBody>
          <a:bodyPr wrap="square" lIns="0" tIns="0" rIns="0" bIns="0" rtlCol="0" anchor="t"/>
          <a:lstStyle/>
          <a:p>
            <a:pPr indent="0" marL="0">
              <a:buNone/>
            </a:pPr>
            <a:r>
              <a:rPr lang="en-US" sz="1300" i="1" dirty="0">
                <a:solidFill>
                  <a:schemeClr val="tx2"/>
                </a:solidFill>
                <a:latin typeface="Arial" pitchFamily="34" charset="0"/>
                <a:ea typeface="Arial" pitchFamily="34" charset="-122"/>
                <a:cs typeface="Arial" pitchFamily="34" charset="-120"/>
              </a:rPr>
              <a:t>le coup bas (numéro) qu'il neutralise</a:t>
            </a:r>
            <a:endParaRPr lang="en-US" sz="1300" dirty="0"/>
          </a:p>
        </p:txBody>
      </p:sp>
      <p:sp>
        <p:nvSpPr>
          <p:cNvPr id="20" name="Shape 18"/>
          <p:cNvSpPr/>
          <p:nvPr/>
        </p:nvSpPr>
        <p:spPr>
          <a:xfrm>
            <a:off x="5303520" y="5559552"/>
            <a:ext cx="6035040" cy="0"/>
          </a:xfrm>
          <a:prstGeom prst="line">
            <a:avLst/>
          </a:prstGeom>
          <a:noFill/>
          <a:ln w="12700">
            <a:solidFill>
              <a:schemeClr val="tx1"/>
            </a:solidFill>
            <a:prstDash val="solid"/>
          </a:ln>
        </p:spPr>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8" grpId="0"/>
      <p:bldP spid="9" grpId="0"/>
      <p:bldP spid="10" grpId="0"/>
      <p:bldP spid="12" grpId="0"/>
      <p:bldP spid="13" grpId="0"/>
      <p:bldP spid="15" grpId="0"/>
      <p:bldP spid="16" grpId="0"/>
      <p:bldP spid="18" grpId="0"/>
      <p:bldP spid="19" grpId="0"/>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Jeu · Le relais de reformulation</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10 min</a:t>
            </a:r>
            <a:endParaRPr lang="en-US" sz="1400" dirty="0"/>
          </a:p>
        </p:txBody>
      </p:sp>
      <p:sp>
        <p:nvSpPr>
          <p:cNvPr id="5" name="Shape 3"/>
          <p:cNvSpPr/>
          <p:nvPr/>
        </p:nvSpPr>
        <p:spPr>
          <a:xfrm>
            <a:off x="548640" y="1463040"/>
            <a:ext cx="2651760" cy="2743200"/>
          </a:xfrm>
          <a:prstGeom prst="rect">
            <a:avLst/>
          </a:prstGeom>
          <a:solidFill>
            <a:schemeClr val="bg1"/>
          </a:solidFill>
          <a:ln w="25400">
            <a:solidFill>
              <a:schemeClr val="tx1"/>
            </a:solidFill>
            <a:prstDash val="solid"/>
          </a:ln>
        </p:spPr>
      </p:sp>
      <p:sp>
        <p:nvSpPr>
          <p:cNvPr id="6" name="Shape 4"/>
          <p:cNvSpPr/>
          <p:nvPr/>
        </p:nvSpPr>
        <p:spPr>
          <a:xfrm>
            <a:off x="731520" y="1645920"/>
            <a:ext cx="548640" cy="548640"/>
          </a:xfrm>
          <a:prstGeom prst="ellipse">
            <a:avLst/>
          </a:prstGeom>
          <a:solidFill>
            <a:schemeClr val="accent1"/>
          </a:solidFill>
          <a:ln w="19050">
            <a:solidFill>
              <a:schemeClr val="tx1"/>
            </a:solidFill>
            <a:prstDash val="solid"/>
          </a:ln>
        </p:spPr>
      </p:sp>
      <p:sp>
        <p:nvSpPr>
          <p:cNvPr id="7" name="Text 5"/>
          <p:cNvSpPr txBox="1"/>
          <p:nvPr/>
        </p:nvSpPr>
        <p:spPr>
          <a:xfrm>
            <a:off x="731520" y="164592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8" name="Text 6"/>
          <p:cNvSpPr txBox="1"/>
          <p:nvPr/>
        </p:nvSpPr>
        <p:spPr>
          <a:xfrm>
            <a:off x="1417320" y="169164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Écris</a:t>
            </a:r>
            <a:endParaRPr lang="en-US" sz="2000" dirty="0"/>
          </a:p>
        </p:txBody>
      </p:sp>
      <p:sp>
        <p:nvSpPr>
          <p:cNvPr id="9" name="Text 7"/>
          <p:cNvSpPr txBox="1"/>
          <p:nvPr/>
        </p:nvSpPr>
        <p:spPr>
          <a:xfrm>
            <a:off x="731520" y="2423160"/>
            <a:ext cx="2286000" cy="164592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Une opinion sur le sujet du jour, en une phrase.</a:t>
            </a:r>
            <a:endParaRPr lang="en-US" sz="1500" dirty="0"/>
          </a:p>
        </p:txBody>
      </p:sp>
      <p:sp>
        <p:nvSpPr>
          <p:cNvPr id="10" name="Shape 8"/>
          <p:cNvSpPr/>
          <p:nvPr/>
        </p:nvSpPr>
        <p:spPr>
          <a:xfrm>
            <a:off x="3355848" y="1463040"/>
            <a:ext cx="2651760" cy="2743200"/>
          </a:xfrm>
          <a:prstGeom prst="rect">
            <a:avLst/>
          </a:prstGeom>
          <a:solidFill>
            <a:schemeClr val="bg1"/>
          </a:solidFill>
          <a:ln w="25400">
            <a:solidFill>
              <a:schemeClr val="tx1"/>
            </a:solidFill>
            <a:prstDash val="solid"/>
          </a:ln>
        </p:spPr>
      </p:sp>
      <p:sp>
        <p:nvSpPr>
          <p:cNvPr id="11" name="Shape 9"/>
          <p:cNvSpPr/>
          <p:nvPr/>
        </p:nvSpPr>
        <p:spPr>
          <a:xfrm>
            <a:off x="3538728" y="1645920"/>
            <a:ext cx="548640" cy="548640"/>
          </a:xfrm>
          <a:prstGeom prst="ellipse">
            <a:avLst/>
          </a:prstGeom>
          <a:solidFill>
            <a:schemeClr val="accent1"/>
          </a:solidFill>
          <a:ln w="19050">
            <a:solidFill>
              <a:schemeClr val="tx1"/>
            </a:solidFill>
            <a:prstDash val="solid"/>
          </a:ln>
        </p:spPr>
      </p:sp>
      <p:sp>
        <p:nvSpPr>
          <p:cNvPr id="12" name="Text 10"/>
          <p:cNvSpPr txBox="1"/>
          <p:nvPr/>
        </p:nvSpPr>
        <p:spPr>
          <a:xfrm>
            <a:off x="3538728" y="164592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3" name="Text 11"/>
          <p:cNvSpPr txBox="1"/>
          <p:nvPr/>
        </p:nvSpPr>
        <p:spPr>
          <a:xfrm>
            <a:off x="4224528" y="169164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Passe</a:t>
            </a:r>
            <a:endParaRPr lang="en-US" sz="2000" dirty="0"/>
          </a:p>
        </p:txBody>
      </p:sp>
      <p:sp>
        <p:nvSpPr>
          <p:cNvPr id="14" name="Text 12"/>
          <p:cNvSpPr txBox="1"/>
          <p:nvPr/>
        </p:nvSpPr>
        <p:spPr>
          <a:xfrm>
            <a:off x="3538728" y="2423160"/>
            <a:ext cx="2286000" cy="164592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La feuille va à ta droite.</a:t>
            </a:r>
            <a:endParaRPr lang="en-US" sz="1500" dirty="0"/>
          </a:p>
        </p:txBody>
      </p:sp>
      <p:sp>
        <p:nvSpPr>
          <p:cNvPr id="15" name="Shape 13"/>
          <p:cNvSpPr/>
          <p:nvPr/>
        </p:nvSpPr>
        <p:spPr>
          <a:xfrm>
            <a:off x="6163056" y="1463040"/>
            <a:ext cx="2651760" cy="2743200"/>
          </a:xfrm>
          <a:prstGeom prst="rect">
            <a:avLst/>
          </a:prstGeom>
          <a:solidFill>
            <a:schemeClr val="accent2"/>
          </a:solidFill>
          <a:ln w="25400">
            <a:solidFill>
              <a:schemeClr val="tx1"/>
            </a:solidFill>
            <a:prstDash val="solid"/>
          </a:ln>
        </p:spPr>
      </p:sp>
      <p:sp>
        <p:nvSpPr>
          <p:cNvPr id="16" name="Shape 14"/>
          <p:cNvSpPr/>
          <p:nvPr/>
        </p:nvSpPr>
        <p:spPr>
          <a:xfrm>
            <a:off x="6345936" y="1645920"/>
            <a:ext cx="548640" cy="548640"/>
          </a:xfrm>
          <a:prstGeom prst="ellipse">
            <a:avLst/>
          </a:prstGeom>
          <a:solidFill>
            <a:schemeClr val="accent1"/>
          </a:solidFill>
          <a:ln w="19050">
            <a:solidFill>
              <a:schemeClr val="tx1"/>
            </a:solidFill>
            <a:prstDash val="solid"/>
          </a:ln>
        </p:spPr>
      </p:sp>
      <p:sp>
        <p:nvSpPr>
          <p:cNvPr id="17" name="Text 15"/>
          <p:cNvSpPr txBox="1"/>
          <p:nvPr/>
        </p:nvSpPr>
        <p:spPr>
          <a:xfrm>
            <a:off x="6345936" y="164592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3</a:t>
            </a:r>
            <a:endParaRPr lang="en-US" sz="2000" dirty="0"/>
          </a:p>
        </p:txBody>
      </p:sp>
      <p:sp>
        <p:nvSpPr>
          <p:cNvPr id="18" name="Text 16"/>
          <p:cNvSpPr txBox="1"/>
          <p:nvPr/>
        </p:nvSpPr>
        <p:spPr>
          <a:xfrm>
            <a:off x="7031736" y="169164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Reformule</a:t>
            </a:r>
            <a:endParaRPr lang="en-US" sz="2000" dirty="0"/>
          </a:p>
        </p:txBody>
      </p:sp>
      <p:sp>
        <p:nvSpPr>
          <p:cNvPr id="19" name="Text 17"/>
          <p:cNvSpPr txBox="1"/>
          <p:nvPr/>
        </p:nvSpPr>
        <p:spPr>
          <a:xfrm>
            <a:off x="6345936" y="2423160"/>
            <a:ext cx="2286000" cy="164592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 Si je comprends bien, tu dis que… » puis ajoute UN argument.</a:t>
            </a:r>
            <a:endParaRPr lang="en-US" sz="1500" dirty="0"/>
          </a:p>
        </p:txBody>
      </p:sp>
      <p:sp>
        <p:nvSpPr>
          <p:cNvPr id="20" name="Shape 18"/>
          <p:cNvSpPr/>
          <p:nvPr/>
        </p:nvSpPr>
        <p:spPr>
          <a:xfrm>
            <a:off x="8970264" y="1463040"/>
            <a:ext cx="2651760" cy="2743200"/>
          </a:xfrm>
          <a:prstGeom prst="rect">
            <a:avLst/>
          </a:prstGeom>
          <a:solidFill>
            <a:schemeClr val="bg1"/>
          </a:solidFill>
          <a:ln w="25400">
            <a:solidFill>
              <a:schemeClr val="tx1"/>
            </a:solidFill>
            <a:prstDash val="solid"/>
          </a:ln>
        </p:spPr>
      </p:sp>
      <p:sp>
        <p:nvSpPr>
          <p:cNvPr id="21" name="Shape 19"/>
          <p:cNvSpPr/>
          <p:nvPr/>
        </p:nvSpPr>
        <p:spPr>
          <a:xfrm>
            <a:off x="9153144" y="1645920"/>
            <a:ext cx="548640" cy="548640"/>
          </a:xfrm>
          <a:prstGeom prst="ellipse">
            <a:avLst/>
          </a:prstGeom>
          <a:solidFill>
            <a:schemeClr val="accent1"/>
          </a:solidFill>
          <a:ln w="19050">
            <a:solidFill>
              <a:schemeClr val="tx1"/>
            </a:solidFill>
            <a:prstDash val="solid"/>
          </a:ln>
        </p:spPr>
      </p:sp>
      <p:sp>
        <p:nvSpPr>
          <p:cNvPr id="22" name="Text 20"/>
          <p:cNvSpPr txBox="1"/>
          <p:nvPr/>
        </p:nvSpPr>
        <p:spPr>
          <a:xfrm>
            <a:off x="9153144" y="164592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23" name="Text 21"/>
          <p:cNvSpPr txBox="1"/>
          <p:nvPr/>
        </p:nvSpPr>
        <p:spPr>
          <a:xfrm>
            <a:off x="9838944" y="1691640"/>
            <a:ext cx="16916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Répète</a:t>
            </a:r>
            <a:endParaRPr lang="en-US" sz="2000" dirty="0"/>
          </a:p>
        </p:txBody>
      </p:sp>
      <p:sp>
        <p:nvSpPr>
          <p:cNvPr id="24" name="Text 22"/>
          <p:cNvSpPr txBox="1"/>
          <p:nvPr/>
        </p:nvSpPr>
        <p:spPr>
          <a:xfrm>
            <a:off x="9153144" y="2423160"/>
            <a:ext cx="2286000" cy="164592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4 tours. On lit la feuille à voix haute : l'idée a-t-elle dérivé?</a:t>
            </a:r>
            <a:endParaRPr lang="en-US" sz="1500" dirty="0"/>
          </a:p>
        </p:txBody>
      </p:sp>
      <p:sp>
        <p:nvSpPr>
          <p:cNvPr id="25" name="Shape 23"/>
          <p:cNvSpPr/>
          <p:nvPr/>
        </p:nvSpPr>
        <p:spPr>
          <a:xfrm>
            <a:off x="822960" y="4754880"/>
            <a:ext cx="10515600" cy="0"/>
          </a:xfrm>
          <a:prstGeom prst="line">
            <a:avLst/>
          </a:prstGeom>
          <a:noFill/>
          <a:ln w="38100">
            <a:solidFill>
              <a:schemeClr val="tx1"/>
            </a:solidFill>
            <a:prstDash val="dash"/>
            <a:tailEnd type="triangle"/>
          </a:ln>
        </p:spPr>
      </p:sp>
      <p:sp>
        <p:nvSpPr>
          <p:cNvPr id="26" name="Text 24"/>
          <p:cNvSpPr txBox="1"/>
          <p:nvPr/>
        </p:nvSpPr>
        <p:spPr>
          <a:xfrm>
            <a:off x="548640" y="5029200"/>
            <a:ext cx="11064240" cy="548640"/>
          </a:xfrm>
          <a:prstGeom prst="rect">
            <a:avLst/>
          </a:prstGeom>
          <a:noFill/>
          <a:ln/>
        </p:spPr>
        <p:txBody>
          <a:bodyPr wrap="square" lIns="0" tIns="0" rIns="0" bIns="0" rtlCol="0" anchor="t"/>
          <a:lstStyle/>
          <a:p>
            <a:pPr indent="0" marL="0">
              <a:buNone/>
            </a:pPr>
            <a:r>
              <a:rPr lang="en-US" sz="1700" i="1" dirty="0">
                <a:solidFill>
                  <a:schemeClr val="tx2"/>
                </a:solidFill>
                <a:latin typeface="Arial" pitchFamily="34" charset="0"/>
                <a:ea typeface="Arial" pitchFamily="34" charset="-122"/>
                <a:cs typeface="Arial" pitchFamily="34" charset="-120"/>
              </a:rPr>
              <a:t>Le point de départ et d'arrivée se ressemblent-ils encore? Qui a déformé, qui a enrichi?</a:t>
            </a:r>
            <a:endParaRPr lang="en-US" sz="17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9" grpId="0"/>
      <p:bldP spid="12" grpId="0"/>
      <p:bldP spid="13" grpId="0"/>
      <p:bldP spid="14" grpId="0"/>
      <p:bldP spid="17" grpId="0"/>
      <p:bldP spid="18" grpId="0"/>
      <p:bldP spid="19" grpId="0"/>
      <p:bldP spid="22" grpId="0"/>
      <p:bldP spid="23" grpId="0"/>
      <p:bldP spid="24" grpId="0"/>
      <p:bldP spid="26" grpId="0"/>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Jeu · Le débat sans « mais »</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8 min</a:t>
            </a:r>
            <a:endParaRPr lang="en-US" sz="1400" dirty="0"/>
          </a:p>
        </p:txBody>
      </p:sp>
      <p:sp>
        <p:nvSpPr>
          <p:cNvPr id="5" name="Text 3"/>
          <p:cNvSpPr txBox="1"/>
          <p:nvPr/>
        </p:nvSpPr>
        <p:spPr>
          <a:xfrm>
            <a:off x="548640" y="1554480"/>
            <a:ext cx="4754880" cy="1737360"/>
          </a:xfrm>
          <a:prstGeom prst="rect">
            <a:avLst/>
          </a:prstGeom>
          <a:noFill/>
          <a:ln/>
        </p:spPr>
        <p:txBody>
          <a:bodyPr wrap="square" lIns="0" tIns="0" rIns="0" bIns="0" rtlCol="0" anchor="ctr"/>
          <a:lstStyle/>
          <a:p>
            <a:pPr algn="ctr" indent="0" marL="0">
              <a:buNone/>
            </a:pPr>
            <a:r>
              <a:rPr lang="en-US" sz="11000" dirty="0">
                <a:solidFill>
                  <a:schemeClr val="accent1"/>
                </a:solidFill>
                <a:latin typeface="Rockwell Extra Bold" pitchFamily="34" charset="0"/>
                <a:ea typeface="Rockwell Extra Bold" pitchFamily="34" charset="-122"/>
                <a:cs typeface="Rockwell Extra Bold" pitchFamily="34" charset="-120"/>
              </a:rPr>
              <a:t>MAIS</a:t>
            </a:r>
            <a:endParaRPr lang="en-US" sz="11000" dirty="0"/>
          </a:p>
        </p:txBody>
      </p:sp>
      <p:sp>
        <p:nvSpPr>
          <p:cNvPr id="6" name="Shape 4"/>
          <p:cNvSpPr/>
          <p:nvPr/>
        </p:nvSpPr>
        <p:spPr>
          <a:xfrm flipV="1">
            <a:off x="914400" y="1737360"/>
            <a:ext cx="4023360" cy="1371600"/>
          </a:xfrm>
          <a:prstGeom prst="line">
            <a:avLst/>
          </a:prstGeom>
          <a:noFill/>
          <a:ln w="127000">
            <a:solidFill>
              <a:schemeClr val="tx1"/>
            </a:solidFill>
            <a:prstDash val="solid"/>
          </a:ln>
        </p:spPr>
      </p:sp>
      <p:sp>
        <p:nvSpPr>
          <p:cNvPr id="7" name="Text 5"/>
          <p:cNvSpPr txBox="1"/>
          <p:nvPr/>
        </p:nvSpPr>
        <p:spPr>
          <a:xfrm>
            <a:off x="548640" y="3840480"/>
            <a:ext cx="4754880" cy="146304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Remplace-le par « et », « et pourtant », « en même temps », « je me demande si… ».</a:t>
            </a:r>
            <a:endParaRPr lang="en-US" sz="1800" dirty="0"/>
          </a:p>
        </p:txBody>
      </p:sp>
      <p:sp>
        <p:nvSpPr>
          <p:cNvPr id="8" name="Shape 6"/>
          <p:cNvSpPr/>
          <p:nvPr/>
        </p:nvSpPr>
        <p:spPr>
          <a:xfrm>
            <a:off x="5943600" y="1463040"/>
            <a:ext cx="548640" cy="548640"/>
          </a:xfrm>
          <a:prstGeom prst="ellipse">
            <a:avLst/>
          </a:prstGeom>
          <a:solidFill>
            <a:schemeClr val="accent1"/>
          </a:solidFill>
          <a:ln w="19050">
            <a:solidFill>
              <a:schemeClr val="tx1"/>
            </a:solidFill>
            <a:prstDash val="solid"/>
          </a:ln>
        </p:spPr>
      </p:sp>
      <p:sp>
        <p:nvSpPr>
          <p:cNvPr id="9" name="Text 7"/>
          <p:cNvSpPr txBox="1"/>
          <p:nvPr/>
        </p:nvSpPr>
        <p:spPr>
          <a:xfrm>
            <a:off x="5943600" y="146304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10" name="Text 8"/>
          <p:cNvSpPr txBox="1"/>
          <p:nvPr/>
        </p:nvSpPr>
        <p:spPr>
          <a:xfrm>
            <a:off x="6675120" y="1417320"/>
            <a:ext cx="4937760" cy="822960"/>
          </a:xfrm>
          <a:prstGeom prst="rect">
            <a:avLst/>
          </a:prstGeom>
          <a:noFill/>
          <a:ln/>
        </p:spPr>
        <p:txBody>
          <a:bodyPr wrap="square" lIns="0" tIns="0" rIns="0" bIns="0" rtlCol="0" anchor="ctr"/>
          <a:lstStyle/>
          <a:p>
            <a:pPr indent="0" marL="0">
              <a:buNone/>
            </a:pPr>
            <a:r>
              <a:rPr lang="en-US" sz="1700" dirty="0">
                <a:solidFill>
                  <a:schemeClr val="tx1"/>
                </a:solidFill>
                <a:latin typeface="Arial" pitchFamily="34" charset="0"/>
                <a:ea typeface="Arial" pitchFamily="34" charset="-122"/>
                <a:cs typeface="Arial" pitchFamily="34" charset="-120"/>
              </a:rPr>
              <a:t>À deux, sur une feuille.</a:t>
            </a:r>
            <a:endParaRPr lang="en-US" sz="1700" dirty="0"/>
          </a:p>
        </p:txBody>
      </p:sp>
      <p:sp>
        <p:nvSpPr>
          <p:cNvPr id="11" name="Shape 9"/>
          <p:cNvSpPr/>
          <p:nvPr/>
        </p:nvSpPr>
        <p:spPr>
          <a:xfrm>
            <a:off x="5943600" y="2468880"/>
            <a:ext cx="548640" cy="548640"/>
          </a:xfrm>
          <a:prstGeom prst="ellipse">
            <a:avLst/>
          </a:prstGeom>
          <a:solidFill>
            <a:schemeClr val="accent1"/>
          </a:solidFill>
          <a:ln w="19050">
            <a:solidFill>
              <a:schemeClr val="tx1"/>
            </a:solidFill>
            <a:prstDash val="solid"/>
          </a:ln>
        </p:spPr>
      </p:sp>
      <p:sp>
        <p:nvSpPr>
          <p:cNvPr id="12" name="Text 10"/>
          <p:cNvSpPr txBox="1"/>
          <p:nvPr/>
        </p:nvSpPr>
        <p:spPr>
          <a:xfrm>
            <a:off x="5943600" y="246888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3" name="Text 11"/>
          <p:cNvSpPr txBox="1"/>
          <p:nvPr/>
        </p:nvSpPr>
        <p:spPr>
          <a:xfrm>
            <a:off x="6675120" y="2423160"/>
            <a:ext cx="4937760" cy="822960"/>
          </a:xfrm>
          <a:prstGeom prst="rect">
            <a:avLst/>
          </a:prstGeom>
          <a:noFill/>
          <a:ln/>
        </p:spPr>
        <p:txBody>
          <a:bodyPr wrap="square" lIns="0" tIns="0" rIns="0" bIns="0" rtlCol="0" anchor="ctr"/>
          <a:lstStyle/>
          <a:p>
            <a:pPr indent="0" marL="0">
              <a:buNone/>
            </a:pPr>
            <a:r>
              <a:rPr lang="en-US" sz="1700" dirty="0">
                <a:solidFill>
                  <a:schemeClr val="tx1"/>
                </a:solidFill>
                <a:latin typeface="Arial" pitchFamily="34" charset="0"/>
                <a:ea typeface="Arial" pitchFamily="34" charset="-122"/>
                <a:cs typeface="Arial" pitchFamily="34" charset="-120"/>
              </a:rPr>
              <a:t>Écrivez un débat de 6 répliques, en alternance.</a:t>
            </a:r>
            <a:endParaRPr lang="en-US" sz="1700" dirty="0"/>
          </a:p>
        </p:txBody>
      </p:sp>
      <p:sp>
        <p:nvSpPr>
          <p:cNvPr id="14" name="Shape 12"/>
          <p:cNvSpPr/>
          <p:nvPr/>
        </p:nvSpPr>
        <p:spPr>
          <a:xfrm>
            <a:off x="5943600" y="3474720"/>
            <a:ext cx="548640" cy="548640"/>
          </a:xfrm>
          <a:prstGeom prst="ellipse">
            <a:avLst/>
          </a:prstGeom>
          <a:solidFill>
            <a:schemeClr val="accent2"/>
          </a:solidFill>
          <a:ln w="19050">
            <a:solidFill>
              <a:schemeClr val="tx1"/>
            </a:solidFill>
            <a:prstDash val="solid"/>
          </a:ln>
        </p:spPr>
      </p:sp>
      <p:sp>
        <p:nvSpPr>
          <p:cNvPr id="15" name="Text 13"/>
          <p:cNvSpPr txBox="1"/>
          <p:nvPr/>
        </p:nvSpPr>
        <p:spPr>
          <a:xfrm>
            <a:off x="5943600" y="3474720"/>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3</a:t>
            </a:r>
            <a:endParaRPr lang="en-US" sz="2000" dirty="0"/>
          </a:p>
        </p:txBody>
      </p:sp>
      <p:sp>
        <p:nvSpPr>
          <p:cNvPr id="16" name="Text 14"/>
          <p:cNvSpPr txBox="1"/>
          <p:nvPr/>
        </p:nvSpPr>
        <p:spPr>
          <a:xfrm>
            <a:off x="6675120" y="3429000"/>
            <a:ext cx="4937760" cy="822960"/>
          </a:xfrm>
          <a:prstGeom prst="rect">
            <a:avLst/>
          </a:prstGeom>
          <a:noFill/>
          <a:ln/>
        </p:spPr>
        <p:txBody>
          <a:bodyPr wrap="square" lIns="0" tIns="0" rIns="0" bIns="0" rtlCol="0" anchor="ctr"/>
          <a:lstStyle/>
          <a:p>
            <a:pPr indent="0" marL="0">
              <a:buNone/>
            </a:pPr>
            <a:r>
              <a:rPr lang="en-US" sz="1700" dirty="0">
                <a:solidFill>
                  <a:schemeClr val="tx1"/>
                </a:solidFill>
                <a:latin typeface="Arial" pitchFamily="34" charset="0"/>
                <a:ea typeface="Arial" pitchFamily="34" charset="-122"/>
                <a:cs typeface="Arial" pitchFamily="34" charset="-120"/>
              </a:rPr>
              <a:t>Le mot « mais » est interdit. Un « mais » = on recommence la réplique.</a:t>
            </a:r>
            <a:endParaRPr lang="en-US" sz="1700" dirty="0"/>
          </a:p>
        </p:txBody>
      </p:sp>
      <p:sp>
        <p:nvSpPr>
          <p:cNvPr id="17" name="Shape 15"/>
          <p:cNvSpPr/>
          <p:nvPr/>
        </p:nvSpPr>
        <p:spPr>
          <a:xfrm>
            <a:off x="5943600" y="4480560"/>
            <a:ext cx="548640" cy="548640"/>
          </a:xfrm>
          <a:prstGeom prst="ellipse">
            <a:avLst/>
          </a:prstGeom>
          <a:solidFill>
            <a:schemeClr val="accent1"/>
          </a:solidFill>
          <a:ln w="19050">
            <a:solidFill>
              <a:schemeClr val="tx1"/>
            </a:solidFill>
            <a:prstDash val="solid"/>
          </a:ln>
        </p:spPr>
      </p:sp>
      <p:sp>
        <p:nvSpPr>
          <p:cNvPr id="18" name="Text 16"/>
          <p:cNvSpPr txBox="1"/>
          <p:nvPr/>
        </p:nvSpPr>
        <p:spPr>
          <a:xfrm>
            <a:off x="5943600" y="448056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19" name="Text 17"/>
          <p:cNvSpPr txBox="1"/>
          <p:nvPr/>
        </p:nvSpPr>
        <p:spPr>
          <a:xfrm>
            <a:off x="6675120" y="4434840"/>
            <a:ext cx="4937760" cy="822960"/>
          </a:xfrm>
          <a:prstGeom prst="rect">
            <a:avLst/>
          </a:prstGeom>
          <a:noFill/>
          <a:ln/>
        </p:spPr>
        <p:txBody>
          <a:bodyPr wrap="square" lIns="0" tIns="0" rIns="0" bIns="0" rtlCol="0" anchor="ctr"/>
          <a:lstStyle/>
          <a:p>
            <a:pPr indent="0" marL="0">
              <a:buNone/>
            </a:pPr>
            <a:r>
              <a:rPr lang="en-US" sz="1700" dirty="0">
                <a:solidFill>
                  <a:schemeClr val="tx1"/>
                </a:solidFill>
                <a:latin typeface="Arial" pitchFamily="34" charset="0"/>
                <a:ea typeface="Arial" pitchFamily="34" charset="-122"/>
                <a:cs typeface="Arial" pitchFamily="34" charset="-120"/>
              </a:rPr>
              <a:t>Lisez-le à voix haute : le ton a-t-il changé?</a:t>
            </a:r>
            <a:endParaRPr lang="en-US" sz="17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9" grpId="0"/>
      <p:bldP spid="10" grpId="0"/>
      <p:bldP spid="12" grpId="0"/>
      <p:bldP spid="13" grpId="0"/>
      <p:bldP spid="15" grpId="0"/>
      <p:bldP spid="16" grpId="0"/>
      <p:bldP spid="18" grpId="0"/>
      <p:bldP spid="19" grpId="0"/>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Jeu · Avis de recherche</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8 min</a:t>
            </a:r>
            <a:endParaRPr lang="en-US" sz="1400" dirty="0"/>
          </a:p>
        </p:txBody>
      </p:sp>
      <p:sp>
        <p:nvSpPr>
          <p:cNvPr id="5" name="Shape 3"/>
          <p:cNvSpPr/>
          <p:nvPr/>
        </p:nvSpPr>
        <p:spPr>
          <a:xfrm>
            <a:off x="548640" y="1325880"/>
            <a:ext cx="5120640" cy="4754880"/>
          </a:xfrm>
          <a:prstGeom prst="rect">
            <a:avLst/>
          </a:prstGeom>
          <a:solidFill>
            <a:schemeClr val="bg1"/>
          </a:solidFill>
          <a:ln w="38100">
            <a:solidFill>
              <a:schemeClr val="tx1"/>
            </a:solidFill>
            <a:prstDash val="solid"/>
          </a:ln>
        </p:spPr>
      </p:sp>
      <p:sp>
        <p:nvSpPr>
          <p:cNvPr id="6" name="Text 4"/>
          <p:cNvSpPr txBox="1"/>
          <p:nvPr/>
        </p:nvSpPr>
        <p:spPr>
          <a:xfrm>
            <a:off x="548640" y="1417320"/>
            <a:ext cx="5120640" cy="731520"/>
          </a:xfrm>
          <a:prstGeom prst="rect">
            <a:avLst/>
          </a:prstGeom>
          <a:noFill/>
          <a:ln/>
        </p:spPr>
        <p:txBody>
          <a:bodyPr wrap="square" lIns="0" tIns="0" rIns="0" bIns="0" rtlCol="0" anchor="t"/>
          <a:lstStyle/>
          <a:p>
            <a:pPr algn="ctr" indent="0" marL="0">
              <a:buNone/>
            </a:pPr>
            <a:r>
              <a:rPr lang="en-US" sz="4000" dirty="0">
                <a:solidFill>
                  <a:schemeClr val="accent1"/>
                </a:solidFill>
                <a:latin typeface="Rockwell Extra Bold" pitchFamily="34" charset="0"/>
                <a:ea typeface="Rockwell Extra Bold" pitchFamily="34" charset="-122"/>
                <a:cs typeface="Rockwell Extra Bold" pitchFamily="34" charset="-120"/>
              </a:rPr>
              <a:t>RECHERCHÉ</a:t>
            </a:r>
            <a:endParaRPr lang="en-US" sz="4000" dirty="0"/>
          </a:p>
        </p:txBody>
      </p:sp>
      <p:sp>
        <p:nvSpPr>
          <p:cNvPr id="7" name="Shape 5"/>
          <p:cNvSpPr/>
          <p:nvPr/>
        </p:nvSpPr>
        <p:spPr>
          <a:xfrm>
            <a:off x="1737360" y="2194560"/>
            <a:ext cx="2743200" cy="1828800"/>
          </a:xfrm>
          <a:prstGeom prst="rect">
            <a:avLst/>
          </a:prstGeom>
          <a:solidFill>
            <a:schemeClr val="bg2"/>
          </a:solidFill>
          <a:ln w="19050">
            <a:solidFill>
              <a:schemeClr val="tx1"/>
            </a:solidFill>
            <a:prstDash val="dash"/>
          </a:ln>
        </p:spPr>
      </p:sp>
      <p:pic>
        <p:nvPicPr>
          <p:cNvPr id="8" name="Image 0" descr="preencoded.png">    </p:cNvPr>
          <p:cNvPicPr>
            <a:picLocks noChangeAspect="1"/>
          </p:cNvPicPr>
          <p:nvPr/>
        </p:nvPicPr>
        <p:blipFill>
          <a:blip r:embed="rId1"/>
          <a:stretch>
            <a:fillRect/>
          </a:stretch>
        </p:blipFill>
        <p:spPr>
          <a:xfrm>
            <a:off x="2606040" y="2286000"/>
            <a:ext cx="1005840" cy="1216152"/>
          </a:xfrm>
          <a:prstGeom prst="rect">
            <a:avLst/>
          </a:prstGeom>
        </p:spPr>
      </p:pic>
      <p:sp>
        <p:nvSpPr>
          <p:cNvPr id="9" name="Text 6"/>
          <p:cNvSpPr txBox="1"/>
          <p:nvPr/>
        </p:nvSpPr>
        <p:spPr>
          <a:xfrm>
            <a:off x="822960" y="4206240"/>
            <a:ext cx="4572000" cy="36576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Nom :</a:t>
            </a:r>
            <a:endParaRPr lang="en-US" sz="1400" dirty="0"/>
          </a:p>
        </p:txBody>
      </p:sp>
      <p:sp>
        <p:nvSpPr>
          <p:cNvPr id="10" name="Shape 7"/>
          <p:cNvSpPr/>
          <p:nvPr/>
        </p:nvSpPr>
        <p:spPr>
          <a:xfrm>
            <a:off x="822960" y="4572000"/>
            <a:ext cx="4572000" cy="0"/>
          </a:xfrm>
          <a:prstGeom prst="line">
            <a:avLst/>
          </a:prstGeom>
          <a:noFill/>
          <a:ln w="12700">
            <a:solidFill>
              <a:schemeClr val="tx1"/>
            </a:solidFill>
            <a:prstDash val="solid"/>
          </a:ln>
        </p:spPr>
      </p:sp>
      <p:sp>
        <p:nvSpPr>
          <p:cNvPr id="11" name="Text 8"/>
          <p:cNvSpPr txBox="1"/>
          <p:nvPr/>
        </p:nvSpPr>
        <p:spPr>
          <a:xfrm>
            <a:off x="822960" y="4645152"/>
            <a:ext cx="4572000" cy="36576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Dernière phrase entendue :</a:t>
            </a:r>
            <a:endParaRPr lang="en-US" sz="1400" dirty="0"/>
          </a:p>
        </p:txBody>
      </p:sp>
      <p:sp>
        <p:nvSpPr>
          <p:cNvPr id="12" name="Shape 9"/>
          <p:cNvSpPr/>
          <p:nvPr/>
        </p:nvSpPr>
        <p:spPr>
          <a:xfrm>
            <a:off x="822960" y="5010912"/>
            <a:ext cx="4572000" cy="0"/>
          </a:xfrm>
          <a:prstGeom prst="line">
            <a:avLst/>
          </a:prstGeom>
          <a:noFill/>
          <a:ln w="12700">
            <a:solidFill>
              <a:schemeClr val="tx1"/>
            </a:solidFill>
            <a:prstDash val="solid"/>
          </a:ln>
        </p:spPr>
      </p:sp>
      <p:sp>
        <p:nvSpPr>
          <p:cNvPr id="13" name="Text 10"/>
          <p:cNvSpPr txBox="1"/>
          <p:nvPr/>
        </p:nvSpPr>
        <p:spPr>
          <a:xfrm>
            <a:off x="822960" y="5084064"/>
            <a:ext cx="4572000" cy="36576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Signe distinctif :</a:t>
            </a:r>
            <a:endParaRPr lang="en-US" sz="1400" dirty="0"/>
          </a:p>
        </p:txBody>
      </p:sp>
      <p:sp>
        <p:nvSpPr>
          <p:cNvPr id="14" name="Shape 11"/>
          <p:cNvSpPr/>
          <p:nvPr/>
        </p:nvSpPr>
        <p:spPr>
          <a:xfrm>
            <a:off x="822960" y="5449824"/>
            <a:ext cx="4572000" cy="0"/>
          </a:xfrm>
          <a:prstGeom prst="line">
            <a:avLst/>
          </a:prstGeom>
          <a:noFill/>
          <a:ln w="12700">
            <a:solidFill>
              <a:schemeClr val="tx1"/>
            </a:solidFill>
            <a:prstDash val="solid"/>
          </a:ln>
        </p:spPr>
      </p:sp>
      <p:sp>
        <p:nvSpPr>
          <p:cNvPr id="15" name="Text 12"/>
          <p:cNvSpPr txBox="1"/>
          <p:nvPr/>
        </p:nvSpPr>
        <p:spPr>
          <a:xfrm>
            <a:off x="822960" y="5522976"/>
            <a:ext cx="4572000" cy="36576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Récompense :</a:t>
            </a:r>
            <a:endParaRPr lang="en-US" sz="1400" dirty="0"/>
          </a:p>
        </p:txBody>
      </p:sp>
      <p:sp>
        <p:nvSpPr>
          <p:cNvPr id="16" name="Shape 13"/>
          <p:cNvSpPr/>
          <p:nvPr/>
        </p:nvSpPr>
        <p:spPr>
          <a:xfrm>
            <a:off x="822960" y="5888736"/>
            <a:ext cx="4572000" cy="0"/>
          </a:xfrm>
          <a:prstGeom prst="line">
            <a:avLst/>
          </a:prstGeom>
          <a:noFill/>
          <a:ln w="12700">
            <a:solidFill>
              <a:schemeClr val="tx1"/>
            </a:solidFill>
            <a:prstDash val="solid"/>
          </a:ln>
        </p:spPr>
      </p:sp>
      <p:sp>
        <p:nvSpPr>
          <p:cNvPr id="17" name="Shape 14"/>
          <p:cNvSpPr/>
          <p:nvPr/>
        </p:nvSpPr>
        <p:spPr>
          <a:xfrm>
            <a:off x="6126480" y="1463040"/>
            <a:ext cx="548640" cy="548640"/>
          </a:xfrm>
          <a:prstGeom prst="ellipse">
            <a:avLst/>
          </a:prstGeom>
          <a:solidFill>
            <a:schemeClr val="accent1"/>
          </a:solidFill>
          <a:ln w="19050">
            <a:solidFill>
              <a:schemeClr val="tx1"/>
            </a:solidFill>
            <a:prstDash val="solid"/>
          </a:ln>
        </p:spPr>
      </p:sp>
      <p:sp>
        <p:nvSpPr>
          <p:cNvPr id="18" name="Text 15"/>
          <p:cNvSpPr txBox="1"/>
          <p:nvPr/>
        </p:nvSpPr>
        <p:spPr>
          <a:xfrm>
            <a:off x="6126480" y="146304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19" name="Text 16"/>
          <p:cNvSpPr txBox="1"/>
          <p:nvPr/>
        </p:nvSpPr>
        <p:spPr>
          <a:xfrm>
            <a:off x="6858000" y="1417320"/>
            <a:ext cx="4754880" cy="868680"/>
          </a:xfrm>
          <a:prstGeom prst="rect">
            <a:avLst/>
          </a:prstGeom>
          <a:noFill/>
          <a:ln/>
        </p:spPr>
        <p:txBody>
          <a:bodyPr wrap="square" lIns="0" tIns="0" rIns="0" bIns="0" rtlCol="0" anchor="ctr"/>
          <a:lstStyle/>
          <a:p>
            <a:pPr indent="0" marL="0">
              <a:buNone/>
            </a:pPr>
            <a:r>
              <a:rPr lang="en-US" sz="1700" dirty="0">
                <a:solidFill>
                  <a:schemeClr val="tx1"/>
                </a:solidFill>
                <a:latin typeface="Arial" pitchFamily="34" charset="0"/>
                <a:ea typeface="Arial" pitchFamily="34" charset="-122"/>
                <a:cs typeface="Arial" pitchFamily="34" charset="-120"/>
              </a:rPr>
              <a:t>Choisis une créature du bestiaire… ou invente la tienne.</a:t>
            </a:r>
            <a:endParaRPr lang="en-US" sz="1700" dirty="0"/>
          </a:p>
        </p:txBody>
      </p:sp>
      <p:sp>
        <p:nvSpPr>
          <p:cNvPr id="20" name="Shape 17"/>
          <p:cNvSpPr/>
          <p:nvPr/>
        </p:nvSpPr>
        <p:spPr>
          <a:xfrm>
            <a:off x="6126480" y="2560320"/>
            <a:ext cx="548640" cy="548640"/>
          </a:xfrm>
          <a:prstGeom prst="ellipse">
            <a:avLst/>
          </a:prstGeom>
          <a:solidFill>
            <a:schemeClr val="accent1"/>
          </a:solidFill>
          <a:ln w="19050">
            <a:solidFill>
              <a:schemeClr val="tx1"/>
            </a:solidFill>
            <a:prstDash val="solid"/>
          </a:ln>
        </p:spPr>
      </p:sp>
      <p:sp>
        <p:nvSpPr>
          <p:cNvPr id="21" name="Text 18"/>
          <p:cNvSpPr txBox="1"/>
          <p:nvPr/>
        </p:nvSpPr>
        <p:spPr>
          <a:xfrm>
            <a:off x="6126480" y="256032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22" name="Text 19"/>
          <p:cNvSpPr txBox="1"/>
          <p:nvPr/>
        </p:nvSpPr>
        <p:spPr>
          <a:xfrm>
            <a:off x="6858000" y="2514600"/>
            <a:ext cx="4754880" cy="868680"/>
          </a:xfrm>
          <a:prstGeom prst="rect">
            <a:avLst/>
          </a:prstGeom>
          <a:noFill/>
          <a:ln/>
        </p:spPr>
        <p:txBody>
          <a:bodyPr wrap="square" lIns="0" tIns="0" rIns="0" bIns="0" rtlCol="0" anchor="ctr"/>
          <a:lstStyle/>
          <a:p>
            <a:pPr indent="0" marL="0">
              <a:buNone/>
            </a:pPr>
            <a:r>
              <a:rPr lang="en-US" sz="1700" dirty="0">
                <a:solidFill>
                  <a:schemeClr val="tx1"/>
                </a:solidFill>
                <a:latin typeface="Arial" pitchFamily="34" charset="0"/>
                <a:ea typeface="Arial" pitchFamily="34" charset="-122"/>
                <a:cs typeface="Arial" pitchFamily="34" charset="-120"/>
              </a:rPr>
              <a:t>Dessine son portrait-robot (60 s).</a:t>
            </a:r>
            <a:endParaRPr lang="en-US" sz="1700" dirty="0"/>
          </a:p>
        </p:txBody>
      </p:sp>
      <p:sp>
        <p:nvSpPr>
          <p:cNvPr id="23" name="Shape 20"/>
          <p:cNvSpPr/>
          <p:nvPr/>
        </p:nvSpPr>
        <p:spPr>
          <a:xfrm>
            <a:off x="6126480" y="3657600"/>
            <a:ext cx="548640" cy="548640"/>
          </a:xfrm>
          <a:prstGeom prst="ellipse">
            <a:avLst/>
          </a:prstGeom>
          <a:solidFill>
            <a:schemeClr val="accent1"/>
          </a:solidFill>
          <a:ln w="19050">
            <a:solidFill>
              <a:schemeClr val="tx1"/>
            </a:solidFill>
            <a:prstDash val="solid"/>
          </a:ln>
        </p:spPr>
      </p:sp>
      <p:sp>
        <p:nvSpPr>
          <p:cNvPr id="24" name="Text 21"/>
          <p:cNvSpPr txBox="1"/>
          <p:nvPr/>
        </p:nvSpPr>
        <p:spPr>
          <a:xfrm>
            <a:off x="6126480" y="36576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3</a:t>
            </a:r>
            <a:endParaRPr lang="en-US" sz="2000" dirty="0"/>
          </a:p>
        </p:txBody>
      </p:sp>
      <p:sp>
        <p:nvSpPr>
          <p:cNvPr id="25" name="Text 22"/>
          <p:cNvSpPr txBox="1"/>
          <p:nvPr/>
        </p:nvSpPr>
        <p:spPr>
          <a:xfrm>
            <a:off x="6858000" y="3611880"/>
            <a:ext cx="4754880" cy="868680"/>
          </a:xfrm>
          <a:prstGeom prst="rect">
            <a:avLst/>
          </a:prstGeom>
          <a:noFill/>
          <a:ln/>
        </p:spPr>
        <p:txBody>
          <a:bodyPr wrap="square" lIns="0" tIns="0" rIns="0" bIns="0" rtlCol="0" anchor="ctr"/>
          <a:lstStyle/>
          <a:p>
            <a:pPr indent="0" marL="0">
              <a:buNone/>
            </a:pPr>
            <a:r>
              <a:rPr lang="en-US" sz="1700" dirty="0">
                <a:solidFill>
                  <a:schemeClr val="tx1"/>
                </a:solidFill>
                <a:latin typeface="Arial" pitchFamily="34" charset="0"/>
                <a:ea typeface="Arial" pitchFamily="34" charset="-122"/>
                <a:cs typeface="Arial" pitchFamily="34" charset="-120"/>
              </a:rPr>
              <a:t>Écris sa dernière phrase entendue et son signe distinctif.</a:t>
            </a:r>
            <a:endParaRPr lang="en-US" sz="1700" dirty="0"/>
          </a:p>
        </p:txBody>
      </p:sp>
      <p:sp>
        <p:nvSpPr>
          <p:cNvPr id="26" name="Shape 23"/>
          <p:cNvSpPr/>
          <p:nvPr/>
        </p:nvSpPr>
        <p:spPr>
          <a:xfrm>
            <a:off x="6126480" y="4754880"/>
            <a:ext cx="548640" cy="548640"/>
          </a:xfrm>
          <a:prstGeom prst="ellipse">
            <a:avLst/>
          </a:prstGeom>
          <a:solidFill>
            <a:schemeClr val="accent2"/>
          </a:solidFill>
          <a:ln w="19050">
            <a:solidFill>
              <a:schemeClr val="tx1"/>
            </a:solidFill>
            <a:prstDash val="solid"/>
          </a:ln>
        </p:spPr>
      </p:sp>
      <p:sp>
        <p:nvSpPr>
          <p:cNvPr id="27" name="Text 24"/>
          <p:cNvSpPr txBox="1"/>
          <p:nvPr/>
        </p:nvSpPr>
        <p:spPr>
          <a:xfrm>
            <a:off x="6126480" y="4754880"/>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4</a:t>
            </a:r>
            <a:endParaRPr lang="en-US" sz="2000" dirty="0"/>
          </a:p>
        </p:txBody>
      </p:sp>
      <p:sp>
        <p:nvSpPr>
          <p:cNvPr id="28" name="Text 25"/>
          <p:cNvSpPr txBox="1"/>
          <p:nvPr/>
        </p:nvSpPr>
        <p:spPr>
          <a:xfrm>
            <a:off x="6858000" y="4709160"/>
            <a:ext cx="4754880" cy="868680"/>
          </a:xfrm>
          <a:prstGeom prst="rect">
            <a:avLst/>
          </a:prstGeom>
          <a:noFill/>
          <a:ln/>
        </p:spPr>
        <p:txBody>
          <a:bodyPr wrap="square" lIns="0" tIns="0" rIns="0" bIns="0" rtlCol="0" anchor="ctr"/>
          <a:lstStyle/>
          <a:p>
            <a:pPr indent="0" marL="0">
              <a:buNone/>
            </a:pPr>
            <a:r>
              <a:rPr lang="en-US" sz="1700" dirty="0">
                <a:solidFill>
                  <a:schemeClr val="tx1"/>
                </a:solidFill>
                <a:latin typeface="Arial" pitchFamily="34" charset="0"/>
                <a:ea typeface="Arial" pitchFamily="34" charset="-122"/>
                <a:cs typeface="Arial" pitchFamily="34" charset="-120"/>
              </a:rPr>
              <a:t>Récompense : ce qu'on gagne quand elle disparaît d'un débat.</a:t>
            </a:r>
            <a:endParaRPr lang="en-US" sz="17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9" grpId="0"/>
      <p:bldP spid="11" grpId="0"/>
      <p:bldP spid="13" grpId="0"/>
      <p:bldP spid="15" grpId="0"/>
      <p:bldP spid="18" grpId="0"/>
      <p:bldP spid="19" grpId="0"/>
      <p:bldP spid="21" grpId="0"/>
      <p:bldP spid="22" grpId="0"/>
      <p:bldP spid="24" grpId="0"/>
      <p:bldP spid="25" grpId="0"/>
      <p:bldP spid="27" grpId="0"/>
      <p:bldP spid="28" grpId="0"/>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Jeu · Le tweet de paix</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5 min</a:t>
            </a:r>
            <a:endParaRPr lang="en-US" sz="1400" dirty="0"/>
          </a:p>
        </p:txBody>
      </p:sp>
      <p:sp>
        <p:nvSpPr>
          <p:cNvPr id="5" name="Shape 3"/>
          <p:cNvSpPr/>
          <p:nvPr/>
        </p:nvSpPr>
        <p:spPr>
          <a:xfrm>
            <a:off x="548640" y="1371600"/>
            <a:ext cx="5669280" cy="1828800"/>
          </a:xfrm>
          <a:prstGeom prst="rect">
            <a:avLst/>
          </a:prstGeom>
          <a:solidFill>
            <a:schemeClr val="tx1"/>
          </a:solidFill>
          <a:ln w="25400">
            <a:solidFill>
              <a:schemeClr val="tx1"/>
            </a:solidFill>
            <a:prstDash val="solid"/>
          </a:ln>
        </p:spPr>
      </p:sp>
      <p:sp>
        <p:nvSpPr>
          <p:cNvPr id="6" name="Text 4"/>
          <p:cNvSpPr txBox="1"/>
          <p:nvPr/>
        </p:nvSpPr>
        <p:spPr>
          <a:xfrm>
            <a:off x="822960" y="1463040"/>
            <a:ext cx="5120640" cy="1280160"/>
          </a:xfrm>
          <a:prstGeom prst="rect">
            <a:avLst/>
          </a:prstGeom>
          <a:noFill/>
          <a:ln/>
        </p:spPr>
        <p:txBody>
          <a:bodyPr wrap="square" lIns="0" tIns="0" rIns="0" bIns="0" rtlCol="0" anchor="ctr"/>
          <a:lstStyle/>
          <a:p>
            <a:pPr indent="0" marL="0">
              <a:buNone/>
            </a:pPr>
            <a:r>
              <a:rPr lang="en-US" sz="1800" i="1" dirty="0">
                <a:solidFill>
                  <a:schemeClr val="bg2"/>
                </a:solidFill>
                <a:latin typeface="Arial" pitchFamily="34" charset="0"/>
                <a:ea typeface="Arial" pitchFamily="34" charset="-122"/>
                <a:cs typeface="Arial" pitchFamily="34" charset="-120"/>
              </a:rPr>
              <a:t>« Franchement, faut être niaiseux pour croire ça. #réveillezvous »</a:t>
            </a:r>
            <a:endParaRPr lang="en-US" sz="1800" dirty="0"/>
          </a:p>
        </p:txBody>
      </p:sp>
      <p:sp>
        <p:nvSpPr>
          <p:cNvPr id="7" name="Text 5"/>
          <p:cNvSpPr txBox="1"/>
          <p:nvPr/>
        </p:nvSpPr>
        <p:spPr>
          <a:xfrm>
            <a:off x="548640" y="3200400"/>
            <a:ext cx="5669280" cy="640080"/>
          </a:xfrm>
          <a:prstGeom prst="rect">
            <a:avLst/>
          </a:prstGeom>
          <a:noFill/>
          <a:ln/>
        </p:spPr>
        <p:txBody>
          <a:bodyPr wrap="square" lIns="0" tIns="0" rIns="0" bIns="0" rtlCol="0" anchor="t"/>
          <a:lstStyle/>
          <a:p>
            <a:pPr algn="ctr" indent="0" marL="0">
              <a:buNone/>
            </a:pPr>
            <a:r>
              <a:rPr lang="en-US" sz="3600" dirty="0">
                <a:solidFill>
                  <a:schemeClr val="accent1"/>
                </a:solidFill>
                <a:latin typeface="Rockwell Extra Bold" pitchFamily="34" charset="0"/>
                <a:ea typeface="Rockwell Extra Bold" pitchFamily="34" charset="-122"/>
                <a:cs typeface="Rockwell Extra Bold" pitchFamily="34" charset="-120"/>
              </a:rPr>
              <a:t>↓</a:t>
            </a:r>
            <a:endParaRPr lang="en-US" sz="3600" dirty="0"/>
          </a:p>
        </p:txBody>
      </p:sp>
      <p:sp>
        <p:nvSpPr>
          <p:cNvPr id="8" name="Shape 6"/>
          <p:cNvSpPr/>
          <p:nvPr/>
        </p:nvSpPr>
        <p:spPr>
          <a:xfrm>
            <a:off x="548640" y="3840480"/>
            <a:ext cx="5669280" cy="2011680"/>
          </a:xfrm>
          <a:prstGeom prst="rect">
            <a:avLst/>
          </a:prstGeom>
          <a:solidFill>
            <a:schemeClr val="bg1"/>
          </a:solidFill>
          <a:ln w="25400">
            <a:solidFill>
              <a:schemeClr val="tx1"/>
            </a:solidFill>
            <a:prstDash val="solid"/>
          </a:ln>
        </p:spPr>
      </p:sp>
      <p:sp>
        <p:nvSpPr>
          <p:cNvPr id="9" name="Text 7"/>
          <p:cNvSpPr txBox="1"/>
          <p:nvPr/>
        </p:nvSpPr>
        <p:spPr>
          <a:xfrm>
            <a:off x="822960" y="3931920"/>
            <a:ext cx="5120640" cy="365760"/>
          </a:xfrm>
          <a:prstGeom prst="rect">
            <a:avLst/>
          </a:prstGeom>
          <a:noFill/>
          <a:ln/>
        </p:spPr>
        <p:txBody>
          <a:bodyPr wrap="square" lIns="0" tIns="0" rIns="0" bIns="0" rtlCol="0" anchor="t"/>
          <a:lstStyle/>
          <a:p>
            <a:pPr indent="0" marL="0">
              <a:buNone/>
            </a:pPr>
            <a:r>
              <a:rPr lang="en-US" sz="1400" b="1" dirty="0">
                <a:solidFill>
                  <a:schemeClr val="tx2"/>
                </a:solidFill>
                <a:latin typeface="Arial" pitchFamily="34" charset="0"/>
                <a:ea typeface="Arial" pitchFamily="34" charset="-122"/>
                <a:cs typeface="Arial" pitchFamily="34" charset="-120"/>
              </a:rPr>
              <a:t>Ta version : 280 caractères maximum</a:t>
            </a:r>
            <a:endParaRPr lang="en-US" sz="1400" dirty="0"/>
          </a:p>
        </p:txBody>
      </p:sp>
      <p:sp>
        <p:nvSpPr>
          <p:cNvPr id="10" name="Shape 8"/>
          <p:cNvSpPr/>
          <p:nvPr/>
        </p:nvSpPr>
        <p:spPr>
          <a:xfrm>
            <a:off x="822960" y="4663440"/>
            <a:ext cx="5120640" cy="0"/>
          </a:xfrm>
          <a:prstGeom prst="line">
            <a:avLst/>
          </a:prstGeom>
          <a:noFill/>
          <a:ln w="12700">
            <a:solidFill>
              <a:schemeClr val="tx1"/>
            </a:solidFill>
            <a:prstDash val="solid"/>
          </a:ln>
        </p:spPr>
      </p:sp>
      <p:sp>
        <p:nvSpPr>
          <p:cNvPr id="11" name="Shape 9"/>
          <p:cNvSpPr/>
          <p:nvPr/>
        </p:nvSpPr>
        <p:spPr>
          <a:xfrm>
            <a:off x="822960" y="5029200"/>
            <a:ext cx="5120640" cy="0"/>
          </a:xfrm>
          <a:prstGeom prst="line">
            <a:avLst/>
          </a:prstGeom>
          <a:noFill/>
          <a:ln w="12700">
            <a:solidFill>
              <a:schemeClr val="tx1"/>
            </a:solidFill>
            <a:prstDash val="solid"/>
          </a:ln>
        </p:spPr>
      </p:sp>
      <p:sp>
        <p:nvSpPr>
          <p:cNvPr id="12" name="Shape 10"/>
          <p:cNvSpPr/>
          <p:nvPr/>
        </p:nvSpPr>
        <p:spPr>
          <a:xfrm>
            <a:off x="822960" y="5394960"/>
            <a:ext cx="5120640" cy="0"/>
          </a:xfrm>
          <a:prstGeom prst="line">
            <a:avLst/>
          </a:prstGeom>
          <a:noFill/>
          <a:ln w="12700">
            <a:solidFill>
              <a:schemeClr val="tx1"/>
            </a:solidFill>
            <a:prstDash val="solid"/>
          </a:ln>
        </p:spPr>
      </p:sp>
      <p:sp>
        <p:nvSpPr>
          <p:cNvPr id="13" name="Shape 11"/>
          <p:cNvSpPr/>
          <p:nvPr/>
        </p:nvSpPr>
        <p:spPr>
          <a:xfrm>
            <a:off x="6675120" y="1463040"/>
            <a:ext cx="548640" cy="548640"/>
          </a:xfrm>
          <a:prstGeom prst="ellipse">
            <a:avLst/>
          </a:prstGeom>
          <a:solidFill>
            <a:schemeClr val="accent1"/>
          </a:solidFill>
          <a:ln w="19050">
            <a:solidFill>
              <a:schemeClr val="tx1"/>
            </a:solidFill>
            <a:prstDash val="solid"/>
          </a:ln>
        </p:spPr>
      </p:sp>
      <p:sp>
        <p:nvSpPr>
          <p:cNvPr id="14" name="Text 12"/>
          <p:cNvSpPr txBox="1"/>
          <p:nvPr/>
        </p:nvSpPr>
        <p:spPr>
          <a:xfrm>
            <a:off x="6675120" y="146304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15" name="Text 13"/>
          <p:cNvSpPr txBox="1"/>
          <p:nvPr/>
        </p:nvSpPr>
        <p:spPr>
          <a:xfrm>
            <a:off x="7406640" y="1417320"/>
            <a:ext cx="4206240" cy="868680"/>
          </a:xfrm>
          <a:prstGeom prst="rect">
            <a:avLst/>
          </a:prstGeom>
          <a:noFill/>
          <a:ln/>
        </p:spPr>
        <p:txBody>
          <a:bodyPr wrap="square" lIns="0" tIns="0" rIns="0" bIns="0" rtlCol="0" anchor="ctr"/>
          <a:lstStyle/>
          <a:p>
            <a:pPr indent="0" marL="0">
              <a:buNone/>
            </a:pPr>
            <a:r>
              <a:rPr lang="en-US" sz="1700" dirty="0">
                <a:solidFill>
                  <a:schemeClr val="tx1"/>
                </a:solidFill>
                <a:latin typeface="Arial" pitchFamily="34" charset="0"/>
                <a:ea typeface="Arial" pitchFamily="34" charset="-122"/>
                <a:cs typeface="Arial" pitchFamily="34" charset="-120"/>
              </a:rPr>
              <a:t>Réponds au commentaire, sans l'ignorer.</a:t>
            </a:r>
            <a:endParaRPr lang="en-US" sz="1700" dirty="0"/>
          </a:p>
        </p:txBody>
      </p:sp>
      <p:sp>
        <p:nvSpPr>
          <p:cNvPr id="16" name="Shape 14"/>
          <p:cNvSpPr/>
          <p:nvPr/>
        </p:nvSpPr>
        <p:spPr>
          <a:xfrm>
            <a:off x="6675120" y="2560320"/>
            <a:ext cx="548640" cy="548640"/>
          </a:xfrm>
          <a:prstGeom prst="ellipse">
            <a:avLst/>
          </a:prstGeom>
          <a:solidFill>
            <a:schemeClr val="accent1"/>
          </a:solidFill>
          <a:ln w="19050">
            <a:solidFill>
              <a:schemeClr val="tx1"/>
            </a:solidFill>
            <a:prstDash val="solid"/>
          </a:ln>
        </p:spPr>
      </p:sp>
      <p:sp>
        <p:nvSpPr>
          <p:cNvPr id="17" name="Text 15"/>
          <p:cNvSpPr txBox="1"/>
          <p:nvPr/>
        </p:nvSpPr>
        <p:spPr>
          <a:xfrm>
            <a:off x="6675120" y="256032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8" name="Text 16"/>
          <p:cNvSpPr txBox="1"/>
          <p:nvPr/>
        </p:nvSpPr>
        <p:spPr>
          <a:xfrm>
            <a:off x="7406640" y="2514600"/>
            <a:ext cx="4206240" cy="868680"/>
          </a:xfrm>
          <a:prstGeom prst="rect">
            <a:avLst/>
          </a:prstGeom>
          <a:noFill/>
          <a:ln/>
        </p:spPr>
        <p:txBody>
          <a:bodyPr wrap="square" lIns="0" tIns="0" rIns="0" bIns="0" rtlCol="0" anchor="ctr"/>
          <a:lstStyle/>
          <a:p>
            <a:pPr indent="0" marL="0">
              <a:buNone/>
            </a:pPr>
            <a:r>
              <a:rPr lang="en-US" sz="1700" dirty="0">
                <a:solidFill>
                  <a:schemeClr val="tx1"/>
                </a:solidFill>
                <a:latin typeface="Arial" pitchFamily="34" charset="0"/>
                <a:ea typeface="Arial" pitchFamily="34" charset="-122"/>
                <a:cs typeface="Arial" pitchFamily="34" charset="-120"/>
              </a:rPr>
              <a:t>280 caractères, pas un de plus.</a:t>
            </a:r>
            <a:endParaRPr lang="en-US" sz="1700" dirty="0"/>
          </a:p>
        </p:txBody>
      </p:sp>
      <p:sp>
        <p:nvSpPr>
          <p:cNvPr id="19" name="Shape 17"/>
          <p:cNvSpPr/>
          <p:nvPr/>
        </p:nvSpPr>
        <p:spPr>
          <a:xfrm>
            <a:off x="6675120" y="3657600"/>
            <a:ext cx="548640" cy="548640"/>
          </a:xfrm>
          <a:prstGeom prst="ellipse">
            <a:avLst/>
          </a:prstGeom>
          <a:solidFill>
            <a:schemeClr val="accent2"/>
          </a:solidFill>
          <a:ln w="19050">
            <a:solidFill>
              <a:schemeClr val="tx1"/>
            </a:solidFill>
            <a:prstDash val="solid"/>
          </a:ln>
        </p:spPr>
      </p:sp>
      <p:sp>
        <p:nvSpPr>
          <p:cNvPr id="20" name="Text 18"/>
          <p:cNvSpPr txBox="1"/>
          <p:nvPr/>
        </p:nvSpPr>
        <p:spPr>
          <a:xfrm>
            <a:off x="6675120" y="3657600"/>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3</a:t>
            </a:r>
            <a:endParaRPr lang="en-US" sz="2000" dirty="0"/>
          </a:p>
        </p:txBody>
      </p:sp>
      <p:sp>
        <p:nvSpPr>
          <p:cNvPr id="21" name="Text 19"/>
          <p:cNvSpPr txBox="1"/>
          <p:nvPr/>
        </p:nvSpPr>
        <p:spPr>
          <a:xfrm>
            <a:off x="7406640" y="3611880"/>
            <a:ext cx="4206240" cy="868680"/>
          </a:xfrm>
          <a:prstGeom prst="rect">
            <a:avLst/>
          </a:prstGeom>
          <a:noFill/>
          <a:ln/>
        </p:spPr>
        <p:txBody>
          <a:bodyPr wrap="square" lIns="0" tIns="0" rIns="0" bIns="0" rtlCol="0" anchor="ctr"/>
          <a:lstStyle/>
          <a:p>
            <a:pPr indent="0" marL="0">
              <a:buNone/>
            </a:pPr>
            <a:r>
              <a:rPr lang="en-US" sz="1700" dirty="0">
                <a:solidFill>
                  <a:schemeClr val="tx1"/>
                </a:solidFill>
                <a:latin typeface="Arial" pitchFamily="34" charset="0"/>
                <a:ea typeface="Arial" pitchFamily="34" charset="-122"/>
                <a:cs typeface="Arial" pitchFamily="34" charset="-120"/>
              </a:rPr>
              <a:t>Un mot obligatoire, tiré au hasard : merci · peut-être · curieux · ensemble.</a:t>
            </a:r>
            <a:endParaRPr lang="en-US" sz="1700" dirty="0"/>
          </a:p>
        </p:txBody>
      </p:sp>
      <p:sp>
        <p:nvSpPr>
          <p:cNvPr id="22" name="Shape 20"/>
          <p:cNvSpPr/>
          <p:nvPr/>
        </p:nvSpPr>
        <p:spPr>
          <a:xfrm>
            <a:off x="6675120" y="4754880"/>
            <a:ext cx="548640" cy="548640"/>
          </a:xfrm>
          <a:prstGeom prst="ellipse">
            <a:avLst/>
          </a:prstGeom>
          <a:solidFill>
            <a:schemeClr val="accent1"/>
          </a:solidFill>
          <a:ln w="19050">
            <a:solidFill>
              <a:schemeClr val="tx1"/>
            </a:solidFill>
            <a:prstDash val="solid"/>
          </a:ln>
        </p:spPr>
      </p:sp>
      <p:sp>
        <p:nvSpPr>
          <p:cNvPr id="23" name="Text 21"/>
          <p:cNvSpPr txBox="1"/>
          <p:nvPr/>
        </p:nvSpPr>
        <p:spPr>
          <a:xfrm>
            <a:off x="6675120" y="475488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24" name="Text 22"/>
          <p:cNvSpPr txBox="1"/>
          <p:nvPr/>
        </p:nvSpPr>
        <p:spPr>
          <a:xfrm>
            <a:off x="7406640" y="4709160"/>
            <a:ext cx="4206240" cy="868680"/>
          </a:xfrm>
          <a:prstGeom prst="rect">
            <a:avLst/>
          </a:prstGeom>
          <a:noFill/>
          <a:ln/>
        </p:spPr>
        <p:txBody>
          <a:bodyPr wrap="square" lIns="0" tIns="0" rIns="0" bIns="0" rtlCol="0" anchor="ctr"/>
          <a:lstStyle/>
          <a:p>
            <a:pPr indent="0" marL="0">
              <a:buNone/>
            </a:pPr>
            <a:r>
              <a:rPr lang="en-US" sz="1700" dirty="0">
                <a:solidFill>
                  <a:schemeClr val="tx1"/>
                </a:solidFill>
                <a:latin typeface="Arial" pitchFamily="34" charset="0"/>
                <a:ea typeface="Arial" pitchFamily="34" charset="-122"/>
                <a:cs typeface="Arial" pitchFamily="34" charset="-120"/>
              </a:rPr>
              <a:t>On vote pour celui qu'on aimerait vraiment recevoir.</a:t>
            </a:r>
            <a:endParaRPr lang="en-US" sz="17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p:bldP spid="9" grpId="0"/>
      <p:bldP spid="14" grpId="0"/>
      <p:bldP spid="15" grpId="0"/>
      <p:bldP spid="17" grpId="0"/>
      <p:bldP spid="18" grpId="0"/>
      <p:bldP spid="20" grpId="0"/>
      <p:bldP spid="21" grpId="0"/>
      <p:bldP spid="23" grpId="0"/>
      <p:bldP spid="24" grpId="0"/>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4</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L'arène agréable</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Un vrai débat, avec un prix inattendu</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450" fill="hold"/>
                                  <p:tgtEl>
                                    <p:spTgt spid="2"/>
                                  </p:tgtEl>
                                  <p:attrNameLst>
                                    <p:attrName>ppt_w</p:attrName>
                                  </p:attrNameLst>
                                </p:cBhvr>
                                <p:tavLst>
                                  <p:tav tm="0">
                                    <p:val>
                                      <p:strVal val="#ppt_w*0.85"/>
                                    </p:val>
                                  </p:tav>
                                  <p:tav tm="100000">
                                    <p:val>
                                      <p:strVal val="#ppt_w"/>
                                    </p:val>
                                  </p:tav>
                                </p:tavLst>
                              </p:anim>
                              <p:animEffect transition="in" filter="fade">
                                <p:cBhvr>
                                  <p:cTn id="7" dur="450"/>
                                  <p:tgtEl>
                                    <p:spTgt spid="2"/>
                                  </p:tgtEl>
                                </p:cBhvr>
                              </p:animEffect>
                            </p:childTnLst>
                          </p:cTn>
                        </p:par>
                        <p:par>
                          <p:cTn id="8" presetID="53" presetClass="entr" presetSubtype="16" fill="hold" nodeType="withEffect">
                            <p:stCondLst>
                              <p:cond delay="140"/>
                            </p:stCondLst>
                            <p:childTnLst>
                              <p:set>
                                <p:cBhvr>
                                  <p:cTn id="9" dur="1" fill="hold">
                                    <p:stCondLst>
                                      <p:cond delay="0"/>
                                    </p:stCondLst>
                                  </p:cTn>
                                  <p:tgtEl>
                                    <p:spTgt spid="5"/>
                                  </p:tgtEl>
                                  <p:attrNameLst>
                                    <p:attrName>style.visibility</p:attrName>
                                  </p:attrNameLst>
                                </p:cBhvr>
                                <p:to>
                                  <p:strVal val="visible"/>
                                </p:to>
                              </p:set>
                              <p:anim calcmode="lin" valueType="num">
                                <p:cBhvr>
                                  <p:cTn id="10" dur="450" fill="hold"/>
                                  <p:tgtEl>
                                    <p:spTgt spid="5"/>
                                  </p:tgtEl>
                                  <p:attrNameLst>
                                    <p:attrName>ppt_w</p:attrName>
                                  </p:attrNameLst>
                                </p:cBhvr>
                                <p:tavLst>
                                  <p:tav tm="0">
                                    <p:val>
                                      <p:strVal val="#ppt_w*0.85"/>
                                    </p:val>
                                  </p:tav>
                                  <p:tav tm="100000">
                                    <p:val>
                                      <p:strVal val="#ppt_w"/>
                                    </p:val>
                                  </p:tav>
                                </p:tavLst>
                              </p:anim>
                              <p:animEffect transition="in" filter="fade">
                                <p:cBhvr>
                                  <p:cTn id="11" dur="45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L'aquarium à jetons</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25 min</a:t>
            </a:r>
            <a:endParaRPr lang="en-US" sz="1400" dirty="0"/>
          </a:p>
        </p:txBody>
      </p:sp>
      <p:sp>
        <p:nvSpPr>
          <p:cNvPr id="5" name="Shape 3"/>
          <p:cNvSpPr/>
          <p:nvPr/>
        </p:nvSpPr>
        <p:spPr>
          <a:xfrm>
            <a:off x="548640" y="1371600"/>
            <a:ext cx="6949440" cy="1325880"/>
          </a:xfrm>
          <a:prstGeom prst="rect">
            <a:avLst/>
          </a:prstGeom>
          <a:solidFill>
            <a:schemeClr val="bg1"/>
          </a:solidFill>
          <a:ln w="25400">
            <a:solidFill>
              <a:schemeClr val="tx1"/>
            </a:solidFill>
            <a:prstDash val="solid"/>
          </a:ln>
        </p:spPr>
      </p:sp>
      <p:sp>
        <p:nvSpPr>
          <p:cNvPr id="6" name="Shape 4"/>
          <p:cNvSpPr/>
          <p:nvPr/>
        </p:nvSpPr>
        <p:spPr>
          <a:xfrm>
            <a:off x="731520" y="1737360"/>
            <a:ext cx="594360" cy="594360"/>
          </a:xfrm>
          <a:prstGeom prst="ellipse">
            <a:avLst/>
          </a:prstGeom>
          <a:solidFill>
            <a:schemeClr val="accent1"/>
          </a:solidFill>
          <a:ln w="19050">
            <a:solidFill>
              <a:schemeClr val="tx1"/>
            </a:solidFill>
            <a:prstDash val="solid"/>
          </a:ln>
        </p:spPr>
      </p:sp>
      <p:sp>
        <p:nvSpPr>
          <p:cNvPr id="7" name="Text 5"/>
          <p:cNvSpPr txBox="1"/>
          <p:nvPr/>
        </p:nvSpPr>
        <p:spPr>
          <a:xfrm>
            <a:off x="731520" y="173736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1</a:t>
            </a:r>
            <a:endParaRPr lang="en-US" sz="2200" dirty="0"/>
          </a:p>
        </p:txBody>
      </p:sp>
      <p:sp>
        <p:nvSpPr>
          <p:cNvPr id="8" name="Text 6"/>
          <p:cNvSpPr txBox="1"/>
          <p:nvPr/>
        </p:nvSpPr>
        <p:spPr>
          <a:xfrm>
            <a:off x="1554480" y="1481328"/>
            <a:ext cx="5760720" cy="41148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 ticket d'entrée</a:t>
            </a:r>
            <a:endParaRPr lang="en-US" sz="1700" dirty="0"/>
          </a:p>
        </p:txBody>
      </p:sp>
      <p:sp>
        <p:nvSpPr>
          <p:cNvPr id="9" name="Text 7"/>
          <p:cNvSpPr txBox="1"/>
          <p:nvPr/>
        </p:nvSpPr>
        <p:spPr>
          <a:xfrm>
            <a:off x="1554480" y="1874520"/>
            <a:ext cx="576072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Pour parler, tu dois d'abord reformuler la personne précédente. Elle dit « oui » ou « presque ». Seul le « oui » ouvre ton micro.</a:t>
            </a:r>
            <a:endParaRPr lang="en-US" sz="1400" dirty="0"/>
          </a:p>
        </p:txBody>
      </p:sp>
      <p:sp>
        <p:nvSpPr>
          <p:cNvPr id="10" name="Shape 8"/>
          <p:cNvSpPr/>
          <p:nvPr/>
        </p:nvSpPr>
        <p:spPr>
          <a:xfrm>
            <a:off x="548640" y="2880360"/>
            <a:ext cx="6949440" cy="1325880"/>
          </a:xfrm>
          <a:prstGeom prst="rect">
            <a:avLst/>
          </a:prstGeom>
          <a:solidFill>
            <a:schemeClr val="bg1"/>
          </a:solidFill>
          <a:ln w="25400">
            <a:solidFill>
              <a:schemeClr val="tx1"/>
            </a:solidFill>
            <a:prstDash val="solid"/>
          </a:ln>
        </p:spPr>
      </p:sp>
      <p:sp>
        <p:nvSpPr>
          <p:cNvPr id="11" name="Shape 9"/>
          <p:cNvSpPr/>
          <p:nvPr/>
        </p:nvSpPr>
        <p:spPr>
          <a:xfrm>
            <a:off x="731520" y="3246120"/>
            <a:ext cx="594360" cy="594360"/>
          </a:xfrm>
          <a:prstGeom prst="ellipse">
            <a:avLst/>
          </a:prstGeom>
          <a:solidFill>
            <a:schemeClr val="accent1"/>
          </a:solidFill>
          <a:ln w="19050">
            <a:solidFill>
              <a:schemeClr val="tx1"/>
            </a:solidFill>
            <a:prstDash val="solid"/>
          </a:ln>
        </p:spPr>
      </p:sp>
      <p:sp>
        <p:nvSpPr>
          <p:cNvPr id="12" name="Text 10"/>
          <p:cNvSpPr txBox="1"/>
          <p:nvPr/>
        </p:nvSpPr>
        <p:spPr>
          <a:xfrm>
            <a:off x="731520" y="324612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2</a:t>
            </a:r>
            <a:endParaRPr lang="en-US" sz="2200" dirty="0"/>
          </a:p>
        </p:txBody>
      </p:sp>
      <p:sp>
        <p:nvSpPr>
          <p:cNvPr id="13" name="Text 11"/>
          <p:cNvSpPr txBox="1"/>
          <p:nvPr/>
        </p:nvSpPr>
        <p:spPr>
          <a:xfrm>
            <a:off x="1554480" y="2990088"/>
            <a:ext cx="5760720" cy="41148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Les jetons</a:t>
            </a:r>
            <a:endParaRPr lang="en-US" sz="1700" dirty="0"/>
          </a:p>
        </p:txBody>
      </p:sp>
      <p:sp>
        <p:nvSpPr>
          <p:cNvPr id="14" name="Text 12"/>
          <p:cNvSpPr txBox="1"/>
          <p:nvPr/>
        </p:nvSpPr>
        <p:spPr>
          <a:xfrm>
            <a:off x="1554480" y="3383280"/>
            <a:ext cx="576072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3 jetons par personne. Chaque intervention coûte un jeton. Les Bulldozers apprennent à choisir, les Tortues doivent dépenser les leurs.</a:t>
            </a:r>
            <a:endParaRPr lang="en-US" sz="1400" dirty="0"/>
          </a:p>
        </p:txBody>
      </p:sp>
      <p:sp>
        <p:nvSpPr>
          <p:cNvPr id="15" name="Shape 13"/>
          <p:cNvSpPr/>
          <p:nvPr/>
        </p:nvSpPr>
        <p:spPr>
          <a:xfrm>
            <a:off x="548640" y="4389120"/>
            <a:ext cx="6949440" cy="1325880"/>
          </a:xfrm>
          <a:prstGeom prst="rect">
            <a:avLst/>
          </a:prstGeom>
          <a:solidFill>
            <a:schemeClr val="bg1"/>
          </a:solidFill>
          <a:ln w="25400">
            <a:solidFill>
              <a:schemeClr val="tx1"/>
            </a:solidFill>
            <a:prstDash val="solid"/>
          </a:ln>
        </p:spPr>
      </p:sp>
      <p:sp>
        <p:nvSpPr>
          <p:cNvPr id="16" name="Shape 14"/>
          <p:cNvSpPr/>
          <p:nvPr/>
        </p:nvSpPr>
        <p:spPr>
          <a:xfrm>
            <a:off x="731520" y="4754880"/>
            <a:ext cx="594360" cy="594360"/>
          </a:xfrm>
          <a:prstGeom prst="ellipse">
            <a:avLst/>
          </a:prstGeom>
          <a:solidFill>
            <a:schemeClr val="accent1"/>
          </a:solidFill>
          <a:ln w="19050">
            <a:solidFill>
              <a:schemeClr val="tx1"/>
            </a:solidFill>
            <a:prstDash val="solid"/>
          </a:ln>
        </p:spPr>
      </p:sp>
      <p:sp>
        <p:nvSpPr>
          <p:cNvPr id="17" name="Text 15"/>
          <p:cNvSpPr txBox="1"/>
          <p:nvPr/>
        </p:nvSpPr>
        <p:spPr>
          <a:xfrm>
            <a:off x="731520" y="4754880"/>
            <a:ext cx="594360" cy="594360"/>
          </a:xfrm>
          <a:prstGeom prst="rect">
            <a:avLst/>
          </a:prstGeom>
          <a:noFill/>
          <a:ln/>
        </p:spPr>
        <p:txBody>
          <a:bodyPr wrap="square" lIns="0" tIns="0" rIns="0" bIns="0" rtlCol="0" anchor="ctr"/>
          <a:lstStyle/>
          <a:p>
            <a:pPr algn="ctr" indent="0" marL="0">
              <a:buNone/>
            </a:pPr>
            <a:r>
              <a:rPr lang="en-US" sz="2200" dirty="0">
                <a:solidFill>
                  <a:schemeClr val="bg2"/>
                </a:solidFill>
                <a:latin typeface="Rockwell Extra Bold" pitchFamily="34" charset="0"/>
                <a:ea typeface="Rockwell Extra Bold" pitchFamily="34" charset="-122"/>
                <a:cs typeface="Rockwell Extra Bold" pitchFamily="34" charset="-120"/>
              </a:rPr>
              <a:t>3</a:t>
            </a:r>
            <a:endParaRPr lang="en-US" sz="2200" dirty="0"/>
          </a:p>
        </p:txBody>
      </p:sp>
      <p:sp>
        <p:nvSpPr>
          <p:cNvPr id="18" name="Text 16"/>
          <p:cNvSpPr txBox="1"/>
          <p:nvPr/>
        </p:nvSpPr>
        <p:spPr>
          <a:xfrm>
            <a:off x="1554480" y="4498848"/>
            <a:ext cx="5760720" cy="411480"/>
          </a:xfrm>
          <a:prstGeom prst="rect">
            <a:avLst/>
          </a:prstGeom>
          <a:noFill/>
          <a:ln/>
        </p:spPr>
        <p:txBody>
          <a:bodyPr wrap="square" lIns="0" tIns="0" rIns="0" bIns="0" rtlCol="0" anchor="t"/>
          <a:lstStyle/>
          <a:p>
            <a:pPr indent="0" marL="0">
              <a:buNone/>
            </a:pPr>
            <a:r>
              <a:rPr lang="en-US" sz="1700" dirty="0">
                <a:solidFill>
                  <a:schemeClr val="accent1"/>
                </a:solidFill>
                <a:latin typeface="Rockwell Extra Bold" pitchFamily="34" charset="0"/>
                <a:ea typeface="Rockwell Extra Bold" pitchFamily="34" charset="-122"/>
                <a:cs typeface="Rockwell Extra Bold" pitchFamily="34" charset="-120"/>
              </a:rPr>
              <a:t>La chaise vide</a:t>
            </a:r>
            <a:endParaRPr lang="en-US" sz="1700" dirty="0"/>
          </a:p>
        </p:txBody>
      </p:sp>
      <p:sp>
        <p:nvSpPr>
          <p:cNvPr id="19" name="Text 17"/>
          <p:cNvSpPr txBox="1"/>
          <p:nvPr/>
        </p:nvSpPr>
        <p:spPr>
          <a:xfrm>
            <a:off x="1554480" y="4892040"/>
            <a:ext cx="5760720" cy="77724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Une chaise libre dans le cercle : un observateur peut venir y faire une seule intervention, puis repartir.</a:t>
            </a:r>
            <a:endParaRPr lang="en-US" sz="1400" dirty="0"/>
          </a:p>
        </p:txBody>
      </p:sp>
      <p:sp>
        <p:nvSpPr>
          <p:cNvPr id="20" name="Shape 18"/>
          <p:cNvSpPr/>
          <p:nvPr/>
        </p:nvSpPr>
        <p:spPr>
          <a:xfrm>
            <a:off x="7863840" y="1371600"/>
            <a:ext cx="3749040" cy="4343400"/>
          </a:xfrm>
          <a:prstGeom prst="rect">
            <a:avLst/>
          </a:prstGeom>
          <a:solidFill>
            <a:schemeClr val="accent2"/>
          </a:solidFill>
          <a:ln w="25400">
            <a:solidFill>
              <a:schemeClr val="tx1"/>
            </a:solidFill>
            <a:prstDash val="solid"/>
          </a:ln>
        </p:spPr>
      </p:sp>
      <p:sp>
        <p:nvSpPr>
          <p:cNvPr id="21" name="Text 19"/>
          <p:cNvSpPr txBox="1"/>
          <p:nvPr/>
        </p:nvSpPr>
        <p:spPr>
          <a:xfrm>
            <a:off x="8092440" y="1554480"/>
            <a:ext cx="3291840" cy="457200"/>
          </a:xfrm>
          <a:prstGeom prst="rect">
            <a:avLst/>
          </a:prstGeom>
          <a:noFill/>
          <a:ln/>
        </p:spPr>
        <p:txBody>
          <a:bodyPr wrap="square" lIns="0" tIns="0" rIns="0" bIns="0" rtlCol="0" anchor="t"/>
          <a:lstStyle/>
          <a:p>
            <a:pPr indent="0" marL="0">
              <a:buNone/>
            </a:pPr>
            <a:r>
              <a:rPr lang="en-US" sz="2000" dirty="0">
                <a:solidFill>
                  <a:schemeClr val="accent1"/>
                </a:solidFill>
                <a:latin typeface="Rockwell Extra Bold" pitchFamily="34" charset="0"/>
                <a:ea typeface="Rockwell Extra Bold" pitchFamily="34" charset="-122"/>
                <a:cs typeface="Rockwell Extra Bold" pitchFamily="34" charset="-120"/>
              </a:rPr>
              <a:t>Le prix surprise</a:t>
            </a:r>
            <a:endParaRPr lang="en-US" sz="2000" dirty="0"/>
          </a:p>
        </p:txBody>
      </p:sp>
      <p:sp>
        <p:nvSpPr>
          <p:cNvPr id="22" name="Text 20"/>
          <p:cNvSpPr txBox="1"/>
          <p:nvPr/>
        </p:nvSpPr>
        <p:spPr>
          <a:xfrm>
            <a:off x="8092440" y="2103120"/>
            <a:ext cx="3291840" cy="73152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Aucun vainqueur au contenu. Le jury remet deux prix :</a:t>
            </a:r>
            <a:endParaRPr lang="en-US" sz="1500" dirty="0"/>
          </a:p>
        </p:txBody>
      </p:sp>
      <p:sp>
        <p:nvSpPr>
          <p:cNvPr id="23" name="Text 21"/>
          <p:cNvSpPr txBox="1"/>
          <p:nvPr/>
        </p:nvSpPr>
        <p:spPr>
          <a:xfrm>
            <a:off x="8092440" y="2926080"/>
            <a:ext cx="3291840" cy="2651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L'homme d'acier d'or</a:t>
            </a:r>
            <a:endParaRPr lang="en-US" sz="1500" dirty="0"/>
          </a:p>
          <a:p>
            <a:pPr indent="0" marL="0">
              <a:buNone/>
            </a:pPr>
            <a:r>
              <a:rPr lang="en-US" sz="1500" dirty="0">
                <a:solidFill>
                  <a:schemeClr val="tx1"/>
                </a:solidFill>
                <a:latin typeface="Arial" pitchFamily="34" charset="0"/>
                <a:ea typeface="Arial" pitchFamily="34" charset="-122"/>
                <a:cs typeface="Arial" pitchFamily="34" charset="-120"/>
              </a:rPr>
              <a:t>à la meilleure reformulation de l'adversaire</a:t>
            </a:r>
            <a:endParaRPr lang="en-US" sz="1500" dirty="0"/>
          </a:p>
          <a:p>
            <a:pPr indent="0" marL="0">
              <a:buNone/>
            </a:pPr>
            <a:r>
              <a:rPr lang="en-US" sz="1500" dirty="0">
                <a:solidFill>
                  <a:schemeClr val="tx1"/>
                </a:solidFill>
                <a:latin typeface="Arial" pitchFamily="34" charset="0"/>
                <a:ea typeface="Arial" pitchFamily="34" charset="-122"/>
                <a:cs typeface="Arial" pitchFamily="34" charset="-120"/>
              </a:rPr>
              <a:t> </a:t>
            </a:r>
            <a:endParaRPr lang="en-US" sz="1500" dirty="0"/>
          </a:p>
          <a:p>
            <a:pPr indent="0" marL="0">
              <a:buNone/>
            </a:pPr>
            <a:r>
              <a:rPr lang="en-US" sz="1500" b="1" dirty="0">
                <a:solidFill>
                  <a:schemeClr val="tx1"/>
                </a:solidFill>
                <a:latin typeface="Arial" pitchFamily="34" charset="0"/>
                <a:ea typeface="Arial" pitchFamily="34" charset="-122"/>
                <a:cs typeface="Arial" pitchFamily="34" charset="-120"/>
              </a:rPr>
              <a:t>La girouette courageuse</a:t>
            </a:r>
            <a:endParaRPr lang="en-US" sz="1500" dirty="0"/>
          </a:p>
          <a:p>
            <a:pPr indent="0" marL="0">
              <a:buNone/>
            </a:pPr>
            <a:r>
              <a:rPr lang="en-US" sz="1500" dirty="0">
                <a:solidFill>
                  <a:schemeClr val="tx1"/>
                </a:solidFill>
                <a:latin typeface="Arial" pitchFamily="34" charset="0"/>
                <a:ea typeface="Arial" pitchFamily="34" charset="-122"/>
                <a:cs typeface="Arial" pitchFamily="34" charset="-120"/>
              </a:rPr>
              <a:t>à la personne qui a changé d'avis, et l'a dit</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9" grpId="0"/>
      <p:bldP spid="12" grpId="0"/>
      <p:bldP spid="13" grpId="0"/>
      <p:bldP spid="14" grpId="0"/>
      <p:bldP spid="17" grpId="0"/>
      <p:bldP spid="18" grpId="0"/>
      <p:bldP spid="19" grpId="0"/>
      <p:bldP spid="21" grpId="0"/>
      <p:bldP spid="22" grpId="0"/>
      <p:bldP spid="23" grpId="0"/>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La boîte à phrases qui désamorcent</a:t>
            </a:r>
            <a:endParaRPr lang="en-US" sz="3600" dirty="0"/>
          </a:p>
        </p:txBody>
      </p:sp>
      <p:sp>
        <p:nvSpPr>
          <p:cNvPr id="3" name="Shape 1"/>
          <p:cNvSpPr/>
          <p:nvPr/>
        </p:nvSpPr>
        <p:spPr>
          <a:xfrm>
            <a:off x="548640" y="1371600"/>
            <a:ext cx="5440680" cy="1005840"/>
          </a:xfrm>
          <a:prstGeom prst="rect">
            <a:avLst/>
          </a:prstGeom>
          <a:solidFill>
            <a:schemeClr val="bg1"/>
          </a:solidFill>
          <a:ln w="19050">
            <a:solidFill>
              <a:schemeClr val="tx1"/>
            </a:solidFill>
            <a:prstDash val="solid"/>
          </a:ln>
        </p:spPr>
      </p:sp>
      <p:sp>
        <p:nvSpPr>
          <p:cNvPr id="4" name="Text 2"/>
          <p:cNvSpPr txBox="1"/>
          <p:nvPr/>
        </p:nvSpPr>
        <p:spPr>
          <a:xfrm>
            <a:off x="731520" y="1463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Comprendre</a:t>
            </a:r>
            <a:endParaRPr lang="en-US" sz="1500" dirty="0"/>
          </a:p>
        </p:txBody>
      </p:sp>
      <p:sp>
        <p:nvSpPr>
          <p:cNvPr id="5" name="Text 3"/>
          <p:cNvSpPr txBox="1"/>
          <p:nvPr/>
        </p:nvSpPr>
        <p:spPr>
          <a:xfrm>
            <a:off x="2468880" y="1463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Si je te comprends bien, tu dis que… c'est ça? »</a:t>
            </a:r>
            <a:endParaRPr lang="en-US" sz="1500" dirty="0"/>
          </a:p>
        </p:txBody>
      </p:sp>
      <p:sp>
        <p:nvSpPr>
          <p:cNvPr id="6" name="Shape 4"/>
          <p:cNvSpPr/>
          <p:nvPr/>
        </p:nvSpPr>
        <p:spPr>
          <a:xfrm>
            <a:off x="6126480" y="1371600"/>
            <a:ext cx="5440680" cy="1005840"/>
          </a:xfrm>
          <a:prstGeom prst="rect">
            <a:avLst/>
          </a:prstGeom>
          <a:solidFill>
            <a:schemeClr val="bg1"/>
          </a:solidFill>
          <a:ln w="19050">
            <a:solidFill>
              <a:schemeClr val="tx1"/>
            </a:solidFill>
            <a:prstDash val="solid"/>
          </a:ln>
        </p:spPr>
      </p:sp>
      <p:sp>
        <p:nvSpPr>
          <p:cNvPr id="7" name="Text 5"/>
          <p:cNvSpPr txBox="1"/>
          <p:nvPr/>
        </p:nvSpPr>
        <p:spPr>
          <a:xfrm>
            <a:off x="6309360" y="1463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Ouvrir</a:t>
            </a:r>
            <a:endParaRPr lang="en-US" sz="1500" dirty="0"/>
          </a:p>
        </p:txBody>
      </p:sp>
      <p:sp>
        <p:nvSpPr>
          <p:cNvPr id="8" name="Text 6"/>
          <p:cNvSpPr txBox="1"/>
          <p:nvPr/>
        </p:nvSpPr>
        <p:spPr>
          <a:xfrm>
            <a:off x="8046720" y="1463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Qu'est-ce qui pourrait te faire changer d'idée? »</a:t>
            </a:r>
            <a:endParaRPr lang="en-US" sz="1500" dirty="0"/>
          </a:p>
        </p:txBody>
      </p:sp>
      <p:sp>
        <p:nvSpPr>
          <p:cNvPr id="9" name="Shape 7"/>
          <p:cNvSpPr/>
          <p:nvPr/>
        </p:nvSpPr>
        <p:spPr>
          <a:xfrm>
            <a:off x="548640" y="2514600"/>
            <a:ext cx="5440680" cy="1005840"/>
          </a:xfrm>
          <a:prstGeom prst="rect">
            <a:avLst/>
          </a:prstGeom>
          <a:solidFill>
            <a:schemeClr val="bg1"/>
          </a:solidFill>
          <a:ln w="19050">
            <a:solidFill>
              <a:schemeClr val="tx1"/>
            </a:solidFill>
            <a:prstDash val="solid"/>
          </a:ln>
        </p:spPr>
      </p:sp>
      <p:sp>
        <p:nvSpPr>
          <p:cNvPr id="10" name="Text 8"/>
          <p:cNvSpPr txBox="1"/>
          <p:nvPr/>
        </p:nvSpPr>
        <p:spPr>
          <a:xfrm>
            <a:off x="731520" y="2606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Cartographier</a:t>
            </a:r>
            <a:endParaRPr lang="en-US" sz="1500" dirty="0"/>
          </a:p>
        </p:txBody>
      </p:sp>
      <p:sp>
        <p:nvSpPr>
          <p:cNvPr id="11" name="Text 9"/>
          <p:cNvSpPr txBox="1"/>
          <p:nvPr/>
        </p:nvSpPr>
        <p:spPr>
          <a:xfrm>
            <a:off x="2468880" y="2606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On est d'accord sur ___. On diffère sur ___. »</a:t>
            </a:r>
            <a:endParaRPr lang="en-US" sz="1500" dirty="0"/>
          </a:p>
        </p:txBody>
      </p:sp>
      <p:sp>
        <p:nvSpPr>
          <p:cNvPr id="12" name="Shape 10"/>
          <p:cNvSpPr/>
          <p:nvPr/>
        </p:nvSpPr>
        <p:spPr>
          <a:xfrm>
            <a:off x="6126480" y="2514600"/>
            <a:ext cx="5440680" cy="1005840"/>
          </a:xfrm>
          <a:prstGeom prst="rect">
            <a:avLst/>
          </a:prstGeom>
          <a:solidFill>
            <a:schemeClr val="bg1"/>
          </a:solidFill>
          <a:ln w="19050">
            <a:solidFill>
              <a:schemeClr val="tx1"/>
            </a:solidFill>
            <a:prstDash val="solid"/>
          </a:ln>
        </p:spPr>
      </p:sp>
      <p:sp>
        <p:nvSpPr>
          <p:cNvPr id="13" name="Text 11"/>
          <p:cNvSpPr txBox="1"/>
          <p:nvPr/>
        </p:nvSpPr>
        <p:spPr>
          <a:xfrm>
            <a:off x="6309360" y="2606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Reconnaître</a:t>
            </a:r>
            <a:endParaRPr lang="en-US" sz="1500" dirty="0"/>
          </a:p>
        </p:txBody>
      </p:sp>
      <p:sp>
        <p:nvSpPr>
          <p:cNvPr id="14" name="Text 12"/>
          <p:cNvSpPr txBox="1"/>
          <p:nvPr/>
        </p:nvSpPr>
        <p:spPr>
          <a:xfrm>
            <a:off x="8046720" y="2606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Bon point. Je n'y avais pas pensé. »</a:t>
            </a:r>
            <a:endParaRPr lang="en-US" sz="1500" dirty="0"/>
          </a:p>
        </p:txBody>
      </p:sp>
      <p:sp>
        <p:nvSpPr>
          <p:cNvPr id="15" name="Shape 13"/>
          <p:cNvSpPr/>
          <p:nvPr/>
        </p:nvSpPr>
        <p:spPr>
          <a:xfrm>
            <a:off x="548640" y="3657600"/>
            <a:ext cx="5440680" cy="1005840"/>
          </a:xfrm>
          <a:prstGeom prst="rect">
            <a:avLst/>
          </a:prstGeom>
          <a:solidFill>
            <a:schemeClr val="bg1"/>
          </a:solidFill>
          <a:ln w="19050">
            <a:solidFill>
              <a:schemeClr val="tx1"/>
            </a:solidFill>
            <a:prstDash val="solid"/>
          </a:ln>
        </p:spPr>
      </p:sp>
      <p:sp>
        <p:nvSpPr>
          <p:cNvPr id="16" name="Text 14"/>
          <p:cNvSpPr txBox="1"/>
          <p:nvPr/>
        </p:nvSpPr>
        <p:spPr>
          <a:xfrm>
            <a:off x="731520" y="3749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S'opposer</a:t>
            </a:r>
            <a:endParaRPr lang="en-US" sz="1500" dirty="0"/>
          </a:p>
        </p:txBody>
      </p:sp>
      <p:sp>
        <p:nvSpPr>
          <p:cNvPr id="17" name="Text 15"/>
          <p:cNvSpPr txBox="1"/>
          <p:nvPr/>
        </p:nvSpPr>
        <p:spPr>
          <a:xfrm>
            <a:off x="2468880" y="3749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Je vois ça autrement. Je t'explique? »</a:t>
            </a:r>
            <a:endParaRPr lang="en-US" sz="1500" dirty="0"/>
          </a:p>
        </p:txBody>
      </p:sp>
      <p:sp>
        <p:nvSpPr>
          <p:cNvPr id="18" name="Shape 16"/>
          <p:cNvSpPr/>
          <p:nvPr/>
        </p:nvSpPr>
        <p:spPr>
          <a:xfrm>
            <a:off x="6126480" y="3657600"/>
            <a:ext cx="5440680" cy="1005840"/>
          </a:xfrm>
          <a:prstGeom prst="rect">
            <a:avLst/>
          </a:prstGeom>
          <a:solidFill>
            <a:schemeClr val="bg1"/>
          </a:solidFill>
          <a:ln w="19050">
            <a:solidFill>
              <a:schemeClr val="tx1"/>
            </a:solidFill>
            <a:prstDash val="solid"/>
          </a:ln>
        </p:spPr>
      </p:sp>
      <p:sp>
        <p:nvSpPr>
          <p:cNvPr id="19" name="Text 17"/>
          <p:cNvSpPr txBox="1"/>
          <p:nvPr/>
        </p:nvSpPr>
        <p:spPr>
          <a:xfrm>
            <a:off x="6309360" y="3749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Sonder</a:t>
            </a:r>
            <a:endParaRPr lang="en-US" sz="1500" dirty="0"/>
          </a:p>
        </p:txBody>
      </p:sp>
      <p:sp>
        <p:nvSpPr>
          <p:cNvPr id="20" name="Text 18"/>
          <p:cNvSpPr txBox="1"/>
          <p:nvPr/>
        </p:nvSpPr>
        <p:spPr>
          <a:xfrm>
            <a:off x="8046720" y="3749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Sur quoi tu t'appuies? Ça m'intéresse. »</a:t>
            </a:r>
            <a:endParaRPr lang="en-US" sz="1500" dirty="0"/>
          </a:p>
        </p:txBody>
      </p:sp>
      <p:sp>
        <p:nvSpPr>
          <p:cNvPr id="21" name="Shape 19"/>
          <p:cNvSpPr/>
          <p:nvPr/>
        </p:nvSpPr>
        <p:spPr>
          <a:xfrm>
            <a:off x="548640" y="4800600"/>
            <a:ext cx="5440680" cy="1005840"/>
          </a:xfrm>
          <a:prstGeom prst="rect">
            <a:avLst/>
          </a:prstGeom>
          <a:solidFill>
            <a:schemeClr val="bg1"/>
          </a:solidFill>
          <a:ln w="19050">
            <a:solidFill>
              <a:schemeClr val="tx1"/>
            </a:solidFill>
            <a:prstDash val="solid"/>
          </a:ln>
        </p:spPr>
      </p:sp>
      <p:sp>
        <p:nvSpPr>
          <p:cNvPr id="22" name="Text 20"/>
          <p:cNvSpPr txBox="1"/>
          <p:nvPr/>
        </p:nvSpPr>
        <p:spPr>
          <a:xfrm>
            <a:off x="731520" y="4892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Ralentir</a:t>
            </a:r>
            <a:endParaRPr lang="en-US" sz="1500" dirty="0"/>
          </a:p>
        </p:txBody>
      </p:sp>
      <p:sp>
        <p:nvSpPr>
          <p:cNvPr id="23" name="Text 21"/>
          <p:cNvSpPr txBox="1"/>
          <p:nvPr/>
        </p:nvSpPr>
        <p:spPr>
          <a:xfrm>
            <a:off x="2468880" y="4892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Je sens que ça monte. On prend 10 secondes? »</a:t>
            </a:r>
            <a:endParaRPr lang="en-US" sz="1500" dirty="0"/>
          </a:p>
        </p:txBody>
      </p:sp>
      <p:sp>
        <p:nvSpPr>
          <p:cNvPr id="24" name="Shape 22"/>
          <p:cNvSpPr/>
          <p:nvPr/>
        </p:nvSpPr>
        <p:spPr>
          <a:xfrm>
            <a:off x="6126480" y="4800600"/>
            <a:ext cx="5440680" cy="1005840"/>
          </a:xfrm>
          <a:prstGeom prst="rect">
            <a:avLst/>
          </a:prstGeom>
          <a:solidFill>
            <a:schemeClr val="accent2"/>
          </a:solidFill>
          <a:ln w="19050">
            <a:solidFill>
              <a:schemeClr val="tx1"/>
            </a:solidFill>
            <a:prstDash val="solid"/>
          </a:ln>
        </p:spPr>
      </p:sp>
      <p:sp>
        <p:nvSpPr>
          <p:cNvPr id="25" name="Text 23"/>
          <p:cNvSpPr txBox="1"/>
          <p:nvPr/>
        </p:nvSpPr>
        <p:spPr>
          <a:xfrm>
            <a:off x="6309360" y="4892040"/>
            <a:ext cx="1737360" cy="822960"/>
          </a:xfrm>
          <a:prstGeom prst="rect">
            <a:avLst/>
          </a:prstGeom>
          <a:noFill/>
          <a:ln/>
        </p:spPr>
        <p:txBody>
          <a:bodyPr wrap="square" lIns="0" tIns="0" rIns="0" bIns="0" rtlCol="0" anchor="ctr"/>
          <a:lstStyle/>
          <a:p>
            <a:pPr indent="0" marL="0">
              <a:buNone/>
            </a:pPr>
            <a:r>
              <a:rPr lang="en-US" sz="1500" dirty="0">
                <a:solidFill>
                  <a:schemeClr val="accent1"/>
                </a:solidFill>
                <a:latin typeface="Rockwell Extra Bold" pitchFamily="34" charset="0"/>
                <a:ea typeface="Rockwell Extra Bold" pitchFamily="34" charset="-122"/>
                <a:cs typeface="Rockwell Extra Bold" pitchFamily="34" charset="-120"/>
              </a:rPr>
              <a:t>Céder</a:t>
            </a:r>
            <a:endParaRPr lang="en-US" sz="1500" dirty="0"/>
          </a:p>
        </p:txBody>
      </p:sp>
      <p:sp>
        <p:nvSpPr>
          <p:cNvPr id="26" name="Text 24"/>
          <p:cNvSpPr txBox="1"/>
          <p:nvPr/>
        </p:nvSpPr>
        <p:spPr>
          <a:xfrm>
            <a:off x="8046720" y="4892040"/>
            <a:ext cx="3383280" cy="822960"/>
          </a:xfrm>
          <a:prstGeom prst="rect">
            <a:avLst/>
          </a:prstGeom>
          <a:noFill/>
          <a:ln/>
        </p:spPr>
        <p:txBody>
          <a:bodyPr wrap="square" lIns="0" tIns="0" rIns="0" bIns="0" rtlCol="0" anchor="ctr"/>
          <a:lstStyle/>
          <a:p>
            <a:pPr indent="0" marL="0">
              <a:buNone/>
            </a:pPr>
            <a:r>
              <a:rPr lang="en-US" sz="1500" dirty="0">
                <a:solidFill>
                  <a:schemeClr val="tx1"/>
                </a:solidFill>
                <a:latin typeface="Arial" pitchFamily="34" charset="0"/>
                <a:ea typeface="Arial" pitchFamily="34" charset="-122"/>
                <a:cs typeface="Arial" pitchFamily="34" charset="-120"/>
              </a:rPr>
              <a:t>« Je pense que j'avais tort sur ce bout-là. »</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p:bldP spid="8" grpId="0"/>
      <p:bldP spid="10" grpId="0"/>
      <p:bldP spid="11" grpId="0"/>
      <p:bldP spid="13" grpId="0"/>
      <p:bldP spid="14" grpId="0"/>
      <p:bldP spid="16" grpId="0"/>
      <p:bldP spid="17" grpId="0"/>
      <p:bldP spid="19" grpId="0"/>
      <p:bldP spid="20" grpId="0"/>
      <p:bldP spid="22" grpId="0"/>
      <p:bldP spid="23" grpId="0"/>
      <p:bldP spid="25" grpId="0"/>
      <p:bldP spid="26" grpId="0"/>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57200" y="274320"/>
            <a:ext cx="4572000" cy="2926080"/>
          </a:xfrm>
          <a:prstGeom prst="rect">
            <a:avLst/>
          </a:prstGeom>
          <a:noFill/>
          <a:ln/>
        </p:spPr>
        <p:txBody>
          <a:bodyPr wrap="square" lIns="0" tIns="0" rIns="0" bIns="0" rtlCol="0" anchor="t"/>
          <a:lstStyle/>
          <a:p>
            <a:pPr indent="0" marL="0">
              <a:buNone/>
            </a:pPr>
            <a:r>
              <a:rPr lang="en-US" sz="20000" dirty="0">
                <a:solidFill>
                  <a:schemeClr val="tx1"/>
                </a:solidFill>
                <a:latin typeface="Rockwell Extra Bold" pitchFamily="34" charset="0"/>
                <a:ea typeface="Rockwell Extra Bold" pitchFamily="34" charset="-122"/>
                <a:cs typeface="Rockwell Extra Bold" pitchFamily="34" charset="-120"/>
              </a:rPr>
              <a:t>5</a:t>
            </a:r>
            <a:endParaRPr lang="en-US" sz="20000" dirty="0"/>
          </a:p>
        </p:txBody>
      </p:sp>
      <p:sp>
        <p:nvSpPr>
          <p:cNvPr id="3" name="Text 0"/>
          <p:cNvSpPr/>
          <p:nvPr>
            <p:ph idx="100" type="title" hasCustomPrompt="1"/>
          </p:nvPr>
        </p:nvSpPr>
        <p:spPr>
          <a:xfrm>
            <a:off x="548640" y="3291840"/>
            <a:ext cx="7498080" cy="2194560"/>
          </a:xfrm>
          <a:prstGeom prst="rect">
            <a:avLst/>
          </a:prstGeom>
          <a:noFill/>
          <a:ln/>
        </p:spPr>
        <p:txBody>
          <a:bodyPr wrap="square" lIns="0" tIns="0" rIns="0" bIns="0" rtlCol="0" anchor="t"/>
          <a:lstStyle/>
          <a:p>
            <a:pPr algn="l" indent="0" marL="0">
              <a:buNone/>
            </a:pPr>
            <a:r>
              <a:rPr lang="en-US" sz="5400" dirty="0">
                <a:solidFill>
                  <a:schemeClr val="bg2"/>
                </a:solidFill>
              </a:rPr>
              <a:t>Repartir avec</a:t>
            </a:r>
            <a:endParaRPr lang="en-US" sz="5400" dirty="0"/>
          </a:p>
        </p:txBody>
      </p:sp>
      <p:sp>
        <p:nvSpPr>
          <p:cNvPr id="4" name="Text 0"/>
          <p:cNvSpPr/>
          <p:nvPr>
            <p:ph idx="101" type="body" hasCustomPrompt="1"/>
          </p:nvPr>
        </p:nvSpPr>
        <p:spPr>
          <a:xfrm>
            <a:off x="548640" y="5486400"/>
            <a:ext cx="7498080" cy="731520"/>
          </a:xfrm>
          <a:prstGeom prst="rect">
            <a:avLst/>
          </a:prstGeom>
          <a:noFill/>
          <a:ln/>
        </p:spPr>
        <p:txBody>
          <a:bodyPr wrap="square" lIns="0" tIns="0" rIns="0" bIns="0" rtlCol="0"/>
          <a:lstStyle/>
          <a:p>
            <a:pPr indent="0" marL="0">
              <a:buNone/>
            </a:pPr>
            <a:r>
              <a:rPr lang="en-US" sz="1800" dirty="0">
                <a:solidFill>
                  <a:schemeClr val="bg2"/>
                </a:solidFill>
              </a:rPr>
              <a:t>Un objet à garder, une relation à mettre à jour</a:t>
            </a:r>
            <a:endParaRPr lang="en-US" sz="1800" dirty="0"/>
          </a:p>
        </p:txBody>
      </p:sp>
      <p:pic>
        <p:nvPicPr>
          <p:cNvPr id="5" name="silhouette" descr="preencoded.png">    </p:cNvPr>
          <p:cNvPicPr>
            <a:picLocks noChangeAspect="1"/>
          </p:cNvPicPr>
          <p:nvPr/>
        </p:nvPicPr>
        <p:blipFill>
          <a:blip r:embed="rId1"/>
          <a:stretch>
            <a:fillRect/>
          </a:stretch>
        </p:blipFill>
        <p:spPr>
          <a:xfrm>
            <a:off x="8138160" y="914400"/>
            <a:ext cx="3566160" cy="4297680"/>
          </a:xfrm>
          <a:prstGeom prst="rect">
            <a:avLst/>
          </a:prstGeom>
        </p:spPr>
      </p:pic>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450" fill="hold"/>
                                  <p:tgtEl>
                                    <p:spTgt spid="2"/>
                                  </p:tgtEl>
                                  <p:attrNameLst>
                                    <p:attrName>ppt_w</p:attrName>
                                  </p:attrNameLst>
                                </p:cBhvr>
                                <p:tavLst>
                                  <p:tav tm="0">
                                    <p:val>
                                      <p:strVal val="#ppt_w*0.85"/>
                                    </p:val>
                                  </p:tav>
                                  <p:tav tm="100000">
                                    <p:val>
                                      <p:strVal val="#ppt_w"/>
                                    </p:val>
                                  </p:tav>
                                </p:tavLst>
                              </p:anim>
                              <p:animEffect transition="in" filter="fade">
                                <p:cBhvr>
                                  <p:cTn id="7" dur="450"/>
                                  <p:tgtEl>
                                    <p:spTgt spid="2"/>
                                  </p:tgtEl>
                                </p:cBhvr>
                              </p:animEffect>
                            </p:childTnLst>
                          </p:cTn>
                        </p:par>
                        <p:par>
                          <p:cTn id="8" presetID="53" presetClass="entr" presetSubtype="16" fill="hold" nodeType="withEffect">
                            <p:stCondLst>
                              <p:cond delay="140"/>
                            </p:stCondLst>
                            <p:childTnLst>
                              <p:set>
                                <p:cBhvr>
                                  <p:cTn id="9" dur="1" fill="hold">
                                    <p:stCondLst>
                                      <p:cond delay="0"/>
                                    </p:stCondLst>
                                  </p:cTn>
                                  <p:tgtEl>
                                    <p:spTgt spid="5"/>
                                  </p:tgtEl>
                                  <p:attrNameLst>
                                    <p:attrName>style.visibility</p:attrName>
                                  </p:attrNameLst>
                                </p:cBhvr>
                                <p:to>
                                  <p:strVal val="visible"/>
                                </p:to>
                              </p:set>
                              <p:anim calcmode="lin" valueType="num">
                                <p:cBhvr>
                                  <p:cTn id="10" dur="450" fill="hold"/>
                                  <p:tgtEl>
                                    <p:spTgt spid="5"/>
                                  </p:tgtEl>
                                  <p:attrNameLst>
                                    <p:attrName>ppt_w</p:attrName>
                                  </p:attrNameLst>
                                </p:cBhvr>
                                <p:tavLst>
                                  <p:tav tm="0">
                                    <p:val>
                                      <p:strVal val="#ppt_w*0.85"/>
                                    </p:val>
                                  </p:tav>
                                  <p:tav tm="100000">
                                    <p:val>
                                      <p:strVal val="#ppt_w"/>
                                    </p:val>
                                  </p:tav>
                                </p:tavLst>
                              </p:anim>
                              <p:animEffect transition="in" filter="fade">
                                <p:cBhvr>
                                  <p:cTn id="11" dur="450"/>
                                  <p:tgtEl>
                                    <p:spTgt spid="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Le talisman</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15 min</a:t>
            </a:r>
            <a:endParaRPr lang="en-US" sz="1400" dirty="0"/>
          </a:p>
        </p:txBody>
      </p:sp>
      <p:sp>
        <p:nvSpPr>
          <p:cNvPr id="5" name="Shape 3"/>
          <p:cNvSpPr/>
          <p:nvPr/>
        </p:nvSpPr>
        <p:spPr>
          <a:xfrm>
            <a:off x="822960" y="1371600"/>
            <a:ext cx="4206240" cy="4206240"/>
          </a:xfrm>
          <a:prstGeom prst="ellipse">
            <a:avLst/>
          </a:prstGeom>
          <a:solidFill>
            <a:schemeClr val="bg1"/>
          </a:solidFill>
          <a:ln w="38100">
            <a:solidFill>
              <a:schemeClr val="tx1"/>
            </a:solidFill>
            <a:prstDash val="dash"/>
          </a:ln>
        </p:spPr>
      </p:sp>
      <p:sp>
        <p:nvSpPr>
          <p:cNvPr id="6" name="Shape 4"/>
          <p:cNvSpPr/>
          <p:nvPr/>
        </p:nvSpPr>
        <p:spPr>
          <a:xfrm>
            <a:off x="1737360" y="1828800"/>
            <a:ext cx="2377440" cy="1828800"/>
          </a:xfrm>
          <a:prstGeom prst="ellipse">
            <a:avLst/>
          </a:prstGeom>
          <a:solidFill>
            <a:schemeClr val="bg1"/>
          </a:solidFill>
          <a:ln w="12700">
            <a:solidFill>
              <a:schemeClr val="tx2"/>
            </a:solidFill>
            <a:prstDash val="sysDot"/>
          </a:ln>
        </p:spPr>
      </p:sp>
      <p:pic>
        <p:nvPicPr>
          <p:cNvPr id="7" name="Image 0" descr="preencoded.png">    </p:cNvPr>
          <p:cNvPicPr>
            <a:picLocks noChangeAspect="1"/>
          </p:cNvPicPr>
          <p:nvPr/>
        </p:nvPicPr>
        <p:blipFill>
          <a:blip r:embed="rId1"/>
          <a:stretch>
            <a:fillRect/>
          </a:stretch>
        </p:blipFill>
        <p:spPr>
          <a:xfrm>
            <a:off x="2423160" y="1920240"/>
            <a:ext cx="1005840" cy="1234440"/>
          </a:xfrm>
          <a:prstGeom prst="rect">
            <a:avLst/>
          </a:prstGeom>
        </p:spPr>
      </p:pic>
      <p:sp>
        <p:nvSpPr>
          <p:cNvPr id="8" name="Shape 5"/>
          <p:cNvSpPr/>
          <p:nvPr/>
        </p:nvSpPr>
        <p:spPr>
          <a:xfrm>
            <a:off x="1463040" y="4343400"/>
            <a:ext cx="2926080" cy="0"/>
          </a:xfrm>
          <a:prstGeom prst="line">
            <a:avLst/>
          </a:prstGeom>
          <a:noFill/>
          <a:ln w="19050">
            <a:solidFill>
              <a:schemeClr val="tx1"/>
            </a:solidFill>
            <a:prstDash val="solid"/>
          </a:ln>
        </p:spPr>
      </p:sp>
      <p:sp>
        <p:nvSpPr>
          <p:cNvPr id="9" name="Text 6"/>
          <p:cNvSpPr txBox="1"/>
          <p:nvPr/>
        </p:nvSpPr>
        <p:spPr>
          <a:xfrm>
            <a:off x="1280160" y="3886200"/>
            <a:ext cx="3291840" cy="411480"/>
          </a:xfrm>
          <a:prstGeom prst="rect">
            <a:avLst/>
          </a:prstGeom>
          <a:noFill/>
          <a:ln/>
        </p:spPr>
        <p:txBody>
          <a:bodyPr wrap="square" lIns="0" tIns="0" rIns="0" bIns="0" rtlCol="0" anchor="t"/>
          <a:lstStyle/>
          <a:p>
            <a:pPr algn="ctr" indent="0" marL="0">
              <a:buNone/>
            </a:pPr>
            <a:r>
              <a:rPr lang="en-US" sz="1500" i="1" dirty="0">
                <a:solidFill>
                  <a:schemeClr val="tx1"/>
                </a:solidFill>
                <a:latin typeface="Arial" pitchFamily="34" charset="0"/>
                <a:ea typeface="Arial" pitchFamily="34" charset="-122"/>
                <a:cs typeface="Arial" pitchFamily="34" charset="-120"/>
              </a:rPr>
              <a:t>« Je t'écoute jusqu'au bout. »</a:t>
            </a:r>
            <a:endParaRPr lang="en-US" sz="1500" dirty="0"/>
          </a:p>
        </p:txBody>
      </p:sp>
      <p:sp>
        <p:nvSpPr>
          <p:cNvPr id="10" name="Shape 7"/>
          <p:cNvSpPr/>
          <p:nvPr/>
        </p:nvSpPr>
        <p:spPr>
          <a:xfrm>
            <a:off x="5669280" y="1371600"/>
            <a:ext cx="548640" cy="548640"/>
          </a:xfrm>
          <a:prstGeom prst="ellipse">
            <a:avLst/>
          </a:prstGeom>
          <a:solidFill>
            <a:schemeClr val="accent1"/>
          </a:solidFill>
          <a:ln w="19050">
            <a:solidFill>
              <a:schemeClr val="tx1"/>
            </a:solidFill>
            <a:prstDash val="solid"/>
          </a:ln>
        </p:spPr>
      </p:sp>
      <p:sp>
        <p:nvSpPr>
          <p:cNvPr id="11" name="Text 8"/>
          <p:cNvSpPr txBox="1"/>
          <p:nvPr/>
        </p:nvSpPr>
        <p:spPr>
          <a:xfrm>
            <a:off x="5669280" y="13716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12" name="Text 9"/>
          <p:cNvSpPr txBox="1"/>
          <p:nvPr/>
        </p:nvSpPr>
        <p:spPr>
          <a:xfrm>
            <a:off x="6400800" y="1353312"/>
            <a:ext cx="521208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Choisis ta phrase-bouclier</a:t>
            </a:r>
            <a:endParaRPr lang="en-US" sz="1800" dirty="0"/>
          </a:p>
        </p:txBody>
      </p:sp>
      <p:sp>
        <p:nvSpPr>
          <p:cNvPr id="13" name="Text 10"/>
          <p:cNvSpPr txBox="1"/>
          <p:nvPr/>
        </p:nvSpPr>
        <p:spPr>
          <a:xfrm>
            <a:off x="6400800" y="1755648"/>
            <a:ext cx="5212080" cy="5486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Celle qui te protège de ta créature sous stress.</a:t>
            </a:r>
            <a:endParaRPr lang="en-US" sz="1500" dirty="0"/>
          </a:p>
        </p:txBody>
      </p:sp>
      <p:sp>
        <p:nvSpPr>
          <p:cNvPr id="14" name="Shape 11"/>
          <p:cNvSpPr/>
          <p:nvPr/>
        </p:nvSpPr>
        <p:spPr>
          <a:xfrm>
            <a:off x="5669280" y="2441448"/>
            <a:ext cx="548640" cy="548640"/>
          </a:xfrm>
          <a:prstGeom prst="ellipse">
            <a:avLst/>
          </a:prstGeom>
          <a:solidFill>
            <a:schemeClr val="accent1"/>
          </a:solidFill>
          <a:ln w="19050">
            <a:solidFill>
              <a:schemeClr val="tx1"/>
            </a:solidFill>
            <a:prstDash val="solid"/>
          </a:ln>
        </p:spPr>
      </p:sp>
      <p:sp>
        <p:nvSpPr>
          <p:cNvPr id="15" name="Text 12"/>
          <p:cNvSpPr txBox="1"/>
          <p:nvPr/>
        </p:nvSpPr>
        <p:spPr>
          <a:xfrm>
            <a:off x="5669280" y="2441448"/>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16" name="Text 13"/>
          <p:cNvSpPr txBox="1"/>
          <p:nvPr/>
        </p:nvSpPr>
        <p:spPr>
          <a:xfrm>
            <a:off x="6400800" y="2423160"/>
            <a:ext cx="521208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Dessine un symbole</a:t>
            </a:r>
            <a:endParaRPr lang="en-US" sz="1800" dirty="0"/>
          </a:p>
        </p:txBody>
      </p:sp>
      <p:sp>
        <p:nvSpPr>
          <p:cNvPr id="17" name="Text 14"/>
          <p:cNvSpPr txBox="1"/>
          <p:nvPr/>
        </p:nvSpPr>
        <p:spPr>
          <a:xfrm>
            <a:off x="6400800" y="2825496"/>
            <a:ext cx="5212080" cy="5486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60 secondes. Simple, à toi.</a:t>
            </a:r>
            <a:endParaRPr lang="en-US" sz="1500" dirty="0"/>
          </a:p>
        </p:txBody>
      </p:sp>
      <p:sp>
        <p:nvSpPr>
          <p:cNvPr id="18" name="Shape 15"/>
          <p:cNvSpPr/>
          <p:nvPr/>
        </p:nvSpPr>
        <p:spPr>
          <a:xfrm>
            <a:off x="5669280" y="3511296"/>
            <a:ext cx="548640" cy="548640"/>
          </a:xfrm>
          <a:prstGeom prst="ellipse">
            <a:avLst/>
          </a:prstGeom>
          <a:solidFill>
            <a:schemeClr val="accent1"/>
          </a:solidFill>
          <a:ln w="19050">
            <a:solidFill>
              <a:schemeClr val="tx1"/>
            </a:solidFill>
            <a:prstDash val="solid"/>
          </a:ln>
        </p:spPr>
      </p:sp>
      <p:sp>
        <p:nvSpPr>
          <p:cNvPr id="19" name="Text 16"/>
          <p:cNvSpPr txBox="1"/>
          <p:nvPr/>
        </p:nvSpPr>
        <p:spPr>
          <a:xfrm>
            <a:off x="5669280" y="3511296"/>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3</a:t>
            </a:r>
            <a:endParaRPr lang="en-US" sz="2000" dirty="0"/>
          </a:p>
        </p:txBody>
      </p:sp>
      <p:sp>
        <p:nvSpPr>
          <p:cNvPr id="20" name="Text 17"/>
          <p:cNvSpPr txBox="1"/>
          <p:nvPr/>
        </p:nvSpPr>
        <p:spPr>
          <a:xfrm>
            <a:off x="6400800" y="3493008"/>
            <a:ext cx="521208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Découpe, garde-le sur toi</a:t>
            </a:r>
            <a:endParaRPr lang="en-US" sz="1800" dirty="0"/>
          </a:p>
        </p:txBody>
      </p:sp>
      <p:sp>
        <p:nvSpPr>
          <p:cNvPr id="21" name="Text 18"/>
          <p:cNvSpPr txBox="1"/>
          <p:nvPr/>
        </p:nvSpPr>
        <p:spPr>
          <a:xfrm>
            <a:off x="6400800" y="3895344"/>
            <a:ext cx="5212080" cy="5486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Portefeuille, étui de téléphone, ficelle.</a:t>
            </a:r>
            <a:endParaRPr lang="en-US" sz="1500" dirty="0"/>
          </a:p>
        </p:txBody>
      </p:sp>
      <p:sp>
        <p:nvSpPr>
          <p:cNvPr id="22" name="Shape 19"/>
          <p:cNvSpPr/>
          <p:nvPr/>
        </p:nvSpPr>
        <p:spPr>
          <a:xfrm>
            <a:off x="5669280" y="4581144"/>
            <a:ext cx="548640" cy="548640"/>
          </a:xfrm>
          <a:prstGeom prst="ellipse">
            <a:avLst/>
          </a:prstGeom>
          <a:solidFill>
            <a:schemeClr val="accent2"/>
          </a:solidFill>
          <a:ln w="19050">
            <a:solidFill>
              <a:schemeClr val="tx1"/>
            </a:solidFill>
            <a:prstDash val="solid"/>
          </a:ln>
        </p:spPr>
      </p:sp>
      <p:sp>
        <p:nvSpPr>
          <p:cNvPr id="23" name="Text 20"/>
          <p:cNvSpPr txBox="1"/>
          <p:nvPr/>
        </p:nvSpPr>
        <p:spPr>
          <a:xfrm>
            <a:off x="5669280" y="4581144"/>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4</a:t>
            </a:r>
            <a:endParaRPr lang="en-US" sz="2000" dirty="0"/>
          </a:p>
        </p:txBody>
      </p:sp>
      <p:sp>
        <p:nvSpPr>
          <p:cNvPr id="24" name="Text 21"/>
          <p:cNvSpPr txBox="1"/>
          <p:nvPr/>
        </p:nvSpPr>
        <p:spPr>
          <a:xfrm>
            <a:off x="6400800" y="4562856"/>
            <a:ext cx="5212080" cy="411480"/>
          </a:xfrm>
          <a:prstGeom prst="rect">
            <a:avLst/>
          </a:prstGeom>
          <a:noFill/>
          <a:ln/>
        </p:spPr>
        <p:txBody>
          <a:bodyPr wrap="square" lIns="0" tIns="0" rIns="0" bIns="0" rtlCol="0" anchor="t"/>
          <a:lstStyle/>
          <a:p>
            <a:pPr indent="0" marL="0">
              <a:buNone/>
            </a:pPr>
            <a:r>
              <a:rPr lang="en-US" sz="1800" dirty="0">
                <a:solidFill>
                  <a:schemeClr val="accent1"/>
                </a:solidFill>
                <a:latin typeface="Rockwell Extra Bold" pitchFamily="34" charset="0"/>
                <a:ea typeface="Rockwell Extra Bold" pitchFamily="34" charset="-122"/>
                <a:cs typeface="Rockwell Extra Bold" pitchFamily="34" charset="-120"/>
              </a:rPr>
              <a:t>Variante : offre-le</a:t>
            </a:r>
            <a:endParaRPr lang="en-US" sz="1800" dirty="0"/>
          </a:p>
        </p:txBody>
      </p:sp>
      <p:sp>
        <p:nvSpPr>
          <p:cNvPr id="25" name="Text 22"/>
          <p:cNvSpPr txBox="1"/>
          <p:nvPr/>
        </p:nvSpPr>
        <p:spPr>
          <a:xfrm>
            <a:off x="6400800" y="4965192"/>
            <a:ext cx="5212080" cy="5486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Fais-en un pour ton partenaire, avec la phrase que tu l'as vu bien utiliser.</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9" grpId="0"/>
      <p:bldP spid="11" grpId="0"/>
      <p:bldP spid="12" grpId="0"/>
      <p:bldP spid="13" grpId="0"/>
      <p:bldP spid="15" grpId="0"/>
      <p:bldP spid="16" grpId="0"/>
      <p:bldP spid="17" grpId="0"/>
      <p:bldP spid="19" grpId="0"/>
      <p:bldP spid="20" grpId="0"/>
      <p:bldP spid="21" grpId="0"/>
      <p:bldP spid="23" grpId="0"/>
      <p:bldP spid="24" grpId="0"/>
      <p:bldP spid="25" grpId="0"/>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2"/>
                </a:solidFill>
              </a:rPr>
              <a:t>Mise à jour relationnelle</a:t>
            </a:r>
            <a:endParaRPr lang="en-US" sz="3600" dirty="0"/>
          </a:p>
        </p:txBody>
      </p:sp>
      <p:sp>
        <p:nvSpPr>
          <p:cNvPr id="3" name="Shape 1"/>
          <p:cNvSpPr/>
          <p:nvPr/>
        </p:nvSpPr>
        <p:spPr>
          <a:xfrm>
            <a:off x="9966960" y="411480"/>
            <a:ext cx="1645920" cy="457200"/>
          </a:xfrm>
          <a:prstGeom prst="roundRect">
            <a:avLst>
              <a:gd name="adj" fmla="val 50000"/>
            </a:avLst>
          </a:prstGeom>
          <a:solidFill>
            <a:schemeClr val="accent2"/>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tx1"/>
                </a:solidFill>
              </a:rPr>
              <a:t>⏱ 15 min</a:t>
            </a:r>
            <a:endParaRPr lang="en-US" sz="1400" dirty="0"/>
          </a:p>
        </p:txBody>
      </p:sp>
      <p:sp>
        <p:nvSpPr>
          <p:cNvPr id="5" name="Shape 3"/>
          <p:cNvSpPr/>
          <p:nvPr/>
        </p:nvSpPr>
        <p:spPr>
          <a:xfrm>
            <a:off x="548640" y="1371600"/>
            <a:ext cx="5486400" cy="4480560"/>
          </a:xfrm>
          <a:prstGeom prst="rect">
            <a:avLst/>
          </a:prstGeom>
          <a:solidFill>
            <a:schemeClr val="bg1"/>
          </a:solidFill>
          <a:ln w="25400">
            <a:solidFill>
              <a:schemeClr val="bg2"/>
            </a:solidFill>
            <a:prstDash val="solid"/>
          </a:ln>
        </p:spPr>
      </p:sp>
      <p:sp>
        <p:nvSpPr>
          <p:cNvPr id="6" name="Shape 4"/>
          <p:cNvSpPr/>
          <p:nvPr/>
        </p:nvSpPr>
        <p:spPr>
          <a:xfrm>
            <a:off x="548640" y="1371600"/>
            <a:ext cx="5486400" cy="411480"/>
          </a:xfrm>
          <a:prstGeom prst="rect">
            <a:avLst/>
          </a:prstGeom>
          <a:solidFill>
            <a:schemeClr val="accent2"/>
          </a:solidFill>
          <a:ln/>
        </p:spPr>
      </p:sp>
      <p:sp>
        <p:nvSpPr>
          <p:cNvPr id="7" name="Text 5"/>
          <p:cNvSpPr txBox="1"/>
          <p:nvPr/>
        </p:nvSpPr>
        <p:spPr>
          <a:xfrm>
            <a:off x="731520" y="1371600"/>
            <a:ext cx="5120640" cy="411480"/>
          </a:xfrm>
          <a:prstGeom prst="rect">
            <a:avLst/>
          </a:prstGeom>
          <a:noFill/>
          <a:ln/>
        </p:spPr>
        <p:txBody>
          <a:bodyPr wrap="square" lIns="0" tIns="0" rIns="0" bIns="0" rtlCol="0" anchor="ctr"/>
          <a:lstStyle/>
          <a:p>
            <a:pPr indent="0" marL="0">
              <a:buNone/>
            </a:pPr>
            <a:r>
              <a:rPr lang="en-US" sz="1400" b="1" dirty="0">
                <a:solidFill>
                  <a:schemeClr val="tx1"/>
                </a:solidFill>
                <a:latin typeface="Courier New" pitchFamily="34" charset="0"/>
                <a:ea typeface="Courier New" pitchFamily="34" charset="-122"/>
                <a:cs typeface="Courier New" pitchFamily="34" charset="-120"/>
              </a:rPr>
              <a:t>● ● ●   notes_de_version.txt</a:t>
            </a:r>
            <a:endParaRPr lang="en-US" sz="1400" dirty="0"/>
          </a:p>
        </p:txBody>
      </p:sp>
      <p:sp>
        <p:nvSpPr>
          <p:cNvPr id="8" name="Text 6"/>
          <p:cNvSpPr txBox="1"/>
          <p:nvPr/>
        </p:nvSpPr>
        <p:spPr>
          <a:xfrm>
            <a:off x="822960" y="1920240"/>
            <a:ext cx="493776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Relation v2.0</a:t>
            </a:r>
            <a:endParaRPr lang="en-US" sz="2200" dirty="0"/>
          </a:p>
        </p:txBody>
      </p:sp>
      <p:sp>
        <p:nvSpPr>
          <p:cNvPr id="9" name="Text 7"/>
          <p:cNvSpPr txBox="1"/>
          <p:nvPr/>
        </p:nvSpPr>
        <p:spPr>
          <a:xfrm>
            <a:off x="822960" y="2514600"/>
            <a:ext cx="4937760" cy="365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À :</a:t>
            </a:r>
            <a:endParaRPr lang="en-US" sz="1500" dirty="0"/>
          </a:p>
        </p:txBody>
      </p:sp>
      <p:sp>
        <p:nvSpPr>
          <p:cNvPr id="10" name="Shape 8"/>
          <p:cNvSpPr/>
          <p:nvPr/>
        </p:nvSpPr>
        <p:spPr>
          <a:xfrm>
            <a:off x="822960" y="2971800"/>
            <a:ext cx="4937760" cy="0"/>
          </a:xfrm>
          <a:prstGeom prst="line">
            <a:avLst/>
          </a:prstGeom>
          <a:noFill/>
          <a:ln w="12700">
            <a:solidFill>
              <a:schemeClr val="tx1"/>
            </a:solidFill>
            <a:prstDash val="solid"/>
          </a:ln>
        </p:spPr>
      </p:sp>
      <p:sp>
        <p:nvSpPr>
          <p:cNvPr id="11" name="Text 9"/>
          <p:cNvSpPr txBox="1"/>
          <p:nvPr/>
        </p:nvSpPr>
        <p:spPr>
          <a:xfrm>
            <a:off x="822960" y="3136392"/>
            <a:ext cx="4937760" cy="365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Correctif : j'arrête de…</a:t>
            </a:r>
            <a:endParaRPr lang="en-US" sz="1500" dirty="0"/>
          </a:p>
        </p:txBody>
      </p:sp>
      <p:sp>
        <p:nvSpPr>
          <p:cNvPr id="12" name="Shape 10"/>
          <p:cNvSpPr/>
          <p:nvPr/>
        </p:nvSpPr>
        <p:spPr>
          <a:xfrm>
            <a:off x="822960" y="3593592"/>
            <a:ext cx="4937760" cy="0"/>
          </a:xfrm>
          <a:prstGeom prst="line">
            <a:avLst/>
          </a:prstGeom>
          <a:noFill/>
          <a:ln w="12700">
            <a:solidFill>
              <a:schemeClr val="tx1"/>
            </a:solidFill>
            <a:prstDash val="solid"/>
          </a:ln>
        </p:spPr>
      </p:sp>
      <p:sp>
        <p:nvSpPr>
          <p:cNvPr id="13" name="Text 11"/>
          <p:cNvSpPr txBox="1"/>
          <p:nvPr/>
        </p:nvSpPr>
        <p:spPr>
          <a:xfrm>
            <a:off x="822960" y="3758184"/>
            <a:ext cx="4937760" cy="365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Nouveauté : je vais essayer…</a:t>
            </a:r>
            <a:endParaRPr lang="en-US" sz="1500" dirty="0"/>
          </a:p>
        </p:txBody>
      </p:sp>
      <p:sp>
        <p:nvSpPr>
          <p:cNvPr id="14" name="Shape 12"/>
          <p:cNvSpPr/>
          <p:nvPr/>
        </p:nvSpPr>
        <p:spPr>
          <a:xfrm>
            <a:off x="822960" y="4215384"/>
            <a:ext cx="4937760" cy="0"/>
          </a:xfrm>
          <a:prstGeom prst="line">
            <a:avLst/>
          </a:prstGeom>
          <a:noFill/>
          <a:ln w="12700">
            <a:solidFill>
              <a:schemeClr val="tx1"/>
            </a:solidFill>
            <a:prstDash val="solid"/>
          </a:ln>
        </p:spPr>
      </p:sp>
      <p:sp>
        <p:nvSpPr>
          <p:cNvPr id="15" name="Text 13"/>
          <p:cNvSpPr txBox="1"/>
          <p:nvPr/>
        </p:nvSpPr>
        <p:spPr>
          <a:xfrm>
            <a:off x="822960" y="4379976"/>
            <a:ext cx="4937760" cy="36576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Bogue connu :</a:t>
            </a:r>
            <a:endParaRPr lang="en-US" sz="1500" dirty="0"/>
          </a:p>
        </p:txBody>
      </p:sp>
      <p:sp>
        <p:nvSpPr>
          <p:cNvPr id="16" name="Shape 14"/>
          <p:cNvSpPr/>
          <p:nvPr/>
        </p:nvSpPr>
        <p:spPr>
          <a:xfrm>
            <a:off x="822960" y="4837176"/>
            <a:ext cx="4937760" cy="0"/>
          </a:xfrm>
          <a:prstGeom prst="line">
            <a:avLst/>
          </a:prstGeom>
          <a:noFill/>
          <a:ln w="12700">
            <a:solidFill>
              <a:schemeClr val="tx1"/>
            </a:solidFill>
            <a:prstDash val="solid"/>
          </a:ln>
        </p:spPr>
      </p:sp>
      <p:sp>
        <p:nvSpPr>
          <p:cNvPr id="17" name="Text 15"/>
          <p:cNvSpPr txBox="1"/>
          <p:nvPr/>
        </p:nvSpPr>
        <p:spPr>
          <a:xfrm>
            <a:off x="822960" y="5001768"/>
            <a:ext cx="4937760" cy="365760"/>
          </a:xfrm>
          <a:prstGeom prst="rect">
            <a:avLst/>
          </a:prstGeom>
          <a:noFill/>
          <a:ln/>
        </p:spPr>
        <p:txBody>
          <a:bodyPr wrap="square" lIns="0" tIns="0" rIns="0" bIns="0" rtlCol="0" anchor="t"/>
          <a:lstStyle/>
          <a:p>
            <a:pPr indent="0" marL="0">
              <a:buNone/>
            </a:pPr>
            <a:r>
              <a:rPr lang="en-US" sz="1500" b="1" dirty="0">
                <a:solidFill>
                  <a:schemeClr val="accent1"/>
                </a:solidFill>
                <a:latin typeface="Arial" pitchFamily="34" charset="0"/>
                <a:ea typeface="Arial" pitchFamily="34" charset="-122"/>
                <a:cs typeface="Arial" pitchFamily="34" charset="-120"/>
              </a:rPr>
              <a:t>Mise à jour demandée : je te demande…</a:t>
            </a:r>
            <a:endParaRPr lang="en-US" sz="1500" dirty="0"/>
          </a:p>
        </p:txBody>
      </p:sp>
      <p:sp>
        <p:nvSpPr>
          <p:cNvPr id="18" name="Shape 16"/>
          <p:cNvSpPr/>
          <p:nvPr/>
        </p:nvSpPr>
        <p:spPr>
          <a:xfrm>
            <a:off x="822960" y="5458968"/>
            <a:ext cx="4937760" cy="0"/>
          </a:xfrm>
          <a:prstGeom prst="line">
            <a:avLst/>
          </a:prstGeom>
          <a:noFill/>
          <a:ln w="12700">
            <a:solidFill>
              <a:schemeClr val="tx1"/>
            </a:solidFill>
            <a:prstDash val="solid"/>
          </a:ln>
        </p:spPr>
      </p:sp>
      <p:sp>
        <p:nvSpPr>
          <p:cNvPr id="19" name="Shape 17"/>
          <p:cNvSpPr/>
          <p:nvPr/>
        </p:nvSpPr>
        <p:spPr>
          <a:xfrm>
            <a:off x="6492240" y="1463040"/>
            <a:ext cx="548640" cy="548640"/>
          </a:xfrm>
          <a:prstGeom prst="ellipse">
            <a:avLst/>
          </a:prstGeom>
          <a:solidFill>
            <a:schemeClr val="accent1"/>
          </a:solidFill>
          <a:ln w="19050">
            <a:solidFill>
              <a:schemeClr val="tx1"/>
            </a:solidFill>
            <a:prstDash val="solid"/>
          </a:ln>
        </p:spPr>
      </p:sp>
      <p:sp>
        <p:nvSpPr>
          <p:cNvPr id="20" name="Text 18"/>
          <p:cNvSpPr txBox="1"/>
          <p:nvPr/>
        </p:nvSpPr>
        <p:spPr>
          <a:xfrm>
            <a:off x="6492240" y="146304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1</a:t>
            </a:r>
            <a:endParaRPr lang="en-US" sz="2000" dirty="0"/>
          </a:p>
        </p:txBody>
      </p:sp>
      <p:sp>
        <p:nvSpPr>
          <p:cNvPr id="21" name="Text 19"/>
          <p:cNvSpPr txBox="1"/>
          <p:nvPr/>
        </p:nvSpPr>
        <p:spPr>
          <a:xfrm>
            <a:off x="7223760" y="1417320"/>
            <a:ext cx="4389120" cy="822960"/>
          </a:xfrm>
          <a:prstGeom prst="rect">
            <a:avLst/>
          </a:prstGeom>
          <a:noFill/>
          <a:ln/>
        </p:spPr>
        <p:txBody>
          <a:bodyPr wrap="square" lIns="0" tIns="0" rIns="0" bIns="0" rtlCol="0" anchor="ctr"/>
          <a:lstStyle/>
          <a:p>
            <a:pPr indent="0" marL="0">
              <a:buNone/>
            </a:pPr>
            <a:r>
              <a:rPr lang="en-US" sz="1700" dirty="0">
                <a:solidFill>
                  <a:schemeClr val="bg2"/>
                </a:solidFill>
                <a:latin typeface="Arial" pitchFamily="34" charset="0"/>
                <a:ea typeface="Arial" pitchFamily="34" charset="-122"/>
                <a:cs typeface="Arial" pitchFamily="34" charset="-120"/>
              </a:rPr>
              <a:t>Pense à une personne avec qui un débat a mal tourné.</a:t>
            </a:r>
            <a:endParaRPr lang="en-US" sz="1700" dirty="0"/>
          </a:p>
        </p:txBody>
      </p:sp>
      <p:sp>
        <p:nvSpPr>
          <p:cNvPr id="22" name="Shape 20"/>
          <p:cNvSpPr/>
          <p:nvPr/>
        </p:nvSpPr>
        <p:spPr>
          <a:xfrm>
            <a:off x="6492240" y="2514600"/>
            <a:ext cx="548640" cy="548640"/>
          </a:xfrm>
          <a:prstGeom prst="ellipse">
            <a:avLst/>
          </a:prstGeom>
          <a:solidFill>
            <a:schemeClr val="accent1"/>
          </a:solidFill>
          <a:ln w="19050">
            <a:solidFill>
              <a:schemeClr val="tx1"/>
            </a:solidFill>
            <a:prstDash val="solid"/>
          </a:ln>
        </p:spPr>
      </p:sp>
      <p:sp>
        <p:nvSpPr>
          <p:cNvPr id="23" name="Text 21"/>
          <p:cNvSpPr txBox="1"/>
          <p:nvPr/>
        </p:nvSpPr>
        <p:spPr>
          <a:xfrm>
            <a:off x="6492240" y="251460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2</a:t>
            </a:r>
            <a:endParaRPr lang="en-US" sz="2000" dirty="0"/>
          </a:p>
        </p:txBody>
      </p:sp>
      <p:sp>
        <p:nvSpPr>
          <p:cNvPr id="24" name="Text 22"/>
          <p:cNvSpPr txBox="1"/>
          <p:nvPr/>
        </p:nvSpPr>
        <p:spPr>
          <a:xfrm>
            <a:off x="7223760" y="2468880"/>
            <a:ext cx="4389120" cy="822960"/>
          </a:xfrm>
          <a:prstGeom prst="rect">
            <a:avLst/>
          </a:prstGeom>
          <a:noFill/>
          <a:ln/>
        </p:spPr>
        <p:txBody>
          <a:bodyPr wrap="square" lIns="0" tIns="0" rIns="0" bIns="0" rtlCol="0" anchor="ctr"/>
          <a:lstStyle/>
          <a:p>
            <a:pPr indent="0" marL="0">
              <a:buNone/>
            </a:pPr>
            <a:r>
              <a:rPr lang="en-US" sz="1700" dirty="0">
                <a:solidFill>
                  <a:schemeClr val="bg2"/>
                </a:solidFill>
                <a:latin typeface="Arial" pitchFamily="34" charset="0"/>
                <a:ea typeface="Arial" pitchFamily="34" charset="-122"/>
                <a:cs typeface="Arial" pitchFamily="34" charset="-120"/>
              </a:rPr>
              <a:t>Écris-lui tes notes de version (zine p. 8).</a:t>
            </a:r>
            <a:endParaRPr lang="en-US" sz="1700" dirty="0"/>
          </a:p>
        </p:txBody>
      </p:sp>
      <p:sp>
        <p:nvSpPr>
          <p:cNvPr id="25" name="Shape 23"/>
          <p:cNvSpPr/>
          <p:nvPr/>
        </p:nvSpPr>
        <p:spPr>
          <a:xfrm>
            <a:off x="6492240" y="3566160"/>
            <a:ext cx="548640" cy="548640"/>
          </a:xfrm>
          <a:prstGeom prst="ellipse">
            <a:avLst/>
          </a:prstGeom>
          <a:solidFill>
            <a:schemeClr val="accent2"/>
          </a:solidFill>
          <a:ln w="19050">
            <a:solidFill>
              <a:schemeClr val="tx1"/>
            </a:solidFill>
            <a:prstDash val="solid"/>
          </a:ln>
        </p:spPr>
      </p:sp>
      <p:sp>
        <p:nvSpPr>
          <p:cNvPr id="26" name="Text 24"/>
          <p:cNvSpPr txBox="1"/>
          <p:nvPr/>
        </p:nvSpPr>
        <p:spPr>
          <a:xfrm>
            <a:off x="6492240" y="3566160"/>
            <a:ext cx="548640" cy="548640"/>
          </a:xfrm>
          <a:prstGeom prst="rect">
            <a:avLst/>
          </a:prstGeom>
          <a:noFill/>
          <a:ln/>
        </p:spPr>
        <p:txBody>
          <a:bodyPr wrap="square" lIns="0" tIns="0" rIns="0" bIns="0" rtlCol="0" anchor="ctr"/>
          <a:lstStyle/>
          <a:p>
            <a:pPr algn="ctr" indent="0" marL="0">
              <a:buNone/>
            </a:pPr>
            <a:r>
              <a:rPr lang="en-US" sz="2000" dirty="0">
                <a:solidFill>
                  <a:schemeClr val="tx1"/>
                </a:solidFill>
                <a:latin typeface="Rockwell Extra Bold" pitchFamily="34" charset="0"/>
                <a:ea typeface="Rockwell Extra Bold" pitchFamily="34" charset="-122"/>
                <a:cs typeface="Rockwell Extra Bold" pitchFamily="34" charset="-120"/>
              </a:rPr>
              <a:t>3</a:t>
            </a:r>
            <a:endParaRPr lang="en-US" sz="2000" dirty="0"/>
          </a:p>
        </p:txBody>
      </p:sp>
      <p:sp>
        <p:nvSpPr>
          <p:cNvPr id="27" name="Text 25"/>
          <p:cNvSpPr txBox="1"/>
          <p:nvPr/>
        </p:nvSpPr>
        <p:spPr>
          <a:xfrm>
            <a:off x="7223760" y="3520440"/>
            <a:ext cx="4389120" cy="822960"/>
          </a:xfrm>
          <a:prstGeom prst="rect">
            <a:avLst/>
          </a:prstGeom>
          <a:noFill/>
          <a:ln/>
        </p:spPr>
        <p:txBody>
          <a:bodyPr wrap="square" lIns="0" tIns="0" rIns="0" bIns="0" rtlCol="0" anchor="ctr"/>
          <a:lstStyle/>
          <a:p>
            <a:pPr indent="0" marL="0">
              <a:buNone/>
            </a:pPr>
            <a:r>
              <a:rPr lang="en-US" sz="1700" dirty="0">
                <a:solidFill>
                  <a:schemeClr val="bg2"/>
                </a:solidFill>
                <a:latin typeface="Arial" pitchFamily="34" charset="0"/>
                <a:ea typeface="Arial" pitchFamily="34" charset="-122"/>
                <a:cs typeface="Arial" pitchFamily="34" charset="-120"/>
              </a:rPr>
              <a:t>Ajoute ta demande : ce que tu aimerais qu'elle mette à jour, elle aussi.</a:t>
            </a:r>
            <a:endParaRPr lang="en-US" sz="1700" dirty="0"/>
          </a:p>
        </p:txBody>
      </p:sp>
      <p:sp>
        <p:nvSpPr>
          <p:cNvPr id="28" name="Shape 26"/>
          <p:cNvSpPr/>
          <p:nvPr/>
        </p:nvSpPr>
        <p:spPr>
          <a:xfrm>
            <a:off x="6492240" y="4617720"/>
            <a:ext cx="548640" cy="548640"/>
          </a:xfrm>
          <a:prstGeom prst="ellipse">
            <a:avLst/>
          </a:prstGeom>
          <a:solidFill>
            <a:schemeClr val="accent1"/>
          </a:solidFill>
          <a:ln w="19050">
            <a:solidFill>
              <a:schemeClr val="tx1"/>
            </a:solidFill>
            <a:prstDash val="solid"/>
          </a:ln>
        </p:spPr>
      </p:sp>
      <p:sp>
        <p:nvSpPr>
          <p:cNvPr id="29" name="Text 27"/>
          <p:cNvSpPr txBox="1"/>
          <p:nvPr/>
        </p:nvSpPr>
        <p:spPr>
          <a:xfrm>
            <a:off x="6492240" y="4617720"/>
            <a:ext cx="548640" cy="548640"/>
          </a:xfrm>
          <a:prstGeom prst="rect">
            <a:avLst/>
          </a:prstGeom>
          <a:noFill/>
          <a:ln/>
        </p:spPr>
        <p:txBody>
          <a:bodyPr wrap="square" lIns="0" tIns="0" rIns="0" bIns="0" rtlCol="0" anchor="ctr"/>
          <a:lstStyle/>
          <a:p>
            <a:pPr algn="ctr" indent="0" marL="0">
              <a:buNone/>
            </a:pPr>
            <a:r>
              <a:rPr lang="en-US" sz="2000" dirty="0">
                <a:solidFill>
                  <a:schemeClr val="bg2"/>
                </a:solidFill>
                <a:latin typeface="Rockwell Extra Bold" pitchFamily="34" charset="0"/>
                <a:ea typeface="Rockwell Extra Bold" pitchFamily="34" charset="-122"/>
                <a:cs typeface="Rockwell Extra Bold" pitchFamily="34" charset="-120"/>
              </a:rPr>
              <a:t>4</a:t>
            </a:r>
            <a:endParaRPr lang="en-US" sz="2000" dirty="0"/>
          </a:p>
        </p:txBody>
      </p:sp>
      <p:sp>
        <p:nvSpPr>
          <p:cNvPr id="30" name="Text 28"/>
          <p:cNvSpPr txBox="1"/>
          <p:nvPr/>
        </p:nvSpPr>
        <p:spPr>
          <a:xfrm>
            <a:off x="7223760" y="4572000"/>
            <a:ext cx="4389120" cy="822960"/>
          </a:xfrm>
          <a:prstGeom prst="rect">
            <a:avLst/>
          </a:prstGeom>
          <a:noFill/>
          <a:ln/>
        </p:spPr>
        <p:txBody>
          <a:bodyPr wrap="square" lIns="0" tIns="0" rIns="0" bIns="0" rtlCol="0" anchor="ctr"/>
          <a:lstStyle/>
          <a:p>
            <a:pPr indent="0" marL="0">
              <a:buNone/>
            </a:pPr>
            <a:r>
              <a:rPr lang="en-US" sz="1700" dirty="0">
                <a:solidFill>
                  <a:schemeClr val="bg2"/>
                </a:solidFill>
                <a:latin typeface="Arial" pitchFamily="34" charset="0"/>
                <a:ea typeface="Arial" pitchFamily="34" charset="-122"/>
                <a:cs typeface="Arial" pitchFamily="34" charset="-120"/>
              </a:rPr>
              <a:t>Tu décides : l'envoyer, en parler, ou la garder.</a:t>
            </a:r>
            <a:endParaRPr lang="en-US" sz="17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par>
                          <p:cTn id="108" presetID="53" presetClass="entr" presetSubtype="16" fill="hold" nodeType="withEffect">
                            <p:stCondLst>
                              <p:cond delay="2600"/>
                            </p:stCondLst>
                            <p:childTnLst>
                              <p:set>
                                <p:cBhvr>
                                  <p:cTn id="109" dur="1" fill="hold">
                                    <p:stCondLst>
                                      <p:cond delay="0"/>
                                    </p:stCondLst>
                                  </p:cTn>
                                  <p:tgtEl>
                                    <p:spTgt spid="29"/>
                                  </p:tgtEl>
                                  <p:attrNameLst>
                                    <p:attrName>style.visibility</p:attrName>
                                  </p:attrNameLst>
                                </p:cBhvr>
                                <p:to>
                                  <p:strVal val="visible"/>
                                </p:to>
                              </p:set>
                              <p:anim calcmode="lin" valueType="num">
                                <p:cBhvr>
                                  <p:cTn id="110" dur="450" fill="hold"/>
                                  <p:tgtEl>
                                    <p:spTgt spid="29"/>
                                  </p:tgtEl>
                                  <p:attrNameLst>
                                    <p:attrName>ppt_w</p:attrName>
                                  </p:attrNameLst>
                                </p:cBhvr>
                                <p:tavLst>
                                  <p:tav tm="0">
                                    <p:val>
                                      <p:strVal val="#ppt_w*0.85"/>
                                    </p:val>
                                  </p:tav>
                                  <p:tav tm="100000">
                                    <p:val>
                                      <p:strVal val="#ppt_w"/>
                                    </p:val>
                                  </p:tav>
                                </p:tavLst>
                              </p:anim>
                              <p:animEffect transition="in" filter="fade">
                                <p:cBhvr>
                                  <p:cTn id="111" dur="450"/>
                                  <p:tgtEl>
                                    <p:spTgt spid="29"/>
                                  </p:tgtEl>
                                </p:cBhvr>
                              </p:animEffect>
                            </p:childTnLst>
                          </p:cTn>
                        </p:par>
                        <p:par>
                          <p:cTn id="112" presetID="53" presetClass="entr" presetSubtype="16" fill="hold" nodeType="withEffect">
                            <p:stCondLst>
                              <p:cond delay="2600"/>
                            </p:stCondLst>
                            <p:childTnLst>
                              <p:set>
                                <p:cBhvr>
                                  <p:cTn id="113" dur="1" fill="hold">
                                    <p:stCondLst>
                                      <p:cond delay="0"/>
                                    </p:stCondLst>
                                  </p:cTn>
                                  <p:tgtEl>
                                    <p:spTgt spid="30"/>
                                  </p:tgtEl>
                                  <p:attrNameLst>
                                    <p:attrName>style.visibility</p:attrName>
                                  </p:attrNameLst>
                                </p:cBhvr>
                                <p:to>
                                  <p:strVal val="visible"/>
                                </p:to>
                              </p:set>
                              <p:anim calcmode="lin" valueType="num">
                                <p:cBhvr>
                                  <p:cTn id="114" dur="450" fill="hold"/>
                                  <p:tgtEl>
                                    <p:spTgt spid="30"/>
                                  </p:tgtEl>
                                  <p:attrNameLst>
                                    <p:attrName>ppt_w</p:attrName>
                                  </p:attrNameLst>
                                </p:cBhvr>
                                <p:tavLst>
                                  <p:tav tm="0">
                                    <p:val>
                                      <p:strVal val="#ppt_w*0.85"/>
                                    </p:val>
                                  </p:tav>
                                  <p:tav tm="100000">
                                    <p:val>
                                      <p:strVal val="#ppt_w"/>
                                    </p:val>
                                  </p:tav>
                                </p:tavLst>
                              </p:anim>
                              <p:animEffect transition="in" filter="fade">
                                <p:cBhvr>
                                  <p:cTn id="115" dur="450"/>
                                  <p:tgtEl>
                                    <p:spTgt spid="3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9" grpId="0"/>
      <p:bldP spid="11" grpId="0"/>
      <p:bldP spid="13" grpId="0"/>
      <p:bldP spid="15" grpId="0"/>
      <p:bldP spid="17" grpId="0"/>
      <p:bldP spid="20" grpId="0"/>
      <p:bldP spid="21" grpId="0"/>
      <p:bldP spid="23" grpId="0"/>
      <p:bldP spid="24" grpId="0"/>
      <p:bldP spid="26" grpId="0"/>
      <p:bldP spid="27" grpId="0"/>
      <p:bldP spid="29" grpId="0"/>
      <p:bldP spid="30" grpId="0"/>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Billet de sortie 3 · 2 · 1</a:t>
            </a:r>
            <a:endParaRPr lang="en-US" sz="3600" dirty="0"/>
          </a:p>
        </p:txBody>
      </p:sp>
      <p:sp>
        <p:nvSpPr>
          <p:cNvPr id="3" name="Shape 1"/>
          <p:cNvSpPr/>
          <p:nvPr/>
        </p:nvSpPr>
        <p:spPr>
          <a:xfrm>
            <a:off x="9966960" y="411480"/>
            <a:ext cx="1645920" cy="457200"/>
          </a:xfrm>
          <a:prstGeom prst="roundRect">
            <a:avLst>
              <a:gd name="adj" fmla="val 50000"/>
            </a:avLst>
          </a:prstGeom>
          <a:solidFill>
            <a:schemeClr val="tx1"/>
          </a:solidFill>
          <a:ln/>
        </p:spPr>
      </p:sp>
      <p:sp>
        <p:nvSpPr>
          <p:cNvPr id="4" name="Text 2"/>
          <p:cNvSpPr txBox="1"/>
          <p:nvPr/>
        </p:nvSpPr>
        <p:spPr>
          <a:xfrm>
            <a:off x="9966960" y="411480"/>
            <a:ext cx="1645920" cy="457200"/>
          </a:xfrm>
          <a:prstGeom prst="rect">
            <a:avLst/>
          </a:prstGeom>
          <a:noFill/>
          <a:ln/>
        </p:spPr>
        <p:txBody>
          <a:bodyPr wrap="square" lIns="0" tIns="0" rIns="0" bIns="0" rtlCol="0" anchor="ctr"/>
          <a:lstStyle/>
          <a:p>
            <a:pPr algn="ctr" indent="0" marL="0">
              <a:buNone/>
            </a:pPr>
            <a:r>
              <a:rPr lang="en-US" sz="1400" b="1" dirty="0">
                <a:solidFill>
                  <a:schemeClr val="bg2"/>
                </a:solidFill>
              </a:rPr>
              <a:t>⏱ 7 min</a:t>
            </a:r>
            <a:endParaRPr lang="en-US" sz="1400" dirty="0"/>
          </a:p>
        </p:txBody>
      </p:sp>
      <p:sp>
        <p:nvSpPr>
          <p:cNvPr id="5" name="Shape 3"/>
          <p:cNvSpPr/>
          <p:nvPr/>
        </p:nvSpPr>
        <p:spPr>
          <a:xfrm>
            <a:off x="548640" y="1463040"/>
            <a:ext cx="3566160" cy="3931920"/>
          </a:xfrm>
          <a:prstGeom prst="rect">
            <a:avLst/>
          </a:prstGeom>
          <a:solidFill>
            <a:schemeClr val="accent1"/>
          </a:solidFill>
          <a:ln w="25400">
            <a:solidFill>
              <a:schemeClr val="tx1"/>
            </a:solidFill>
            <a:prstDash val="solid"/>
          </a:ln>
        </p:spPr>
      </p:sp>
      <p:sp>
        <p:nvSpPr>
          <p:cNvPr id="6" name="Text 4"/>
          <p:cNvSpPr txBox="1"/>
          <p:nvPr/>
        </p:nvSpPr>
        <p:spPr>
          <a:xfrm>
            <a:off x="822960" y="1600200"/>
            <a:ext cx="3017520" cy="1920240"/>
          </a:xfrm>
          <a:prstGeom prst="rect">
            <a:avLst/>
          </a:prstGeom>
          <a:noFill/>
          <a:ln/>
        </p:spPr>
        <p:txBody>
          <a:bodyPr wrap="square" lIns="0" tIns="0" rIns="0" bIns="0" rtlCol="0" anchor="t"/>
          <a:lstStyle/>
          <a:p>
            <a:pPr indent="0" marL="0">
              <a:buNone/>
            </a:pPr>
            <a:r>
              <a:rPr lang="en-US" sz="13000" dirty="0">
                <a:solidFill>
                  <a:schemeClr val="bg2"/>
                </a:solidFill>
                <a:latin typeface="Rockwell Extra Bold" pitchFamily="34" charset="0"/>
                <a:ea typeface="Rockwell Extra Bold" pitchFamily="34" charset="-122"/>
                <a:cs typeface="Rockwell Extra Bold" pitchFamily="34" charset="-120"/>
              </a:rPr>
              <a:t>3</a:t>
            </a:r>
            <a:endParaRPr lang="en-US" sz="13000" dirty="0"/>
          </a:p>
        </p:txBody>
      </p:sp>
      <p:sp>
        <p:nvSpPr>
          <p:cNvPr id="7" name="Text 5"/>
          <p:cNvSpPr txBox="1"/>
          <p:nvPr/>
        </p:nvSpPr>
        <p:spPr>
          <a:xfrm>
            <a:off x="822960" y="3657600"/>
            <a:ext cx="3017520" cy="1463040"/>
          </a:xfrm>
          <a:prstGeom prst="rect">
            <a:avLst/>
          </a:prstGeom>
          <a:noFill/>
          <a:ln/>
        </p:spPr>
        <p:txBody>
          <a:bodyPr wrap="square" lIns="0" tIns="0" rIns="0" bIns="0" rtlCol="0" anchor="t"/>
          <a:lstStyle/>
          <a:p>
            <a:pPr indent="0" marL="0">
              <a:buNone/>
            </a:pPr>
            <a:r>
              <a:rPr lang="en-US" sz="1900" b="1" dirty="0">
                <a:solidFill>
                  <a:schemeClr val="bg2"/>
                </a:solidFill>
                <a:latin typeface="Arial" pitchFamily="34" charset="0"/>
                <a:ea typeface="Arial" pitchFamily="34" charset="-122"/>
                <a:cs typeface="Arial" pitchFamily="34" charset="-120"/>
              </a:rPr>
              <a:t>coups bas que je reconnaîtrai maintenant</a:t>
            </a:r>
            <a:endParaRPr lang="en-US" sz="1900" dirty="0"/>
          </a:p>
        </p:txBody>
      </p:sp>
      <p:sp>
        <p:nvSpPr>
          <p:cNvPr id="8" name="Shape 6"/>
          <p:cNvSpPr/>
          <p:nvPr/>
        </p:nvSpPr>
        <p:spPr>
          <a:xfrm>
            <a:off x="4279392" y="1463040"/>
            <a:ext cx="3566160" cy="3931920"/>
          </a:xfrm>
          <a:prstGeom prst="rect">
            <a:avLst/>
          </a:prstGeom>
          <a:solidFill>
            <a:schemeClr val="accent2"/>
          </a:solidFill>
          <a:ln w="25400">
            <a:solidFill>
              <a:schemeClr val="tx1"/>
            </a:solidFill>
            <a:prstDash val="solid"/>
          </a:ln>
        </p:spPr>
      </p:sp>
      <p:sp>
        <p:nvSpPr>
          <p:cNvPr id="9" name="Text 7"/>
          <p:cNvSpPr txBox="1"/>
          <p:nvPr/>
        </p:nvSpPr>
        <p:spPr>
          <a:xfrm>
            <a:off x="4553712" y="1600200"/>
            <a:ext cx="3017520" cy="1920240"/>
          </a:xfrm>
          <a:prstGeom prst="rect">
            <a:avLst/>
          </a:prstGeom>
          <a:noFill/>
          <a:ln/>
        </p:spPr>
        <p:txBody>
          <a:bodyPr wrap="square" lIns="0" tIns="0" rIns="0" bIns="0" rtlCol="0" anchor="t"/>
          <a:lstStyle/>
          <a:p>
            <a:pPr indent="0" marL="0">
              <a:buNone/>
            </a:pPr>
            <a:r>
              <a:rPr lang="en-US" sz="13000" dirty="0">
                <a:solidFill>
                  <a:schemeClr val="tx1"/>
                </a:solidFill>
                <a:latin typeface="Rockwell Extra Bold" pitchFamily="34" charset="0"/>
                <a:ea typeface="Rockwell Extra Bold" pitchFamily="34" charset="-122"/>
                <a:cs typeface="Rockwell Extra Bold" pitchFamily="34" charset="-120"/>
              </a:rPr>
              <a:t>2</a:t>
            </a:r>
            <a:endParaRPr lang="en-US" sz="13000" dirty="0"/>
          </a:p>
        </p:txBody>
      </p:sp>
      <p:sp>
        <p:nvSpPr>
          <p:cNvPr id="10" name="Text 8"/>
          <p:cNvSpPr txBox="1"/>
          <p:nvPr/>
        </p:nvSpPr>
        <p:spPr>
          <a:xfrm>
            <a:off x="4553712" y="3657600"/>
            <a:ext cx="3017520" cy="146304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phrases de la boîte que je vais essayer cette semaine</a:t>
            </a:r>
            <a:endParaRPr lang="en-US" sz="1900" dirty="0"/>
          </a:p>
        </p:txBody>
      </p:sp>
      <p:sp>
        <p:nvSpPr>
          <p:cNvPr id="11" name="Shape 9"/>
          <p:cNvSpPr/>
          <p:nvPr/>
        </p:nvSpPr>
        <p:spPr>
          <a:xfrm>
            <a:off x="8010144" y="1463040"/>
            <a:ext cx="3566160" cy="3931920"/>
          </a:xfrm>
          <a:prstGeom prst="rect">
            <a:avLst/>
          </a:prstGeom>
          <a:solidFill>
            <a:schemeClr val="tx1"/>
          </a:solidFill>
          <a:ln w="25400">
            <a:solidFill>
              <a:schemeClr val="tx1"/>
            </a:solidFill>
            <a:prstDash val="solid"/>
          </a:ln>
        </p:spPr>
      </p:sp>
      <p:sp>
        <p:nvSpPr>
          <p:cNvPr id="12" name="Text 10"/>
          <p:cNvSpPr txBox="1"/>
          <p:nvPr/>
        </p:nvSpPr>
        <p:spPr>
          <a:xfrm>
            <a:off x="8284464" y="1600200"/>
            <a:ext cx="3017520" cy="1920240"/>
          </a:xfrm>
          <a:prstGeom prst="rect">
            <a:avLst/>
          </a:prstGeom>
          <a:noFill/>
          <a:ln/>
        </p:spPr>
        <p:txBody>
          <a:bodyPr wrap="square" lIns="0" tIns="0" rIns="0" bIns="0" rtlCol="0" anchor="t"/>
          <a:lstStyle/>
          <a:p>
            <a:pPr indent="0" marL="0">
              <a:buNone/>
            </a:pPr>
            <a:r>
              <a:rPr lang="en-US" sz="13000" dirty="0">
                <a:solidFill>
                  <a:schemeClr val="bg2"/>
                </a:solidFill>
                <a:latin typeface="Rockwell Extra Bold" pitchFamily="34" charset="0"/>
                <a:ea typeface="Rockwell Extra Bold" pitchFamily="34" charset="-122"/>
                <a:cs typeface="Rockwell Extra Bold" pitchFamily="34" charset="-120"/>
              </a:rPr>
              <a:t>1</a:t>
            </a:r>
            <a:endParaRPr lang="en-US" sz="13000" dirty="0"/>
          </a:p>
        </p:txBody>
      </p:sp>
      <p:sp>
        <p:nvSpPr>
          <p:cNvPr id="13" name="Text 11"/>
          <p:cNvSpPr txBox="1"/>
          <p:nvPr/>
        </p:nvSpPr>
        <p:spPr>
          <a:xfrm>
            <a:off x="8284464" y="3657600"/>
            <a:ext cx="3017520" cy="1463040"/>
          </a:xfrm>
          <a:prstGeom prst="rect">
            <a:avLst/>
          </a:prstGeom>
          <a:noFill/>
          <a:ln/>
        </p:spPr>
        <p:txBody>
          <a:bodyPr wrap="square" lIns="0" tIns="0" rIns="0" bIns="0" rtlCol="0" anchor="t"/>
          <a:lstStyle/>
          <a:p>
            <a:pPr indent="0" marL="0">
              <a:buNone/>
            </a:pPr>
            <a:r>
              <a:rPr lang="en-US" sz="1900" b="1" dirty="0">
                <a:solidFill>
                  <a:schemeClr val="bg2"/>
                </a:solidFill>
                <a:latin typeface="Arial" pitchFamily="34" charset="0"/>
                <a:ea typeface="Arial" pitchFamily="34" charset="-122"/>
                <a:cs typeface="Arial" pitchFamily="34" charset="-120"/>
              </a:rPr>
              <a:t>créature que je veux arrêter d'être</a:t>
            </a:r>
            <a:endParaRPr lang="en-US" sz="1900" dirty="0"/>
          </a:p>
        </p:txBody>
      </p:sp>
      <p:sp>
        <p:nvSpPr>
          <p:cNvPr id="14" name="Text 12"/>
          <p:cNvSpPr txBox="1"/>
          <p:nvPr/>
        </p:nvSpPr>
        <p:spPr>
          <a:xfrm>
            <a:off x="548640" y="5577840"/>
            <a:ext cx="11064240" cy="548640"/>
          </a:xfrm>
          <a:prstGeom prst="rect">
            <a:avLst/>
          </a:prstGeom>
          <a:noFill/>
          <a:ln/>
        </p:spPr>
        <p:txBody>
          <a:bodyPr wrap="square" lIns="0" tIns="0" rIns="0" bIns="0" rtlCol="0" anchor="t"/>
          <a:lstStyle/>
          <a:p>
            <a:pPr indent="0" marL="0">
              <a:buNone/>
            </a:pPr>
            <a:r>
              <a:rPr lang="en-US" sz="1500" i="1" dirty="0">
                <a:solidFill>
                  <a:schemeClr val="tx2"/>
                </a:solidFill>
                <a:latin typeface="Arial" pitchFamily="34" charset="0"/>
                <a:ea typeface="Arial" pitchFamily="34" charset="-122"/>
                <a:cs typeface="Arial" pitchFamily="34" charset="-120"/>
              </a:rPr>
              <a:t>Puis : choisis un papillon du mur des cicatrices et écris au verso ce qui aurait pu sauver l'amitié.</a:t>
            </a:r>
            <a:endParaRPr lang="en-US" sz="15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p:bldP spid="9" grpId="0"/>
      <p:bldP spid="10" grpId="0"/>
      <p:bldP spid="12" grpId="0"/>
      <p:bldP spid="13" grpId="0"/>
      <p:bldP spid="14" grpId="0"/>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680960" cy="3840480"/>
          </a:xfrm>
          <a:prstGeom prst="rect">
            <a:avLst/>
          </a:prstGeom>
          <a:noFill/>
          <a:ln/>
        </p:spPr>
        <p:txBody>
          <a:bodyPr wrap="square" lIns="0" tIns="0" rIns="0" bIns="0" rtlCol="0" anchor="t"/>
          <a:lstStyle/>
          <a:p>
            <a:pPr algn="l" indent="0" marL="0">
              <a:lnSpc>
                <a:spcPct val="85000"/>
              </a:lnSpc>
              <a:buNone/>
            </a:pPr>
            <a:r>
              <a:rPr lang="en-US" sz="6600" dirty="0">
                <a:solidFill>
                  <a:schemeClr val="accent1"/>
                </a:solidFill>
              </a:rPr>
              <a:t>Dur sur</a:t>
            </a:r>
            <a:endParaRPr lang="en-US" sz="6600" dirty="0"/>
          </a:p>
          <a:p>
            <a:pPr algn="l" indent="0" marL="0">
              <a:lnSpc>
                <a:spcPct val="85000"/>
              </a:lnSpc>
              <a:buNone/>
            </a:pPr>
            <a:r>
              <a:rPr lang="en-US" sz="6600" dirty="0">
                <a:solidFill>
                  <a:schemeClr val="accent1"/>
                </a:solidFill>
              </a:rPr>
              <a:t>les idées.</a:t>
            </a:r>
            <a:endParaRPr lang="en-US" sz="6600" dirty="0"/>
          </a:p>
          <a:p>
            <a:pPr algn="l" indent="0" marL="0">
              <a:lnSpc>
                <a:spcPct val="85000"/>
              </a:lnSpc>
              <a:buNone/>
            </a:pPr>
            <a:r>
              <a:rPr lang="en-US" sz="6600" dirty="0">
                <a:solidFill>
                  <a:schemeClr val="accent1"/>
                </a:solidFill>
              </a:rPr>
              <a:t>Doux avec</a:t>
            </a:r>
            <a:endParaRPr lang="en-US" sz="6600" dirty="0"/>
          </a:p>
          <a:p>
            <a:pPr algn="l" indent="0" marL="0">
              <a:lnSpc>
                <a:spcPct val="85000"/>
              </a:lnSpc>
              <a:buNone/>
            </a:pPr>
            <a:r>
              <a:rPr lang="en-US" sz="6600" dirty="0">
                <a:solidFill>
                  <a:schemeClr val="accent1"/>
                </a:solidFill>
              </a:rPr>
              <a:t>les gens.</a:t>
            </a:r>
            <a:endParaRPr lang="en-US" sz="6600" dirty="0"/>
          </a:p>
        </p:txBody>
      </p:sp>
      <p:pic>
        <p:nvPicPr>
          <p:cNvPr id="3" name="Image 0" descr="preencoded.png">    </p:cNvPr>
          <p:cNvPicPr>
            <a:picLocks noChangeAspect="1"/>
          </p:cNvPicPr>
          <p:nvPr/>
        </p:nvPicPr>
        <p:blipFill>
          <a:blip r:embed="rId1"/>
          <a:stretch>
            <a:fillRect/>
          </a:stretch>
        </p:blipFill>
        <p:spPr>
          <a:xfrm rot="-360000">
            <a:off x="7863840" y="457200"/>
            <a:ext cx="1920240" cy="2331720"/>
          </a:xfrm>
          <a:prstGeom prst="rect">
            <a:avLst/>
          </a:prstGeom>
        </p:spPr>
      </p:pic>
      <p:pic>
        <p:nvPicPr>
          <p:cNvPr id="4" name="Image 1" descr="preencoded.png">    </p:cNvPr>
          <p:cNvPicPr>
            <a:picLocks noChangeAspect="1"/>
          </p:cNvPicPr>
          <p:nvPr/>
        </p:nvPicPr>
        <p:blipFill>
          <a:blip r:embed="rId2"/>
          <a:stretch>
            <a:fillRect/>
          </a:stretch>
        </p:blipFill>
        <p:spPr>
          <a:xfrm rot="360000">
            <a:off x="9692640" y="1005840"/>
            <a:ext cx="1920240" cy="2331720"/>
          </a:xfrm>
          <a:prstGeom prst="rect">
            <a:avLst/>
          </a:prstGeom>
        </p:spPr>
      </p:pic>
      <p:sp>
        <p:nvSpPr>
          <p:cNvPr id="5" name="Text 1"/>
          <p:cNvSpPr txBox="1"/>
          <p:nvPr/>
        </p:nvSpPr>
        <p:spPr>
          <a:xfrm>
            <a:off x="548640" y="548640"/>
            <a:ext cx="6949440" cy="100584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Le but n'est pas d'avoir raison contre quelqu'un, c'est d'avoir un peu plus raison ensemble.</a:t>
            </a:r>
            <a:endParaRPr lang="en-US" sz="1800" dirty="0"/>
          </a:p>
        </p:txBody>
      </p:sp>
      <p:sp>
        <p:nvSpPr>
          <p:cNvPr id="6" name="Text 2"/>
          <p:cNvSpPr txBox="1"/>
          <p:nvPr/>
        </p:nvSpPr>
        <p:spPr>
          <a:xfrm>
            <a:off x="7863840" y="3566160"/>
            <a:ext cx="3840480" cy="2651760"/>
          </a:xfrm>
          <a:prstGeom prst="rect">
            <a:avLst/>
          </a:prstGeom>
          <a:noFill/>
          <a:ln/>
        </p:spPr>
        <p:txBody>
          <a:bodyPr wrap="square" lIns="0" tIns="0" rIns="0" bIns="0" rtlCol="0" anchor="t"/>
          <a:lstStyle/>
          <a:p>
            <a:pPr indent="0" marL="0">
              <a:buNone/>
            </a:pPr>
            <a:r>
              <a:rPr lang="en-US" sz="1100" dirty="0">
                <a:solidFill>
                  <a:schemeClr val="tx2"/>
                </a:solidFill>
                <a:latin typeface="Arial" pitchFamily="34" charset="0"/>
                <a:ea typeface="Arial" pitchFamily="34" charset="-122"/>
                <a:cs typeface="Arial" pitchFamily="34" charset="-120"/>
              </a:rPr>
              <a:t>Sources : A. Schopenhauer, L'Art d'avoir toujours raison · P. Graham, How to Disagree (2008) · D. Dennett, Intuition Pumps (2013) · R. Fisher et W. Ury, Getting to Yes</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1/4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Bulldozer</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Laisse-moi finir! » (il parle depuis 3 minutes)</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18 Le coupe-fil · 14 Crier victoire</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La peur de ne pas être entendu, de perdre le contrôle.</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Je t'ai entendu dire X. Maintenant, 1 minute pour moi.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Conviction et énergie.</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Ne laisse jamais un silence. Reprends ta phrase plus fort.</a:t>
            </a:r>
            <a:endParaRPr lang="en-US" sz="1400" dirty="0"/>
          </a:p>
        </p:txBody>
      </p:sp>
      <p:sp>
        <p:nvSpPr>
          <p:cNvPr id="22" name="Shape 19"/>
          <p:cNvSpPr/>
          <p:nvPr/>
        </p:nvSpPr>
        <p:spPr>
          <a:xfrm>
            <a:off x="6172200" y="1280160"/>
            <a:ext cx="5440680" cy="4937760"/>
          </a:xfrm>
          <a:prstGeom prst="rect">
            <a:avLst/>
          </a:prstGeom>
          <a:solidFill>
            <a:schemeClr val="bg1"/>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Brouillard</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Oui, mais le vrai problème, c'est… »</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29 La diversion · 36 Le brouillard</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Éviter de perdre la face sur une question précise.</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Bonne question, on la garde. Mais sur X, ta réponse? »</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Voit les liens et le portrait d'ensemble.</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Chaque fois qu'on te coince, élargis le sujet.</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par>
                          <p:cTn id="108" presetID="53" presetClass="entr" presetSubtype="16" fill="hold" nodeType="withEffect">
                            <p:stCondLst>
                              <p:cond delay="2600"/>
                            </p:stCondLst>
                            <p:childTnLst>
                              <p:set>
                                <p:cBhvr>
                                  <p:cTn id="109" dur="1" fill="hold">
                                    <p:stCondLst>
                                      <p:cond delay="0"/>
                                    </p:stCondLst>
                                  </p:cTn>
                                  <p:tgtEl>
                                    <p:spTgt spid="29"/>
                                  </p:tgtEl>
                                  <p:attrNameLst>
                                    <p:attrName>style.visibility</p:attrName>
                                  </p:attrNameLst>
                                </p:cBhvr>
                                <p:to>
                                  <p:strVal val="visible"/>
                                </p:to>
                              </p:set>
                              <p:anim calcmode="lin" valueType="num">
                                <p:cBhvr>
                                  <p:cTn id="110" dur="450" fill="hold"/>
                                  <p:tgtEl>
                                    <p:spTgt spid="29"/>
                                  </p:tgtEl>
                                  <p:attrNameLst>
                                    <p:attrName>ppt_w</p:attrName>
                                  </p:attrNameLst>
                                </p:cBhvr>
                                <p:tavLst>
                                  <p:tav tm="0">
                                    <p:val>
                                      <p:strVal val="#ppt_w*0.85"/>
                                    </p:val>
                                  </p:tav>
                                  <p:tav tm="100000">
                                    <p:val>
                                      <p:strVal val="#ppt_w"/>
                                    </p:val>
                                  </p:tav>
                                </p:tavLst>
                              </p:anim>
                              <p:animEffect transition="in" filter="fade">
                                <p:cBhvr>
                                  <p:cTn id="111" dur="450"/>
                                  <p:tgtEl>
                                    <p:spTgt spid="29"/>
                                  </p:tgtEl>
                                </p:cBhvr>
                              </p:animEffect>
                            </p:childTnLst>
                          </p:cTn>
                        </p:par>
                        <p:par>
                          <p:cTn id="112" presetID="53" presetClass="entr" presetSubtype="16" fill="hold" nodeType="withEffect">
                            <p:stCondLst>
                              <p:cond delay="2600"/>
                            </p:stCondLst>
                            <p:childTnLst>
                              <p:set>
                                <p:cBhvr>
                                  <p:cTn id="113" dur="1" fill="hold">
                                    <p:stCondLst>
                                      <p:cond delay="0"/>
                                    </p:stCondLst>
                                  </p:cTn>
                                  <p:tgtEl>
                                    <p:spTgt spid="30"/>
                                  </p:tgtEl>
                                  <p:attrNameLst>
                                    <p:attrName>style.visibility</p:attrName>
                                  </p:attrNameLst>
                                </p:cBhvr>
                                <p:to>
                                  <p:strVal val="visible"/>
                                </p:to>
                              </p:set>
                              <p:anim calcmode="lin" valueType="num">
                                <p:cBhvr>
                                  <p:cTn id="114" dur="450" fill="hold"/>
                                  <p:tgtEl>
                                    <p:spTgt spid="30"/>
                                  </p:tgtEl>
                                  <p:attrNameLst>
                                    <p:attrName>ppt_w</p:attrName>
                                  </p:attrNameLst>
                                </p:cBhvr>
                                <p:tavLst>
                                  <p:tav tm="0">
                                    <p:val>
                                      <p:strVal val="#ppt_w*0.85"/>
                                    </p:val>
                                  </p:tav>
                                  <p:tav tm="100000">
                                    <p:val>
                                      <p:strVal val="#ppt_w"/>
                                    </p:val>
                                  </p:tav>
                                </p:tavLst>
                              </p:anim>
                              <p:animEffect transition="in" filter="fade">
                                <p:cBhvr>
                                  <p:cTn id="115" dur="450"/>
                                  <p:tgtEl>
                                    <p:spTgt spid="30"/>
                                  </p:tgtEl>
                                </p:cBhvr>
                              </p:animEffect>
                            </p:childTnLst>
                          </p:cTn>
                        </p:par>
                        <p:par>
                          <p:cTn id="116" presetID="53" presetClass="entr" presetSubtype="16" fill="hold" nodeType="withEffect">
                            <p:stCondLst>
                              <p:cond delay="2600"/>
                            </p:stCondLst>
                            <p:childTnLst>
                              <p:set>
                                <p:cBhvr>
                                  <p:cTn id="117" dur="1" fill="hold">
                                    <p:stCondLst>
                                      <p:cond delay="0"/>
                                    </p:stCondLst>
                                  </p:cTn>
                                  <p:tgtEl>
                                    <p:spTgt spid="31"/>
                                  </p:tgtEl>
                                  <p:attrNameLst>
                                    <p:attrName>style.visibility</p:attrName>
                                  </p:attrNameLst>
                                </p:cBhvr>
                                <p:to>
                                  <p:strVal val="visible"/>
                                </p:to>
                              </p:set>
                              <p:anim calcmode="lin" valueType="num">
                                <p:cBhvr>
                                  <p:cTn id="118" dur="450" fill="hold"/>
                                  <p:tgtEl>
                                    <p:spTgt spid="31"/>
                                  </p:tgtEl>
                                  <p:attrNameLst>
                                    <p:attrName>ppt_w</p:attrName>
                                  </p:attrNameLst>
                                </p:cBhvr>
                                <p:tavLst>
                                  <p:tav tm="0">
                                    <p:val>
                                      <p:strVal val="#ppt_w*0.85"/>
                                    </p:val>
                                  </p:tav>
                                  <p:tav tm="100000">
                                    <p:val>
                                      <p:strVal val="#ppt_w"/>
                                    </p:val>
                                  </p:tav>
                                </p:tavLst>
                              </p:anim>
                              <p:animEffect transition="in" filter="fade">
                                <p:cBhvr>
                                  <p:cTn id="119" dur="450"/>
                                  <p:tgtEl>
                                    <p:spTgt spid="31"/>
                                  </p:tgtEl>
                                </p:cBhvr>
                              </p:animEffect>
                            </p:childTnLst>
                          </p:cTn>
                        </p:par>
                        <p:par>
                          <p:cTn id="120" presetID="53" presetClass="entr" presetSubtype="16" fill="hold" nodeType="withEffect">
                            <p:stCondLst>
                              <p:cond delay="2600"/>
                            </p:stCondLst>
                            <p:childTnLst>
                              <p:set>
                                <p:cBhvr>
                                  <p:cTn id="121" dur="1" fill="hold">
                                    <p:stCondLst>
                                      <p:cond delay="0"/>
                                    </p:stCondLst>
                                  </p:cTn>
                                  <p:tgtEl>
                                    <p:spTgt spid="32"/>
                                  </p:tgtEl>
                                  <p:attrNameLst>
                                    <p:attrName>style.visibility</p:attrName>
                                  </p:attrNameLst>
                                </p:cBhvr>
                                <p:to>
                                  <p:strVal val="visible"/>
                                </p:to>
                              </p:set>
                              <p:anim calcmode="lin" valueType="num">
                                <p:cBhvr>
                                  <p:cTn id="122" dur="450" fill="hold"/>
                                  <p:tgtEl>
                                    <p:spTgt spid="32"/>
                                  </p:tgtEl>
                                  <p:attrNameLst>
                                    <p:attrName>ppt_w</p:attrName>
                                  </p:attrNameLst>
                                </p:cBhvr>
                                <p:tavLst>
                                  <p:tav tm="0">
                                    <p:val>
                                      <p:strVal val="#ppt_w*0.85"/>
                                    </p:val>
                                  </p:tav>
                                  <p:tav tm="100000">
                                    <p:val>
                                      <p:strVal val="#ppt_w"/>
                                    </p:val>
                                  </p:tav>
                                </p:tavLst>
                              </p:anim>
                              <p:animEffect transition="in" filter="fade">
                                <p:cBhvr>
                                  <p:cTn id="123" dur="450"/>
                                  <p:tgtEl>
                                    <p:spTgt spid="32"/>
                                  </p:tgtEl>
                                </p:cBhvr>
                              </p:animEffect>
                            </p:childTnLst>
                          </p:cTn>
                        </p:par>
                        <p:par>
                          <p:cTn id="124" presetID="53" presetClass="entr" presetSubtype="16" fill="hold" nodeType="withEffect">
                            <p:stCondLst>
                              <p:cond delay="2600"/>
                            </p:stCondLst>
                            <p:childTnLst>
                              <p:set>
                                <p:cBhvr>
                                  <p:cTn id="125" dur="1" fill="hold">
                                    <p:stCondLst>
                                      <p:cond delay="0"/>
                                    </p:stCondLst>
                                  </p:cTn>
                                  <p:tgtEl>
                                    <p:spTgt spid="33"/>
                                  </p:tgtEl>
                                  <p:attrNameLst>
                                    <p:attrName>style.visibility</p:attrName>
                                  </p:attrNameLst>
                                </p:cBhvr>
                                <p:to>
                                  <p:strVal val="visible"/>
                                </p:to>
                              </p:set>
                              <p:anim calcmode="lin" valueType="num">
                                <p:cBhvr>
                                  <p:cTn id="126" dur="450" fill="hold"/>
                                  <p:tgtEl>
                                    <p:spTgt spid="33"/>
                                  </p:tgtEl>
                                  <p:attrNameLst>
                                    <p:attrName>ppt_w</p:attrName>
                                  </p:attrNameLst>
                                </p:cBhvr>
                                <p:tavLst>
                                  <p:tav tm="0">
                                    <p:val>
                                      <p:strVal val="#ppt_w*0.85"/>
                                    </p:val>
                                  </p:tav>
                                  <p:tav tm="100000">
                                    <p:val>
                                      <p:strVal val="#ppt_w"/>
                                    </p:val>
                                  </p:tav>
                                </p:tavLst>
                              </p:anim>
                              <p:animEffect transition="in" filter="fade">
                                <p:cBhvr>
                                  <p:cTn id="127" dur="450"/>
                                  <p:tgtEl>
                                    <p:spTgt spid="33"/>
                                  </p:tgtEl>
                                </p:cBhvr>
                              </p:animEffect>
                            </p:childTnLst>
                          </p:cTn>
                        </p:par>
                        <p:par>
                          <p:cTn id="128" presetID="53" presetClass="entr" presetSubtype="16" fill="hold" nodeType="withEffect">
                            <p:stCondLst>
                              <p:cond delay="2600"/>
                            </p:stCondLst>
                            <p:childTnLst>
                              <p:set>
                                <p:cBhvr>
                                  <p:cTn id="129" dur="1" fill="hold">
                                    <p:stCondLst>
                                      <p:cond delay="0"/>
                                    </p:stCondLst>
                                  </p:cTn>
                                  <p:tgtEl>
                                    <p:spTgt spid="34"/>
                                  </p:tgtEl>
                                  <p:attrNameLst>
                                    <p:attrName>style.visibility</p:attrName>
                                  </p:attrNameLst>
                                </p:cBhvr>
                                <p:to>
                                  <p:strVal val="visible"/>
                                </p:to>
                              </p:set>
                              <p:anim calcmode="lin" valueType="num">
                                <p:cBhvr>
                                  <p:cTn id="130" dur="450" fill="hold"/>
                                  <p:tgtEl>
                                    <p:spTgt spid="34"/>
                                  </p:tgtEl>
                                  <p:attrNameLst>
                                    <p:attrName>ppt_w</p:attrName>
                                  </p:attrNameLst>
                                </p:cBhvr>
                                <p:tavLst>
                                  <p:tav tm="0">
                                    <p:val>
                                      <p:strVal val="#ppt_w*0.85"/>
                                    </p:val>
                                  </p:tav>
                                  <p:tav tm="100000">
                                    <p:val>
                                      <p:strVal val="#ppt_w"/>
                                    </p:val>
                                  </p:tav>
                                </p:tavLst>
                              </p:anim>
                              <p:animEffect transition="in" filter="fade">
                                <p:cBhvr>
                                  <p:cTn id="131" dur="450"/>
                                  <p:tgtEl>
                                    <p:spTgt spid="34"/>
                                  </p:tgtEl>
                                </p:cBhvr>
                              </p:animEffect>
                            </p:childTnLst>
                          </p:cTn>
                        </p:par>
                        <p:par>
                          <p:cTn id="132" presetID="53" presetClass="entr" presetSubtype="16" fill="hold" nodeType="withEffect">
                            <p:stCondLst>
                              <p:cond delay="2600"/>
                            </p:stCondLst>
                            <p:childTnLst>
                              <p:set>
                                <p:cBhvr>
                                  <p:cTn id="133" dur="1" fill="hold">
                                    <p:stCondLst>
                                      <p:cond delay="0"/>
                                    </p:stCondLst>
                                  </p:cTn>
                                  <p:tgtEl>
                                    <p:spTgt spid="35"/>
                                  </p:tgtEl>
                                  <p:attrNameLst>
                                    <p:attrName>style.visibility</p:attrName>
                                  </p:attrNameLst>
                                </p:cBhvr>
                                <p:to>
                                  <p:strVal val="visible"/>
                                </p:to>
                              </p:set>
                              <p:anim calcmode="lin" valueType="num">
                                <p:cBhvr>
                                  <p:cTn id="134" dur="450" fill="hold"/>
                                  <p:tgtEl>
                                    <p:spTgt spid="35"/>
                                  </p:tgtEl>
                                  <p:attrNameLst>
                                    <p:attrName>ppt_w</p:attrName>
                                  </p:attrNameLst>
                                </p:cBhvr>
                                <p:tavLst>
                                  <p:tav tm="0">
                                    <p:val>
                                      <p:strVal val="#ppt_w*0.85"/>
                                    </p:val>
                                  </p:tav>
                                  <p:tav tm="100000">
                                    <p:val>
                                      <p:strVal val="#ppt_w"/>
                                    </p:val>
                                  </p:tav>
                                </p:tavLst>
                              </p:anim>
                              <p:animEffect transition="in" filter="fade">
                                <p:cBhvr>
                                  <p:cTn id="135" dur="450"/>
                                  <p:tgtEl>
                                    <p:spTgt spid="35"/>
                                  </p:tgtEl>
                                </p:cBhvr>
                              </p:animEffect>
                            </p:childTnLst>
                          </p:cTn>
                        </p:par>
                        <p:par>
                          <p:cTn id="136" presetID="53" presetClass="entr" presetSubtype="16" fill="hold" nodeType="withEffect">
                            <p:stCondLst>
                              <p:cond delay="2600"/>
                            </p:stCondLst>
                            <p:childTnLst>
                              <p:set>
                                <p:cBhvr>
                                  <p:cTn id="137" dur="1" fill="hold">
                                    <p:stCondLst>
                                      <p:cond delay="0"/>
                                    </p:stCondLst>
                                  </p:cTn>
                                  <p:tgtEl>
                                    <p:spTgt spid="36"/>
                                  </p:tgtEl>
                                  <p:attrNameLst>
                                    <p:attrName>style.visibility</p:attrName>
                                  </p:attrNameLst>
                                </p:cBhvr>
                                <p:to>
                                  <p:strVal val="visible"/>
                                </p:to>
                              </p:set>
                              <p:anim calcmode="lin" valueType="num">
                                <p:cBhvr>
                                  <p:cTn id="138" dur="450" fill="hold"/>
                                  <p:tgtEl>
                                    <p:spTgt spid="36"/>
                                  </p:tgtEl>
                                  <p:attrNameLst>
                                    <p:attrName>ppt_w</p:attrName>
                                  </p:attrNameLst>
                                </p:cBhvr>
                                <p:tavLst>
                                  <p:tav tm="0">
                                    <p:val>
                                      <p:strVal val="#ppt_w*0.85"/>
                                    </p:val>
                                  </p:tav>
                                  <p:tav tm="100000">
                                    <p:val>
                                      <p:strVal val="#ppt_w"/>
                                    </p:val>
                                  </p:tav>
                                </p:tavLst>
                              </p:anim>
                              <p:animEffect transition="in" filter="fade">
                                <p:cBhvr>
                                  <p:cTn id="139" dur="450"/>
                                  <p:tgtEl>
                                    <p:spTgt spid="36"/>
                                  </p:tgtEl>
                                </p:cBhvr>
                              </p:animEffect>
                            </p:childTnLst>
                          </p:cTn>
                        </p:par>
                        <p:par>
                          <p:cTn id="140" presetID="53" presetClass="entr" presetSubtype="16" fill="hold" nodeType="withEffect">
                            <p:stCondLst>
                              <p:cond delay="2600"/>
                            </p:stCondLst>
                            <p:childTnLst>
                              <p:set>
                                <p:cBhvr>
                                  <p:cTn id="141" dur="1" fill="hold">
                                    <p:stCondLst>
                                      <p:cond delay="0"/>
                                    </p:stCondLst>
                                  </p:cTn>
                                  <p:tgtEl>
                                    <p:spTgt spid="37"/>
                                  </p:tgtEl>
                                  <p:attrNameLst>
                                    <p:attrName>style.visibility</p:attrName>
                                  </p:attrNameLst>
                                </p:cBhvr>
                                <p:to>
                                  <p:strVal val="visible"/>
                                </p:to>
                              </p:set>
                              <p:anim calcmode="lin" valueType="num">
                                <p:cBhvr>
                                  <p:cTn id="142" dur="450" fill="hold"/>
                                  <p:tgtEl>
                                    <p:spTgt spid="37"/>
                                  </p:tgtEl>
                                  <p:attrNameLst>
                                    <p:attrName>ppt_w</p:attrName>
                                  </p:attrNameLst>
                                </p:cBhvr>
                                <p:tavLst>
                                  <p:tav tm="0">
                                    <p:val>
                                      <p:strVal val="#ppt_w*0.85"/>
                                    </p:val>
                                  </p:tav>
                                  <p:tav tm="100000">
                                    <p:val>
                                      <p:strVal val="#ppt_w"/>
                                    </p:val>
                                  </p:tav>
                                </p:tavLst>
                              </p:anim>
                              <p:animEffect transition="in" filter="fade">
                                <p:cBhvr>
                                  <p:cTn id="143" dur="450"/>
                                  <p:tgtEl>
                                    <p:spTgt spid="37"/>
                                  </p:tgtEl>
                                </p:cBhvr>
                              </p:animEffect>
                            </p:childTnLst>
                          </p:cTn>
                        </p:par>
                        <p:par>
                          <p:cTn id="144" presetID="53" presetClass="entr" presetSubtype="16" fill="hold" nodeType="withEffect">
                            <p:stCondLst>
                              <p:cond delay="2600"/>
                            </p:stCondLst>
                            <p:childTnLst>
                              <p:set>
                                <p:cBhvr>
                                  <p:cTn id="145" dur="1" fill="hold">
                                    <p:stCondLst>
                                      <p:cond delay="0"/>
                                    </p:stCondLst>
                                  </p:cTn>
                                  <p:tgtEl>
                                    <p:spTgt spid="38"/>
                                  </p:tgtEl>
                                  <p:attrNameLst>
                                    <p:attrName>style.visibility</p:attrName>
                                  </p:attrNameLst>
                                </p:cBhvr>
                                <p:to>
                                  <p:strVal val="visible"/>
                                </p:to>
                              </p:set>
                              <p:anim calcmode="lin" valueType="num">
                                <p:cBhvr>
                                  <p:cTn id="146" dur="450" fill="hold"/>
                                  <p:tgtEl>
                                    <p:spTgt spid="38"/>
                                  </p:tgtEl>
                                  <p:attrNameLst>
                                    <p:attrName>ppt_w</p:attrName>
                                  </p:attrNameLst>
                                </p:cBhvr>
                                <p:tavLst>
                                  <p:tav tm="0">
                                    <p:val>
                                      <p:strVal val="#ppt_w*0.85"/>
                                    </p:val>
                                  </p:tav>
                                  <p:tav tm="100000">
                                    <p:val>
                                      <p:strVal val="#ppt_w"/>
                                    </p:val>
                                  </p:tav>
                                </p:tavLst>
                              </p:anim>
                              <p:animEffect transition="in" filter="fade">
                                <p:cBhvr>
                                  <p:cTn id="147" dur="450"/>
                                  <p:tgtEl>
                                    <p:spTgt spid="38"/>
                                  </p:tgtEl>
                                </p:cBhvr>
                              </p:animEffect>
                            </p:childTnLst>
                          </p:cTn>
                        </p:par>
                        <p:par>
                          <p:cTn id="148" presetID="53" presetClass="entr" presetSubtype="16" fill="hold" nodeType="withEffect">
                            <p:stCondLst>
                              <p:cond delay="2600"/>
                            </p:stCondLst>
                            <p:childTnLst>
                              <p:set>
                                <p:cBhvr>
                                  <p:cTn id="149" dur="1" fill="hold">
                                    <p:stCondLst>
                                      <p:cond delay="0"/>
                                    </p:stCondLst>
                                  </p:cTn>
                                  <p:tgtEl>
                                    <p:spTgt spid="39"/>
                                  </p:tgtEl>
                                  <p:attrNameLst>
                                    <p:attrName>style.visibility</p:attrName>
                                  </p:attrNameLst>
                                </p:cBhvr>
                                <p:to>
                                  <p:strVal val="visible"/>
                                </p:to>
                              </p:set>
                              <p:anim calcmode="lin" valueType="num">
                                <p:cBhvr>
                                  <p:cTn id="150" dur="450" fill="hold"/>
                                  <p:tgtEl>
                                    <p:spTgt spid="39"/>
                                  </p:tgtEl>
                                  <p:attrNameLst>
                                    <p:attrName>ppt_w</p:attrName>
                                  </p:attrNameLst>
                                </p:cBhvr>
                                <p:tavLst>
                                  <p:tav tm="0">
                                    <p:val>
                                      <p:strVal val="#ppt_w*0.85"/>
                                    </p:val>
                                  </p:tav>
                                  <p:tav tm="100000">
                                    <p:val>
                                      <p:strVal val="#ppt_w"/>
                                    </p:val>
                                  </p:tav>
                                </p:tavLst>
                              </p:anim>
                              <p:animEffect transition="in" filter="fade">
                                <p:cBhvr>
                                  <p:cTn id="151" dur="450"/>
                                  <p:tgtEl>
                                    <p:spTgt spid="39"/>
                                  </p:tgtEl>
                                </p:cBhvr>
                              </p:animEffect>
                            </p:childTnLst>
                          </p:cTn>
                        </p:par>
                        <p:par>
                          <p:cTn id="152" presetID="53" presetClass="entr" presetSubtype="16" fill="hold" nodeType="withEffect">
                            <p:stCondLst>
                              <p:cond delay="2600"/>
                            </p:stCondLst>
                            <p:childTnLst>
                              <p:set>
                                <p:cBhvr>
                                  <p:cTn id="153" dur="1" fill="hold">
                                    <p:stCondLst>
                                      <p:cond delay="0"/>
                                    </p:stCondLst>
                                  </p:cTn>
                                  <p:tgtEl>
                                    <p:spTgt spid="40"/>
                                  </p:tgtEl>
                                  <p:attrNameLst>
                                    <p:attrName>style.visibility</p:attrName>
                                  </p:attrNameLst>
                                </p:cBhvr>
                                <p:to>
                                  <p:strVal val="visible"/>
                                </p:to>
                              </p:set>
                              <p:anim calcmode="lin" valueType="num">
                                <p:cBhvr>
                                  <p:cTn id="154" dur="450" fill="hold"/>
                                  <p:tgtEl>
                                    <p:spTgt spid="40"/>
                                  </p:tgtEl>
                                  <p:attrNameLst>
                                    <p:attrName>ppt_w</p:attrName>
                                  </p:attrNameLst>
                                </p:cBhvr>
                                <p:tavLst>
                                  <p:tav tm="0">
                                    <p:val>
                                      <p:strVal val="#ppt_w*0.85"/>
                                    </p:val>
                                  </p:tav>
                                  <p:tav tm="100000">
                                    <p:val>
                                      <p:strVal val="#ppt_w"/>
                                    </p:val>
                                  </p:tav>
                                </p:tavLst>
                              </p:anim>
                              <p:animEffect transition="in" filter="fade">
                                <p:cBhvr>
                                  <p:cTn id="155" dur="450"/>
                                  <p:tgtEl>
                                    <p:spTgt spid="4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p:bldP spid="9" grpId="0"/>
      <p:bldP spid="11" grpId="0"/>
      <p:bldP spid="12" grpId="0"/>
      <p:bldP spid="14" grpId="0"/>
      <p:bldP spid="15" grpId="0"/>
      <p:bldP spid="17" grpId="0"/>
      <p:bldP spid="18" grpId="0"/>
      <p:bldP spid="20" grpId="0"/>
      <p:bldP spid="21" grpId="0"/>
      <p:bldP spid="24" grpId="0"/>
      <p:bldP spid="25" grpId="0"/>
      <p:bldP spid="27" grpId="0"/>
      <p:bldP spid="28" grpId="0"/>
      <p:bldP spid="30" grpId="0"/>
      <p:bldP spid="31" grpId="0"/>
      <p:bldP spid="33" grpId="0"/>
      <p:bldP spid="34" grpId="0"/>
      <p:bldP spid="36" grpId="0"/>
      <p:bldP spid="37" grpId="0"/>
      <p:bldP spid="39" grpId="0"/>
      <p:bldP spid="40" grpId="0"/>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2/4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Sniper</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Venant de toi, franchement… »</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38 Le K.-O. · 8 L'allumette · 32 L'étiquette</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Se sentir menacé, ou déjà blessé.</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Le calme. « Admettons. Et l'argument lui-même?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Un sens critique aiguisé… mal visé.</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Commente la personne, jamais l'idée. Attaques fictives et légères seulement.</a:t>
            </a:r>
            <a:endParaRPr lang="en-US" sz="1400" dirty="0"/>
          </a:p>
        </p:txBody>
      </p:sp>
      <p:sp>
        <p:nvSpPr>
          <p:cNvPr id="22" name="Shape 19"/>
          <p:cNvSpPr/>
          <p:nvPr/>
        </p:nvSpPr>
        <p:spPr>
          <a:xfrm>
            <a:off x="6172200" y="1280160"/>
            <a:ext cx="5440680" cy="4937760"/>
          </a:xfrm>
          <a:prstGeom prst="rect">
            <a:avLst/>
          </a:prstGeom>
          <a:solidFill>
            <a:schemeClr val="bg1"/>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Professeur</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Les études montrent que… »</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30 Le galon · 36 Le brouillard</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 besoin de crédibilité, de statut.</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Lesquelles? Qu'est-ce qu'elles disent exactement? »</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Il s'appuie sur des sources.</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Cite des experts vagues. Utilise des mots compliqués.</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par>
                          <p:cTn id="108" presetID="53" presetClass="entr" presetSubtype="16" fill="hold" nodeType="withEffect">
                            <p:stCondLst>
                              <p:cond delay="2600"/>
                            </p:stCondLst>
                            <p:childTnLst>
                              <p:set>
                                <p:cBhvr>
                                  <p:cTn id="109" dur="1" fill="hold">
                                    <p:stCondLst>
                                      <p:cond delay="0"/>
                                    </p:stCondLst>
                                  </p:cTn>
                                  <p:tgtEl>
                                    <p:spTgt spid="29"/>
                                  </p:tgtEl>
                                  <p:attrNameLst>
                                    <p:attrName>style.visibility</p:attrName>
                                  </p:attrNameLst>
                                </p:cBhvr>
                                <p:to>
                                  <p:strVal val="visible"/>
                                </p:to>
                              </p:set>
                              <p:anim calcmode="lin" valueType="num">
                                <p:cBhvr>
                                  <p:cTn id="110" dur="450" fill="hold"/>
                                  <p:tgtEl>
                                    <p:spTgt spid="29"/>
                                  </p:tgtEl>
                                  <p:attrNameLst>
                                    <p:attrName>ppt_w</p:attrName>
                                  </p:attrNameLst>
                                </p:cBhvr>
                                <p:tavLst>
                                  <p:tav tm="0">
                                    <p:val>
                                      <p:strVal val="#ppt_w*0.85"/>
                                    </p:val>
                                  </p:tav>
                                  <p:tav tm="100000">
                                    <p:val>
                                      <p:strVal val="#ppt_w"/>
                                    </p:val>
                                  </p:tav>
                                </p:tavLst>
                              </p:anim>
                              <p:animEffect transition="in" filter="fade">
                                <p:cBhvr>
                                  <p:cTn id="111" dur="450"/>
                                  <p:tgtEl>
                                    <p:spTgt spid="29"/>
                                  </p:tgtEl>
                                </p:cBhvr>
                              </p:animEffect>
                            </p:childTnLst>
                          </p:cTn>
                        </p:par>
                        <p:par>
                          <p:cTn id="112" presetID="53" presetClass="entr" presetSubtype="16" fill="hold" nodeType="withEffect">
                            <p:stCondLst>
                              <p:cond delay="2600"/>
                            </p:stCondLst>
                            <p:childTnLst>
                              <p:set>
                                <p:cBhvr>
                                  <p:cTn id="113" dur="1" fill="hold">
                                    <p:stCondLst>
                                      <p:cond delay="0"/>
                                    </p:stCondLst>
                                  </p:cTn>
                                  <p:tgtEl>
                                    <p:spTgt spid="30"/>
                                  </p:tgtEl>
                                  <p:attrNameLst>
                                    <p:attrName>style.visibility</p:attrName>
                                  </p:attrNameLst>
                                </p:cBhvr>
                                <p:to>
                                  <p:strVal val="visible"/>
                                </p:to>
                              </p:set>
                              <p:anim calcmode="lin" valueType="num">
                                <p:cBhvr>
                                  <p:cTn id="114" dur="450" fill="hold"/>
                                  <p:tgtEl>
                                    <p:spTgt spid="30"/>
                                  </p:tgtEl>
                                  <p:attrNameLst>
                                    <p:attrName>ppt_w</p:attrName>
                                  </p:attrNameLst>
                                </p:cBhvr>
                                <p:tavLst>
                                  <p:tav tm="0">
                                    <p:val>
                                      <p:strVal val="#ppt_w*0.85"/>
                                    </p:val>
                                  </p:tav>
                                  <p:tav tm="100000">
                                    <p:val>
                                      <p:strVal val="#ppt_w"/>
                                    </p:val>
                                  </p:tav>
                                </p:tavLst>
                              </p:anim>
                              <p:animEffect transition="in" filter="fade">
                                <p:cBhvr>
                                  <p:cTn id="115" dur="450"/>
                                  <p:tgtEl>
                                    <p:spTgt spid="30"/>
                                  </p:tgtEl>
                                </p:cBhvr>
                              </p:animEffect>
                            </p:childTnLst>
                          </p:cTn>
                        </p:par>
                        <p:par>
                          <p:cTn id="116" presetID="53" presetClass="entr" presetSubtype="16" fill="hold" nodeType="withEffect">
                            <p:stCondLst>
                              <p:cond delay="2600"/>
                            </p:stCondLst>
                            <p:childTnLst>
                              <p:set>
                                <p:cBhvr>
                                  <p:cTn id="117" dur="1" fill="hold">
                                    <p:stCondLst>
                                      <p:cond delay="0"/>
                                    </p:stCondLst>
                                  </p:cTn>
                                  <p:tgtEl>
                                    <p:spTgt spid="31"/>
                                  </p:tgtEl>
                                  <p:attrNameLst>
                                    <p:attrName>style.visibility</p:attrName>
                                  </p:attrNameLst>
                                </p:cBhvr>
                                <p:to>
                                  <p:strVal val="visible"/>
                                </p:to>
                              </p:set>
                              <p:anim calcmode="lin" valueType="num">
                                <p:cBhvr>
                                  <p:cTn id="118" dur="450" fill="hold"/>
                                  <p:tgtEl>
                                    <p:spTgt spid="31"/>
                                  </p:tgtEl>
                                  <p:attrNameLst>
                                    <p:attrName>ppt_w</p:attrName>
                                  </p:attrNameLst>
                                </p:cBhvr>
                                <p:tavLst>
                                  <p:tav tm="0">
                                    <p:val>
                                      <p:strVal val="#ppt_w*0.85"/>
                                    </p:val>
                                  </p:tav>
                                  <p:tav tm="100000">
                                    <p:val>
                                      <p:strVal val="#ppt_w"/>
                                    </p:val>
                                  </p:tav>
                                </p:tavLst>
                              </p:anim>
                              <p:animEffect transition="in" filter="fade">
                                <p:cBhvr>
                                  <p:cTn id="119" dur="450"/>
                                  <p:tgtEl>
                                    <p:spTgt spid="31"/>
                                  </p:tgtEl>
                                </p:cBhvr>
                              </p:animEffect>
                            </p:childTnLst>
                          </p:cTn>
                        </p:par>
                        <p:par>
                          <p:cTn id="120" presetID="53" presetClass="entr" presetSubtype="16" fill="hold" nodeType="withEffect">
                            <p:stCondLst>
                              <p:cond delay="2600"/>
                            </p:stCondLst>
                            <p:childTnLst>
                              <p:set>
                                <p:cBhvr>
                                  <p:cTn id="121" dur="1" fill="hold">
                                    <p:stCondLst>
                                      <p:cond delay="0"/>
                                    </p:stCondLst>
                                  </p:cTn>
                                  <p:tgtEl>
                                    <p:spTgt spid="32"/>
                                  </p:tgtEl>
                                  <p:attrNameLst>
                                    <p:attrName>style.visibility</p:attrName>
                                  </p:attrNameLst>
                                </p:cBhvr>
                                <p:to>
                                  <p:strVal val="visible"/>
                                </p:to>
                              </p:set>
                              <p:anim calcmode="lin" valueType="num">
                                <p:cBhvr>
                                  <p:cTn id="122" dur="450" fill="hold"/>
                                  <p:tgtEl>
                                    <p:spTgt spid="32"/>
                                  </p:tgtEl>
                                  <p:attrNameLst>
                                    <p:attrName>ppt_w</p:attrName>
                                  </p:attrNameLst>
                                </p:cBhvr>
                                <p:tavLst>
                                  <p:tav tm="0">
                                    <p:val>
                                      <p:strVal val="#ppt_w*0.85"/>
                                    </p:val>
                                  </p:tav>
                                  <p:tav tm="100000">
                                    <p:val>
                                      <p:strVal val="#ppt_w"/>
                                    </p:val>
                                  </p:tav>
                                </p:tavLst>
                              </p:anim>
                              <p:animEffect transition="in" filter="fade">
                                <p:cBhvr>
                                  <p:cTn id="123" dur="450"/>
                                  <p:tgtEl>
                                    <p:spTgt spid="32"/>
                                  </p:tgtEl>
                                </p:cBhvr>
                              </p:animEffect>
                            </p:childTnLst>
                          </p:cTn>
                        </p:par>
                        <p:par>
                          <p:cTn id="124" presetID="53" presetClass="entr" presetSubtype="16" fill="hold" nodeType="withEffect">
                            <p:stCondLst>
                              <p:cond delay="2600"/>
                            </p:stCondLst>
                            <p:childTnLst>
                              <p:set>
                                <p:cBhvr>
                                  <p:cTn id="125" dur="1" fill="hold">
                                    <p:stCondLst>
                                      <p:cond delay="0"/>
                                    </p:stCondLst>
                                  </p:cTn>
                                  <p:tgtEl>
                                    <p:spTgt spid="33"/>
                                  </p:tgtEl>
                                  <p:attrNameLst>
                                    <p:attrName>style.visibility</p:attrName>
                                  </p:attrNameLst>
                                </p:cBhvr>
                                <p:to>
                                  <p:strVal val="visible"/>
                                </p:to>
                              </p:set>
                              <p:anim calcmode="lin" valueType="num">
                                <p:cBhvr>
                                  <p:cTn id="126" dur="450" fill="hold"/>
                                  <p:tgtEl>
                                    <p:spTgt spid="33"/>
                                  </p:tgtEl>
                                  <p:attrNameLst>
                                    <p:attrName>ppt_w</p:attrName>
                                  </p:attrNameLst>
                                </p:cBhvr>
                                <p:tavLst>
                                  <p:tav tm="0">
                                    <p:val>
                                      <p:strVal val="#ppt_w*0.85"/>
                                    </p:val>
                                  </p:tav>
                                  <p:tav tm="100000">
                                    <p:val>
                                      <p:strVal val="#ppt_w"/>
                                    </p:val>
                                  </p:tav>
                                </p:tavLst>
                              </p:anim>
                              <p:animEffect transition="in" filter="fade">
                                <p:cBhvr>
                                  <p:cTn id="127" dur="450"/>
                                  <p:tgtEl>
                                    <p:spTgt spid="33"/>
                                  </p:tgtEl>
                                </p:cBhvr>
                              </p:animEffect>
                            </p:childTnLst>
                          </p:cTn>
                        </p:par>
                        <p:par>
                          <p:cTn id="128" presetID="53" presetClass="entr" presetSubtype="16" fill="hold" nodeType="withEffect">
                            <p:stCondLst>
                              <p:cond delay="2600"/>
                            </p:stCondLst>
                            <p:childTnLst>
                              <p:set>
                                <p:cBhvr>
                                  <p:cTn id="129" dur="1" fill="hold">
                                    <p:stCondLst>
                                      <p:cond delay="0"/>
                                    </p:stCondLst>
                                  </p:cTn>
                                  <p:tgtEl>
                                    <p:spTgt spid="34"/>
                                  </p:tgtEl>
                                  <p:attrNameLst>
                                    <p:attrName>style.visibility</p:attrName>
                                  </p:attrNameLst>
                                </p:cBhvr>
                                <p:to>
                                  <p:strVal val="visible"/>
                                </p:to>
                              </p:set>
                              <p:anim calcmode="lin" valueType="num">
                                <p:cBhvr>
                                  <p:cTn id="130" dur="450" fill="hold"/>
                                  <p:tgtEl>
                                    <p:spTgt spid="34"/>
                                  </p:tgtEl>
                                  <p:attrNameLst>
                                    <p:attrName>ppt_w</p:attrName>
                                  </p:attrNameLst>
                                </p:cBhvr>
                                <p:tavLst>
                                  <p:tav tm="0">
                                    <p:val>
                                      <p:strVal val="#ppt_w*0.85"/>
                                    </p:val>
                                  </p:tav>
                                  <p:tav tm="100000">
                                    <p:val>
                                      <p:strVal val="#ppt_w"/>
                                    </p:val>
                                  </p:tav>
                                </p:tavLst>
                              </p:anim>
                              <p:animEffect transition="in" filter="fade">
                                <p:cBhvr>
                                  <p:cTn id="131" dur="450"/>
                                  <p:tgtEl>
                                    <p:spTgt spid="34"/>
                                  </p:tgtEl>
                                </p:cBhvr>
                              </p:animEffect>
                            </p:childTnLst>
                          </p:cTn>
                        </p:par>
                        <p:par>
                          <p:cTn id="132" presetID="53" presetClass="entr" presetSubtype="16" fill="hold" nodeType="withEffect">
                            <p:stCondLst>
                              <p:cond delay="2600"/>
                            </p:stCondLst>
                            <p:childTnLst>
                              <p:set>
                                <p:cBhvr>
                                  <p:cTn id="133" dur="1" fill="hold">
                                    <p:stCondLst>
                                      <p:cond delay="0"/>
                                    </p:stCondLst>
                                  </p:cTn>
                                  <p:tgtEl>
                                    <p:spTgt spid="35"/>
                                  </p:tgtEl>
                                  <p:attrNameLst>
                                    <p:attrName>style.visibility</p:attrName>
                                  </p:attrNameLst>
                                </p:cBhvr>
                                <p:to>
                                  <p:strVal val="visible"/>
                                </p:to>
                              </p:set>
                              <p:anim calcmode="lin" valueType="num">
                                <p:cBhvr>
                                  <p:cTn id="134" dur="450" fill="hold"/>
                                  <p:tgtEl>
                                    <p:spTgt spid="35"/>
                                  </p:tgtEl>
                                  <p:attrNameLst>
                                    <p:attrName>ppt_w</p:attrName>
                                  </p:attrNameLst>
                                </p:cBhvr>
                                <p:tavLst>
                                  <p:tav tm="0">
                                    <p:val>
                                      <p:strVal val="#ppt_w*0.85"/>
                                    </p:val>
                                  </p:tav>
                                  <p:tav tm="100000">
                                    <p:val>
                                      <p:strVal val="#ppt_w"/>
                                    </p:val>
                                  </p:tav>
                                </p:tavLst>
                              </p:anim>
                              <p:animEffect transition="in" filter="fade">
                                <p:cBhvr>
                                  <p:cTn id="135" dur="450"/>
                                  <p:tgtEl>
                                    <p:spTgt spid="35"/>
                                  </p:tgtEl>
                                </p:cBhvr>
                              </p:animEffect>
                            </p:childTnLst>
                          </p:cTn>
                        </p:par>
                        <p:par>
                          <p:cTn id="136" presetID="53" presetClass="entr" presetSubtype="16" fill="hold" nodeType="withEffect">
                            <p:stCondLst>
                              <p:cond delay="2600"/>
                            </p:stCondLst>
                            <p:childTnLst>
                              <p:set>
                                <p:cBhvr>
                                  <p:cTn id="137" dur="1" fill="hold">
                                    <p:stCondLst>
                                      <p:cond delay="0"/>
                                    </p:stCondLst>
                                  </p:cTn>
                                  <p:tgtEl>
                                    <p:spTgt spid="36"/>
                                  </p:tgtEl>
                                  <p:attrNameLst>
                                    <p:attrName>style.visibility</p:attrName>
                                  </p:attrNameLst>
                                </p:cBhvr>
                                <p:to>
                                  <p:strVal val="visible"/>
                                </p:to>
                              </p:set>
                              <p:anim calcmode="lin" valueType="num">
                                <p:cBhvr>
                                  <p:cTn id="138" dur="450" fill="hold"/>
                                  <p:tgtEl>
                                    <p:spTgt spid="36"/>
                                  </p:tgtEl>
                                  <p:attrNameLst>
                                    <p:attrName>ppt_w</p:attrName>
                                  </p:attrNameLst>
                                </p:cBhvr>
                                <p:tavLst>
                                  <p:tav tm="0">
                                    <p:val>
                                      <p:strVal val="#ppt_w*0.85"/>
                                    </p:val>
                                  </p:tav>
                                  <p:tav tm="100000">
                                    <p:val>
                                      <p:strVal val="#ppt_w"/>
                                    </p:val>
                                  </p:tav>
                                </p:tavLst>
                              </p:anim>
                              <p:animEffect transition="in" filter="fade">
                                <p:cBhvr>
                                  <p:cTn id="139" dur="450"/>
                                  <p:tgtEl>
                                    <p:spTgt spid="36"/>
                                  </p:tgtEl>
                                </p:cBhvr>
                              </p:animEffect>
                            </p:childTnLst>
                          </p:cTn>
                        </p:par>
                        <p:par>
                          <p:cTn id="140" presetID="53" presetClass="entr" presetSubtype="16" fill="hold" nodeType="withEffect">
                            <p:stCondLst>
                              <p:cond delay="2600"/>
                            </p:stCondLst>
                            <p:childTnLst>
                              <p:set>
                                <p:cBhvr>
                                  <p:cTn id="141" dur="1" fill="hold">
                                    <p:stCondLst>
                                      <p:cond delay="0"/>
                                    </p:stCondLst>
                                  </p:cTn>
                                  <p:tgtEl>
                                    <p:spTgt spid="37"/>
                                  </p:tgtEl>
                                  <p:attrNameLst>
                                    <p:attrName>style.visibility</p:attrName>
                                  </p:attrNameLst>
                                </p:cBhvr>
                                <p:to>
                                  <p:strVal val="visible"/>
                                </p:to>
                              </p:set>
                              <p:anim calcmode="lin" valueType="num">
                                <p:cBhvr>
                                  <p:cTn id="142" dur="450" fill="hold"/>
                                  <p:tgtEl>
                                    <p:spTgt spid="37"/>
                                  </p:tgtEl>
                                  <p:attrNameLst>
                                    <p:attrName>ppt_w</p:attrName>
                                  </p:attrNameLst>
                                </p:cBhvr>
                                <p:tavLst>
                                  <p:tav tm="0">
                                    <p:val>
                                      <p:strVal val="#ppt_w*0.85"/>
                                    </p:val>
                                  </p:tav>
                                  <p:tav tm="100000">
                                    <p:val>
                                      <p:strVal val="#ppt_w"/>
                                    </p:val>
                                  </p:tav>
                                </p:tavLst>
                              </p:anim>
                              <p:animEffect transition="in" filter="fade">
                                <p:cBhvr>
                                  <p:cTn id="143" dur="450"/>
                                  <p:tgtEl>
                                    <p:spTgt spid="37"/>
                                  </p:tgtEl>
                                </p:cBhvr>
                              </p:animEffect>
                            </p:childTnLst>
                          </p:cTn>
                        </p:par>
                        <p:par>
                          <p:cTn id="144" presetID="53" presetClass="entr" presetSubtype="16" fill="hold" nodeType="withEffect">
                            <p:stCondLst>
                              <p:cond delay="2600"/>
                            </p:stCondLst>
                            <p:childTnLst>
                              <p:set>
                                <p:cBhvr>
                                  <p:cTn id="145" dur="1" fill="hold">
                                    <p:stCondLst>
                                      <p:cond delay="0"/>
                                    </p:stCondLst>
                                  </p:cTn>
                                  <p:tgtEl>
                                    <p:spTgt spid="38"/>
                                  </p:tgtEl>
                                  <p:attrNameLst>
                                    <p:attrName>style.visibility</p:attrName>
                                  </p:attrNameLst>
                                </p:cBhvr>
                                <p:to>
                                  <p:strVal val="visible"/>
                                </p:to>
                              </p:set>
                              <p:anim calcmode="lin" valueType="num">
                                <p:cBhvr>
                                  <p:cTn id="146" dur="450" fill="hold"/>
                                  <p:tgtEl>
                                    <p:spTgt spid="38"/>
                                  </p:tgtEl>
                                  <p:attrNameLst>
                                    <p:attrName>ppt_w</p:attrName>
                                  </p:attrNameLst>
                                </p:cBhvr>
                                <p:tavLst>
                                  <p:tav tm="0">
                                    <p:val>
                                      <p:strVal val="#ppt_w*0.85"/>
                                    </p:val>
                                  </p:tav>
                                  <p:tav tm="100000">
                                    <p:val>
                                      <p:strVal val="#ppt_w"/>
                                    </p:val>
                                  </p:tav>
                                </p:tavLst>
                              </p:anim>
                              <p:animEffect transition="in" filter="fade">
                                <p:cBhvr>
                                  <p:cTn id="147" dur="450"/>
                                  <p:tgtEl>
                                    <p:spTgt spid="38"/>
                                  </p:tgtEl>
                                </p:cBhvr>
                              </p:animEffect>
                            </p:childTnLst>
                          </p:cTn>
                        </p:par>
                        <p:par>
                          <p:cTn id="148" presetID="53" presetClass="entr" presetSubtype="16" fill="hold" nodeType="withEffect">
                            <p:stCondLst>
                              <p:cond delay="2600"/>
                            </p:stCondLst>
                            <p:childTnLst>
                              <p:set>
                                <p:cBhvr>
                                  <p:cTn id="149" dur="1" fill="hold">
                                    <p:stCondLst>
                                      <p:cond delay="0"/>
                                    </p:stCondLst>
                                  </p:cTn>
                                  <p:tgtEl>
                                    <p:spTgt spid="39"/>
                                  </p:tgtEl>
                                  <p:attrNameLst>
                                    <p:attrName>style.visibility</p:attrName>
                                  </p:attrNameLst>
                                </p:cBhvr>
                                <p:to>
                                  <p:strVal val="visible"/>
                                </p:to>
                              </p:set>
                              <p:anim calcmode="lin" valueType="num">
                                <p:cBhvr>
                                  <p:cTn id="150" dur="450" fill="hold"/>
                                  <p:tgtEl>
                                    <p:spTgt spid="39"/>
                                  </p:tgtEl>
                                  <p:attrNameLst>
                                    <p:attrName>ppt_w</p:attrName>
                                  </p:attrNameLst>
                                </p:cBhvr>
                                <p:tavLst>
                                  <p:tav tm="0">
                                    <p:val>
                                      <p:strVal val="#ppt_w*0.85"/>
                                    </p:val>
                                  </p:tav>
                                  <p:tav tm="100000">
                                    <p:val>
                                      <p:strVal val="#ppt_w"/>
                                    </p:val>
                                  </p:tav>
                                </p:tavLst>
                              </p:anim>
                              <p:animEffect transition="in" filter="fade">
                                <p:cBhvr>
                                  <p:cTn id="151" dur="450"/>
                                  <p:tgtEl>
                                    <p:spTgt spid="39"/>
                                  </p:tgtEl>
                                </p:cBhvr>
                              </p:animEffect>
                            </p:childTnLst>
                          </p:cTn>
                        </p:par>
                        <p:par>
                          <p:cTn id="152" presetID="53" presetClass="entr" presetSubtype="16" fill="hold" nodeType="withEffect">
                            <p:stCondLst>
                              <p:cond delay="2600"/>
                            </p:stCondLst>
                            <p:childTnLst>
                              <p:set>
                                <p:cBhvr>
                                  <p:cTn id="153" dur="1" fill="hold">
                                    <p:stCondLst>
                                      <p:cond delay="0"/>
                                    </p:stCondLst>
                                  </p:cTn>
                                  <p:tgtEl>
                                    <p:spTgt spid="40"/>
                                  </p:tgtEl>
                                  <p:attrNameLst>
                                    <p:attrName>style.visibility</p:attrName>
                                  </p:attrNameLst>
                                </p:cBhvr>
                                <p:to>
                                  <p:strVal val="visible"/>
                                </p:to>
                              </p:set>
                              <p:anim calcmode="lin" valueType="num">
                                <p:cBhvr>
                                  <p:cTn id="154" dur="450" fill="hold"/>
                                  <p:tgtEl>
                                    <p:spTgt spid="40"/>
                                  </p:tgtEl>
                                  <p:attrNameLst>
                                    <p:attrName>ppt_w</p:attrName>
                                  </p:attrNameLst>
                                </p:cBhvr>
                                <p:tavLst>
                                  <p:tav tm="0">
                                    <p:val>
                                      <p:strVal val="#ppt_w*0.85"/>
                                    </p:val>
                                  </p:tav>
                                  <p:tav tm="100000">
                                    <p:val>
                                      <p:strVal val="#ppt_w"/>
                                    </p:val>
                                  </p:tav>
                                </p:tavLst>
                              </p:anim>
                              <p:animEffect transition="in" filter="fade">
                                <p:cBhvr>
                                  <p:cTn id="155" dur="450"/>
                                  <p:tgtEl>
                                    <p:spTgt spid="4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p:bldP spid="9" grpId="0"/>
      <p:bldP spid="11" grpId="0"/>
      <p:bldP spid="12" grpId="0"/>
      <p:bldP spid="14" grpId="0"/>
      <p:bldP spid="15" grpId="0"/>
      <p:bldP spid="17" grpId="0"/>
      <p:bldP spid="18" grpId="0"/>
      <p:bldP spid="20" grpId="0"/>
      <p:bldP spid="21" grpId="0"/>
      <p:bldP spid="24" grpId="0"/>
      <p:bldP spid="25" grpId="0"/>
      <p:bldP spid="27" grpId="0"/>
      <p:bldP spid="28" grpId="0"/>
      <p:bldP spid="30" grpId="0"/>
      <p:bldP spid="31" grpId="0"/>
      <p:bldP spid="33" grpId="0"/>
      <p:bldP spid="34" grpId="0"/>
      <p:bldP spid="36" grpId="0"/>
      <p:bldP spid="37" grpId="0"/>
      <p:bldP spid="39" grpId="0"/>
      <p:bldP spid="40" grpId="0"/>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3/4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 Girouette</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T'as raison… Toi aussi, t'as raison. »</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Aucun : elle les subit (28, rire de la salle)</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 besoin d'harmonie, la peur du conflit.</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Si tu devais choisir une seule position?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Écoute et ouverture.</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Donne raison à la dernière personne qui a parlé.</a:t>
            </a:r>
            <a:endParaRPr lang="en-US" sz="1400" dirty="0"/>
          </a:p>
        </p:txBody>
      </p:sp>
      <p:sp>
        <p:nvSpPr>
          <p:cNvPr id="22" name="Shape 19"/>
          <p:cNvSpPr/>
          <p:nvPr/>
        </p:nvSpPr>
        <p:spPr>
          <a:xfrm>
            <a:off x="6172200" y="1280160"/>
            <a:ext cx="5440680" cy="4937760"/>
          </a:xfrm>
          <a:prstGeom prst="rect">
            <a:avLst/>
          </a:prstGeom>
          <a:solidFill>
            <a:schemeClr val="bg1"/>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 Tortue</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 » ou « Je sais pas » (alors qu'elle sait)</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Aucun : elle se retire</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La peur du jugement, le besoin de sécurité.</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Temps d'écriture d'abord, puis une question précise.</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Observe et réfléchit : détient souvent la meilleure idée.</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Reste muet·te, sauf si on t'invite très clairement.</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par>
                          <p:cTn id="108" presetID="53" presetClass="entr" presetSubtype="16" fill="hold" nodeType="withEffect">
                            <p:stCondLst>
                              <p:cond delay="2600"/>
                            </p:stCondLst>
                            <p:childTnLst>
                              <p:set>
                                <p:cBhvr>
                                  <p:cTn id="109" dur="1" fill="hold">
                                    <p:stCondLst>
                                      <p:cond delay="0"/>
                                    </p:stCondLst>
                                  </p:cTn>
                                  <p:tgtEl>
                                    <p:spTgt spid="29"/>
                                  </p:tgtEl>
                                  <p:attrNameLst>
                                    <p:attrName>style.visibility</p:attrName>
                                  </p:attrNameLst>
                                </p:cBhvr>
                                <p:to>
                                  <p:strVal val="visible"/>
                                </p:to>
                              </p:set>
                              <p:anim calcmode="lin" valueType="num">
                                <p:cBhvr>
                                  <p:cTn id="110" dur="450" fill="hold"/>
                                  <p:tgtEl>
                                    <p:spTgt spid="29"/>
                                  </p:tgtEl>
                                  <p:attrNameLst>
                                    <p:attrName>ppt_w</p:attrName>
                                  </p:attrNameLst>
                                </p:cBhvr>
                                <p:tavLst>
                                  <p:tav tm="0">
                                    <p:val>
                                      <p:strVal val="#ppt_w*0.85"/>
                                    </p:val>
                                  </p:tav>
                                  <p:tav tm="100000">
                                    <p:val>
                                      <p:strVal val="#ppt_w"/>
                                    </p:val>
                                  </p:tav>
                                </p:tavLst>
                              </p:anim>
                              <p:animEffect transition="in" filter="fade">
                                <p:cBhvr>
                                  <p:cTn id="111" dur="450"/>
                                  <p:tgtEl>
                                    <p:spTgt spid="29"/>
                                  </p:tgtEl>
                                </p:cBhvr>
                              </p:animEffect>
                            </p:childTnLst>
                          </p:cTn>
                        </p:par>
                        <p:par>
                          <p:cTn id="112" presetID="53" presetClass="entr" presetSubtype="16" fill="hold" nodeType="withEffect">
                            <p:stCondLst>
                              <p:cond delay="2600"/>
                            </p:stCondLst>
                            <p:childTnLst>
                              <p:set>
                                <p:cBhvr>
                                  <p:cTn id="113" dur="1" fill="hold">
                                    <p:stCondLst>
                                      <p:cond delay="0"/>
                                    </p:stCondLst>
                                  </p:cTn>
                                  <p:tgtEl>
                                    <p:spTgt spid="30"/>
                                  </p:tgtEl>
                                  <p:attrNameLst>
                                    <p:attrName>style.visibility</p:attrName>
                                  </p:attrNameLst>
                                </p:cBhvr>
                                <p:to>
                                  <p:strVal val="visible"/>
                                </p:to>
                              </p:set>
                              <p:anim calcmode="lin" valueType="num">
                                <p:cBhvr>
                                  <p:cTn id="114" dur="450" fill="hold"/>
                                  <p:tgtEl>
                                    <p:spTgt spid="30"/>
                                  </p:tgtEl>
                                  <p:attrNameLst>
                                    <p:attrName>ppt_w</p:attrName>
                                  </p:attrNameLst>
                                </p:cBhvr>
                                <p:tavLst>
                                  <p:tav tm="0">
                                    <p:val>
                                      <p:strVal val="#ppt_w*0.85"/>
                                    </p:val>
                                  </p:tav>
                                  <p:tav tm="100000">
                                    <p:val>
                                      <p:strVal val="#ppt_w"/>
                                    </p:val>
                                  </p:tav>
                                </p:tavLst>
                              </p:anim>
                              <p:animEffect transition="in" filter="fade">
                                <p:cBhvr>
                                  <p:cTn id="115" dur="450"/>
                                  <p:tgtEl>
                                    <p:spTgt spid="30"/>
                                  </p:tgtEl>
                                </p:cBhvr>
                              </p:animEffect>
                            </p:childTnLst>
                          </p:cTn>
                        </p:par>
                        <p:par>
                          <p:cTn id="116" presetID="53" presetClass="entr" presetSubtype="16" fill="hold" nodeType="withEffect">
                            <p:stCondLst>
                              <p:cond delay="2600"/>
                            </p:stCondLst>
                            <p:childTnLst>
                              <p:set>
                                <p:cBhvr>
                                  <p:cTn id="117" dur="1" fill="hold">
                                    <p:stCondLst>
                                      <p:cond delay="0"/>
                                    </p:stCondLst>
                                  </p:cTn>
                                  <p:tgtEl>
                                    <p:spTgt spid="31"/>
                                  </p:tgtEl>
                                  <p:attrNameLst>
                                    <p:attrName>style.visibility</p:attrName>
                                  </p:attrNameLst>
                                </p:cBhvr>
                                <p:to>
                                  <p:strVal val="visible"/>
                                </p:to>
                              </p:set>
                              <p:anim calcmode="lin" valueType="num">
                                <p:cBhvr>
                                  <p:cTn id="118" dur="450" fill="hold"/>
                                  <p:tgtEl>
                                    <p:spTgt spid="31"/>
                                  </p:tgtEl>
                                  <p:attrNameLst>
                                    <p:attrName>ppt_w</p:attrName>
                                  </p:attrNameLst>
                                </p:cBhvr>
                                <p:tavLst>
                                  <p:tav tm="0">
                                    <p:val>
                                      <p:strVal val="#ppt_w*0.85"/>
                                    </p:val>
                                  </p:tav>
                                  <p:tav tm="100000">
                                    <p:val>
                                      <p:strVal val="#ppt_w"/>
                                    </p:val>
                                  </p:tav>
                                </p:tavLst>
                              </p:anim>
                              <p:animEffect transition="in" filter="fade">
                                <p:cBhvr>
                                  <p:cTn id="119" dur="450"/>
                                  <p:tgtEl>
                                    <p:spTgt spid="31"/>
                                  </p:tgtEl>
                                </p:cBhvr>
                              </p:animEffect>
                            </p:childTnLst>
                          </p:cTn>
                        </p:par>
                        <p:par>
                          <p:cTn id="120" presetID="53" presetClass="entr" presetSubtype="16" fill="hold" nodeType="withEffect">
                            <p:stCondLst>
                              <p:cond delay="2600"/>
                            </p:stCondLst>
                            <p:childTnLst>
                              <p:set>
                                <p:cBhvr>
                                  <p:cTn id="121" dur="1" fill="hold">
                                    <p:stCondLst>
                                      <p:cond delay="0"/>
                                    </p:stCondLst>
                                  </p:cTn>
                                  <p:tgtEl>
                                    <p:spTgt spid="32"/>
                                  </p:tgtEl>
                                  <p:attrNameLst>
                                    <p:attrName>style.visibility</p:attrName>
                                  </p:attrNameLst>
                                </p:cBhvr>
                                <p:to>
                                  <p:strVal val="visible"/>
                                </p:to>
                              </p:set>
                              <p:anim calcmode="lin" valueType="num">
                                <p:cBhvr>
                                  <p:cTn id="122" dur="450" fill="hold"/>
                                  <p:tgtEl>
                                    <p:spTgt spid="32"/>
                                  </p:tgtEl>
                                  <p:attrNameLst>
                                    <p:attrName>ppt_w</p:attrName>
                                  </p:attrNameLst>
                                </p:cBhvr>
                                <p:tavLst>
                                  <p:tav tm="0">
                                    <p:val>
                                      <p:strVal val="#ppt_w*0.85"/>
                                    </p:val>
                                  </p:tav>
                                  <p:tav tm="100000">
                                    <p:val>
                                      <p:strVal val="#ppt_w"/>
                                    </p:val>
                                  </p:tav>
                                </p:tavLst>
                              </p:anim>
                              <p:animEffect transition="in" filter="fade">
                                <p:cBhvr>
                                  <p:cTn id="123" dur="450"/>
                                  <p:tgtEl>
                                    <p:spTgt spid="32"/>
                                  </p:tgtEl>
                                </p:cBhvr>
                              </p:animEffect>
                            </p:childTnLst>
                          </p:cTn>
                        </p:par>
                        <p:par>
                          <p:cTn id="124" presetID="53" presetClass="entr" presetSubtype="16" fill="hold" nodeType="withEffect">
                            <p:stCondLst>
                              <p:cond delay="2600"/>
                            </p:stCondLst>
                            <p:childTnLst>
                              <p:set>
                                <p:cBhvr>
                                  <p:cTn id="125" dur="1" fill="hold">
                                    <p:stCondLst>
                                      <p:cond delay="0"/>
                                    </p:stCondLst>
                                  </p:cTn>
                                  <p:tgtEl>
                                    <p:spTgt spid="33"/>
                                  </p:tgtEl>
                                  <p:attrNameLst>
                                    <p:attrName>style.visibility</p:attrName>
                                  </p:attrNameLst>
                                </p:cBhvr>
                                <p:to>
                                  <p:strVal val="visible"/>
                                </p:to>
                              </p:set>
                              <p:anim calcmode="lin" valueType="num">
                                <p:cBhvr>
                                  <p:cTn id="126" dur="450" fill="hold"/>
                                  <p:tgtEl>
                                    <p:spTgt spid="33"/>
                                  </p:tgtEl>
                                  <p:attrNameLst>
                                    <p:attrName>ppt_w</p:attrName>
                                  </p:attrNameLst>
                                </p:cBhvr>
                                <p:tavLst>
                                  <p:tav tm="0">
                                    <p:val>
                                      <p:strVal val="#ppt_w*0.85"/>
                                    </p:val>
                                  </p:tav>
                                  <p:tav tm="100000">
                                    <p:val>
                                      <p:strVal val="#ppt_w"/>
                                    </p:val>
                                  </p:tav>
                                </p:tavLst>
                              </p:anim>
                              <p:animEffect transition="in" filter="fade">
                                <p:cBhvr>
                                  <p:cTn id="127" dur="450"/>
                                  <p:tgtEl>
                                    <p:spTgt spid="33"/>
                                  </p:tgtEl>
                                </p:cBhvr>
                              </p:animEffect>
                            </p:childTnLst>
                          </p:cTn>
                        </p:par>
                        <p:par>
                          <p:cTn id="128" presetID="53" presetClass="entr" presetSubtype="16" fill="hold" nodeType="withEffect">
                            <p:stCondLst>
                              <p:cond delay="2600"/>
                            </p:stCondLst>
                            <p:childTnLst>
                              <p:set>
                                <p:cBhvr>
                                  <p:cTn id="129" dur="1" fill="hold">
                                    <p:stCondLst>
                                      <p:cond delay="0"/>
                                    </p:stCondLst>
                                  </p:cTn>
                                  <p:tgtEl>
                                    <p:spTgt spid="34"/>
                                  </p:tgtEl>
                                  <p:attrNameLst>
                                    <p:attrName>style.visibility</p:attrName>
                                  </p:attrNameLst>
                                </p:cBhvr>
                                <p:to>
                                  <p:strVal val="visible"/>
                                </p:to>
                              </p:set>
                              <p:anim calcmode="lin" valueType="num">
                                <p:cBhvr>
                                  <p:cTn id="130" dur="450" fill="hold"/>
                                  <p:tgtEl>
                                    <p:spTgt spid="34"/>
                                  </p:tgtEl>
                                  <p:attrNameLst>
                                    <p:attrName>ppt_w</p:attrName>
                                  </p:attrNameLst>
                                </p:cBhvr>
                                <p:tavLst>
                                  <p:tav tm="0">
                                    <p:val>
                                      <p:strVal val="#ppt_w*0.85"/>
                                    </p:val>
                                  </p:tav>
                                  <p:tav tm="100000">
                                    <p:val>
                                      <p:strVal val="#ppt_w"/>
                                    </p:val>
                                  </p:tav>
                                </p:tavLst>
                              </p:anim>
                              <p:animEffect transition="in" filter="fade">
                                <p:cBhvr>
                                  <p:cTn id="131" dur="450"/>
                                  <p:tgtEl>
                                    <p:spTgt spid="34"/>
                                  </p:tgtEl>
                                </p:cBhvr>
                              </p:animEffect>
                            </p:childTnLst>
                          </p:cTn>
                        </p:par>
                        <p:par>
                          <p:cTn id="132" presetID="53" presetClass="entr" presetSubtype="16" fill="hold" nodeType="withEffect">
                            <p:stCondLst>
                              <p:cond delay="2600"/>
                            </p:stCondLst>
                            <p:childTnLst>
                              <p:set>
                                <p:cBhvr>
                                  <p:cTn id="133" dur="1" fill="hold">
                                    <p:stCondLst>
                                      <p:cond delay="0"/>
                                    </p:stCondLst>
                                  </p:cTn>
                                  <p:tgtEl>
                                    <p:spTgt spid="35"/>
                                  </p:tgtEl>
                                  <p:attrNameLst>
                                    <p:attrName>style.visibility</p:attrName>
                                  </p:attrNameLst>
                                </p:cBhvr>
                                <p:to>
                                  <p:strVal val="visible"/>
                                </p:to>
                              </p:set>
                              <p:anim calcmode="lin" valueType="num">
                                <p:cBhvr>
                                  <p:cTn id="134" dur="450" fill="hold"/>
                                  <p:tgtEl>
                                    <p:spTgt spid="35"/>
                                  </p:tgtEl>
                                  <p:attrNameLst>
                                    <p:attrName>ppt_w</p:attrName>
                                  </p:attrNameLst>
                                </p:cBhvr>
                                <p:tavLst>
                                  <p:tav tm="0">
                                    <p:val>
                                      <p:strVal val="#ppt_w*0.85"/>
                                    </p:val>
                                  </p:tav>
                                  <p:tav tm="100000">
                                    <p:val>
                                      <p:strVal val="#ppt_w"/>
                                    </p:val>
                                  </p:tav>
                                </p:tavLst>
                              </p:anim>
                              <p:animEffect transition="in" filter="fade">
                                <p:cBhvr>
                                  <p:cTn id="135" dur="450"/>
                                  <p:tgtEl>
                                    <p:spTgt spid="35"/>
                                  </p:tgtEl>
                                </p:cBhvr>
                              </p:animEffect>
                            </p:childTnLst>
                          </p:cTn>
                        </p:par>
                        <p:par>
                          <p:cTn id="136" presetID="53" presetClass="entr" presetSubtype="16" fill="hold" nodeType="withEffect">
                            <p:stCondLst>
                              <p:cond delay="2600"/>
                            </p:stCondLst>
                            <p:childTnLst>
                              <p:set>
                                <p:cBhvr>
                                  <p:cTn id="137" dur="1" fill="hold">
                                    <p:stCondLst>
                                      <p:cond delay="0"/>
                                    </p:stCondLst>
                                  </p:cTn>
                                  <p:tgtEl>
                                    <p:spTgt spid="36"/>
                                  </p:tgtEl>
                                  <p:attrNameLst>
                                    <p:attrName>style.visibility</p:attrName>
                                  </p:attrNameLst>
                                </p:cBhvr>
                                <p:to>
                                  <p:strVal val="visible"/>
                                </p:to>
                              </p:set>
                              <p:anim calcmode="lin" valueType="num">
                                <p:cBhvr>
                                  <p:cTn id="138" dur="450" fill="hold"/>
                                  <p:tgtEl>
                                    <p:spTgt spid="36"/>
                                  </p:tgtEl>
                                  <p:attrNameLst>
                                    <p:attrName>ppt_w</p:attrName>
                                  </p:attrNameLst>
                                </p:cBhvr>
                                <p:tavLst>
                                  <p:tav tm="0">
                                    <p:val>
                                      <p:strVal val="#ppt_w*0.85"/>
                                    </p:val>
                                  </p:tav>
                                  <p:tav tm="100000">
                                    <p:val>
                                      <p:strVal val="#ppt_w"/>
                                    </p:val>
                                  </p:tav>
                                </p:tavLst>
                              </p:anim>
                              <p:animEffect transition="in" filter="fade">
                                <p:cBhvr>
                                  <p:cTn id="139" dur="450"/>
                                  <p:tgtEl>
                                    <p:spTgt spid="36"/>
                                  </p:tgtEl>
                                </p:cBhvr>
                              </p:animEffect>
                            </p:childTnLst>
                          </p:cTn>
                        </p:par>
                        <p:par>
                          <p:cTn id="140" presetID="53" presetClass="entr" presetSubtype="16" fill="hold" nodeType="withEffect">
                            <p:stCondLst>
                              <p:cond delay="2600"/>
                            </p:stCondLst>
                            <p:childTnLst>
                              <p:set>
                                <p:cBhvr>
                                  <p:cTn id="141" dur="1" fill="hold">
                                    <p:stCondLst>
                                      <p:cond delay="0"/>
                                    </p:stCondLst>
                                  </p:cTn>
                                  <p:tgtEl>
                                    <p:spTgt spid="37"/>
                                  </p:tgtEl>
                                  <p:attrNameLst>
                                    <p:attrName>style.visibility</p:attrName>
                                  </p:attrNameLst>
                                </p:cBhvr>
                                <p:to>
                                  <p:strVal val="visible"/>
                                </p:to>
                              </p:set>
                              <p:anim calcmode="lin" valueType="num">
                                <p:cBhvr>
                                  <p:cTn id="142" dur="450" fill="hold"/>
                                  <p:tgtEl>
                                    <p:spTgt spid="37"/>
                                  </p:tgtEl>
                                  <p:attrNameLst>
                                    <p:attrName>ppt_w</p:attrName>
                                  </p:attrNameLst>
                                </p:cBhvr>
                                <p:tavLst>
                                  <p:tav tm="0">
                                    <p:val>
                                      <p:strVal val="#ppt_w*0.85"/>
                                    </p:val>
                                  </p:tav>
                                  <p:tav tm="100000">
                                    <p:val>
                                      <p:strVal val="#ppt_w"/>
                                    </p:val>
                                  </p:tav>
                                </p:tavLst>
                              </p:anim>
                              <p:animEffect transition="in" filter="fade">
                                <p:cBhvr>
                                  <p:cTn id="143" dur="450"/>
                                  <p:tgtEl>
                                    <p:spTgt spid="37"/>
                                  </p:tgtEl>
                                </p:cBhvr>
                              </p:animEffect>
                            </p:childTnLst>
                          </p:cTn>
                        </p:par>
                        <p:par>
                          <p:cTn id="144" presetID="53" presetClass="entr" presetSubtype="16" fill="hold" nodeType="withEffect">
                            <p:stCondLst>
                              <p:cond delay="2600"/>
                            </p:stCondLst>
                            <p:childTnLst>
                              <p:set>
                                <p:cBhvr>
                                  <p:cTn id="145" dur="1" fill="hold">
                                    <p:stCondLst>
                                      <p:cond delay="0"/>
                                    </p:stCondLst>
                                  </p:cTn>
                                  <p:tgtEl>
                                    <p:spTgt spid="38"/>
                                  </p:tgtEl>
                                  <p:attrNameLst>
                                    <p:attrName>style.visibility</p:attrName>
                                  </p:attrNameLst>
                                </p:cBhvr>
                                <p:to>
                                  <p:strVal val="visible"/>
                                </p:to>
                              </p:set>
                              <p:anim calcmode="lin" valueType="num">
                                <p:cBhvr>
                                  <p:cTn id="146" dur="450" fill="hold"/>
                                  <p:tgtEl>
                                    <p:spTgt spid="38"/>
                                  </p:tgtEl>
                                  <p:attrNameLst>
                                    <p:attrName>ppt_w</p:attrName>
                                  </p:attrNameLst>
                                </p:cBhvr>
                                <p:tavLst>
                                  <p:tav tm="0">
                                    <p:val>
                                      <p:strVal val="#ppt_w*0.85"/>
                                    </p:val>
                                  </p:tav>
                                  <p:tav tm="100000">
                                    <p:val>
                                      <p:strVal val="#ppt_w"/>
                                    </p:val>
                                  </p:tav>
                                </p:tavLst>
                              </p:anim>
                              <p:animEffect transition="in" filter="fade">
                                <p:cBhvr>
                                  <p:cTn id="147" dur="450"/>
                                  <p:tgtEl>
                                    <p:spTgt spid="38"/>
                                  </p:tgtEl>
                                </p:cBhvr>
                              </p:animEffect>
                            </p:childTnLst>
                          </p:cTn>
                        </p:par>
                        <p:par>
                          <p:cTn id="148" presetID="53" presetClass="entr" presetSubtype="16" fill="hold" nodeType="withEffect">
                            <p:stCondLst>
                              <p:cond delay="2600"/>
                            </p:stCondLst>
                            <p:childTnLst>
                              <p:set>
                                <p:cBhvr>
                                  <p:cTn id="149" dur="1" fill="hold">
                                    <p:stCondLst>
                                      <p:cond delay="0"/>
                                    </p:stCondLst>
                                  </p:cTn>
                                  <p:tgtEl>
                                    <p:spTgt spid="39"/>
                                  </p:tgtEl>
                                  <p:attrNameLst>
                                    <p:attrName>style.visibility</p:attrName>
                                  </p:attrNameLst>
                                </p:cBhvr>
                                <p:to>
                                  <p:strVal val="visible"/>
                                </p:to>
                              </p:set>
                              <p:anim calcmode="lin" valueType="num">
                                <p:cBhvr>
                                  <p:cTn id="150" dur="450" fill="hold"/>
                                  <p:tgtEl>
                                    <p:spTgt spid="39"/>
                                  </p:tgtEl>
                                  <p:attrNameLst>
                                    <p:attrName>ppt_w</p:attrName>
                                  </p:attrNameLst>
                                </p:cBhvr>
                                <p:tavLst>
                                  <p:tav tm="0">
                                    <p:val>
                                      <p:strVal val="#ppt_w*0.85"/>
                                    </p:val>
                                  </p:tav>
                                  <p:tav tm="100000">
                                    <p:val>
                                      <p:strVal val="#ppt_w"/>
                                    </p:val>
                                  </p:tav>
                                </p:tavLst>
                              </p:anim>
                              <p:animEffect transition="in" filter="fade">
                                <p:cBhvr>
                                  <p:cTn id="151" dur="450"/>
                                  <p:tgtEl>
                                    <p:spTgt spid="39"/>
                                  </p:tgtEl>
                                </p:cBhvr>
                              </p:animEffect>
                            </p:childTnLst>
                          </p:cTn>
                        </p:par>
                        <p:par>
                          <p:cTn id="152" presetID="53" presetClass="entr" presetSubtype="16" fill="hold" nodeType="withEffect">
                            <p:stCondLst>
                              <p:cond delay="2600"/>
                            </p:stCondLst>
                            <p:childTnLst>
                              <p:set>
                                <p:cBhvr>
                                  <p:cTn id="153" dur="1" fill="hold">
                                    <p:stCondLst>
                                      <p:cond delay="0"/>
                                    </p:stCondLst>
                                  </p:cTn>
                                  <p:tgtEl>
                                    <p:spTgt spid="40"/>
                                  </p:tgtEl>
                                  <p:attrNameLst>
                                    <p:attrName>style.visibility</p:attrName>
                                  </p:attrNameLst>
                                </p:cBhvr>
                                <p:to>
                                  <p:strVal val="visible"/>
                                </p:to>
                              </p:set>
                              <p:anim calcmode="lin" valueType="num">
                                <p:cBhvr>
                                  <p:cTn id="154" dur="450" fill="hold"/>
                                  <p:tgtEl>
                                    <p:spTgt spid="40"/>
                                  </p:tgtEl>
                                  <p:attrNameLst>
                                    <p:attrName>ppt_w</p:attrName>
                                  </p:attrNameLst>
                                </p:cBhvr>
                                <p:tavLst>
                                  <p:tav tm="0">
                                    <p:val>
                                      <p:strVal val="#ppt_w*0.85"/>
                                    </p:val>
                                  </p:tav>
                                  <p:tav tm="100000">
                                    <p:val>
                                      <p:strVal val="#ppt_w"/>
                                    </p:val>
                                  </p:tav>
                                </p:tavLst>
                              </p:anim>
                              <p:animEffect transition="in" filter="fade">
                                <p:cBhvr>
                                  <p:cTn id="155" dur="450"/>
                                  <p:tgtEl>
                                    <p:spTgt spid="4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p:bldP spid="9" grpId="0"/>
      <p:bldP spid="11" grpId="0"/>
      <p:bldP spid="12" grpId="0"/>
      <p:bldP spid="14" grpId="0"/>
      <p:bldP spid="15" grpId="0"/>
      <p:bldP spid="17" grpId="0"/>
      <p:bldP spid="18" grpId="0"/>
      <p:bldP spid="20" grpId="0"/>
      <p:bldP spid="21" grpId="0"/>
      <p:bldP spid="24" grpId="0"/>
      <p:bldP spid="25" grpId="0"/>
      <p:bldP spid="27" grpId="0"/>
      <p:bldP spid="28" grpId="0"/>
      <p:bldP spid="30" grpId="0"/>
      <p:bldP spid="31" grpId="0"/>
      <p:bldP spid="33" grpId="0"/>
      <p:bldP spid="34" grpId="0"/>
      <p:bldP spid="36" grpId="0"/>
      <p:bldP spid="37" grpId="0"/>
      <p:bldP spid="39" grpId="0"/>
      <p:bldP spid="40" grpId="0"/>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9235440" cy="868680"/>
          </a:xfrm>
          <a:prstGeom prst="rect">
            <a:avLst/>
          </a:prstGeom>
          <a:noFill/>
          <a:ln/>
        </p:spPr>
        <p:txBody>
          <a:bodyPr wrap="square" lIns="0" tIns="0" rIns="0" bIns="0" rtlCol="0" anchor="t"/>
          <a:lstStyle/>
          <a:p>
            <a:pPr algn="l" indent="0" marL="0">
              <a:buNone/>
            </a:pPr>
            <a:r>
              <a:rPr lang="en-US" sz="3600" dirty="0">
                <a:solidFill>
                  <a:schemeClr val="accent1"/>
                </a:solidFill>
              </a:rPr>
              <a:t>Fiches d'identité · 4/4</a:t>
            </a:r>
            <a:endParaRPr lang="en-US" sz="3600" dirty="0"/>
          </a:p>
        </p:txBody>
      </p:sp>
      <p:sp>
        <p:nvSpPr>
          <p:cNvPr id="3" name="Shape 1"/>
          <p:cNvSpPr/>
          <p:nvPr/>
        </p:nvSpPr>
        <p:spPr>
          <a:xfrm>
            <a:off x="548640" y="1280160"/>
            <a:ext cx="5440680" cy="4937760"/>
          </a:xfrm>
          <a:prstGeom prst="rect">
            <a:avLst/>
          </a:prstGeom>
          <a:solidFill>
            <a:schemeClr val="bg1"/>
          </a:solidFill>
          <a:ln w="25400">
            <a:solidFill>
              <a:schemeClr val="tx1"/>
            </a:solidFill>
            <a:prstDash val="solid"/>
          </a:ln>
        </p:spPr>
      </p:sp>
      <p:pic>
        <p:nvPicPr>
          <p:cNvPr id="4" name="Image 0" descr="preencoded.png">    </p:cNvPr>
          <p:cNvPicPr>
            <a:picLocks noChangeAspect="1"/>
          </p:cNvPicPr>
          <p:nvPr/>
        </p:nvPicPr>
        <p:blipFill>
          <a:blip r:embed="rId1"/>
          <a:stretch>
            <a:fillRect/>
          </a:stretch>
        </p:blipFill>
        <p:spPr>
          <a:xfrm>
            <a:off x="685800" y="1389888"/>
            <a:ext cx="868680" cy="1051560"/>
          </a:xfrm>
          <a:prstGeom prst="rect">
            <a:avLst/>
          </a:prstGeom>
        </p:spPr>
      </p:pic>
      <p:sp>
        <p:nvSpPr>
          <p:cNvPr id="5" name="Text 2"/>
          <p:cNvSpPr txBox="1"/>
          <p:nvPr/>
        </p:nvSpPr>
        <p:spPr>
          <a:xfrm>
            <a:off x="164592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L'Avocat du diable</a:t>
            </a:r>
            <a:endParaRPr lang="en-US" sz="2200" dirty="0"/>
          </a:p>
        </p:txBody>
      </p:sp>
      <p:sp>
        <p:nvSpPr>
          <p:cNvPr id="6" name="Text 3"/>
          <p:cNvSpPr txBox="1"/>
          <p:nvPr/>
        </p:nvSpPr>
        <p:spPr>
          <a:xfrm>
            <a:off x="164592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Juste pour jouer l'avocat du diable… »</a:t>
            </a:r>
            <a:endParaRPr lang="en-US" sz="1400" dirty="0"/>
          </a:p>
        </p:txBody>
      </p:sp>
      <p:sp>
        <p:nvSpPr>
          <p:cNvPr id="7" name="Shape 4"/>
          <p:cNvSpPr/>
          <p:nvPr/>
        </p:nvSpPr>
        <p:spPr>
          <a:xfrm>
            <a:off x="685800" y="2578608"/>
            <a:ext cx="5166360" cy="0"/>
          </a:xfrm>
          <a:prstGeom prst="line">
            <a:avLst/>
          </a:prstGeom>
          <a:noFill/>
          <a:ln w="9525">
            <a:solidFill>
              <a:schemeClr val="tx1"/>
            </a:solidFill>
            <a:prstDash val="solid"/>
          </a:ln>
        </p:spPr>
      </p:sp>
      <p:sp>
        <p:nvSpPr>
          <p:cNvPr id="8" name="Text 5"/>
          <p:cNvSpPr txBox="1"/>
          <p:nvPr/>
        </p:nvSpPr>
        <p:spPr>
          <a:xfrm>
            <a:off x="68580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9" name="Text 6"/>
          <p:cNvSpPr txBox="1"/>
          <p:nvPr/>
        </p:nvSpPr>
        <p:spPr>
          <a:xfrm>
            <a:off x="214884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1 L'élastique · 13 Le faux choix</a:t>
            </a:r>
            <a:endParaRPr lang="en-US" sz="1400" dirty="0"/>
          </a:p>
        </p:txBody>
      </p:sp>
      <p:sp>
        <p:nvSpPr>
          <p:cNvPr id="10" name="Shape 7"/>
          <p:cNvSpPr/>
          <p:nvPr/>
        </p:nvSpPr>
        <p:spPr>
          <a:xfrm>
            <a:off x="685800" y="3300984"/>
            <a:ext cx="5166360" cy="0"/>
          </a:xfrm>
          <a:prstGeom prst="line">
            <a:avLst/>
          </a:prstGeom>
          <a:noFill/>
          <a:ln w="9525">
            <a:solidFill>
              <a:schemeClr val="tx1"/>
            </a:solidFill>
            <a:prstDash val="solid"/>
          </a:ln>
        </p:spPr>
      </p:sp>
      <p:sp>
        <p:nvSpPr>
          <p:cNvPr id="11" name="Text 8"/>
          <p:cNvSpPr txBox="1"/>
          <p:nvPr/>
        </p:nvSpPr>
        <p:spPr>
          <a:xfrm>
            <a:off x="68580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12" name="Text 9"/>
          <p:cNvSpPr txBox="1"/>
          <p:nvPr/>
        </p:nvSpPr>
        <p:spPr>
          <a:xfrm>
            <a:off x="214884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 plaisir du jeu, le besoin de stimulation.</a:t>
            </a:r>
            <a:endParaRPr lang="en-US" sz="1400" dirty="0"/>
          </a:p>
        </p:txBody>
      </p:sp>
      <p:sp>
        <p:nvSpPr>
          <p:cNvPr id="13" name="Shape 10"/>
          <p:cNvSpPr/>
          <p:nvPr/>
        </p:nvSpPr>
        <p:spPr>
          <a:xfrm>
            <a:off x="685800" y="4023360"/>
            <a:ext cx="5166360" cy="0"/>
          </a:xfrm>
          <a:prstGeom prst="line">
            <a:avLst/>
          </a:prstGeom>
          <a:noFill/>
          <a:ln w="9525">
            <a:solidFill>
              <a:schemeClr val="tx1"/>
            </a:solidFill>
            <a:prstDash val="solid"/>
          </a:ln>
        </p:spPr>
      </p:sp>
      <p:sp>
        <p:nvSpPr>
          <p:cNvPr id="14" name="Text 11"/>
          <p:cNvSpPr txBox="1"/>
          <p:nvPr/>
        </p:nvSpPr>
        <p:spPr>
          <a:xfrm>
            <a:off x="68580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Comment lui répondre</a:t>
            </a:r>
            <a:endParaRPr lang="en-US" sz="1100" dirty="0"/>
          </a:p>
        </p:txBody>
      </p:sp>
      <p:sp>
        <p:nvSpPr>
          <p:cNvPr id="15" name="Text 12"/>
          <p:cNvSpPr txBox="1"/>
          <p:nvPr/>
        </p:nvSpPr>
        <p:spPr>
          <a:xfrm>
            <a:off x="214884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 Et toi, tu penses vraiment quoi? »</a:t>
            </a:r>
            <a:endParaRPr lang="en-US" sz="1400" dirty="0"/>
          </a:p>
        </p:txBody>
      </p:sp>
      <p:sp>
        <p:nvSpPr>
          <p:cNvPr id="16" name="Shape 13"/>
          <p:cNvSpPr/>
          <p:nvPr/>
        </p:nvSpPr>
        <p:spPr>
          <a:xfrm>
            <a:off x="685800" y="4745736"/>
            <a:ext cx="5166360" cy="0"/>
          </a:xfrm>
          <a:prstGeom prst="line">
            <a:avLst/>
          </a:prstGeom>
          <a:noFill/>
          <a:ln w="9525">
            <a:solidFill>
              <a:schemeClr val="tx1"/>
            </a:solidFill>
            <a:prstDash val="solid"/>
          </a:ln>
        </p:spPr>
      </p:sp>
      <p:sp>
        <p:nvSpPr>
          <p:cNvPr id="17" name="Text 14"/>
          <p:cNvSpPr txBox="1"/>
          <p:nvPr/>
        </p:nvSpPr>
        <p:spPr>
          <a:xfrm>
            <a:off x="68580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18" name="Text 15"/>
          <p:cNvSpPr txBox="1"/>
          <p:nvPr/>
        </p:nvSpPr>
        <p:spPr>
          <a:xfrm>
            <a:off x="214884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Teste la solidité des idées. Précieux s'il l'annonce.</a:t>
            </a:r>
            <a:endParaRPr lang="en-US" sz="1400" dirty="0"/>
          </a:p>
        </p:txBody>
      </p:sp>
      <p:sp>
        <p:nvSpPr>
          <p:cNvPr id="19" name="Shape 16"/>
          <p:cNvSpPr/>
          <p:nvPr/>
        </p:nvSpPr>
        <p:spPr>
          <a:xfrm>
            <a:off x="685800" y="5468112"/>
            <a:ext cx="5166360" cy="0"/>
          </a:xfrm>
          <a:prstGeom prst="line">
            <a:avLst/>
          </a:prstGeom>
          <a:noFill/>
          <a:ln w="9525">
            <a:solidFill>
              <a:schemeClr val="tx1"/>
            </a:solidFill>
            <a:prstDash val="solid"/>
          </a:ln>
        </p:spPr>
      </p:sp>
      <p:sp>
        <p:nvSpPr>
          <p:cNvPr id="20" name="Text 17"/>
          <p:cNvSpPr txBox="1"/>
          <p:nvPr/>
        </p:nvSpPr>
        <p:spPr>
          <a:xfrm>
            <a:off x="68580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21" name="Text 18"/>
          <p:cNvSpPr txBox="1"/>
          <p:nvPr/>
        </p:nvSpPr>
        <p:spPr>
          <a:xfrm>
            <a:off x="214884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Contredis chaque affirmation, même celles que tu approuves.</a:t>
            </a:r>
            <a:endParaRPr lang="en-US" sz="1400" dirty="0"/>
          </a:p>
        </p:txBody>
      </p:sp>
      <p:sp>
        <p:nvSpPr>
          <p:cNvPr id="22" name="Shape 19"/>
          <p:cNvSpPr/>
          <p:nvPr/>
        </p:nvSpPr>
        <p:spPr>
          <a:xfrm>
            <a:off x="6172200" y="1280160"/>
            <a:ext cx="5440680" cy="4937760"/>
          </a:xfrm>
          <a:prstGeom prst="rect">
            <a:avLst/>
          </a:prstGeom>
          <a:solidFill>
            <a:schemeClr val="accent2"/>
          </a:solidFill>
          <a:ln w="25400">
            <a:solidFill>
              <a:schemeClr val="tx1"/>
            </a:solidFill>
            <a:prstDash val="solid"/>
          </a:ln>
        </p:spPr>
      </p:sp>
      <p:pic>
        <p:nvPicPr>
          <p:cNvPr id="23" name="Image 1" descr="preencoded.png">    </p:cNvPr>
          <p:cNvPicPr>
            <a:picLocks noChangeAspect="1"/>
          </p:cNvPicPr>
          <p:nvPr/>
        </p:nvPicPr>
        <p:blipFill>
          <a:blip r:embed="rId2"/>
          <a:stretch>
            <a:fillRect/>
          </a:stretch>
        </p:blipFill>
        <p:spPr>
          <a:xfrm>
            <a:off x="6309360" y="1389888"/>
            <a:ext cx="868680" cy="1051560"/>
          </a:xfrm>
          <a:prstGeom prst="rect">
            <a:avLst/>
          </a:prstGeom>
        </p:spPr>
      </p:pic>
      <p:sp>
        <p:nvSpPr>
          <p:cNvPr id="24" name="Text 20"/>
          <p:cNvSpPr txBox="1"/>
          <p:nvPr/>
        </p:nvSpPr>
        <p:spPr>
          <a:xfrm>
            <a:off x="7269480" y="1417320"/>
            <a:ext cx="4206240" cy="457200"/>
          </a:xfrm>
          <a:prstGeom prst="rect">
            <a:avLst/>
          </a:prstGeom>
          <a:noFill/>
          <a:ln/>
        </p:spPr>
        <p:txBody>
          <a:bodyPr wrap="square" lIns="0" tIns="0" rIns="0" bIns="0" rtlCol="0" anchor="t"/>
          <a:lstStyle/>
          <a:p>
            <a:pPr indent="0" marL="0">
              <a:buNone/>
            </a:pPr>
            <a:r>
              <a:rPr lang="en-US" sz="2200" dirty="0">
                <a:solidFill>
                  <a:schemeClr val="accent1"/>
                </a:solidFill>
                <a:latin typeface="Rockwell Extra Bold" pitchFamily="34" charset="0"/>
                <a:ea typeface="Rockwell Extra Bold" pitchFamily="34" charset="-122"/>
                <a:cs typeface="Rockwell Extra Bold" pitchFamily="34" charset="-120"/>
              </a:rPr>
              <a:t>Le Bâtisseur</a:t>
            </a:r>
            <a:endParaRPr lang="en-US" sz="2200" dirty="0"/>
          </a:p>
        </p:txBody>
      </p:sp>
      <p:sp>
        <p:nvSpPr>
          <p:cNvPr id="25" name="Text 21"/>
          <p:cNvSpPr txBox="1"/>
          <p:nvPr/>
        </p:nvSpPr>
        <p:spPr>
          <a:xfrm>
            <a:off x="7269480" y="1901952"/>
            <a:ext cx="4206240" cy="548640"/>
          </a:xfrm>
          <a:prstGeom prst="rect">
            <a:avLst/>
          </a:prstGeom>
          <a:noFill/>
          <a:ln/>
        </p:spPr>
        <p:txBody>
          <a:bodyPr wrap="square" lIns="0" tIns="0" rIns="0" bIns="0" rtlCol="0" anchor="t"/>
          <a:lstStyle/>
          <a:p>
            <a:pPr indent="0" marL="0">
              <a:buNone/>
            </a:pPr>
            <a:r>
              <a:rPr lang="en-US" sz="1400" b="1" i="1" dirty="0">
                <a:solidFill>
                  <a:schemeClr val="tx1"/>
                </a:solidFill>
                <a:latin typeface="Arial" pitchFamily="34" charset="0"/>
                <a:ea typeface="Arial" pitchFamily="34" charset="-122"/>
                <a:cs typeface="Arial" pitchFamily="34" charset="-120"/>
              </a:rPr>
              <a:t>« Si je te comprends bien, tu dis que… »</a:t>
            </a:r>
            <a:endParaRPr lang="en-US" sz="1400" dirty="0"/>
          </a:p>
        </p:txBody>
      </p:sp>
      <p:sp>
        <p:nvSpPr>
          <p:cNvPr id="26" name="Shape 22"/>
          <p:cNvSpPr/>
          <p:nvPr/>
        </p:nvSpPr>
        <p:spPr>
          <a:xfrm>
            <a:off x="6309360" y="2578608"/>
            <a:ext cx="5166360" cy="0"/>
          </a:xfrm>
          <a:prstGeom prst="line">
            <a:avLst/>
          </a:prstGeom>
          <a:noFill/>
          <a:ln w="9525">
            <a:solidFill>
              <a:schemeClr val="tx1"/>
            </a:solidFill>
            <a:prstDash val="solid"/>
          </a:ln>
        </p:spPr>
      </p:sp>
      <p:sp>
        <p:nvSpPr>
          <p:cNvPr id="27" name="Text 23"/>
          <p:cNvSpPr txBox="1"/>
          <p:nvPr/>
        </p:nvSpPr>
        <p:spPr>
          <a:xfrm>
            <a:off x="6309360" y="2633472"/>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Coups bas favoris</a:t>
            </a:r>
            <a:endParaRPr lang="en-US" sz="1100" dirty="0"/>
          </a:p>
        </p:txBody>
      </p:sp>
      <p:sp>
        <p:nvSpPr>
          <p:cNvPr id="28" name="Text 24"/>
          <p:cNvSpPr txBox="1"/>
          <p:nvPr/>
        </p:nvSpPr>
        <p:spPr>
          <a:xfrm>
            <a:off x="7772400" y="2633472"/>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Aucun : il applique Rapoport</a:t>
            </a:r>
            <a:endParaRPr lang="en-US" sz="1400" dirty="0"/>
          </a:p>
        </p:txBody>
      </p:sp>
      <p:sp>
        <p:nvSpPr>
          <p:cNvPr id="29" name="Shape 25"/>
          <p:cNvSpPr/>
          <p:nvPr/>
        </p:nvSpPr>
        <p:spPr>
          <a:xfrm>
            <a:off x="6309360" y="3300984"/>
            <a:ext cx="5166360" cy="0"/>
          </a:xfrm>
          <a:prstGeom prst="line">
            <a:avLst/>
          </a:prstGeom>
          <a:noFill/>
          <a:ln w="9525">
            <a:solidFill>
              <a:schemeClr val="tx1"/>
            </a:solidFill>
            <a:prstDash val="solid"/>
          </a:ln>
        </p:spPr>
      </p:sp>
      <p:sp>
        <p:nvSpPr>
          <p:cNvPr id="30" name="Text 26"/>
          <p:cNvSpPr txBox="1"/>
          <p:nvPr/>
        </p:nvSpPr>
        <p:spPr>
          <a:xfrm>
            <a:off x="6309360" y="3355848"/>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Ce qui se cache dessous</a:t>
            </a:r>
            <a:endParaRPr lang="en-US" sz="1100" dirty="0"/>
          </a:p>
        </p:txBody>
      </p:sp>
      <p:sp>
        <p:nvSpPr>
          <p:cNvPr id="31" name="Text 27"/>
          <p:cNvSpPr txBox="1"/>
          <p:nvPr/>
        </p:nvSpPr>
        <p:spPr>
          <a:xfrm>
            <a:off x="7772400" y="3355848"/>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L'envie de comprendre, pas de gagner.</a:t>
            </a:r>
            <a:endParaRPr lang="en-US" sz="1400" dirty="0"/>
          </a:p>
        </p:txBody>
      </p:sp>
      <p:sp>
        <p:nvSpPr>
          <p:cNvPr id="32" name="Shape 28"/>
          <p:cNvSpPr/>
          <p:nvPr/>
        </p:nvSpPr>
        <p:spPr>
          <a:xfrm>
            <a:off x="6309360" y="4023360"/>
            <a:ext cx="5166360" cy="0"/>
          </a:xfrm>
          <a:prstGeom prst="line">
            <a:avLst/>
          </a:prstGeom>
          <a:noFill/>
          <a:ln w="9525">
            <a:solidFill>
              <a:schemeClr val="tx1"/>
            </a:solidFill>
            <a:prstDash val="solid"/>
          </a:ln>
        </p:spPr>
      </p:sp>
      <p:sp>
        <p:nvSpPr>
          <p:cNvPr id="33" name="Text 29"/>
          <p:cNvSpPr txBox="1"/>
          <p:nvPr/>
        </p:nvSpPr>
        <p:spPr>
          <a:xfrm>
            <a:off x="6309360" y="4078224"/>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Son piège</a:t>
            </a:r>
            <a:endParaRPr lang="en-US" sz="1100" dirty="0"/>
          </a:p>
        </p:txBody>
      </p:sp>
      <p:sp>
        <p:nvSpPr>
          <p:cNvPr id="34" name="Text 30"/>
          <p:cNvSpPr txBox="1"/>
          <p:nvPr/>
        </p:nvSpPr>
        <p:spPr>
          <a:xfrm>
            <a:off x="7772400" y="4078224"/>
            <a:ext cx="3703320" cy="64008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Devenir paillasson à force de douceur.</a:t>
            </a:r>
            <a:endParaRPr lang="en-US" sz="1400" dirty="0"/>
          </a:p>
        </p:txBody>
      </p:sp>
      <p:sp>
        <p:nvSpPr>
          <p:cNvPr id="35" name="Shape 31"/>
          <p:cNvSpPr/>
          <p:nvPr/>
        </p:nvSpPr>
        <p:spPr>
          <a:xfrm>
            <a:off x="6309360" y="4745736"/>
            <a:ext cx="5166360" cy="0"/>
          </a:xfrm>
          <a:prstGeom prst="line">
            <a:avLst/>
          </a:prstGeom>
          <a:noFill/>
          <a:ln w="9525">
            <a:solidFill>
              <a:schemeClr val="tx1"/>
            </a:solidFill>
            <a:prstDash val="solid"/>
          </a:ln>
        </p:spPr>
      </p:sp>
      <p:sp>
        <p:nvSpPr>
          <p:cNvPr id="36" name="Text 32"/>
          <p:cNvSpPr txBox="1"/>
          <p:nvPr/>
        </p:nvSpPr>
        <p:spPr>
          <a:xfrm>
            <a:off x="6309360" y="4800600"/>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Sa force cachée</a:t>
            </a:r>
            <a:endParaRPr lang="en-US" sz="1100" dirty="0"/>
          </a:p>
        </p:txBody>
      </p:sp>
      <p:sp>
        <p:nvSpPr>
          <p:cNvPr id="37" name="Text 33"/>
          <p:cNvSpPr txBox="1"/>
          <p:nvPr/>
        </p:nvSpPr>
        <p:spPr>
          <a:xfrm>
            <a:off x="7772400" y="4800600"/>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Il fait progresser tout le groupe.</a:t>
            </a:r>
            <a:endParaRPr lang="en-US" sz="1400" dirty="0"/>
          </a:p>
        </p:txBody>
      </p:sp>
      <p:sp>
        <p:nvSpPr>
          <p:cNvPr id="38" name="Shape 34"/>
          <p:cNvSpPr/>
          <p:nvPr/>
        </p:nvSpPr>
        <p:spPr>
          <a:xfrm>
            <a:off x="6309360" y="5468112"/>
            <a:ext cx="5166360" cy="0"/>
          </a:xfrm>
          <a:prstGeom prst="line">
            <a:avLst/>
          </a:prstGeom>
          <a:noFill/>
          <a:ln w="9525">
            <a:solidFill>
              <a:schemeClr val="tx1"/>
            </a:solidFill>
            <a:prstDash val="solid"/>
          </a:ln>
        </p:spPr>
      </p:sp>
      <p:sp>
        <p:nvSpPr>
          <p:cNvPr id="39" name="Text 35"/>
          <p:cNvSpPr txBox="1"/>
          <p:nvPr/>
        </p:nvSpPr>
        <p:spPr>
          <a:xfrm>
            <a:off x="6309360" y="5522976"/>
            <a:ext cx="1417320" cy="621792"/>
          </a:xfrm>
          <a:prstGeom prst="rect">
            <a:avLst/>
          </a:prstGeom>
          <a:noFill/>
          <a:ln/>
        </p:spPr>
        <p:txBody>
          <a:bodyPr wrap="square" lIns="0" tIns="0" rIns="0" bIns="0" rtlCol="0" anchor="t"/>
          <a:lstStyle/>
          <a:p>
            <a:pPr indent="0" marL="0">
              <a:buNone/>
            </a:pPr>
            <a:r>
              <a:rPr lang="en-US" sz="1100" b="1" dirty="0">
                <a:solidFill>
                  <a:schemeClr val="tx2"/>
                </a:solidFill>
                <a:latin typeface="Arial" pitchFamily="34" charset="0"/>
                <a:ea typeface="Arial" pitchFamily="34" charset="-122"/>
                <a:cs typeface="Arial" pitchFamily="34" charset="-120"/>
              </a:rPr>
              <a:t>Pour le jouer au bal masqué</a:t>
            </a:r>
            <a:endParaRPr lang="en-US" sz="1100" dirty="0"/>
          </a:p>
        </p:txBody>
      </p:sp>
      <p:sp>
        <p:nvSpPr>
          <p:cNvPr id="40" name="Text 36"/>
          <p:cNvSpPr txBox="1"/>
          <p:nvPr/>
        </p:nvSpPr>
        <p:spPr>
          <a:xfrm>
            <a:off x="7772400" y="5522976"/>
            <a:ext cx="3703320" cy="640080"/>
          </a:xfrm>
          <a:prstGeom prst="rect">
            <a:avLst/>
          </a:prstGeom>
          <a:noFill/>
          <a:ln/>
        </p:spPr>
        <p:txBody>
          <a:bodyPr wrap="square" lIns="0" tIns="0" rIns="0" bIns="0" rtlCol="0" anchor="t"/>
          <a:lstStyle/>
          <a:p>
            <a:pPr indent="0" marL="0">
              <a:buNone/>
            </a:pPr>
            <a:r>
              <a:rPr lang="en-US" sz="1400" dirty="0">
                <a:solidFill>
                  <a:schemeClr val="tx1"/>
                </a:solidFill>
                <a:latin typeface="Arial" pitchFamily="34" charset="0"/>
                <a:ea typeface="Arial" pitchFamily="34" charset="-122"/>
                <a:cs typeface="Arial" pitchFamily="34" charset="-120"/>
              </a:rPr>
              <a:t>Reformule avant chaque prise de parole. Nomme un accord.</a:t>
            </a:r>
            <a:endParaRPr lang="en-US" sz="1400" dirty="0"/>
          </a:p>
        </p:txBody>
      </p:sp>
      <p:sp>
        <p:nvSpPr>
          <p:cNvPr id="25" name="Slide Number Placeholder 0"/>
          <p:cNvSpPr>
            <a:spLocks noGrp="1"/>
          </p:cNvSpPr>
          <p:nvPr>
            <p:ph type="sldNum" sz="quarter" idx="4294967295"/>
          </p:nvPr>
        </p:nvSpPr>
        <p:spPr>
          <a:xfrm>
            <a:off x="11247120"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1"/>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53" presetClass="entr" presetSubtype="16" fill="hold" nodeType="withEffect">
                            <p:stCondLst>
                              <p:cond delay="0"/>
                            </p:stCondLst>
                            <p:childTnLst>
                              <p:set>
                                <p:cBhvr>
                                  <p:cTn id="5" dur="1" fill="hold">
                                    <p:stCondLst>
                                      <p:cond delay="0"/>
                                    </p:stCondLst>
                                  </p:cTn>
                                  <p:tgtEl>
                                    <p:spTgt spid="3"/>
                                  </p:tgtEl>
                                  <p:attrNameLst>
                                    <p:attrName>style.visibility</p:attrName>
                                  </p:attrNameLst>
                                </p:cBhvr>
                                <p:to>
                                  <p:strVal val="visible"/>
                                </p:to>
                              </p:set>
                              <p:anim calcmode="lin" valueType="num">
                                <p:cBhvr>
                                  <p:cTn id="6" dur="450" fill="hold"/>
                                  <p:tgtEl>
                                    <p:spTgt spid="3"/>
                                  </p:tgtEl>
                                  <p:attrNameLst>
                                    <p:attrName>ppt_w</p:attrName>
                                  </p:attrNameLst>
                                </p:cBhvr>
                                <p:tavLst>
                                  <p:tav tm="0">
                                    <p:val>
                                      <p:strVal val="#ppt_w*0.85"/>
                                    </p:val>
                                  </p:tav>
                                  <p:tav tm="100000">
                                    <p:val>
                                      <p:strVal val="#ppt_w"/>
                                    </p:val>
                                  </p:tav>
                                </p:tavLst>
                              </p:anim>
                              <p:animEffect transition="in" filter="fade">
                                <p:cBhvr>
                                  <p:cTn id="7" dur="450"/>
                                  <p:tgtEl>
                                    <p:spTgt spid="3"/>
                                  </p:tgtEl>
                                </p:cBhvr>
                              </p:animEffect>
                            </p:childTnLst>
                          </p:cTn>
                        </p:par>
                        <p:par>
                          <p:cTn id="8" presetID="53" presetClass="entr" presetSubtype="16" fill="hold" nodeType="withEffect">
                            <p:stCondLst>
                              <p:cond delay="140"/>
                            </p:stCondLst>
                            <p:childTnLst>
                              <p:set>
                                <p:cBhvr>
                                  <p:cTn id="9" dur="1" fill="hold">
                                    <p:stCondLst>
                                      <p:cond delay="0"/>
                                    </p:stCondLst>
                                  </p:cTn>
                                  <p:tgtEl>
                                    <p:spTgt spid="4"/>
                                  </p:tgtEl>
                                  <p:attrNameLst>
                                    <p:attrName>style.visibility</p:attrName>
                                  </p:attrNameLst>
                                </p:cBhvr>
                                <p:to>
                                  <p:strVal val="visible"/>
                                </p:to>
                              </p:set>
                              <p:anim calcmode="lin" valueType="num">
                                <p:cBhvr>
                                  <p:cTn id="10" dur="450" fill="hold"/>
                                  <p:tgtEl>
                                    <p:spTgt spid="4"/>
                                  </p:tgtEl>
                                  <p:attrNameLst>
                                    <p:attrName>ppt_w</p:attrName>
                                  </p:attrNameLst>
                                </p:cBhvr>
                                <p:tavLst>
                                  <p:tav tm="0">
                                    <p:val>
                                      <p:strVal val="#ppt_w*0.85"/>
                                    </p:val>
                                  </p:tav>
                                  <p:tav tm="100000">
                                    <p:val>
                                      <p:strVal val="#ppt_w"/>
                                    </p:val>
                                  </p:tav>
                                </p:tavLst>
                              </p:anim>
                              <p:animEffect transition="in" filter="fade">
                                <p:cBhvr>
                                  <p:cTn id="11" dur="450"/>
                                  <p:tgtEl>
                                    <p:spTgt spid="4"/>
                                  </p:tgtEl>
                                </p:cBhvr>
                              </p:animEffect>
                            </p:childTnLst>
                          </p:cTn>
                        </p:par>
                        <p:par>
                          <p:cTn id="12" presetID="53" presetClass="entr" presetSubtype="16" fill="hold" nodeType="withEffect">
                            <p:stCondLst>
                              <p:cond delay="280"/>
                            </p:stCondLst>
                            <p:childTnLst>
                              <p:set>
                                <p:cBhvr>
                                  <p:cTn id="13" dur="1" fill="hold">
                                    <p:stCondLst>
                                      <p:cond delay="0"/>
                                    </p:stCondLst>
                                  </p:cTn>
                                  <p:tgtEl>
                                    <p:spTgt spid="5"/>
                                  </p:tgtEl>
                                  <p:attrNameLst>
                                    <p:attrName>style.visibility</p:attrName>
                                  </p:attrNameLst>
                                </p:cBhvr>
                                <p:to>
                                  <p:strVal val="visible"/>
                                </p:to>
                              </p:set>
                              <p:anim calcmode="lin" valueType="num">
                                <p:cBhvr>
                                  <p:cTn id="14" dur="450" fill="hold"/>
                                  <p:tgtEl>
                                    <p:spTgt spid="5"/>
                                  </p:tgtEl>
                                  <p:attrNameLst>
                                    <p:attrName>ppt_w</p:attrName>
                                  </p:attrNameLst>
                                </p:cBhvr>
                                <p:tavLst>
                                  <p:tav tm="0">
                                    <p:val>
                                      <p:strVal val="#ppt_w*0.85"/>
                                    </p:val>
                                  </p:tav>
                                  <p:tav tm="100000">
                                    <p:val>
                                      <p:strVal val="#ppt_w"/>
                                    </p:val>
                                  </p:tav>
                                </p:tavLst>
                              </p:anim>
                              <p:animEffect transition="in" filter="fade">
                                <p:cBhvr>
                                  <p:cTn id="15" dur="450"/>
                                  <p:tgtEl>
                                    <p:spTgt spid="5"/>
                                  </p:tgtEl>
                                </p:cBhvr>
                              </p:animEffect>
                            </p:childTnLst>
                          </p:cTn>
                        </p:par>
                        <p:par>
                          <p:cTn id="16" presetID="53" presetClass="entr" presetSubtype="16" fill="hold" nodeType="withEffect">
                            <p:stCondLst>
                              <p:cond delay="420"/>
                            </p:stCondLst>
                            <p:childTnLst>
                              <p:set>
                                <p:cBhvr>
                                  <p:cTn id="17" dur="1" fill="hold">
                                    <p:stCondLst>
                                      <p:cond delay="0"/>
                                    </p:stCondLst>
                                  </p:cTn>
                                  <p:tgtEl>
                                    <p:spTgt spid="6"/>
                                  </p:tgtEl>
                                  <p:attrNameLst>
                                    <p:attrName>style.visibility</p:attrName>
                                  </p:attrNameLst>
                                </p:cBhvr>
                                <p:to>
                                  <p:strVal val="visible"/>
                                </p:to>
                              </p:set>
                              <p:anim calcmode="lin" valueType="num">
                                <p:cBhvr>
                                  <p:cTn id="18" dur="450" fill="hold"/>
                                  <p:tgtEl>
                                    <p:spTgt spid="6"/>
                                  </p:tgtEl>
                                  <p:attrNameLst>
                                    <p:attrName>ppt_w</p:attrName>
                                  </p:attrNameLst>
                                </p:cBhvr>
                                <p:tavLst>
                                  <p:tav tm="0">
                                    <p:val>
                                      <p:strVal val="#ppt_w*0.85"/>
                                    </p:val>
                                  </p:tav>
                                  <p:tav tm="100000">
                                    <p:val>
                                      <p:strVal val="#ppt_w"/>
                                    </p:val>
                                  </p:tav>
                                </p:tavLst>
                              </p:anim>
                              <p:animEffect transition="in" filter="fade">
                                <p:cBhvr>
                                  <p:cTn id="19" dur="450"/>
                                  <p:tgtEl>
                                    <p:spTgt spid="6"/>
                                  </p:tgtEl>
                                </p:cBhvr>
                              </p:animEffect>
                            </p:childTnLst>
                          </p:cTn>
                        </p:par>
                        <p:par>
                          <p:cTn id="20" presetID="53" presetClass="entr" presetSubtype="16" fill="hold" nodeType="withEffect">
                            <p:stCondLst>
                              <p:cond delay="560"/>
                            </p:stCondLst>
                            <p:childTnLst>
                              <p:set>
                                <p:cBhvr>
                                  <p:cTn id="21" dur="1" fill="hold">
                                    <p:stCondLst>
                                      <p:cond delay="0"/>
                                    </p:stCondLst>
                                  </p:cTn>
                                  <p:tgtEl>
                                    <p:spTgt spid="7"/>
                                  </p:tgtEl>
                                  <p:attrNameLst>
                                    <p:attrName>style.visibility</p:attrName>
                                  </p:attrNameLst>
                                </p:cBhvr>
                                <p:to>
                                  <p:strVal val="visible"/>
                                </p:to>
                              </p:set>
                              <p:anim calcmode="lin" valueType="num">
                                <p:cBhvr>
                                  <p:cTn id="22" dur="450" fill="hold"/>
                                  <p:tgtEl>
                                    <p:spTgt spid="7"/>
                                  </p:tgtEl>
                                  <p:attrNameLst>
                                    <p:attrName>ppt_w</p:attrName>
                                  </p:attrNameLst>
                                </p:cBhvr>
                                <p:tavLst>
                                  <p:tav tm="0">
                                    <p:val>
                                      <p:strVal val="#ppt_w*0.85"/>
                                    </p:val>
                                  </p:tav>
                                  <p:tav tm="100000">
                                    <p:val>
                                      <p:strVal val="#ppt_w"/>
                                    </p:val>
                                  </p:tav>
                                </p:tavLst>
                              </p:anim>
                              <p:animEffect transition="in" filter="fade">
                                <p:cBhvr>
                                  <p:cTn id="23" dur="450"/>
                                  <p:tgtEl>
                                    <p:spTgt spid="7"/>
                                  </p:tgtEl>
                                </p:cBhvr>
                              </p:animEffect>
                            </p:childTnLst>
                          </p:cTn>
                        </p:par>
                        <p:par>
                          <p:cTn id="24" presetID="53" presetClass="entr" presetSubtype="16" fill="hold" nodeType="withEffect">
                            <p:stCondLst>
                              <p:cond delay="700"/>
                            </p:stCondLst>
                            <p:childTnLst>
                              <p:set>
                                <p:cBhvr>
                                  <p:cTn id="25" dur="1" fill="hold">
                                    <p:stCondLst>
                                      <p:cond delay="0"/>
                                    </p:stCondLst>
                                  </p:cTn>
                                  <p:tgtEl>
                                    <p:spTgt spid="8"/>
                                  </p:tgtEl>
                                  <p:attrNameLst>
                                    <p:attrName>style.visibility</p:attrName>
                                  </p:attrNameLst>
                                </p:cBhvr>
                                <p:to>
                                  <p:strVal val="visible"/>
                                </p:to>
                              </p:set>
                              <p:anim calcmode="lin" valueType="num">
                                <p:cBhvr>
                                  <p:cTn id="26" dur="450" fill="hold"/>
                                  <p:tgtEl>
                                    <p:spTgt spid="8"/>
                                  </p:tgtEl>
                                  <p:attrNameLst>
                                    <p:attrName>ppt_w</p:attrName>
                                  </p:attrNameLst>
                                </p:cBhvr>
                                <p:tavLst>
                                  <p:tav tm="0">
                                    <p:val>
                                      <p:strVal val="#ppt_w*0.85"/>
                                    </p:val>
                                  </p:tav>
                                  <p:tav tm="100000">
                                    <p:val>
                                      <p:strVal val="#ppt_w"/>
                                    </p:val>
                                  </p:tav>
                                </p:tavLst>
                              </p:anim>
                              <p:animEffect transition="in" filter="fade">
                                <p:cBhvr>
                                  <p:cTn id="27" dur="450"/>
                                  <p:tgtEl>
                                    <p:spTgt spid="8"/>
                                  </p:tgtEl>
                                </p:cBhvr>
                              </p:animEffect>
                            </p:childTnLst>
                          </p:cTn>
                        </p:par>
                        <p:par>
                          <p:cTn id="28" presetID="53" presetClass="entr" presetSubtype="16" fill="hold" nodeType="withEffect">
                            <p:stCondLst>
                              <p:cond delay="840"/>
                            </p:stCondLst>
                            <p:childTnLst>
                              <p:set>
                                <p:cBhvr>
                                  <p:cTn id="29" dur="1" fill="hold">
                                    <p:stCondLst>
                                      <p:cond delay="0"/>
                                    </p:stCondLst>
                                  </p:cTn>
                                  <p:tgtEl>
                                    <p:spTgt spid="9"/>
                                  </p:tgtEl>
                                  <p:attrNameLst>
                                    <p:attrName>style.visibility</p:attrName>
                                  </p:attrNameLst>
                                </p:cBhvr>
                                <p:to>
                                  <p:strVal val="visible"/>
                                </p:to>
                              </p:set>
                              <p:anim calcmode="lin" valueType="num">
                                <p:cBhvr>
                                  <p:cTn id="30" dur="450" fill="hold"/>
                                  <p:tgtEl>
                                    <p:spTgt spid="9"/>
                                  </p:tgtEl>
                                  <p:attrNameLst>
                                    <p:attrName>ppt_w</p:attrName>
                                  </p:attrNameLst>
                                </p:cBhvr>
                                <p:tavLst>
                                  <p:tav tm="0">
                                    <p:val>
                                      <p:strVal val="#ppt_w*0.85"/>
                                    </p:val>
                                  </p:tav>
                                  <p:tav tm="100000">
                                    <p:val>
                                      <p:strVal val="#ppt_w"/>
                                    </p:val>
                                  </p:tav>
                                </p:tavLst>
                              </p:anim>
                              <p:animEffect transition="in" filter="fade">
                                <p:cBhvr>
                                  <p:cTn id="31" dur="450"/>
                                  <p:tgtEl>
                                    <p:spTgt spid="9"/>
                                  </p:tgtEl>
                                </p:cBhvr>
                              </p:animEffect>
                            </p:childTnLst>
                          </p:cTn>
                        </p:par>
                        <p:par>
                          <p:cTn id="32" presetID="53" presetClass="entr" presetSubtype="16" fill="hold" nodeType="withEffect">
                            <p:stCondLst>
                              <p:cond delay="980"/>
                            </p:stCondLst>
                            <p:childTnLst>
                              <p:set>
                                <p:cBhvr>
                                  <p:cTn id="33" dur="1" fill="hold">
                                    <p:stCondLst>
                                      <p:cond delay="0"/>
                                    </p:stCondLst>
                                  </p:cTn>
                                  <p:tgtEl>
                                    <p:spTgt spid="10"/>
                                  </p:tgtEl>
                                  <p:attrNameLst>
                                    <p:attrName>style.visibility</p:attrName>
                                  </p:attrNameLst>
                                </p:cBhvr>
                                <p:to>
                                  <p:strVal val="visible"/>
                                </p:to>
                              </p:set>
                              <p:anim calcmode="lin" valueType="num">
                                <p:cBhvr>
                                  <p:cTn id="34" dur="450" fill="hold"/>
                                  <p:tgtEl>
                                    <p:spTgt spid="10"/>
                                  </p:tgtEl>
                                  <p:attrNameLst>
                                    <p:attrName>ppt_w</p:attrName>
                                  </p:attrNameLst>
                                </p:cBhvr>
                                <p:tavLst>
                                  <p:tav tm="0">
                                    <p:val>
                                      <p:strVal val="#ppt_w*0.85"/>
                                    </p:val>
                                  </p:tav>
                                  <p:tav tm="100000">
                                    <p:val>
                                      <p:strVal val="#ppt_w"/>
                                    </p:val>
                                  </p:tav>
                                </p:tavLst>
                              </p:anim>
                              <p:animEffect transition="in" filter="fade">
                                <p:cBhvr>
                                  <p:cTn id="35" dur="450"/>
                                  <p:tgtEl>
                                    <p:spTgt spid="10"/>
                                  </p:tgtEl>
                                </p:cBhvr>
                              </p:animEffect>
                            </p:childTnLst>
                          </p:cTn>
                        </p:par>
                        <p:par>
                          <p:cTn id="36" presetID="53" presetClass="entr" presetSubtype="16" fill="hold" nodeType="withEffect">
                            <p:stCondLst>
                              <p:cond delay="1120"/>
                            </p:stCondLst>
                            <p:childTnLst>
                              <p:set>
                                <p:cBhvr>
                                  <p:cTn id="37" dur="1" fill="hold">
                                    <p:stCondLst>
                                      <p:cond delay="0"/>
                                    </p:stCondLst>
                                  </p:cTn>
                                  <p:tgtEl>
                                    <p:spTgt spid="11"/>
                                  </p:tgtEl>
                                  <p:attrNameLst>
                                    <p:attrName>style.visibility</p:attrName>
                                  </p:attrNameLst>
                                </p:cBhvr>
                                <p:to>
                                  <p:strVal val="visible"/>
                                </p:to>
                              </p:set>
                              <p:anim calcmode="lin" valueType="num">
                                <p:cBhvr>
                                  <p:cTn id="38" dur="450" fill="hold"/>
                                  <p:tgtEl>
                                    <p:spTgt spid="11"/>
                                  </p:tgtEl>
                                  <p:attrNameLst>
                                    <p:attrName>ppt_w</p:attrName>
                                  </p:attrNameLst>
                                </p:cBhvr>
                                <p:tavLst>
                                  <p:tav tm="0">
                                    <p:val>
                                      <p:strVal val="#ppt_w*0.85"/>
                                    </p:val>
                                  </p:tav>
                                  <p:tav tm="100000">
                                    <p:val>
                                      <p:strVal val="#ppt_w"/>
                                    </p:val>
                                  </p:tav>
                                </p:tavLst>
                              </p:anim>
                              <p:animEffect transition="in" filter="fade">
                                <p:cBhvr>
                                  <p:cTn id="39" dur="450"/>
                                  <p:tgtEl>
                                    <p:spTgt spid="11"/>
                                  </p:tgtEl>
                                </p:cBhvr>
                              </p:animEffect>
                            </p:childTnLst>
                          </p:cTn>
                        </p:par>
                        <p:par>
                          <p:cTn id="40" presetID="53" presetClass="entr" presetSubtype="16" fill="hold" nodeType="withEffect">
                            <p:stCondLst>
                              <p:cond delay="1260"/>
                            </p:stCondLst>
                            <p:childTnLst>
                              <p:set>
                                <p:cBhvr>
                                  <p:cTn id="41" dur="1" fill="hold">
                                    <p:stCondLst>
                                      <p:cond delay="0"/>
                                    </p:stCondLst>
                                  </p:cTn>
                                  <p:tgtEl>
                                    <p:spTgt spid="12"/>
                                  </p:tgtEl>
                                  <p:attrNameLst>
                                    <p:attrName>style.visibility</p:attrName>
                                  </p:attrNameLst>
                                </p:cBhvr>
                                <p:to>
                                  <p:strVal val="visible"/>
                                </p:to>
                              </p:set>
                              <p:anim calcmode="lin" valueType="num">
                                <p:cBhvr>
                                  <p:cTn id="42" dur="450" fill="hold"/>
                                  <p:tgtEl>
                                    <p:spTgt spid="12"/>
                                  </p:tgtEl>
                                  <p:attrNameLst>
                                    <p:attrName>ppt_w</p:attrName>
                                  </p:attrNameLst>
                                </p:cBhvr>
                                <p:tavLst>
                                  <p:tav tm="0">
                                    <p:val>
                                      <p:strVal val="#ppt_w*0.85"/>
                                    </p:val>
                                  </p:tav>
                                  <p:tav tm="100000">
                                    <p:val>
                                      <p:strVal val="#ppt_w"/>
                                    </p:val>
                                  </p:tav>
                                </p:tavLst>
                              </p:anim>
                              <p:animEffect transition="in" filter="fade">
                                <p:cBhvr>
                                  <p:cTn id="43" dur="450"/>
                                  <p:tgtEl>
                                    <p:spTgt spid="12"/>
                                  </p:tgtEl>
                                </p:cBhvr>
                              </p:animEffect>
                            </p:childTnLst>
                          </p:cTn>
                        </p:par>
                        <p:par>
                          <p:cTn id="44" presetID="53" presetClass="entr" presetSubtype="16" fill="hold" nodeType="withEffect">
                            <p:stCondLst>
                              <p:cond delay="14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450" fill="hold"/>
                                  <p:tgtEl>
                                    <p:spTgt spid="13"/>
                                  </p:tgtEl>
                                  <p:attrNameLst>
                                    <p:attrName>ppt_w</p:attrName>
                                  </p:attrNameLst>
                                </p:cBhvr>
                                <p:tavLst>
                                  <p:tav tm="0">
                                    <p:val>
                                      <p:strVal val="#ppt_w*0.85"/>
                                    </p:val>
                                  </p:tav>
                                  <p:tav tm="100000">
                                    <p:val>
                                      <p:strVal val="#ppt_w"/>
                                    </p:val>
                                  </p:tav>
                                </p:tavLst>
                              </p:anim>
                              <p:animEffect transition="in" filter="fade">
                                <p:cBhvr>
                                  <p:cTn id="47" dur="450"/>
                                  <p:tgtEl>
                                    <p:spTgt spid="13"/>
                                  </p:tgtEl>
                                </p:cBhvr>
                              </p:animEffect>
                            </p:childTnLst>
                          </p:cTn>
                        </p:par>
                        <p:par>
                          <p:cTn id="48" presetID="53" presetClass="entr" presetSubtype="16" fill="hold" nodeType="withEffect">
                            <p:stCondLst>
                              <p:cond delay="1540"/>
                            </p:stCondLst>
                            <p:childTnLst>
                              <p:set>
                                <p:cBhvr>
                                  <p:cTn id="49" dur="1" fill="hold">
                                    <p:stCondLst>
                                      <p:cond delay="0"/>
                                    </p:stCondLst>
                                  </p:cTn>
                                  <p:tgtEl>
                                    <p:spTgt spid="14"/>
                                  </p:tgtEl>
                                  <p:attrNameLst>
                                    <p:attrName>style.visibility</p:attrName>
                                  </p:attrNameLst>
                                </p:cBhvr>
                                <p:to>
                                  <p:strVal val="visible"/>
                                </p:to>
                              </p:set>
                              <p:anim calcmode="lin" valueType="num">
                                <p:cBhvr>
                                  <p:cTn id="50" dur="450" fill="hold"/>
                                  <p:tgtEl>
                                    <p:spTgt spid="14"/>
                                  </p:tgtEl>
                                  <p:attrNameLst>
                                    <p:attrName>ppt_w</p:attrName>
                                  </p:attrNameLst>
                                </p:cBhvr>
                                <p:tavLst>
                                  <p:tav tm="0">
                                    <p:val>
                                      <p:strVal val="#ppt_w*0.85"/>
                                    </p:val>
                                  </p:tav>
                                  <p:tav tm="100000">
                                    <p:val>
                                      <p:strVal val="#ppt_w"/>
                                    </p:val>
                                  </p:tav>
                                </p:tavLst>
                              </p:anim>
                              <p:animEffect transition="in" filter="fade">
                                <p:cBhvr>
                                  <p:cTn id="51" dur="450"/>
                                  <p:tgtEl>
                                    <p:spTgt spid="14"/>
                                  </p:tgtEl>
                                </p:cBhvr>
                              </p:animEffect>
                            </p:childTnLst>
                          </p:cTn>
                        </p:par>
                        <p:par>
                          <p:cTn id="52" presetID="53" presetClass="entr" presetSubtype="16" fill="hold" nodeType="withEffect">
                            <p:stCondLst>
                              <p:cond delay="1680"/>
                            </p:stCondLst>
                            <p:childTnLst>
                              <p:set>
                                <p:cBhvr>
                                  <p:cTn id="53" dur="1" fill="hold">
                                    <p:stCondLst>
                                      <p:cond delay="0"/>
                                    </p:stCondLst>
                                  </p:cTn>
                                  <p:tgtEl>
                                    <p:spTgt spid="15"/>
                                  </p:tgtEl>
                                  <p:attrNameLst>
                                    <p:attrName>style.visibility</p:attrName>
                                  </p:attrNameLst>
                                </p:cBhvr>
                                <p:to>
                                  <p:strVal val="visible"/>
                                </p:to>
                              </p:set>
                              <p:anim calcmode="lin" valueType="num">
                                <p:cBhvr>
                                  <p:cTn id="54" dur="450" fill="hold"/>
                                  <p:tgtEl>
                                    <p:spTgt spid="15"/>
                                  </p:tgtEl>
                                  <p:attrNameLst>
                                    <p:attrName>ppt_w</p:attrName>
                                  </p:attrNameLst>
                                </p:cBhvr>
                                <p:tavLst>
                                  <p:tav tm="0">
                                    <p:val>
                                      <p:strVal val="#ppt_w*0.85"/>
                                    </p:val>
                                  </p:tav>
                                  <p:tav tm="100000">
                                    <p:val>
                                      <p:strVal val="#ppt_w"/>
                                    </p:val>
                                  </p:tav>
                                </p:tavLst>
                              </p:anim>
                              <p:animEffect transition="in" filter="fade">
                                <p:cBhvr>
                                  <p:cTn id="55" dur="450"/>
                                  <p:tgtEl>
                                    <p:spTgt spid="15"/>
                                  </p:tgtEl>
                                </p:cBhvr>
                              </p:animEffect>
                            </p:childTnLst>
                          </p:cTn>
                        </p:par>
                        <p:par>
                          <p:cTn id="56" presetID="53" presetClass="entr" presetSubtype="16" fill="hold" nodeType="withEffect">
                            <p:stCondLst>
                              <p:cond delay="1820"/>
                            </p:stCondLst>
                            <p:childTnLst>
                              <p:set>
                                <p:cBhvr>
                                  <p:cTn id="57" dur="1" fill="hold">
                                    <p:stCondLst>
                                      <p:cond delay="0"/>
                                    </p:stCondLst>
                                  </p:cTn>
                                  <p:tgtEl>
                                    <p:spTgt spid="16"/>
                                  </p:tgtEl>
                                  <p:attrNameLst>
                                    <p:attrName>style.visibility</p:attrName>
                                  </p:attrNameLst>
                                </p:cBhvr>
                                <p:to>
                                  <p:strVal val="visible"/>
                                </p:to>
                              </p:set>
                              <p:anim calcmode="lin" valueType="num">
                                <p:cBhvr>
                                  <p:cTn id="58" dur="450" fill="hold"/>
                                  <p:tgtEl>
                                    <p:spTgt spid="16"/>
                                  </p:tgtEl>
                                  <p:attrNameLst>
                                    <p:attrName>ppt_w</p:attrName>
                                  </p:attrNameLst>
                                </p:cBhvr>
                                <p:tavLst>
                                  <p:tav tm="0">
                                    <p:val>
                                      <p:strVal val="#ppt_w*0.85"/>
                                    </p:val>
                                  </p:tav>
                                  <p:tav tm="100000">
                                    <p:val>
                                      <p:strVal val="#ppt_w"/>
                                    </p:val>
                                  </p:tav>
                                </p:tavLst>
                              </p:anim>
                              <p:animEffect transition="in" filter="fade">
                                <p:cBhvr>
                                  <p:cTn id="59" dur="450"/>
                                  <p:tgtEl>
                                    <p:spTgt spid="16"/>
                                  </p:tgtEl>
                                </p:cBhvr>
                              </p:animEffect>
                            </p:childTnLst>
                          </p:cTn>
                        </p:par>
                        <p:par>
                          <p:cTn id="60" presetID="53" presetClass="entr" presetSubtype="16" fill="hold" nodeType="withEffect">
                            <p:stCondLst>
                              <p:cond delay="1960"/>
                            </p:stCondLst>
                            <p:childTnLst>
                              <p:set>
                                <p:cBhvr>
                                  <p:cTn id="61" dur="1" fill="hold">
                                    <p:stCondLst>
                                      <p:cond delay="0"/>
                                    </p:stCondLst>
                                  </p:cTn>
                                  <p:tgtEl>
                                    <p:spTgt spid="17"/>
                                  </p:tgtEl>
                                  <p:attrNameLst>
                                    <p:attrName>style.visibility</p:attrName>
                                  </p:attrNameLst>
                                </p:cBhvr>
                                <p:to>
                                  <p:strVal val="visible"/>
                                </p:to>
                              </p:set>
                              <p:anim calcmode="lin" valueType="num">
                                <p:cBhvr>
                                  <p:cTn id="62" dur="450" fill="hold"/>
                                  <p:tgtEl>
                                    <p:spTgt spid="17"/>
                                  </p:tgtEl>
                                  <p:attrNameLst>
                                    <p:attrName>ppt_w</p:attrName>
                                  </p:attrNameLst>
                                </p:cBhvr>
                                <p:tavLst>
                                  <p:tav tm="0">
                                    <p:val>
                                      <p:strVal val="#ppt_w*0.85"/>
                                    </p:val>
                                  </p:tav>
                                  <p:tav tm="100000">
                                    <p:val>
                                      <p:strVal val="#ppt_w"/>
                                    </p:val>
                                  </p:tav>
                                </p:tavLst>
                              </p:anim>
                              <p:animEffect transition="in" filter="fade">
                                <p:cBhvr>
                                  <p:cTn id="63" dur="450"/>
                                  <p:tgtEl>
                                    <p:spTgt spid="17"/>
                                  </p:tgtEl>
                                </p:cBhvr>
                              </p:animEffect>
                            </p:childTnLst>
                          </p:cTn>
                        </p:par>
                        <p:par>
                          <p:cTn id="64" presetID="53" presetClass="entr" presetSubtype="16" fill="hold" nodeType="withEffect">
                            <p:stCondLst>
                              <p:cond delay="2100"/>
                            </p:stCondLst>
                            <p:childTnLst>
                              <p:set>
                                <p:cBhvr>
                                  <p:cTn id="65" dur="1" fill="hold">
                                    <p:stCondLst>
                                      <p:cond delay="0"/>
                                    </p:stCondLst>
                                  </p:cTn>
                                  <p:tgtEl>
                                    <p:spTgt spid="18"/>
                                  </p:tgtEl>
                                  <p:attrNameLst>
                                    <p:attrName>style.visibility</p:attrName>
                                  </p:attrNameLst>
                                </p:cBhvr>
                                <p:to>
                                  <p:strVal val="visible"/>
                                </p:to>
                              </p:set>
                              <p:anim calcmode="lin" valueType="num">
                                <p:cBhvr>
                                  <p:cTn id="66" dur="450" fill="hold"/>
                                  <p:tgtEl>
                                    <p:spTgt spid="18"/>
                                  </p:tgtEl>
                                  <p:attrNameLst>
                                    <p:attrName>ppt_w</p:attrName>
                                  </p:attrNameLst>
                                </p:cBhvr>
                                <p:tavLst>
                                  <p:tav tm="0">
                                    <p:val>
                                      <p:strVal val="#ppt_w*0.85"/>
                                    </p:val>
                                  </p:tav>
                                  <p:tav tm="100000">
                                    <p:val>
                                      <p:strVal val="#ppt_w"/>
                                    </p:val>
                                  </p:tav>
                                </p:tavLst>
                              </p:anim>
                              <p:animEffect transition="in" filter="fade">
                                <p:cBhvr>
                                  <p:cTn id="67" dur="450"/>
                                  <p:tgtEl>
                                    <p:spTgt spid="18"/>
                                  </p:tgtEl>
                                </p:cBhvr>
                              </p:animEffect>
                            </p:childTnLst>
                          </p:cTn>
                        </p:par>
                        <p:par>
                          <p:cTn id="68" presetID="53" presetClass="entr" presetSubtype="16" fill="hold" nodeType="withEffect">
                            <p:stCondLst>
                              <p:cond delay="2240"/>
                            </p:stCondLst>
                            <p:childTnLst>
                              <p:set>
                                <p:cBhvr>
                                  <p:cTn id="69" dur="1" fill="hold">
                                    <p:stCondLst>
                                      <p:cond delay="0"/>
                                    </p:stCondLst>
                                  </p:cTn>
                                  <p:tgtEl>
                                    <p:spTgt spid="19"/>
                                  </p:tgtEl>
                                  <p:attrNameLst>
                                    <p:attrName>style.visibility</p:attrName>
                                  </p:attrNameLst>
                                </p:cBhvr>
                                <p:to>
                                  <p:strVal val="visible"/>
                                </p:to>
                              </p:set>
                              <p:anim calcmode="lin" valueType="num">
                                <p:cBhvr>
                                  <p:cTn id="70" dur="450" fill="hold"/>
                                  <p:tgtEl>
                                    <p:spTgt spid="19"/>
                                  </p:tgtEl>
                                  <p:attrNameLst>
                                    <p:attrName>ppt_w</p:attrName>
                                  </p:attrNameLst>
                                </p:cBhvr>
                                <p:tavLst>
                                  <p:tav tm="0">
                                    <p:val>
                                      <p:strVal val="#ppt_w*0.85"/>
                                    </p:val>
                                  </p:tav>
                                  <p:tav tm="100000">
                                    <p:val>
                                      <p:strVal val="#ppt_w"/>
                                    </p:val>
                                  </p:tav>
                                </p:tavLst>
                              </p:anim>
                              <p:animEffect transition="in" filter="fade">
                                <p:cBhvr>
                                  <p:cTn id="71" dur="450"/>
                                  <p:tgtEl>
                                    <p:spTgt spid="19"/>
                                  </p:tgtEl>
                                </p:cBhvr>
                              </p:animEffect>
                            </p:childTnLst>
                          </p:cTn>
                        </p:par>
                        <p:par>
                          <p:cTn id="72" presetID="53" presetClass="entr" presetSubtype="16" fill="hold" nodeType="withEffect">
                            <p:stCondLst>
                              <p:cond delay="2380"/>
                            </p:stCondLst>
                            <p:childTnLst>
                              <p:set>
                                <p:cBhvr>
                                  <p:cTn id="73" dur="1" fill="hold">
                                    <p:stCondLst>
                                      <p:cond delay="0"/>
                                    </p:stCondLst>
                                  </p:cTn>
                                  <p:tgtEl>
                                    <p:spTgt spid="20"/>
                                  </p:tgtEl>
                                  <p:attrNameLst>
                                    <p:attrName>style.visibility</p:attrName>
                                  </p:attrNameLst>
                                </p:cBhvr>
                                <p:to>
                                  <p:strVal val="visible"/>
                                </p:to>
                              </p:set>
                              <p:anim calcmode="lin" valueType="num">
                                <p:cBhvr>
                                  <p:cTn id="74" dur="450" fill="hold"/>
                                  <p:tgtEl>
                                    <p:spTgt spid="20"/>
                                  </p:tgtEl>
                                  <p:attrNameLst>
                                    <p:attrName>ppt_w</p:attrName>
                                  </p:attrNameLst>
                                </p:cBhvr>
                                <p:tavLst>
                                  <p:tav tm="0">
                                    <p:val>
                                      <p:strVal val="#ppt_w*0.85"/>
                                    </p:val>
                                  </p:tav>
                                  <p:tav tm="100000">
                                    <p:val>
                                      <p:strVal val="#ppt_w"/>
                                    </p:val>
                                  </p:tav>
                                </p:tavLst>
                              </p:anim>
                              <p:animEffect transition="in" filter="fade">
                                <p:cBhvr>
                                  <p:cTn id="75" dur="450"/>
                                  <p:tgtEl>
                                    <p:spTgt spid="20"/>
                                  </p:tgtEl>
                                </p:cBhvr>
                              </p:animEffect>
                            </p:childTnLst>
                          </p:cTn>
                        </p:par>
                        <p:par>
                          <p:cTn id="76" presetID="53" presetClass="entr" presetSubtype="16" fill="hold" nodeType="withEffect">
                            <p:stCondLst>
                              <p:cond delay="2520"/>
                            </p:stCondLst>
                            <p:childTnLst>
                              <p:set>
                                <p:cBhvr>
                                  <p:cTn id="77" dur="1" fill="hold">
                                    <p:stCondLst>
                                      <p:cond delay="0"/>
                                    </p:stCondLst>
                                  </p:cTn>
                                  <p:tgtEl>
                                    <p:spTgt spid="21"/>
                                  </p:tgtEl>
                                  <p:attrNameLst>
                                    <p:attrName>style.visibility</p:attrName>
                                  </p:attrNameLst>
                                </p:cBhvr>
                                <p:to>
                                  <p:strVal val="visible"/>
                                </p:to>
                              </p:set>
                              <p:anim calcmode="lin" valueType="num">
                                <p:cBhvr>
                                  <p:cTn id="78" dur="450" fill="hold"/>
                                  <p:tgtEl>
                                    <p:spTgt spid="21"/>
                                  </p:tgtEl>
                                  <p:attrNameLst>
                                    <p:attrName>ppt_w</p:attrName>
                                  </p:attrNameLst>
                                </p:cBhvr>
                                <p:tavLst>
                                  <p:tav tm="0">
                                    <p:val>
                                      <p:strVal val="#ppt_w*0.85"/>
                                    </p:val>
                                  </p:tav>
                                  <p:tav tm="100000">
                                    <p:val>
                                      <p:strVal val="#ppt_w"/>
                                    </p:val>
                                  </p:tav>
                                </p:tavLst>
                              </p:anim>
                              <p:animEffect transition="in" filter="fade">
                                <p:cBhvr>
                                  <p:cTn id="79" dur="450"/>
                                  <p:tgtEl>
                                    <p:spTgt spid="21"/>
                                  </p:tgtEl>
                                </p:cBhvr>
                              </p:animEffect>
                            </p:childTnLst>
                          </p:cTn>
                        </p:par>
                        <p:par>
                          <p:cTn id="80" presetID="53" presetClass="entr" presetSubtype="16" fill="hold" nodeType="withEffect">
                            <p:stCondLst>
                              <p:cond delay="2600"/>
                            </p:stCondLst>
                            <p:childTnLst>
                              <p:set>
                                <p:cBhvr>
                                  <p:cTn id="81" dur="1" fill="hold">
                                    <p:stCondLst>
                                      <p:cond delay="0"/>
                                    </p:stCondLst>
                                  </p:cTn>
                                  <p:tgtEl>
                                    <p:spTgt spid="22"/>
                                  </p:tgtEl>
                                  <p:attrNameLst>
                                    <p:attrName>style.visibility</p:attrName>
                                  </p:attrNameLst>
                                </p:cBhvr>
                                <p:to>
                                  <p:strVal val="visible"/>
                                </p:to>
                              </p:set>
                              <p:anim calcmode="lin" valueType="num">
                                <p:cBhvr>
                                  <p:cTn id="82" dur="450" fill="hold"/>
                                  <p:tgtEl>
                                    <p:spTgt spid="22"/>
                                  </p:tgtEl>
                                  <p:attrNameLst>
                                    <p:attrName>ppt_w</p:attrName>
                                  </p:attrNameLst>
                                </p:cBhvr>
                                <p:tavLst>
                                  <p:tav tm="0">
                                    <p:val>
                                      <p:strVal val="#ppt_w*0.85"/>
                                    </p:val>
                                  </p:tav>
                                  <p:tav tm="100000">
                                    <p:val>
                                      <p:strVal val="#ppt_w"/>
                                    </p:val>
                                  </p:tav>
                                </p:tavLst>
                              </p:anim>
                              <p:animEffect transition="in" filter="fade">
                                <p:cBhvr>
                                  <p:cTn id="83" dur="450"/>
                                  <p:tgtEl>
                                    <p:spTgt spid="22"/>
                                  </p:tgtEl>
                                </p:cBhvr>
                              </p:animEffect>
                            </p:childTnLst>
                          </p:cTn>
                        </p:par>
                        <p:par>
                          <p:cTn id="84" presetID="53" presetClass="entr" presetSubtype="16" fill="hold" nodeType="withEffect">
                            <p:stCondLst>
                              <p:cond delay="2600"/>
                            </p:stCondLst>
                            <p:childTnLst>
                              <p:set>
                                <p:cBhvr>
                                  <p:cTn id="85" dur="1" fill="hold">
                                    <p:stCondLst>
                                      <p:cond delay="0"/>
                                    </p:stCondLst>
                                  </p:cTn>
                                  <p:tgtEl>
                                    <p:spTgt spid="23"/>
                                  </p:tgtEl>
                                  <p:attrNameLst>
                                    <p:attrName>style.visibility</p:attrName>
                                  </p:attrNameLst>
                                </p:cBhvr>
                                <p:to>
                                  <p:strVal val="visible"/>
                                </p:to>
                              </p:set>
                              <p:anim calcmode="lin" valueType="num">
                                <p:cBhvr>
                                  <p:cTn id="86" dur="450" fill="hold"/>
                                  <p:tgtEl>
                                    <p:spTgt spid="23"/>
                                  </p:tgtEl>
                                  <p:attrNameLst>
                                    <p:attrName>ppt_w</p:attrName>
                                  </p:attrNameLst>
                                </p:cBhvr>
                                <p:tavLst>
                                  <p:tav tm="0">
                                    <p:val>
                                      <p:strVal val="#ppt_w*0.85"/>
                                    </p:val>
                                  </p:tav>
                                  <p:tav tm="100000">
                                    <p:val>
                                      <p:strVal val="#ppt_w"/>
                                    </p:val>
                                  </p:tav>
                                </p:tavLst>
                              </p:anim>
                              <p:animEffect transition="in" filter="fade">
                                <p:cBhvr>
                                  <p:cTn id="87" dur="450"/>
                                  <p:tgtEl>
                                    <p:spTgt spid="23"/>
                                  </p:tgtEl>
                                </p:cBhvr>
                              </p:animEffect>
                            </p:childTnLst>
                          </p:cTn>
                        </p:par>
                        <p:par>
                          <p:cTn id="88" presetID="53" presetClass="entr" presetSubtype="16" fill="hold" nodeType="withEffect">
                            <p:stCondLst>
                              <p:cond delay="2600"/>
                            </p:stCondLst>
                            <p:childTnLst>
                              <p:set>
                                <p:cBhvr>
                                  <p:cTn id="89" dur="1" fill="hold">
                                    <p:stCondLst>
                                      <p:cond delay="0"/>
                                    </p:stCondLst>
                                  </p:cTn>
                                  <p:tgtEl>
                                    <p:spTgt spid="24"/>
                                  </p:tgtEl>
                                  <p:attrNameLst>
                                    <p:attrName>style.visibility</p:attrName>
                                  </p:attrNameLst>
                                </p:cBhvr>
                                <p:to>
                                  <p:strVal val="visible"/>
                                </p:to>
                              </p:set>
                              <p:anim calcmode="lin" valueType="num">
                                <p:cBhvr>
                                  <p:cTn id="90" dur="450" fill="hold"/>
                                  <p:tgtEl>
                                    <p:spTgt spid="24"/>
                                  </p:tgtEl>
                                  <p:attrNameLst>
                                    <p:attrName>ppt_w</p:attrName>
                                  </p:attrNameLst>
                                </p:cBhvr>
                                <p:tavLst>
                                  <p:tav tm="0">
                                    <p:val>
                                      <p:strVal val="#ppt_w*0.85"/>
                                    </p:val>
                                  </p:tav>
                                  <p:tav tm="100000">
                                    <p:val>
                                      <p:strVal val="#ppt_w"/>
                                    </p:val>
                                  </p:tav>
                                </p:tavLst>
                              </p:anim>
                              <p:animEffect transition="in" filter="fade">
                                <p:cBhvr>
                                  <p:cTn id="91" dur="450"/>
                                  <p:tgtEl>
                                    <p:spTgt spid="24"/>
                                  </p:tgtEl>
                                </p:cBhvr>
                              </p:animEffect>
                            </p:childTnLst>
                          </p:cTn>
                        </p:par>
                        <p:par>
                          <p:cTn id="92" presetID="53" presetClass="entr" presetSubtype="16" fill="hold" nodeType="withEffect">
                            <p:stCondLst>
                              <p:cond delay="2600"/>
                            </p:stCondLst>
                            <p:childTnLst>
                              <p:set>
                                <p:cBhvr>
                                  <p:cTn id="93" dur="1" fill="hold">
                                    <p:stCondLst>
                                      <p:cond delay="0"/>
                                    </p:stCondLst>
                                  </p:cTn>
                                  <p:tgtEl>
                                    <p:spTgt spid="25"/>
                                  </p:tgtEl>
                                  <p:attrNameLst>
                                    <p:attrName>style.visibility</p:attrName>
                                  </p:attrNameLst>
                                </p:cBhvr>
                                <p:to>
                                  <p:strVal val="visible"/>
                                </p:to>
                              </p:set>
                              <p:anim calcmode="lin" valueType="num">
                                <p:cBhvr>
                                  <p:cTn id="94" dur="450" fill="hold"/>
                                  <p:tgtEl>
                                    <p:spTgt spid="25"/>
                                  </p:tgtEl>
                                  <p:attrNameLst>
                                    <p:attrName>ppt_w</p:attrName>
                                  </p:attrNameLst>
                                </p:cBhvr>
                                <p:tavLst>
                                  <p:tav tm="0">
                                    <p:val>
                                      <p:strVal val="#ppt_w*0.85"/>
                                    </p:val>
                                  </p:tav>
                                  <p:tav tm="100000">
                                    <p:val>
                                      <p:strVal val="#ppt_w"/>
                                    </p:val>
                                  </p:tav>
                                </p:tavLst>
                              </p:anim>
                              <p:animEffect transition="in" filter="fade">
                                <p:cBhvr>
                                  <p:cTn id="95" dur="450"/>
                                  <p:tgtEl>
                                    <p:spTgt spid="25"/>
                                  </p:tgtEl>
                                </p:cBhvr>
                              </p:animEffect>
                            </p:childTnLst>
                          </p:cTn>
                        </p:par>
                        <p:par>
                          <p:cTn id="96" presetID="53" presetClass="entr" presetSubtype="16" fill="hold" nodeType="withEffect">
                            <p:stCondLst>
                              <p:cond delay="2600"/>
                            </p:stCondLst>
                            <p:childTnLst>
                              <p:set>
                                <p:cBhvr>
                                  <p:cTn id="97" dur="1" fill="hold">
                                    <p:stCondLst>
                                      <p:cond delay="0"/>
                                    </p:stCondLst>
                                  </p:cTn>
                                  <p:tgtEl>
                                    <p:spTgt spid="26"/>
                                  </p:tgtEl>
                                  <p:attrNameLst>
                                    <p:attrName>style.visibility</p:attrName>
                                  </p:attrNameLst>
                                </p:cBhvr>
                                <p:to>
                                  <p:strVal val="visible"/>
                                </p:to>
                              </p:set>
                              <p:anim calcmode="lin" valueType="num">
                                <p:cBhvr>
                                  <p:cTn id="98" dur="450" fill="hold"/>
                                  <p:tgtEl>
                                    <p:spTgt spid="26"/>
                                  </p:tgtEl>
                                  <p:attrNameLst>
                                    <p:attrName>ppt_w</p:attrName>
                                  </p:attrNameLst>
                                </p:cBhvr>
                                <p:tavLst>
                                  <p:tav tm="0">
                                    <p:val>
                                      <p:strVal val="#ppt_w*0.85"/>
                                    </p:val>
                                  </p:tav>
                                  <p:tav tm="100000">
                                    <p:val>
                                      <p:strVal val="#ppt_w"/>
                                    </p:val>
                                  </p:tav>
                                </p:tavLst>
                              </p:anim>
                              <p:animEffect transition="in" filter="fade">
                                <p:cBhvr>
                                  <p:cTn id="99" dur="450"/>
                                  <p:tgtEl>
                                    <p:spTgt spid="26"/>
                                  </p:tgtEl>
                                </p:cBhvr>
                              </p:animEffect>
                            </p:childTnLst>
                          </p:cTn>
                        </p:par>
                        <p:par>
                          <p:cTn id="100" presetID="53" presetClass="entr" presetSubtype="16" fill="hold" nodeType="withEffect">
                            <p:stCondLst>
                              <p:cond delay="2600"/>
                            </p:stCondLst>
                            <p:childTnLst>
                              <p:set>
                                <p:cBhvr>
                                  <p:cTn id="101" dur="1" fill="hold">
                                    <p:stCondLst>
                                      <p:cond delay="0"/>
                                    </p:stCondLst>
                                  </p:cTn>
                                  <p:tgtEl>
                                    <p:spTgt spid="27"/>
                                  </p:tgtEl>
                                  <p:attrNameLst>
                                    <p:attrName>style.visibility</p:attrName>
                                  </p:attrNameLst>
                                </p:cBhvr>
                                <p:to>
                                  <p:strVal val="visible"/>
                                </p:to>
                              </p:set>
                              <p:anim calcmode="lin" valueType="num">
                                <p:cBhvr>
                                  <p:cTn id="102" dur="450" fill="hold"/>
                                  <p:tgtEl>
                                    <p:spTgt spid="27"/>
                                  </p:tgtEl>
                                  <p:attrNameLst>
                                    <p:attrName>ppt_w</p:attrName>
                                  </p:attrNameLst>
                                </p:cBhvr>
                                <p:tavLst>
                                  <p:tav tm="0">
                                    <p:val>
                                      <p:strVal val="#ppt_w*0.85"/>
                                    </p:val>
                                  </p:tav>
                                  <p:tav tm="100000">
                                    <p:val>
                                      <p:strVal val="#ppt_w"/>
                                    </p:val>
                                  </p:tav>
                                </p:tavLst>
                              </p:anim>
                              <p:animEffect transition="in" filter="fade">
                                <p:cBhvr>
                                  <p:cTn id="103" dur="450"/>
                                  <p:tgtEl>
                                    <p:spTgt spid="27"/>
                                  </p:tgtEl>
                                </p:cBhvr>
                              </p:animEffect>
                            </p:childTnLst>
                          </p:cTn>
                        </p:par>
                        <p:par>
                          <p:cTn id="104" presetID="53" presetClass="entr" presetSubtype="16" fill="hold" nodeType="withEffect">
                            <p:stCondLst>
                              <p:cond delay="2600"/>
                            </p:stCondLst>
                            <p:childTnLst>
                              <p:set>
                                <p:cBhvr>
                                  <p:cTn id="105" dur="1" fill="hold">
                                    <p:stCondLst>
                                      <p:cond delay="0"/>
                                    </p:stCondLst>
                                  </p:cTn>
                                  <p:tgtEl>
                                    <p:spTgt spid="28"/>
                                  </p:tgtEl>
                                  <p:attrNameLst>
                                    <p:attrName>style.visibility</p:attrName>
                                  </p:attrNameLst>
                                </p:cBhvr>
                                <p:to>
                                  <p:strVal val="visible"/>
                                </p:to>
                              </p:set>
                              <p:anim calcmode="lin" valueType="num">
                                <p:cBhvr>
                                  <p:cTn id="106" dur="450" fill="hold"/>
                                  <p:tgtEl>
                                    <p:spTgt spid="28"/>
                                  </p:tgtEl>
                                  <p:attrNameLst>
                                    <p:attrName>ppt_w</p:attrName>
                                  </p:attrNameLst>
                                </p:cBhvr>
                                <p:tavLst>
                                  <p:tav tm="0">
                                    <p:val>
                                      <p:strVal val="#ppt_w*0.85"/>
                                    </p:val>
                                  </p:tav>
                                  <p:tav tm="100000">
                                    <p:val>
                                      <p:strVal val="#ppt_w"/>
                                    </p:val>
                                  </p:tav>
                                </p:tavLst>
                              </p:anim>
                              <p:animEffect transition="in" filter="fade">
                                <p:cBhvr>
                                  <p:cTn id="107" dur="450"/>
                                  <p:tgtEl>
                                    <p:spTgt spid="28"/>
                                  </p:tgtEl>
                                </p:cBhvr>
                              </p:animEffect>
                            </p:childTnLst>
                          </p:cTn>
                        </p:par>
                        <p:par>
                          <p:cTn id="108" presetID="53" presetClass="entr" presetSubtype="16" fill="hold" nodeType="withEffect">
                            <p:stCondLst>
                              <p:cond delay="2600"/>
                            </p:stCondLst>
                            <p:childTnLst>
                              <p:set>
                                <p:cBhvr>
                                  <p:cTn id="109" dur="1" fill="hold">
                                    <p:stCondLst>
                                      <p:cond delay="0"/>
                                    </p:stCondLst>
                                  </p:cTn>
                                  <p:tgtEl>
                                    <p:spTgt spid="29"/>
                                  </p:tgtEl>
                                  <p:attrNameLst>
                                    <p:attrName>style.visibility</p:attrName>
                                  </p:attrNameLst>
                                </p:cBhvr>
                                <p:to>
                                  <p:strVal val="visible"/>
                                </p:to>
                              </p:set>
                              <p:anim calcmode="lin" valueType="num">
                                <p:cBhvr>
                                  <p:cTn id="110" dur="450" fill="hold"/>
                                  <p:tgtEl>
                                    <p:spTgt spid="29"/>
                                  </p:tgtEl>
                                  <p:attrNameLst>
                                    <p:attrName>ppt_w</p:attrName>
                                  </p:attrNameLst>
                                </p:cBhvr>
                                <p:tavLst>
                                  <p:tav tm="0">
                                    <p:val>
                                      <p:strVal val="#ppt_w*0.85"/>
                                    </p:val>
                                  </p:tav>
                                  <p:tav tm="100000">
                                    <p:val>
                                      <p:strVal val="#ppt_w"/>
                                    </p:val>
                                  </p:tav>
                                </p:tavLst>
                              </p:anim>
                              <p:animEffect transition="in" filter="fade">
                                <p:cBhvr>
                                  <p:cTn id="111" dur="450"/>
                                  <p:tgtEl>
                                    <p:spTgt spid="29"/>
                                  </p:tgtEl>
                                </p:cBhvr>
                              </p:animEffect>
                            </p:childTnLst>
                          </p:cTn>
                        </p:par>
                        <p:par>
                          <p:cTn id="112" presetID="53" presetClass="entr" presetSubtype="16" fill="hold" nodeType="withEffect">
                            <p:stCondLst>
                              <p:cond delay="2600"/>
                            </p:stCondLst>
                            <p:childTnLst>
                              <p:set>
                                <p:cBhvr>
                                  <p:cTn id="113" dur="1" fill="hold">
                                    <p:stCondLst>
                                      <p:cond delay="0"/>
                                    </p:stCondLst>
                                  </p:cTn>
                                  <p:tgtEl>
                                    <p:spTgt spid="30"/>
                                  </p:tgtEl>
                                  <p:attrNameLst>
                                    <p:attrName>style.visibility</p:attrName>
                                  </p:attrNameLst>
                                </p:cBhvr>
                                <p:to>
                                  <p:strVal val="visible"/>
                                </p:to>
                              </p:set>
                              <p:anim calcmode="lin" valueType="num">
                                <p:cBhvr>
                                  <p:cTn id="114" dur="450" fill="hold"/>
                                  <p:tgtEl>
                                    <p:spTgt spid="30"/>
                                  </p:tgtEl>
                                  <p:attrNameLst>
                                    <p:attrName>ppt_w</p:attrName>
                                  </p:attrNameLst>
                                </p:cBhvr>
                                <p:tavLst>
                                  <p:tav tm="0">
                                    <p:val>
                                      <p:strVal val="#ppt_w*0.85"/>
                                    </p:val>
                                  </p:tav>
                                  <p:tav tm="100000">
                                    <p:val>
                                      <p:strVal val="#ppt_w"/>
                                    </p:val>
                                  </p:tav>
                                </p:tavLst>
                              </p:anim>
                              <p:animEffect transition="in" filter="fade">
                                <p:cBhvr>
                                  <p:cTn id="115" dur="450"/>
                                  <p:tgtEl>
                                    <p:spTgt spid="30"/>
                                  </p:tgtEl>
                                </p:cBhvr>
                              </p:animEffect>
                            </p:childTnLst>
                          </p:cTn>
                        </p:par>
                        <p:par>
                          <p:cTn id="116" presetID="53" presetClass="entr" presetSubtype="16" fill="hold" nodeType="withEffect">
                            <p:stCondLst>
                              <p:cond delay="2600"/>
                            </p:stCondLst>
                            <p:childTnLst>
                              <p:set>
                                <p:cBhvr>
                                  <p:cTn id="117" dur="1" fill="hold">
                                    <p:stCondLst>
                                      <p:cond delay="0"/>
                                    </p:stCondLst>
                                  </p:cTn>
                                  <p:tgtEl>
                                    <p:spTgt spid="31"/>
                                  </p:tgtEl>
                                  <p:attrNameLst>
                                    <p:attrName>style.visibility</p:attrName>
                                  </p:attrNameLst>
                                </p:cBhvr>
                                <p:to>
                                  <p:strVal val="visible"/>
                                </p:to>
                              </p:set>
                              <p:anim calcmode="lin" valueType="num">
                                <p:cBhvr>
                                  <p:cTn id="118" dur="450" fill="hold"/>
                                  <p:tgtEl>
                                    <p:spTgt spid="31"/>
                                  </p:tgtEl>
                                  <p:attrNameLst>
                                    <p:attrName>ppt_w</p:attrName>
                                  </p:attrNameLst>
                                </p:cBhvr>
                                <p:tavLst>
                                  <p:tav tm="0">
                                    <p:val>
                                      <p:strVal val="#ppt_w*0.85"/>
                                    </p:val>
                                  </p:tav>
                                  <p:tav tm="100000">
                                    <p:val>
                                      <p:strVal val="#ppt_w"/>
                                    </p:val>
                                  </p:tav>
                                </p:tavLst>
                              </p:anim>
                              <p:animEffect transition="in" filter="fade">
                                <p:cBhvr>
                                  <p:cTn id="119" dur="450"/>
                                  <p:tgtEl>
                                    <p:spTgt spid="31"/>
                                  </p:tgtEl>
                                </p:cBhvr>
                              </p:animEffect>
                            </p:childTnLst>
                          </p:cTn>
                        </p:par>
                        <p:par>
                          <p:cTn id="120" presetID="53" presetClass="entr" presetSubtype="16" fill="hold" nodeType="withEffect">
                            <p:stCondLst>
                              <p:cond delay="2600"/>
                            </p:stCondLst>
                            <p:childTnLst>
                              <p:set>
                                <p:cBhvr>
                                  <p:cTn id="121" dur="1" fill="hold">
                                    <p:stCondLst>
                                      <p:cond delay="0"/>
                                    </p:stCondLst>
                                  </p:cTn>
                                  <p:tgtEl>
                                    <p:spTgt spid="32"/>
                                  </p:tgtEl>
                                  <p:attrNameLst>
                                    <p:attrName>style.visibility</p:attrName>
                                  </p:attrNameLst>
                                </p:cBhvr>
                                <p:to>
                                  <p:strVal val="visible"/>
                                </p:to>
                              </p:set>
                              <p:anim calcmode="lin" valueType="num">
                                <p:cBhvr>
                                  <p:cTn id="122" dur="450" fill="hold"/>
                                  <p:tgtEl>
                                    <p:spTgt spid="32"/>
                                  </p:tgtEl>
                                  <p:attrNameLst>
                                    <p:attrName>ppt_w</p:attrName>
                                  </p:attrNameLst>
                                </p:cBhvr>
                                <p:tavLst>
                                  <p:tav tm="0">
                                    <p:val>
                                      <p:strVal val="#ppt_w*0.85"/>
                                    </p:val>
                                  </p:tav>
                                  <p:tav tm="100000">
                                    <p:val>
                                      <p:strVal val="#ppt_w"/>
                                    </p:val>
                                  </p:tav>
                                </p:tavLst>
                              </p:anim>
                              <p:animEffect transition="in" filter="fade">
                                <p:cBhvr>
                                  <p:cTn id="123" dur="450"/>
                                  <p:tgtEl>
                                    <p:spTgt spid="32"/>
                                  </p:tgtEl>
                                </p:cBhvr>
                              </p:animEffect>
                            </p:childTnLst>
                          </p:cTn>
                        </p:par>
                        <p:par>
                          <p:cTn id="124" presetID="53" presetClass="entr" presetSubtype="16" fill="hold" nodeType="withEffect">
                            <p:stCondLst>
                              <p:cond delay="2600"/>
                            </p:stCondLst>
                            <p:childTnLst>
                              <p:set>
                                <p:cBhvr>
                                  <p:cTn id="125" dur="1" fill="hold">
                                    <p:stCondLst>
                                      <p:cond delay="0"/>
                                    </p:stCondLst>
                                  </p:cTn>
                                  <p:tgtEl>
                                    <p:spTgt spid="33"/>
                                  </p:tgtEl>
                                  <p:attrNameLst>
                                    <p:attrName>style.visibility</p:attrName>
                                  </p:attrNameLst>
                                </p:cBhvr>
                                <p:to>
                                  <p:strVal val="visible"/>
                                </p:to>
                              </p:set>
                              <p:anim calcmode="lin" valueType="num">
                                <p:cBhvr>
                                  <p:cTn id="126" dur="450" fill="hold"/>
                                  <p:tgtEl>
                                    <p:spTgt spid="33"/>
                                  </p:tgtEl>
                                  <p:attrNameLst>
                                    <p:attrName>ppt_w</p:attrName>
                                  </p:attrNameLst>
                                </p:cBhvr>
                                <p:tavLst>
                                  <p:tav tm="0">
                                    <p:val>
                                      <p:strVal val="#ppt_w*0.85"/>
                                    </p:val>
                                  </p:tav>
                                  <p:tav tm="100000">
                                    <p:val>
                                      <p:strVal val="#ppt_w"/>
                                    </p:val>
                                  </p:tav>
                                </p:tavLst>
                              </p:anim>
                              <p:animEffect transition="in" filter="fade">
                                <p:cBhvr>
                                  <p:cTn id="127" dur="450"/>
                                  <p:tgtEl>
                                    <p:spTgt spid="33"/>
                                  </p:tgtEl>
                                </p:cBhvr>
                              </p:animEffect>
                            </p:childTnLst>
                          </p:cTn>
                        </p:par>
                        <p:par>
                          <p:cTn id="128" presetID="53" presetClass="entr" presetSubtype="16" fill="hold" nodeType="withEffect">
                            <p:stCondLst>
                              <p:cond delay="2600"/>
                            </p:stCondLst>
                            <p:childTnLst>
                              <p:set>
                                <p:cBhvr>
                                  <p:cTn id="129" dur="1" fill="hold">
                                    <p:stCondLst>
                                      <p:cond delay="0"/>
                                    </p:stCondLst>
                                  </p:cTn>
                                  <p:tgtEl>
                                    <p:spTgt spid="34"/>
                                  </p:tgtEl>
                                  <p:attrNameLst>
                                    <p:attrName>style.visibility</p:attrName>
                                  </p:attrNameLst>
                                </p:cBhvr>
                                <p:to>
                                  <p:strVal val="visible"/>
                                </p:to>
                              </p:set>
                              <p:anim calcmode="lin" valueType="num">
                                <p:cBhvr>
                                  <p:cTn id="130" dur="450" fill="hold"/>
                                  <p:tgtEl>
                                    <p:spTgt spid="34"/>
                                  </p:tgtEl>
                                  <p:attrNameLst>
                                    <p:attrName>ppt_w</p:attrName>
                                  </p:attrNameLst>
                                </p:cBhvr>
                                <p:tavLst>
                                  <p:tav tm="0">
                                    <p:val>
                                      <p:strVal val="#ppt_w*0.85"/>
                                    </p:val>
                                  </p:tav>
                                  <p:tav tm="100000">
                                    <p:val>
                                      <p:strVal val="#ppt_w"/>
                                    </p:val>
                                  </p:tav>
                                </p:tavLst>
                              </p:anim>
                              <p:animEffect transition="in" filter="fade">
                                <p:cBhvr>
                                  <p:cTn id="131" dur="450"/>
                                  <p:tgtEl>
                                    <p:spTgt spid="34"/>
                                  </p:tgtEl>
                                </p:cBhvr>
                              </p:animEffect>
                            </p:childTnLst>
                          </p:cTn>
                        </p:par>
                        <p:par>
                          <p:cTn id="132" presetID="53" presetClass="entr" presetSubtype="16" fill="hold" nodeType="withEffect">
                            <p:stCondLst>
                              <p:cond delay="2600"/>
                            </p:stCondLst>
                            <p:childTnLst>
                              <p:set>
                                <p:cBhvr>
                                  <p:cTn id="133" dur="1" fill="hold">
                                    <p:stCondLst>
                                      <p:cond delay="0"/>
                                    </p:stCondLst>
                                  </p:cTn>
                                  <p:tgtEl>
                                    <p:spTgt spid="35"/>
                                  </p:tgtEl>
                                  <p:attrNameLst>
                                    <p:attrName>style.visibility</p:attrName>
                                  </p:attrNameLst>
                                </p:cBhvr>
                                <p:to>
                                  <p:strVal val="visible"/>
                                </p:to>
                              </p:set>
                              <p:anim calcmode="lin" valueType="num">
                                <p:cBhvr>
                                  <p:cTn id="134" dur="450" fill="hold"/>
                                  <p:tgtEl>
                                    <p:spTgt spid="35"/>
                                  </p:tgtEl>
                                  <p:attrNameLst>
                                    <p:attrName>ppt_w</p:attrName>
                                  </p:attrNameLst>
                                </p:cBhvr>
                                <p:tavLst>
                                  <p:tav tm="0">
                                    <p:val>
                                      <p:strVal val="#ppt_w*0.85"/>
                                    </p:val>
                                  </p:tav>
                                  <p:tav tm="100000">
                                    <p:val>
                                      <p:strVal val="#ppt_w"/>
                                    </p:val>
                                  </p:tav>
                                </p:tavLst>
                              </p:anim>
                              <p:animEffect transition="in" filter="fade">
                                <p:cBhvr>
                                  <p:cTn id="135" dur="450"/>
                                  <p:tgtEl>
                                    <p:spTgt spid="35"/>
                                  </p:tgtEl>
                                </p:cBhvr>
                              </p:animEffect>
                            </p:childTnLst>
                          </p:cTn>
                        </p:par>
                        <p:par>
                          <p:cTn id="136" presetID="53" presetClass="entr" presetSubtype="16" fill="hold" nodeType="withEffect">
                            <p:stCondLst>
                              <p:cond delay="2600"/>
                            </p:stCondLst>
                            <p:childTnLst>
                              <p:set>
                                <p:cBhvr>
                                  <p:cTn id="137" dur="1" fill="hold">
                                    <p:stCondLst>
                                      <p:cond delay="0"/>
                                    </p:stCondLst>
                                  </p:cTn>
                                  <p:tgtEl>
                                    <p:spTgt spid="36"/>
                                  </p:tgtEl>
                                  <p:attrNameLst>
                                    <p:attrName>style.visibility</p:attrName>
                                  </p:attrNameLst>
                                </p:cBhvr>
                                <p:to>
                                  <p:strVal val="visible"/>
                                </p:to>
                              </p:set>
                              <p:anim calcmode="lin" valueType="num">
                                <p:cBhvr>
                                  <p:cTn id="138" dur="450" fill="hold"/>
                                  <p:tgtEl>
                                    <p:spTgt spid="36"/>
                                  </p:tgtEl>
                                  <p:attrNameLst>
                                    <p:attrName>ppt_w</p:attrName>
                                  </p:attrNameLst>
                                </p:cBhvr>
                                <p:tavLst>
                                  <p:tav tm="0">
                                    <p:val>
                                      <p:strVal val="#ppt_w*0.85"/>
                                    </p:val>
                                  </p:tav>
                                  <p:tav tm="100000">
                                    <p:val>
                                      <p:strVal val="#ppt_w"/>
                                    </p:val>
                                  </p:tav>
                                </p:tavLst>
                              </p:anim>
                              <p:animEffect transition="in" filter="fade">
                                <p:cBhvr>
                                  <p:cTn id="139" dur="450"/>
                                  <p:tgtEl>
                                    <p:spTgt spid="36"/>
                                  </p:tgtEl>
                                </p:cBhvr>
                              </p:animEffect>
                            </p:childTnLst>
                          </p:cTn>
                        </p:par>
                        <p:par>
                          <p:cTn id="140" presetID="53" presetClass="entr" presetSubtype="16" fill="hold" nodeType="withEffect">
                            <p:stCondLst>
                              <p:cond delay="2600"/>
                            </p:stCondLst>
                            <p:childTnLst>
                              <p:set>
                                <p:cBhvr>
                                  <p:cTn id="141" dur="1" fill="hold">
                                    <p:stCondLst>
                                      <p:cond delay="0"/>
                                    </p:stCondLst>
                                  </p:cTn>
                                  <p:tgtEl>
                                    <p:spTgt spid="37"/>
                                  </p:tgtEl>
                                  <p:attrNameLst>
                                    <p:attrName>style.visibility</p:attrName>
                                  </p:attrNameLst>
                                </p:cBhvr>
                                <p:to>
                                  <p:strVal val="visible"/>
                                </p:to>
                              </p:set>
                              <p:anim calcmode="lin" valueType="num">
                                <p:cBhvr>
                                  <p:cTn id="142" dur="450" fill="hold"/>
                                  <p:tgtEl>
                                    <p:spTgt spid="37"/>
                                  </p:tgtEl>
                                  <p:attrNameLst>
                                    <p:attrName>ppt_w</p:attrName>
                                  </p:attrNameLst>
                                </p:cBhvr>
                                <p:tavLst>
                                  <p:tav tm="0">
                                    <p:val>
                                      <p:strVal val="#ppt_w*0.85"/>
                                    </p:val>
                                  </p:tav>
                                  <p:tav tm="100000">
                                    <p:val>
                                      <p:strVal val="#ppt_w"/>
                                    </p:val>
                                  </p:tav>
                                </p:tavLst>
                              </p:anim>
                              <p:animEffect transition="in" filter="fade">
                                <p:cBhvr>
                                  <p:cTn id="143" dur="450"/>
                                  <p:tgtEl>
                                    <p:spTgt spid="37"/>
                                  </p:tgtEl>
                                </p:cBhvr>
                              </p:animEffect>
                            </p:childTnLst>
                          </p:cTn>
                        </p:par>
                        <p:par>
                          <p:cTn id="144" presetID="53" presetClass="entr" presetSubtype="16" fill="hold" nodeType="withEffect">
                            <p:stCondLst>
                              <p:cond delay="2600"/>
                            </p:stCondLst>
                            <p:childTnLst>
                              <p:set>
                                <p:cBhvr>
                                  <p:cTn id="145" dur="1" fill="hold">
                                    <p:stCondLst>
                                      <p:cond delay="0"/>
                                    </p:stCondLst>
                                  </p:cTn>
                                  <p:tgtEl>
                                    <p:spTgt spid="38"/>
                                  </p:tgtEl>
                                  <p:attrNameLst>
                                    <p:attrName>style.visibility</p:attrName>
                                  </p:attrNameLst>
                                </p:cBhvr>
                                <p:to>
                                  <p:strVal val="visible"/>
                                </p:to>
                              </p:set>
                              <p:anim calcmode="lin" valueType="num">
                                <p:cBhvr>
                                  <p:cTn id="146" dur="450" fill="hold"/>
                                  <p:tgtEl>
                                    <p:spTgt spid="38"/>
                                  </p:tgtEl>
                                  <p:attrNameLst>
                                    <p:attrName>ppt_w</p:attrName>
                                  </p:attrNameLst>
                                </p:cBhvr>
                                <p:tavLst>
                                  <p:tav tm="0">
                                    <p:val>
                                      <p:strVal val="#ppt_w*0.85"/>
                                    </p:val>
                                  </p:tav>
                                  <p:tav tm="100000">
                                    <p:val>
                                      <p:strVal val="#ppt_w"/>
                                    </p:val>
                                  </p:tav>
                                </p:tavLst>
                              </p:anim>
                              <p:animEffect transition="in" filter="fade">
                                <p:cBhvr>
                                  <p:cTn id="147" dur="450"/>
                                  <p:tgtEl>
                                    <p:spTgt spid="38"/>
                                  </p:tgtEl>
                                </p:cBhvr>
                              </p:animEffect>
                            </p:childTnLst>
                          </p:cTn>
                        </p:par>
                        <p:par>
                          <p:cTn id="148" presetID="53" presetClass="entr" presetSubtype="16" fill="hold" nodeType="withEffect">
                            <p:stCondLst>
                              <p:cond delay="2600"/>
                            </p:stCondLst>
                            <p:childTnLst>
                              <p:set>
                                <p:cBhvr>
                                  <p:cTn id="149" dur="1" fill="hold">
                                    <p:stCondLst>
                                      <p:cond delay="0"/>
                                    </p:stCondLst>
                                  </p:cTn>
                                  <p:tgtEl>
                                    <p:spTgt spid="39"/>
                                  </p:tgtEl>
                                  <p:attrNameLst>
                                    <p:attrName>style.visibility</p:attrName>
                                  </p:attrNameLst>
                                </p:cBhvr>
                                <p:to>
                                  <p:strVal val="visible"/>
                                </p:to>
                              </p:set>
                              <p:anim calcmode="lin" valueType="num">
                                <p:cBhvr>
                                  <p:cTn id="150" dur="450" fill="hold"/>
                                  <p:tgtEl>
                                    <p:spTgt spid="39"/>
                                  </p:tgtEl>
                                  <p:attrNameLst>
                                    <p:attrName>ppt_w</p:attrName>
                                  </p:attrNameLst>
                                </p:cBhvr>
                                <p:tavLst>
                                  <p:tav tm="0">
                                    <p:val>
                                      <p:strVal val="#ppt_w*0.85"/>
                                    </p:val>
                                  </p:tav>
                                  <p:tav tm="100000">
                                    <p:val>
                                      <p:strVal val="#ppt_w"/>
                                    </p:val>
                                  </p:tav>
                                </p:tavLst>
                              </p:anim>
                              <p:animEffect transition="in" filter="fade">
                                <p:cBhvr>
                                  <p:cTn id="151" dur="450"/>
                                  <p:tgtEl>
                                    <p:spTgt spid="39"/>
                                  </p:tgtEl>
                                </p:cBhvr>
                              </p:animEffect>
                            </p:childTnLst>
                          </p:cTn>
                        </p:par>
                        <p:par>
                          <p:cTn id="152" presetID="53" presetClass="entr" presetSubtype="16" fill="hold" nodeType="withEffect">
                            <p:stCondLst>
                              <p:cond delay="2600"/>
                            </p:stCondLst>
                            <p:childTnLst>
                              <p:set>
                                <p:cBhvr>
                                  <p:cTn id="153" dur="1" fill="hold">
                                    <p:stCondLst>
                                      <p:cond delay="0"/>
                                    </p:stCondLst>
                                  </p:cTn>
                                  <p:tgtEl>
                                    <p:spTgt spid="40"/>
                                  </p:tgtEl>
                                  <p:attrNameLst>
                                    <p:attrName>style.visibility</p:attrName>
                                  </p:attrNameLst>
                                </p:cBhvr>
                                <p:to>
                                  <p:strVal val="visible"/>
                                </p:to>
                              </p:set>
                              <p:anim calcmode="lin" valueType="num">
                                <p:cBhvr>
                                  <p:cTn id="154" dur="450" fill="hold"/>
                                  <p:tgtEl>
                                    <p:spTgt spid="40"/>
                                  </p:tgtEl>
                                  <p:attrNameLst>
                                    <p:attrName>ppt_w</p:attrName>
                                  </p:attrNameLst>
                                </p:cBhvr>
                                <p:tavLst>
                                  <p:tav tm="0">
                                    <p:val>
                                      <p:strVal val="#ppt_w*0.85"/>
                                    </p:val>
                                  </p:tav>
                                  <p:tav tm="100000">
                                    <p:val>
                                      <p:strVal val="#ppt_w"/>
                                    </p:val>
                                  </p:tav>
                                </p:tavLst>
                              </p:anim>
                              <p:animEffect transition="in" filter="fade">
                                <p:cBhvr>
                                  <p:cTn id="155" dur="450"/>
                                  <p:tgtEl>
                                    <p:spTgt spid="40"/>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p:bldP spid="9" grpId="0"/>
      <p:bldP spid="11" grpId="0"/>
      <p:bldP spid="12" grpId="0"/>
      <p:bldP spid="14" grpId="0"/>
      <p:bldP spid="15" grpId="0"/>
      <p:bldP spid="17" grpId="0"/>
      <p:bldP spid="18" grpId="0"/>
      <p:bldP spid="20" grpId="0"/>
      <p:bldP spid="21" grpId="0"/>
      <p:bldP spid="24" grpId="0"/>
      <p:bldP spid="25" grpId="0"/>
      <p:bldP spid="27" grpId="0"/>
      <p:bldP spid="28" grpId="0"/>
      <p:bldP spid="30" grpId="0"/>
      <p:bldP spid="31" grpId="0"/>
      <p:bldP spid="33" grpId="0"/>
      <p:bldP spid="34" grpId="0"/>
      <p:bldP spid="36" grpId="0"/>
      <p:bldP spid="37" grpId="0"/>
      <p:bldP spid="39" grpId="0"/>
      <p:bldP spid="40" grpId="0"/>
    </p:bldLst>
  </p:timing>
</p:sld>
</file>

<file path=ppt/theme/theme1.xml><?xml version="1.0" encoding="utf-8"?>
<a:theme xmlns:a="http://schemas.openxmlformats.org/drawingml/2006/main" name="Confrontation agreable">
  <a:themeElements>
    <a:clrScheme name="Confrontation agreable">
      <a:dk1>
        <a:srgbClr val="1B1714"/>
      </a:dk1>
      <a:lt1>
        <a:srgbClr val="FFFFFF"/>
      </a:lt1>
      <a:dk2>
        <a:srgbClr val="6B4B10"/>
      </a:dk2>
      <a:lt2>
        <a:srgbClr val="EFE6D1"/>
      </a:lt2>
      <a:accent1>
        <a:srgbClr val="D2232A"/>
      </a:accent1>
      <a:accent2>
        <a:srgbClr val="F0A12E"/>
      </a:accent2>
      <a:accent3>
        <a:srgbClr val="1B1714"/>
      </a:accent3>
      <a:accent4>
        <a:srgbClr val="8C1A1F"/>
      </a:accent4>
      <a:accent5>
        <a:srgbClr val="C9B994"/>
      </a:accent5>
      <a:accent6>
        <a:srgbClr val="3E6E5A"/>
      </a:accent6>
      <a:hlink>
        <a:srgbClr val="D2232A"/>
      </a:hlink>
      <a:folHlink>
        <a:srgbClr val="6B4B10"/>
      </a:folHlink>
    </a:clrScheme>
    <a:fontScheme name="Confrontation agreable">
      <a:majorFont>
        <a:latin typeface="Rockwell Extra 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confrontation agréable</dc:title>
  <dc:subject>PptxGenJS Presentation</dc:subject>
  <dc:creator>Séminaire pédagonumérique</dc:creator>
  <cp:lastModifiedBy>Séminaire pédagonumérique</cp:lastModifiedBy>
  <cp:revision>1</cp:revision>
  <dcterms:created xsi:type="dcterms:W3CDTF">2026-10-12T02:52:08Z</dcterms:created>
  <dcterms:modified xsi:type="dcterms:W3CDTF">2026-10-12T02:52:08Z</dcterms:modified>
</cp:coreProperties>
</file>