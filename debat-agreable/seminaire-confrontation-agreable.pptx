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d39e4c0-30ca-ea2d-d830-d2756a3d1d7a}">
          <p14:sldIdLst>
            <p14:sldId id="256"/>
            <p14:sldId id="257"/>
            <p14:sldId id="258"/>
          </p14:sldIdLst>
        </p14:section>
        <p14:section name="Échauffement" id="{940d81d9-f88f-41d5-66c9-05fc1fcc6ff6}">
          <p14:sldIdLst>
            <p14:sldId id="259"/>
            <p14:sldId id="260"/>
            <p14:sldId id="261"/>
            <p14:sldId id="262"/>
          </p14:sldIdLst>
        </p14:section>
        <p14:section name="Le manuel du tricheur" id="{4cfa5b7e-596b-116f-1a88-9001ff08b7af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Le bestiaire" id="{99bfdff9-fa93-ae95-8d1d-5813b4c4d9b2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Ateliers d'écriture" id="{915811bc-e1d6-d426-a332-c2ce073be076}">
          <p14:sldIdLst>
            <p14:sldId id="279"/>
            <p14:sldId id="280"/>
            <p14:sldId id="281"/>
            <p14:sldId id="282"/>
          </p14:sldIdLst>
        </p14:section>
        <p14:section name="L'arène agréable" id="{c9145d6f-53ca-da00-0f57-107ab1d0f624}">
          <p14:sldIdLst>
            <p14:sldId id="283"/>
            <p14:sldId id="284"/>
            <p14:sldId id="285"/>
          </p14:sldIdLst>
        </p14:section>
        <p14:section name="Sortie" id="{eb9af4a0-e897-bce0-158b-02c02dfdfbf0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Accueil. Le visuel s'inspire du New Games Book (1976) : « Play hard, play fair, nobody hurt ». Notre pari : transposer cette éthique du jeu coopératif au débat. On va apprendre les coups bas de Schopenhauer pour les reconnaître, puis pratiquer un débat ferme ET agréable. Durée totale : environ 3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d'amorce, anonyme. Le mur des cicatrices sert de fil rouge : à la fin, chacun choisit un papillon et propose ce qu'il aurait fallu faire autrement.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Aperçu de la séance. Prévoir une pause entre le bestiaire et les ateliers d'écriture.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le PDF du zine imprimé recto seulement, taille réelle. Démontrer le pliage une fois, puis laisser les participants s'entraider : premier geste de coopération.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participants se placent physiquement sur une ligne imaginaire au sol. Chaque déplacement doit être justifié : « Qui t'a fait bouger, et avec quoi? » Le « Change de bord! » prépare l'atelier homme d'acier.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Sujet : reprendre un énoncé de la ligne qui bouge. Les accords doivent porter sur le sujet, pas sur la météo. Le « Trop facile! » rend le jeu exigeant et drôle. Inclusion : pour un élève à mobilité réduite, le duo avance un jeton sur une piste dessinée au tableau. Retour : quel accord vous a le plus surpris? Lequel a été le plus difficile à dire?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livre comme un vaccin : connaître les ruses pour les désamorcer. Question à la salle : est-ce éthique d'enseigner ces ruses? Que se passe-t-il si on ne les enseigne pas?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Distinction inspirée de la négociation raisonnée (Fisher et Ury) : dur sur le fond, doux avec les personnes. L'agréabilité est une compétence de fermeté, pas de complaisance. Demander : dans quelle case vous retrouvez-vous quand vous êtes fatigués?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numéros correspondent aux stratagèmes de Schopenhauer. Les surnoms sont les nôtres, pour que les élèves les retiennent. Ces 9 cartes deviennent la grille de bingo de l'activité du bestiaire.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Valider la liste exacte des procédés avec la version en vigueur du programme CCQ de votre cycle. Aussi en lien : Français, communiquer oralement (argumenter, adapter son discours).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Hiérarchie du désaccord de Paul Graham (2008). Plus on monte, plus le débat est agréable pour les personnes et dangereux pour les mauvaises idées. Défi : nommer son étage avant de répondre.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Anatol Rapoport, mathématicien et théoricien des jeux (stratégie « donnant-donnant »). Daniel Dennett a formulé ces règles dans Intuition Pumps (2013). Faire le lien : ces 4 règles sont l'antidote direct des stratagèmes 1, 29 et 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Aperçu : on reconnaît chaque créature d'abord à sa phrase-signature. Insister : personne n'est une seule créature. On change selon la fatigue, le sujet, le public. Les 4 diapos suivantes sont des fiches d'identité à imprimer : elles servent de cartes-rôles pour le bal masqué.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Fiches d'identité. Imprimer cette diapo et couper en deux : chaque moitié devient une carte-rôle pour le bal masqué (la dernière ligne dit comment jouer la créature). Les numéros renvoient aux stratagèmes de Schopenhauer; 14 = crier victoire malgré la défaite.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Fiches d'identité. Imprimer cette diapo et couper en deux : chaque moitié devient une carte-rôle pour le bal masqué (la dernière ligne dit comment jouer la créature). Les numéros renvoient aux stratagèmes de Schopenhauer; 14 = crier victoire malgré la défaite.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Fiches d'identité. Imprimer cette diapo et couper en deux : chaque moitié devient une carte-rôle pour le bal masqué (la dernière ligne dit comment jouer la créature). Les numéros renvoient aux stratagèmes de Schopenhauer; 14 = crier victoire malgré la défaite.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Fiches d'identité. Imprimer cette diapo et couper en deux : chaque moitié devient une carte-rôle pour le bal masqué (la dernière ligne dit comment jouer la créature). Les numéros renvoient aux stratagèmes de Schopenhauer; 14 = crier victoire malgré la défaite.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Imprimer les 4 diapos « Fiches d'identité » et les couper en deux : 8 cartes-rôles. Débat en aquarium : 5 au centre, le reste en observation. L'étape 5 (rejouer en Bâtisseurs) est la plus importante : faire nommer la différence d'ambiance.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grille reprend la page 4 du zine. La case étoile oriente l'attention vers les bons comportements : on finit sur ce qui construit.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Réflexion individuelle silencieuse, puis partage volontaire en dyade. Le but est la métacognition : reconnaître ses propres réflexes sous 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la page 5 du zine. Lecture à voix haute : faire sentir physiquement la différence de ton. Variante numérique : réécrire un commentaire de réseau social fictif.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écrite de la règle 1 de Rapoport. Le moment de la signature est souvent émouvant : être bien compris désarme. Afficher les feuilles signées au mur.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finale du séminaire. On compile les stratagèmes de la classe dans un « Manuel du débat loyal » numéroté à partir de 39 : le zine nº 2 de la classe. Page 7 du zine.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Dispositif en aquarium (fishbowl). Les jetons peuvent être des trombones ou des cartes. Le prix « girouette courageuse » renverse le stigmate : changer d'avis devient un exploit.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Afficher en permanence dans la classe. La dernière phrase (Céder) est la plus difficile et la plus puissante. Défi de la semaine : l'utiliser une fois.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Retour sur la question d'ouverture. Les papillons réécrits peuvent devenir une affiche collective.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Clôture. Remettre la devise du New Games Book transposée au débat. Inviter les participants à repartir avec leur zine signé.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68096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5000"/>
              </a:lnSpc>
              <a:buNone/>
              <a:defRPr lang="en-US" sz="6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lnSpc>
                <a:spcPct val="85000"/>
              </a:lnSpc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0"/>
            <a:ext cx="74980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48640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NOUVEAU LIVRE DU DÉBAT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I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SÉMINAIRE · LA CONFRONTATION AGRÉABLE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chemeClr val="accent1"/>
                </a:solidFill>
              </a:rPr>
              <a:t>LE NOUVEAU</a:t>
            </a:r>
            <a:endParaRPr lang="en-US" sz="6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chemeClr val="accent1"/>
                </a:solidFill>
              </a:rPr>
              <a:t>LIVRE DU</a:t>
            </a:r>
            <a:endParaRPr lang="en-US" sz="6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chemeClr val="accent1"/>
                </a:solidFill>
              </a:rPr>
              <a:t>DÉBAT</a:t>
            </a:r>
            <a:endParaRPr lang="en-US" sz="6600" dirty="0"/>
          </a:p>
        </p:txBody>
      </p:sp>
      <p:pic>
        <p:nvPicPr>
          <p:cNvPr id="4" name="sauteu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80000">
            <a:off x="7589520" y="182880"/>
            <a:ext cx="4206240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78240" y="5257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Débattre fort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Débattre juste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 blessé·e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Question d'entrée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As-tu déjà gagné un débat…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et perdu un ami?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Écris ta réponse sur un papillon adhésif. Pas de nom. On les colle sur le « mur des cicatrices », on les relira à la fin.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1600200" cy="19202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463040"/>
            <a:ext cx="1600200" cy="192024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3657600"/>
            <a:ext cx="1600200" cy="1920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⏱ 3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Le parcours de la séance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6002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1920240"/>
            <a:ext cx="12344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514600"/>
            <a:ext cx="1691640" cy="3017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517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Échauffement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Zine, ligne qui bouge, course à trois jambes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1600200"/>
            <a:ext cx="640080" cy="6400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03320" y="1920240"/>
            <a:ext cx="12344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423160" y="2514600"/>
            <a:ext cx="1691640" cy="3017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6517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manuel du tricheur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Schopenhauer, coups bas, pyramide, Rapoport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577840" y="1920240"/>
            <a:ext cx="12344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297680" y="2514600"/>
            <a:ext cx="1691640" cy="3017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26517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bestiaire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 masqué des débatteurs, bingo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1600200"/>
            <a:ext cx="640080" cy="6400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452360" y="1920240"/>
            <a:ext cx="12344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172200" y="2514600"/>
            <a:ext cx="1691640" cy="3017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26517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Ateliers d'écriture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Ascenseur, homme d'acier, 39ᵉ stratagème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41080" y="160020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41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326880" y="1920240"/>
            <a:ext cx="12344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046720" y="2514600"/>
            <a:ext cx="1691640" cy="3017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26517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L'arène agréable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Aquarium à jetons de reformulation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515600" y="1600200"/>
            <a:ext cx="640080" cy="6400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5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9921240" y="2514600"/>
            <a:ext cx="1691640" cy="3017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058400" y="26517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Sortie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05840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 3-2-1, mur des cicatrices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0" y="5029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0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918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2"/>
                </a:solidFill>
              </a:rPr>
              <a:t>Échauffement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486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Trois activités pour entrer dans le jeu sans entrer en guerre</a:t>
            </a:r>
            <a:endParaRPr lang="en-US" sz="1800" dirty="0"/>
          </a:p>
        </p:txBody>
      </p:sp>
      <p:pic>
        <p:nvPicPr>
          <p:cNvPr id="5" name="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914400"/>
            <a:ext cx="35661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Activité 1 · Plie ton zine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7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17373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Plier en deux sur la longueur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2194560" cy="17373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64592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Plier en 4 sur la largeur : 8 cases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03520" y="1508760"/>
            <a:ext cx="2194560" cy="17373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64592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2286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Couper la fente centrale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194560" cy="17373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251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Pousser vers le centre : losange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26080" y="3474720"/>
            <a:ext cx="2194560" cy="17373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36118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63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251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Rabattre en livret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03520" y="3474720"/>
            <a:ext cx="2194560" cy="17373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3611880"/>
            <a:ext cx="502920" cy="5029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4251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sur le dessus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55280" y="1508760"/>
            <a:ext cx="3657600" cy="384048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Pourquoi commencer par du papier?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6060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geste manuel ralentit la salle, crée un objet commun et donne à chacun un « passeport » qu'on remplira en cours de route (pages 3, 4, 5 et 7).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Activité 2 · La ligne qui bouge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13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TOTALEMENT D'ACCORD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696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DU TOUT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Énoncés possibles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Les devoirs devraient être abolis. 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 cellulaire devrait être permis en classe. 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Un bon argument peut toujours être dit poliment. »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Changer d'avis, c'est perdre la face. 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2743200"/>
            <a:ext cx="4937760" cy="301752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règle surprise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34747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peut bouger que si quelqu'un d'autre nous a fait bouger. Puis, au signal « Change de bord! », chacun va défendre la position opposée à la sienne pendant 1 minute.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Activité 3 · La course à trois jambes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12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441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Duos opposés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28930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 chaque bout de la ligne qui bouge. Bras dessus, bras dessous.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Départ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219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duos au fond de la salle, face au tableau.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095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Un accord = un pas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154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 un point d'accord sincère sur le sujet. Si l'autre dit « d'accord », le duo avance d'un pas.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42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« Trop facile! »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0873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groupe peut crier « Trop facile! » sur un accord banal (« on veut tous être heureux »). Pas refusé.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56632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056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074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mur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502005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duo arrivé : il écrit sa phrase commune au tableau, puis la lit.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1325880"/>
            <a:ext cx="3474720" cy="457200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463040"/>
            <a:ext cx="1097280" cy="132588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463040"/>
            <a:ext cx="1097280" cy="132588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36676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Pourquoi ça marche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8366760" y="34290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Liés, on ne peut pas s'éloigner de l'autre.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course oblige à chercher l'accord vite et fort.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la règle 2 de Rapoport, vécue avec le corps.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918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2"/>
                </a:solidFill>
              </a:rPr>
              <a:t>Le manuel du tricheur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486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Apprendre les coups bas pour s'en immuniser</a:t>
            </a:r>
            <a:endParaRPr lang="en-US" sz="1800" dirty="0"/>
          </a:p>
        </p:txBody>
      </p:sp>
      <p:pic>
        <p:nvPicPr>
          <p:cNvPr id="5" name="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914400"/>
            <a:ext cx="35661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Schopenhauer a écrit le guide du tricheur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38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stratagèmes pour avoir raison, même quand on a tort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46304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L'Art d'avoir toujours raison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Rédigé vers 1830, publié après sa mort. Un inventaire lucide, presque cynique, des ruses du débat.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0" y="2834640"/>
            <a:ext cx="6126480" cy="128016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« Le débat est un combat d'escrime intellectuel. »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434340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paradoxe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conseille lui-même de ne débattre qu'avec ceux qui cherchent la vérité et acceptent d'avoir tort. Son manuel est donc aussi un avertissement.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Agréable ne veut pas dire mou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envers les IDÉES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envers les PERSONNES 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doux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dur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mou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ferme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4206240" cy="178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286000"/>
            <a:ext cx="960120" cy="11612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017520" y="2313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Girouette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monde a raison. Personne n'apprend rien.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23760" y="2148840"/>
            <a:ext cx="4206240" cy="178308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286000"/>
            <a:ext cx="960120" cy="11612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2313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Bâtisseur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40664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Exigeant sur le fond, bienveillant avec les gens. LA CIBLE.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2834640" y="4069080"/>
            <a:ext cx="4206240" cy="178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206240"/>
            <a:ext cx="960120" cy="11612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01752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Sniper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3017520" y="4754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sur les idées, cruel avec les gens. Le pire des deux mondes.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223760" y="4069080"/>
            <a:ext cx="4206240" cy="178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4206240"/>
            <a:ext cx="960120" cy="11612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664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Bulldozer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406640" y="4754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Gagne les débats, perd les relations.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9 coups bas et leur parade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48132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L'élastique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Étirer ta thèse jusqu'à l'absurde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Ce n'est pas ce que j'ai dit. 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371600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48132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285232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L'allumette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mettre en colère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3317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Ça monte, je ralentis. 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0144" y="1371600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9872" y="148132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015984" y="1481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faux choix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015984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C'est ça ou le chaos »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47304" y="23317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Il existe une 3ᵉ option. 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1089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18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coupe-fil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456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Interrompre quand on perd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593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Je finis, puis je t'écoute. »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79392" y="2999232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0" y="31089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29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5285232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diversion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3456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Changer de sujet en douce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16552" y="39593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On parlait de… »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10144" y="2999232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19872" y="31089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30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9015984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galon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015984" y="3456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Un expert l'a dit »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147304" y="39593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Quelles sont ses raisons? »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626864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473659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32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1554480" y="4736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L'étiquette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50840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un nom odieux à l'idée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58698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Parlons de l'idée, pas du mot. »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79392" y="4626864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89120" y="473659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36</a:t>
            </a:r>
            <a:endParaRPr lang="en-US" sz="3200" dirty="0"/>
          </a:p>
        </p:txBody>
      </p:sp>
      <p:sp>
        <p:nvSpPr>
          <p:cNvPr id="40" name="Text 38"/>
          <p:cNvSpPr txBox="1"/>
          <p:nvPr/>
        </p:nvSpPr>
        <p:spPr>
          <a:xfrm>
            <a:off x="5285232" y="4736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brouillard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285232" y="50840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Noyer sous le jargon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416552" y="558698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« Dis-le à un enfant de 10 ans. »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10144" y="4626864"/>
            <a:ext cx="3566160" cy="1463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19872" y="473659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38</a:t>
            </a:r>
            <a:endParaRPr lang="en-US" sz="3200" dirty="0"/>
          </a:p>
        </p:txBody>
      </p:sp>
      <p:sp>
        <p:nvSpPr>
          <p:cNvPr id="45" name="Text 43"/>
          <p:cNvSpPr txBox="1"/>
          <p:nvPr/>
        </p:nvSpPr>
        <p:spPr>
          <a:xfrm>
            <a:off x="9015984" y="4736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K.-O.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015984" y="50840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L'attaque personnelle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147304" y="558698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calme. Il n'a plus d'arguments.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Ce que dit le programme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et citoyenneté québécoise : la pratique du dialogue nomme des procédés qui entravent le dialogue. Schopenhauer en avait déjà décrit plusieurs.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Entrave au dialogue (CCQ)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Stratagème de Schopenhauer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493776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Attaque personnelle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2926080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0" y="2697480"/>
            <a:ext cx="5029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· Le K.-O.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493776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64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Caricature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0" y="3493008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3264408"/>
            <a:ext cx="5029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L'élastique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493776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313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Faux dilemme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7840" y="4059936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0" y="3831336"/>
            <a:ext cx="5029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831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Le faux choix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98264"/>
            <a:ext cx="493776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398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d'autorité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577840" y="4626864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0" y="4398264"/>
            <a:ext cx="5029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4398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· Le galon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965192"/>
            <a:ext cx="493776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965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 au clan / au préjugé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577840" y="5193792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0" y="4965192"/>
            <a:ext cx="5029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4965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· L'étiquette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493776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Diversion (hors programme)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577840" y="5760720"/>
            <a:ext cx="91440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83680" y="5532120"/>
            <a:ext cx="5029200" cy="4572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· La diversion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Monte la pyramide du désaccord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834640" y="1325880"/>
            <a:ext cx="2377440" cy="6217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834640" y="13258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6 · Réfuter le cœur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3258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Ton idée centrale ne tient pas parce que… 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636776"/>
            <a:ext cx="219456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468880" y="1984248"/>
            <a:ext cx="3108960" cy="6217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68880" y="19842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5 · Réfutation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98424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Citer l'autre et montrer l'erreur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295144"/>
            <a:ext cx="18288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2103120" y="2642616"/>
            <a:ext cx="3840480" cy="6217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03120" y="2642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 · Contre-argument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64261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autre raison, avec preuve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953512"/>
            <a:ext cx="146304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1737360" y="3300984"/>
            <a:ext cx="4572000" cy="6217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737360" y="33009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 · Contradiction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330098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Non, c'est faux. » (sans raison)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611880"/>
            <a:ext cx="109728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1371600" y="3959352"/>
            <a:ext cx="5303520" cy="6217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71600" y="395935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 · Critique du ton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9593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Calme-toi! »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4270248"/>
            <a:ext cx="73152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1005840" y="4617720"/>
            <a:ext cx="6035040" cy="6217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461772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 · Ad hominem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6177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Tu dis ça parce que t'es jeune. »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4928616"/>
            <a:ext cx="36576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640080" y="5276088"/>
            <a:ext cx="6766560" cy="6217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276088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0 · Insulte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52760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T'es niaiseux. »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0" y="5586984"/>
            <a:ext cx="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</a:ln>
        </p:spPr>
      </p:sp>
      <p:sp>
        <p:nvSpPr>
          <p:cNvPr id="31" name="Text 29"/>
          <p:cNvSpPr txBox="1"/>
          <p:nvPr/>
        </p:nvSpPr>
        <p:spPr>
          <a:xfrm>
            <a:off x="5486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agréable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toxique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Gagner le droit de critiquer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règles de Rapoport (popularisées par Daniel Dennett)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1051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Reformule l'idée de l'autre si bien qu'il dise : « J'aurais aimé le dire comme ça. 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70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9806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Nomme tes points d'accord, surtout les surprenants.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58184"/>
            <a:ext cx="640080" cy="6400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78561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 ce que tu as appris de cette personne.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640080" cy="6400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745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7731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 là, ta critique.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3760" y="1325880"/>
            <a:ext cx="4389120" cy="452628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Homme de paille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20116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Affaiblir la thèse adverse pour mieux la frapper.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↓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Homme d'acier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38862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la thèse adverse plus forte qu'elle ne l'était, puis l'affronter. Si tu gagnes, tu as vraiment gagné. Si tu perds, tu as appris.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918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2"/>
                </a:solidFill>
              </a:rPr>
              <a:t>Le bestiaire du débat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486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Reconnaître les débatteurs… et se reconnaître</a:t>
            </a:r>
            <a:endParaRPr lang="en-US" sz="1800" dirty="0"/>
          </a:p>
        </p:txBody>
      </p:sp>
      <p:pic>
        <p:nvPicPr>
          <p:cNvPr id="5" name="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914400"/>
            <a:ext cx="35661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8 créatures à reconnaître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51760" cy="2331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960120" cy="11612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Bulldozer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Laisse-moi finir! » (il parle depuis 3 minutes)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55848" y="1325880"/>
            <a:ext cx="2651760" cy="2331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508760"/>
            <a:ext cx="960120" cy="11612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98848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Brouillard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493008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Oui, mais le vrai problème, c'est… »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63056" y="1325880"/>
            <a:ext cx="2651760" cy="2331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508760"/>
            <a:ext cx="960120" cy="11612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06056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Sniper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300216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Venant de toi, franchement… »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970264" y="1325880"/>
            <a:ext cx="2651760" cy="2331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508760"/>
            <a:ext cx="960120" cy="116128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113264" y="1600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Professeur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9107424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Les études montrent que… »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840480"/>
            <a:ext cx="2651760" cy="2331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23360"/>
            <a:ext cx="960120" cy="116128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1640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Girouette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T'as raison… Toi aussi, t'as raison. »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3355848" y="3840480"/>
            <a:ext cx="2651760" cy="2331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4023360"/>
            <a:ext cx="960120" cy="116128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498848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Tortue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3493008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… » ou « Je sais pas » (alors qu'elle sait)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163056" y="3840480"/>
            <a:ext cx="2651760" cy="2331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4023360"/>
            <a:ext cx="960120" cy="116128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306056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L'Avocat du diable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6300216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Juste pour jouer l'avocat du diable… »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8970264" y="3840480"/>
            <a:ext cx="2651760" cy="233172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4" y="4023360"/>
            <a:ext cx="960120" cy="116128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113264" y="41148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Bâtisseur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9107424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Si je te comprends bien, tu dis que… 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Fiches d'identité · 1/4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89888"/>
            <a:ext cx="86868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Bulldozer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Laisse-moi finir! » (il parle depuis 3 minutes)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Le coupe-fil · 14 Crier victoire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peur de ne pas être entendu, de perdre le contrôle.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lui répondre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t'ai entendu dire X. Maintenant, 1 minute pour moi. »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Conviction et énergie.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laisse jamais un silence. Reprends ta phrase plus fort.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172200" y="1280160"/>
            <a:ext cx="5440680" cy="4937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89888"/>
            <a:ext cx="868680" cy="10515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Brouillard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726948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Oui, mais le vrai problème, c'est… »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0936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0936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La diversion · 36 Le brouillard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30936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0936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Éviter de perdre la face sur une question précise.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30936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0936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lui répondre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77240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Bonne question, on la garde. Mais sur X, ta réponse? »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30936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0936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777240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Voit les liens et le portrait d'ensemble.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30936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0936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fois qu'on te coince, élargis le sujet.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Fiches d'identité · 2/4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89888"/>
            <a:ext cx="86868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Sniper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Venant de toi, franchement… »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Le K.-O. · 8 L'allumette · 32 L'étiquette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sentir menacé, ou déjà blessé.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lui répondre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calme. « Admettons. Et l'argument lui-même? »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sens critique aiguisé… mal visé.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Commente la personne, jamais l'idée. Attaques fictives et légères seulement.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172200" y="1280160"/>
            <a:ext cx="5440680" cy="4937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89888"/>
            <a:ext cx="868680" cy="10515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Professeur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726948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Les études montrent que… »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0936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0936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Le galon · 36 Le brouillard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30936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0936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besoin de crédibilité, de statut.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30936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0936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lui répondre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77240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Lesquelles? Qu'est-ce qu'elles disent exactement? »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30936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0936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777240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s'appuie sur des sources.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30936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0936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des experts vagues. Utilise des mots compliqués.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Fiches d'identité · 3/4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89888"/>
            <a:ext cx="86868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Girouette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T'as raison… Toi aussi, t'as raison. »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: elle les subit (28, rire de la salle)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besoin d'harmonie, la peur du conflit.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lui répondre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Si tu devais choisir une seule position? »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Écoute et ouverture.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 raison à la dernière personne qui a parlé.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172200" y="1280160"/>
            <a:ext cx="5440680" cy="4937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89888"/>
            <a:ext cx="868680" cy="10515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Tortue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726948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… » ou « Je sais pas » (alors qu'elle sait)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0936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0936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: elle se retire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30936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0936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peur du jugement, le besoin de sécurité.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30936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0936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lui répondre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77240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d'écriture d'abord, puis une question précise.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30936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0936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777240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et réfléchit : détient souvent la meilleure idée.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30936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0936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 muet·te, sauf si on t'invite très clairement.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Fiches d'identité · 4/4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89888"/>
            <a:ext cx="86868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L'Avocat du diable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Juste pour jouer l'avocat du diable… »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L'élastique · 13 Le faux choix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plaisir du jeu, le besoin de stimulation.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lui répondre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Et toi, tu penses vraiment quoi? »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la solidité des idées. Précieux s'il l'annonce.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14884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Contredis chaque affirmation, même celles que tu approuves.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172200" y="1280160"/>
            <a:ext cx="5440680" cy="493776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89888"/>
            <a:ext cx="868680" cy="10515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Bâtisseur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7269480" y="1901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Si je te comprends bien, tu dis que… »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09360" y="2578608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09360" y="26334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favoris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: il applique Rapoport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309360" y="3300984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09360" y="335584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se cache dessous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0" y="33558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L'envie de comprendre, pas de gagner.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309360" y="4023360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09360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piège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772400" y="407822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Devenir paillasson à force de douceur.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309360" y="4745736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09360" y="48006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force cachée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7772400" y="4800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fait progresser tout le groupe.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309360" y="5468112"/>
            <a:ext cx="516636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309360" y="552297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jouer au bal masqué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7772400" y="5522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Reformule avant chaque prise de parole. Nomme un accord.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Le bal masqué du débat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25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Tirage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33502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Groupes de 5 débatteurs. Chacun pioche en secret une carte-créature (la Tortue compte aussi!).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225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Débat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26771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minutes sur un vrai sujet de classe. Chacun joue sa créature… sans la nommer.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552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Observation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200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autres participants forment un cercle extérieur : ils cochent leur bingo des coups bas et devinent les créatures.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87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Démasquage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41330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observateurs nomment chaque créature et citent la phrase exacte qui l'a trahie.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548640" cy="54864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20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Rejouer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506577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rejoue 2 minutes : toutes les créatures deviennent des Bâtisseurs. Qu'est-ce qui a changé?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1371600"/>
            <a:ext cx="3383280" cy="452628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Sujets testés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210312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Uniforme obligatoire?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semaine de 4 jours à l'école?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notes devraient-elles disparaître?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pour faire ses devoirs : tricherie ou outil?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Bingo des coups bas · grille de l'observateur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L'élastique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L'allumette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faux choix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coupe-fil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880360"/>
            <a:ext cx="1920240" cy="141732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★ Une reformulation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88036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diversion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480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galon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438912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4480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L'étiquette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4389120"/>
            <a:ext cx="1920240" cy="1417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4480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brouillard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5303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Qui? ______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Règles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192024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Coche une case quand tu entends le coup. Note qui et la phrase exacte.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case centrale est un bon coup : la reformulation loyale. Elle vaut double.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 complète? Lève la main en silence : le débat continue.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 : on termine en comptant les reformulations, pas les coups bas.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Le miroir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Quelle créature deviens-tu…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quand tu es fatigué·e?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quand le sujet te touche personnellement?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quand il y a un public?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quand tu sais que tu as tort?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280160"/>
            <a:ext cx="301752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⏱ 5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918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2"/>
                </a:solidFill>
              </a:rPr>
              <a:t>Ateliers d'écriture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486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L'agréabilité se travaille aussi au crayon</a:t>
            </a:r>
            <a:endParaRPr lang="en-US" sz="1800" dirty="0"/>
          </a:p>
        </p:txBody>
      </p:sp>
      <p:pic>
        <p:nvPicPr>
          <p:cNvPr id="5" name="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914400"/>
            <a:ext cx="35661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Atelier 1 · L'ascenseur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15 min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Prends une réplique toxique et fais-la monter dans la pyramide, un étage à la fois.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49834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50292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T'es vraiment niaiseux de penser que les devoirs servent à rien. 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7315200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31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7764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Non, les devoirs servent à quelque chose. 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7680960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8803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26080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Les devoirs permettent de pratiquer à son rythme, loin de la pression de la classe. »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18288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1874520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Tu dis que les devoirs sont inutiles parce qu'ils creusent les écarts. C'est vrai pour certains élèves. Mais si on les rendait facultatifs et soutenus en classe, le problème tomberait-il? 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95360" y="1965960"/>
            <a:ext cx="3017520" cy="39319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Consigne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260604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équipe de 2, choisissez une réplique entendue en ligne ou à l'école. Réécrivez-la aux étages 3, 4 et 6. Lisez l'étage 0 et l'étage 6 à voix haute.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Atelier 2 · L'homme d'acier signé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15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51760" cy="32918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Écoute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défend sa position pendant 2 minutes. B ne parle pas, il prend des notes.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55848" y="1417320"/>
            <a:ext cx="2651760" cy="32918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160020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87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Écris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3774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rédige en 50 mots la meilleure version possible de l'argument de A. Meilleure que l'original, si possible.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63056" y="1417320"/>
            <a:ext cx="2651760" cy="329184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60020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593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Signe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3774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lit. S'il peut signer « Oui, c'est exactement ce que je pense », B a gagné. Sinon, B réécrit.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70264" y="1417320"/>
            <a:ext cx="2651760" cy="329184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53144" y="1600200"/>
            <a:ext cx="548640" cy="5486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5314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838944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Inverse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153144" y="237744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échange les rôles. Ensuite seulement, chacun a droit à une critique.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105156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937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 : ________________________   « Tu as mieux dit ma pensée que moi. »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Atelier 3 · Le 39ᵉ stratagème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15 min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39</a:t>
            </a:r>
            <a:endParaRPr lang="en-US" sz="20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Schopenhauer s'est arrêté à 38 coups bas. Invente le 39ᵉ : un coup loyal qui fait gagner tout le monde.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6583680" cy="45262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554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Gabarit de la fiche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148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du stratagème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47802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surnom mémorable (ex. « Le parapluie »)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2898648"/>
            <a:ext cx="6035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3035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l'utiliser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3364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situation de débat où il sert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03520" y="3785616"/>
            <a:ext cx="6035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39227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faire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4251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phrase ou le geste exact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4672584"/>
            <a:ext cx="6035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48097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désamorce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51389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coup bas (numéro) qu'il neutralise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5559552"/>
            <a:ext cx="6035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918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chemeClr val="bg2"/>
                </a:solidFill>
              </a:rPr>
              <a:t>L'arène agréable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486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 vrai débat, avec un prix inattendu</a:t>
            </a:r>
            <a:endParaRPr lang="en-US" sz="1800" dirty="0"/>
          </a:p>
        </p:txBody>
      </p:sp>
      <p:pic>
        <p:nvPicPr>
          <p:cNvPr id="5" name="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914400"/>
            <a:ext cx="35661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L'aquarium à jetons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25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94944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594360" cy="5943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813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ticket d'entrée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8745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parler, tu dois d'abord reformuler la personne précédente. Elle dit « oui » ou « presque ». Seul le « oui » ouvre ton micro.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694944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99008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Les jetons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832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jetons par personne. Chaque intervention coûte un jeton. Les Bulldozers apprennent à choisir, les Tortues doivent dépenser les leurs.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6949440" cy="13258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754880"/>
            <a:ext cx="594360" cy="5943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9884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La chaise vide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8920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chaise libre dans le cercle : un observateur peut venir y faire une seule intervention, puis repartir.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1371600"/>
            <a:ext cx="3749040" cy="43434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Le prix surprise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103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vainqueur au contenu. Le jury remet deux prix :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29260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L'homme d'acier d'or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meilleure reformulation de l'adversaire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girouette courageuse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personne qui a changé d'avis, et l'a dit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La boîte à phrases qui désamorcent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Comprendre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63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Si je te comprends bien, tu dis que… c'est ça? 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4406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Ouvrir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463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Qu'est-ce qui pourrait te faire changer d'idée? 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4406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Cartographier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606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On est d'accord sur ___. On diffère sur ___. 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2514600"/>
            <a:ext cx="54406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Reconnaître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606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Bon point. Je n'y avais pas pensé. »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406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S'opposer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749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vois ça autrement. Je t'explique? 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54406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749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Sonder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749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Sur quoi tu t'appuies? Ça m'intéresse. »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44068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892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Ralentir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892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sens que ça monte. On prend 10 secondes? »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440680" cy="100584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892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Céder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892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pense que j'avais tort sur ce bout-là. 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accent1"/>
                </a:solidFill>
              </a:rPr>
              <a:t>Billet de sortie 3 · 2 ·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66960" y="411480"/>
            <a:ext cx="16459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66960" y="411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⏱ 7 min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393192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3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coups bas que je reconnaîtrai maintenant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566160" cy="393192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3712" y="1600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chemeClr val="tx1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2</a:t>
            </a:r>
            <a:endParaRPr lang="en-US" sz="130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3657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phrases de la boîte que je vais essayer cette semaine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10144" y="1463040"/>
            <a:ext cx="3566160" cy="393192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1600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chemeClr val="bg2"/>
                </a:solidFill>
                <a:latin typeface="Rockwell Extra Bold" pitchFamily="34" charset="0"/>
                <a:ea typeface="Rockwell Extra Bold" pitchFamily="34" charset="-122"/>
                <a:cs typeface="Rockwell Extra Bold" pitchFamily="34" charset="-120"/>
              </a:rPr>
              <a:t>1</a:t>
            </a:r>
            <a:endParaRPr lang="en-US" sz="130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3657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créature que je veux arrêter d'être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: choisis un papillon du mur des cicatrices et écris au verso ce qui aurait pu sauver l'amitié.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chemeClr val="accent1"/>
                </a:solidFill>
              </a:rPr>
              <a:t>Débattre fort.</a:t>
            </a:r>
            <a:endParaRPr lang="en-US" sz="6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chemeClr val="accent1"/>
                </a:solidFill>
              </a:rPr>
              <a:t>Débattre juste.</a:t>
            </a:r>
            <a:endParaRPr lang="en-US" sz="6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chemeClr val="accent1"/>
                </a:solidFill>
              </a:rPr>
              <a:t>Personne blessé·e.</a:t>
            </a:r>
            <a:endParaRPr lang="en-US" sz="6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360000">
            <a:off x="7863840" y="457200"/>
            <a:ext cx="1920240" cy="2331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9692640" y="1005840"/>
            <a:ext cx="1920240" cy="2331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48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but n'est pas d'avoir raison contre quelqu'un, c'est d'avoir un peu plus raison ensemble.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35661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: A. Schopenhauer, L'Art d'avoir toujours raison · P. Graham, How to Disagree (2008) · D. Dennett, Intuition Pumps (2013) · R. Fisher et W. Ury, Getting to Yes · A. Fluegelman, The New Games Book (1976) · PFEQ, Culture et citoyenneté québécoise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veau livre du debat">
  <a:themeElements>
    <a:clrScheme name="Nouveau livre du debat">
      <a:dk1>
        <a:srgbClr val="1B1714"/>
      </a:dk1>
      <a:lt1>
        <a:srgbClr val="FFFFFF"/>
      </a:lt1>
      <a:dk2>
        <a:srgbClr val="6B4B10"/>
      </a:dk2>
      <a:lt2>
        <a:srgbClr val="EFE6D1"/>
      </a:lt2>
      <a:accent1>
        <a:srgbClr val="D2232A"/>
      </a:accent1>
      <a:accent2>
        <a:srgbClr val="F0A12E"/>
      </a:accent2>
      <a:accent3>
        <a:srgbClr val="1B1714"/>
      </a:accent3>
      <a:accent4>
        <a:srgbClr val="8C1A1F"/>
      </a:accent4>
      <a:accent5>
        <a:srgbClr val="C9B994"/>
      </a:accent5>
      <a:accent6>
        <a:srgbClr val="3E6E5A"/>
      </a:accent6>
      <a:hlink>
        <a:srgbClr val="D2232A"/>
      </a:hlink>
      <a:folHlink>
        <a:srgbClr val="6B4B10"/>
      </a:folHlink>
    </a:clrScheme>
    <a:fontScheme name="Nouveau livre du debat">
      <a:majorFont>
        <a:latin typeface="Rockwell Extra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nouveau livre du débat : la confrontation agréable</dc:title>
  <dc:subject>PptxGenJS Presentation</dc:subject>
  <dc:creator>Séminaire pédagonumérique</dc:creator>
  <cp:lastModifiedBy>Séminaire pédagonumérique</cp:lastModifiedBy>
  <cp:revision>1</cp:revision>
  <dcterms:created xsi:type="dcterms:W3CDTF">2026-10-12T00:10:19Z</dcterms:created>
  <dcterms:modified xsi:type="dcterms:W3CDTF">2026-10-12T00:10:19Z</dcterms:modified>
</cp:coreProperties>
</file>