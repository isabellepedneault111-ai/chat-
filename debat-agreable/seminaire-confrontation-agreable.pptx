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7ab7b596-213d-6b9d-f6cf-b6ea309a7306}">
          <p14:sldIdLst>
            <p14:sldId id="256"/>
            <p14:sldId id="257"/>
            <p14:sldId id="258"/>
          </p14:sldIdLst>
        </p14:section>
        <p14:section name="Échauffement" id="{83cb0293-c704-9cdf-383e-076951008eb9}">
          <p14:sldIdLst>
            <p14:sldId id="259"/>
            <p14:sldId id="260"/>
            <p14:sldId id="261"/>
            <p14:sldId id="262"/>
          </p14:sldIdLst>
        </p14:section>
        <p14:section name="Le manuel du tricheur" id="{bff9139a-7af8-f24f-8193-88aa88894c65}">
          <p14:sldIdLst>
            <p14:sldId id="263"/>
            <p14:sldId id="264"/>
            <p14:sldId id="265"/>
            <p14:sldId id="266"/>
            <p14:sldId id="267"/>
            <p14:sldId id="268"/>
            <p14:sldId id="269"/>
          </p14:sldIdLst>
        </p14:section>
        <p14:section name="Le bestiaire" id="{3f2f33f3-d135-0528-fe01-a2d8f1b88124}">
          <p14:sldIdLst>
            <p14:sldId id="270"/>
            <p14:sldId id="271"/>
            <p14:sldId id="272"/>
            <p14:sldId id="273"/>
            <p14:sldId id="274"/>
          </p14:sldIdLst>
        </p14:section>
        <p14:section name="Ateliers d'écriture" id="{bdb6a10e-0b75-2149-1e69-939b1d5b23b4}">
          <p14:sldIdLst>
            <p14:sldId id="275"/>
            <p14:sldId id="276"/>
            <p14:sldId id="277"/>
            <p14:sldId id="278"/>
          </p14:sldIdLst>
        </p14:section>
        <p14:section name="L'arène agréable" id="{4cb2839f-47af-f184-b8d0-385691e09d8b}">
          <p14:sldIdLst>
            <p14:sldId id="279"/>
            <p14:sldId id="280"/>
            <p14:sldId id="281"/>
          </p14:sldIdLst>
        </p14:section>
        <p14:section name="Repartir avec" id="{32c88d44-d2a7-84ff-1fdb-8a67523acab0}">
          <p14:sldIdLst>
            <p14:sldId id="282"/>
            <p14:sldId id="283"/>
            <p14:sldId id="284"/>
            <p14:sldId id="285"/>
            <p14:sldId id="286"/>
          </p14:sldIdLst>
        </p14:section>
        <p14:section name="Annexes" id="{f9b60df0-b8dd-5385-90c4-1d62505117b5}">
          <p14:sldIdLst>
            <p14:sldId id="287"/>
            <p14:sldId id="288"/>
            <p14:sldId id="289"/>
            <p14:sldId id="29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Accueil. Notre pari : apprendre les coups bas de Schopenhauer pour les reconnaître, puis pratiquer un débat ferme ET agréable : dur sur les idées, doux avec les gens. Durée totale : environ 3 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d'amorce, anonyme. Le mur des cicatrices sert de fil rouge : à la fin, chacun choisit un papillon et propose ce qu'il aurait fallu faire autrement.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Aperçu de la séance. Prévoir une pause entre le bestiaire et les ateliers d'écriture. Public : adultes volontaires de tout acabit, sans prérequis. Annoncer la règle du joker dès le départ, et choisir des sujets qui font réfléchir sans viser l'identité ou le vécu intime des personnes présentes.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Imprimer la page 1 du PDF du zine (taille réelle) pour chacun, et la page 3 (planche de talismans) pour la fin. Démontrer le pliage une fois, puis laisser les participants s'entraider : premier geste de coopération.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participants se placent physiquement sur une ligne imaginaire au sol. Chaque déplacement doit être justifié : « Qui t'a fait bouger, et avec quoi? » Le « Change de bord! » prépare l'atelier homme d'acier.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Sujet : reprendre un énoncé de la ligne qui bouge. Les accords doivent porter sur le sujet, pas sur la météo. Le « Trop facile! » rend le jeu exigeant et drôle. Inclusion : pour une personne à mobilité réduite, le duo avance un jeton sur une piste dessinée au tableau. Retour : quel accord vous a le plus surpris? Lequel a été le plus difficile à dire?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Présenter le livre comme un vaccin : connaître les ruses pour les désamorcer. Question à la salle : est-ce éthique d'enseigner ces ruses? Que se passe-t-il si on ne les enseigne pas?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Distinction inspirée de la négociation raisonnée (Fisher et Ury) : dur sur le fond, doux avec les personnes. L'agréabilité est une compétence de fermeté, pas de complaisance. Demander : dans quelle case vous retrouvez-vous quand vous êtes fatigués?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numéros correspondent aux stratagèmes de Schopenhauer. Les surnoms sont les nôtres, pour qu'on les retienne. Activité : dans le zine (p. 2), chacun coche ceux qu'il a subis… et ceux qu'il a faits. Ces 9 cartes deviennent aussi la grille de bingo du bestiaire.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Demander aux participants de compléter le tableau avec leurs propres exemples, anonymisés. Où les entendez-vous le plus? Lesquels utilisez-vous vous-même sans vous en rendre compte?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Hiérarchie du désaccord de Paul Graham (2008). Plus on monte, plus le débat est agréable pour les personnes et dangereux pour les mauvaises idées. Défi : nommer son étage avant de répondre.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Anatol Rapoport, mathématicien et théoricien des jeux (stratégie « donnant-donnant »). Daniel Dennett a formulé ces règles dans Intuition Pumps (2013). Faire le lien : ces 4 règles sont l'antidote direct des stratagèmes 1, 29 et 38.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Aperçu : on reconnaît chaque créature d'abord à sa phrase-signature. Insister : personne n'est une seule créature. On change selon la fatigue, le sujet, le public. Les 4 diapos suivantes sont des fiches d'identité à imprimer : elles servent de cartes-rôles pour le bal masqué.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Imprimer les 4 diapos « Fiches d'identité » (en annexe) et les couper en deux : 8 cartes-rôles. Débat en aquarium : 5 au centre, le reste en observation. L'étape 5 (rejouer en Bâtisseurs) est la plus importante : faire nommer la différence d'ambiance.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Imprimer cette diapo pour les observateurs. La case étoile oriente l'attention vers les bons comportements : on finit sur ce qui construit.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Zine p. 3 et 4. D'abord, chacun encercle sa créature sous stress (p. 3). Puis trois dessins de 60 secondes (p. 4). Au 2e dessin, on montre son croquis au voisin, qui devine le coup bas. Rire est encouragé : le dessin maladroit désamorce la gêne de se reconnaître.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Zine p. 5. Lecture à voix haute : faire sentir physiquement la différence de ton. Variante : réécrire un commentaire de réseau social fictif.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Zine p. 6. Version écrite de la règle 1 de Rapoport. Le moment de la signature est souvent émouvant : être bien compris désarme. Afficher les feuilles signées au mur.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Production finale du séminaire. On compile les stratagèmes du groupe dans un « Manuel du débat loyal » numéroté à partir de 39 : le zine nº 2 du groupe.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Dispositif en aquarium (fishbowl). Les jetons peuvent être des trombones ou des cartes. Le prix « girouette courageuse » renverse le stigmate : changer d'avis devient un exploit.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À afficher au travail, sur le frigo, ou à garder dans son portefeuille. La dernière phrase (Céder) est la plus difficile et la plus puissante. Défi de la semaine : l'utiliser une fois.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Zine p. 7 pour l'esquisse, puis planche de talismans (3e page du PDF du zine) à découper. Matériel : ciseaux, crayons-feutres, ficelle ou épingles. Exemples de phrases-boucliers : « Je t'écoute jusqu'au bout. » « Dur sur l'idée, doux avec toi. » « J'ai peut-être tort. » « Qu'est-ce qui te ferait changer d'idée? » La variante « offert » crée un beau moment de reconnaissance mutuelle.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Écho à la question d'ouverture (« gagné un débat et perdu un ami? ») et à la bande-annonce, où l'IA fait sa propre mise à jour. Le format des notes de version dédramatise : on parle de correctifs et de bogues, pas de fautes. Rien n'est lu sans accord. Variante à deux : chacun demande à l'autre « Qu'est-ce que je pourrais mettre à jour quand on débat? » et l'inscrit dans son bogue connu.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Retour sur la question d'ouverture. Les papillons réécrits peuvent devenir une affiche collective.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Clôture. Rappeler la devise : dur sur les idées, doux avec les gens. Inviter les participants à repartir avec leur zine, leur talisman et, peut-être, une mise à jour envoyée.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Fiches d'identité. Imprimer cette diapo et couper en deux : chaque moitié devient une carte-rôle pour le bal masqué (la dernière ligne dit comment jouer la créature). Les numéros renvoient aux stratagèmes de Schopenhauer; 14 = crier victoire malgré la défaite.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Fiches d'identité. Imprimer cette diapo et couper en deux : chaque moitié devient une carte-rôle pour le bal masqué (la dernière ligne dit comment jouer la créature). Les numéros renvoient aux stratagèmes de Schopenhauer; 14 = crier victoire malgré la défaite.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Fiches d'identité. Imprimer cette diapo et couper en deux : chaque moitié devient une carte-rôle pour le bal masqué (la dernière ligne dit comment jouer la créature). Les numéros renvoient aux stratagèmes de Schopenhauer; 14 = crier victoire malgré la défaite.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Fiches d'identité. Imprimer cette diapo et couper en deux : chaque moitié devient une carte-rôle pour le bal masqué (la dernière ligne dit comment jouer la créature). Les numéros renvoient aux stratagèmes de Schopenhauer; 14 = crier victoire malgré la défaite.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UVERTURE">
    <p:bg>
      <p:bgPr>
        <a:solidFill>
          <a:schemeClr val="bg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103120"/>
            <a:ext cx="7680960" cy="3840480"/>
          </a:xfrm>
          <a:prstGeom prst="rect">
            <a:avLst/>
          </a:prstGeom>
          <a:noFill/>
          <a:ln/>
        </p:spPr>
        <p:txBody>
          <a:bodyPr wrap="square" rtlCol="0"/>
          <a:lstStyle>
            <a:lvl1pPr algn="l" indent="0" marL="0">
              <a:lnSpc>
                <a:spcPct val="85000"/>
              </a:lnSpc>
              <a:buNone/>
              <a:defRPr lang="en-US" sz="6600" dirty="0">
                <a:solidFill>
                  <a:schemeClr val="accent1"/>
                </a:solidFill>
              </a:defRPr>
            </a:lvl1pPr>
          </a:lstStyle>
          <a:p>
            <a:pPr algn="l" indent="0" marL="0">
              <a:lnSpc>
                <a:spcPct val="85000"/>
              </a:lnSpc>
              <a:buNone/>
            </a:pPr>
            <a:endParaRPr lang="en-US" sz="6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chemeClr val="accent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91840"/>
            <a:ext cx="7498080" cy="2194560"/>
          </a:xfrm>
          <a:prstGeom prst="rect">
            <a:avLst/>
          </a:prstGeom>
          <a:noFill/>
          <a:ln/>
        </p:spPr>
        <p:txBody>
          <a:bodyPr wrap="square" rtlCol="0"/>
          <a:lstStyle>
            <a:lvl1pPr algn="l" indent="0" marL="0">
              <a:buNone/>
              <a:defRPr lang="en-US" sz="5400" dirty="0">
                <a:solidFill>
                  <a:schemeClr val="bg2"/>
                </a:solidFill>
              </a:defRPr>
            </a:lvl1pPr>
          </a:lstStyle>
          <a:p>
            <a:pPr algn="l" indent="0" marL="0">
              <a:buNone/>
            </a:pPr>
            <a:endParaRPr lang="en-US" sz="5400" dirty="0"/>
          </a:p>
        </p:txBody>
      </p:sp>
      <p:sp>
        <p:nvSpPr>
          <p:cNvPr id="3" name="Text 0"/>
          <p:cNvSpPr/>
          <p:nvPr>
            <p:ph idx="101" type="body" hasCustomPrompt="1"/>
          </p:nvPr>
        </p:nvSpPr>
        <p:spPr>
          <a:xfrm>
            <a:off x="548640" y="5486400"/>
            <a:ext cx="7498080" cy="731520"/>
          </a:xfrm>
          <a:prstGeom prst="rect">
            <a:avLst/>
          </a:prstGeom>
          <a:noFill/>
          <a:ln/>
        </p:spPr>
        <p:txBody>
          <a:bodyPr wrap="square" rtlCol="0"/>
          <a:lstStyle>
            <a:lvl1pPr indent="0" marL="0">
              <a:buNone/>
              <a:defRPr lang="en-US" sz="1800" dirty="0">
                <a:solidFill>
                  <a:schemeClr val="bg2"/>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Arial"/>
                <a:ea typeface="Arial"/>
                <a:cs typeface="Aria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U">
    <p:bg>
      <p:bgPr>
        <a:solidFill>
          <a:schemeClr val="bg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rtlCol="0"/>
          <a:lstStyle>
            <a:lvl1pPr algn="l" indent="0" marL="0">
              <a:buNone/>
              <a:defRPr lang="en-US" sz="3600" dirty="0">
                <a:solidFill>
                  <a:schemeClr val="accent1"/>
                </a:solidFill>
              </a:defRPr>
            </a:lvl1pPr>
          </a:lstStyle>
          <a:p>
            <a:pPr algn="l" indent="0" marL="0">
              <a:buNone/>
            </a:pPr>
            <a:endParaRPr lang="en-US" sz="3600" dirty="0"/>
          </a:p>
        </p:txBody>
      </p:sp>
      <p:sp>
        <p:nvSpPr>
          <p:cNvPr id="3" name="Text 0"/>
          <p:cNvSpPr/>
          <p:nvPr/>
        </p:nvSpPr>
        <p:spPr>
          <a:xfrm>
            <a:off x="548640" y="6382512"/>
            <a:ext cx="5486400" cy="274320"/>
          </a:xfrm>
          <a:prstGeom prst="rect">
            <a:avLst/>
          </a:prstGeom>
          <a:noFill/>
          <a:ln/>
        </p:spPr>
        <p:txBody>
          <a:bodyPr wrap="square" lIns="0" tIns="0" rIns="0" bIns="0" rtlCol="0" anchor="ctr"/>
          <a:lstStyle/>
          <a:p>
            <a:pPr indent="0" marL="0">
              <a:buNone/>
            </a:pPr>
            <a:r>
              <a:rPr lang="en-US" sz="900" b="1" spc="200" kern="0" dirty="0">
                <a:solidFill>
                  <a:schemeClr val="tx2"/>
                </a:solidFill>
                <a:latin typeface="Arial" pitchFamily="34" charset="0"/>
                <a:ea typeface="Arial" pitchFamily="34" charset="-122"/>
                <a:cs typeface="Arial" pitchFamily="34" charset="-120"/>
              </a:rPr>
              <a:t>LA CONFRONTATION AGRÉABLE</a:t>
            </a:r>
            <a:endParaRPr lang="en-US" sz="9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1"/>
                </a:solidFill>
                <a:latin typeface="Arial"/>
                <a:ea typeface="Arial"/>
                <a:cs typeface="Aria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NUIT">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rtlCol="0"/>
          <a:lstStyle>
            <a:lvl1pPr algn="l" indent="0" marL="0">
              <a:buNone/>
              <a:defRPr lang="en-US" sz="3600" dirty="0">
                <a:solidFill>
                  <a:schemeClr val="accent2"/>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latin typeface="Arial"/>
                <a:ea typeface="Arial"/>
                <a:cs typeface="Aria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5.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4.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4.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slideLayout" Target="../slideLayouts/slideLayout4.xml"/><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4.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3.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3.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4.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2.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4.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4.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4.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4.xml"/><Relationship Id="rId4"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502920"/>
            <a:ext cx="6400800" cy="365760"/>
          </a:xfrm>
          <a:prstGeom prst="rect">
            <a:avLst/>
          </a:prstGeom>
          <a:noFill/>
          <a:ln/>
        </p:spPr>
        <p:txBody>
          <a:bodyPr wrap="square" lIns="0" tIns="0" rIns="0" bIns="0" rtlCol="0" anchor="t"/>
          <a:lstStyle/>
          <a:p>
            <a:pPr indent="0" marL="0">
              <a:buNone/>
            </a:pPr>
            <a:r>
              <a:rPr lang="en-US" sz="1400" b="1" spc="300" kern="0" dirty="0">
                <a:solidFill>
                  <a:schemeClr val="tx1"/>
                </a:solidFill>
                <a:latin typeface="Arial" pitchFamily="34" charset="0"/>
                <a:ea typeface="Arial" pitchFamily="34" charset="-122"/>
                <a:cs typeface="Arial" pitchFamily="34" charset="-120"/>
              </a:rPr>
              <a:t>SÉMINAIRE · 3 H · ADULTES CURIEUX</a:t>
            </a:r>
            <a:endParaRPr lang="en-US" sz="1400" dirty="0"/>
          </a:p>
        </p:txBody>
      </p:sp>
      <p:sp>
        <p:nvSpPr>
          <p:cNvPr id="3" name="Text 0"/>
          <p:cNvSpPr/>
          <p:nvPr>
            <p:ph idx="100" type="title" hasCustomPrompt="1"/>
          </p:nvPr>
        </p:nvSpPr>
        <p:spPr>
          <a:xfrm>
            <a:off x="548640" y="2103120"/>
            <a:ext cx="7680960" cy="3840480"/>
          </a:xfrm>
          <a:prstGeom prst="rect">
            <a:avLst/>
          </a:prstGeom>
          <a:noFill/>
          <a:ln/>
        </p:spPr>
        <p:txBody>
          <a:bodyPr wrap="square" lIns="0" tIns="0" rIns="0" bIns="0" rtlCol="0" anchor="t"/>
          <a:lstStyle/>
          <a:p>
            <a:pPr algn="l" indent="0" marL="0">
              <a:lnSpc>
                <a:spcPct val="85000"/>
              </a:lnSpc>
              <a:buNone/>
            </a:pPr>
            <a:r>
              <a:rPr lang="en-US" sz="6600" dirty="0">
                <a:solidFill>
                  <a:schemeClr val="accent1"/>
                </a:solidFill>
              </a:rPr>
              <a:t>LA</a:t>
            </a:r>
            <a:endParaRPr lang="en-US" sz="6600" dirty="0"/>
          </a:p>
          <a:p>
            <a:pPr algn="l" indent="0" marL="0">
              <a:lnSpc>
                <a:spcPct val="85000"/>
              </a:lnSpc>
              <a:buNone/>
            </a:pPr>
            <a:r>
              <a:rPr lang="en-US" sz="6600" dirty="0">
                <a:solidFill>
                  <a:schemeClr val="accent1"/>
                </a:solidFill>
              </a:rPr>
              <a:t>CONFRON-</a:t>
            </a:r>
            <a:endParaRPr lang="en-US" sz="6600" dirty="0"/>
          </a:p>
          <a:p>
            <a:pPr algn="l" indent="0" marL="0">
              <a:lnSpc>
                <a:spcPct val="85000"/>
              </a:lnSpc>
              <a:buNone/>
            </a:pPr>
            <a:r>
              <a:rPr lang="en-US" sz="6600" dirty="0">
                <a:solidFill>
                  <a:schemeClr val="accent1"/>
                </a:solidFill>
              </a:rPr>
              <a:t>TATION</a:t>
            </a:r>
            <a:endParaRPr lang="en-US" sz="6600" dirty="0"/>
          </a:p>
          <a:p>
            <a:pPr algn="l" indent="0" marL="0">
              <a:lnSpc>
                <a:spcPct val="85000"/>
              </a:lnSpc>
              <a:buNone/>
            </a:pPr>
            <a:r>
              <a:rPr lang="en-US" sz="6600" dirty="0">
                <a:solidFill>
                  <a:schemeClr val="accent1"/>
                </a:solidFill>
              </a:rPr>
              <a:t>AGRÉABLE</a:t>
            </a:r>
            <a:endParaRPr lang="en-US" sz="6600" dirty="0"/>
          </a:p>
        </p:txBody>
      </p:sp>
      <p:pic>
        <p:nvPicPr>
          <p:cNvPr id="4" name="sauteur" descr="preencoded.png">    </p:cNvPr>
          <p:cNvPicPr>
            <a:picLocks noChangeAspect="1"/>
          </p:cNvPicPr>
          <p:nvPr/>
        </p:nvPicPr>
        <p:blipFill>
          <a:blip r:embed="rId1"/>
          <a:stretch>
            <a:fillRect/>
          </a:stretch>
        </p:blipFill>
        <p:spPr>
          <a:xfrm rot="480000">
            <a:off x="7589520" y="182880"/>
            <a:ext cx="4206240" cy="5074920"/>
          </a:xfrm>
          <a:prstGeom prst="rect">
            <a:avLst/>
          </a:prstGeom>
        </p:spPr>
      </p:pic>
      <p:sp>
        <p:nvSpPr>
          <p:cNvPr id="5" name="Text 2"/>
          <p:cNvSpPr txBox="1"/>
          <p:nvPr/>
        </p:nvSpPr>
        <p:spPr>
          <a:xfrm>
            <a:off x="8778240" y="5257800"/>
            <a:ext cx="2926080" cy="1097280"/>
          </a:xfrm>
          <a:prstGeom prst="rect">
            <a:avLst/>
          </a:prstGeom>
          <a:noFill/>
          <a:ln/>
        </p:spPr>
        <p:txBody>
          <a:bodyPr wrap="square" lIns="0" tIns="0" rIns="0" bIns="0" rtlCol="0" anchor="t"/>
          <a:lstStyle/>
          <a:p>
            <a:pPr algn="l" indent="0" marL="0">
              <a:buNone/>
            </a:pPr>
            <a:r>
              <a:rPr lang="en-US" sz="1800" b="1" dirty="0">
                <a:solidFill>
                  <a:schemeClr val="tx1"/>
                </a:solidFill>
                <a:latin typeface="Arial" pitchFamily="34" charset="0"/>
                <a:ea typeface="Arial" pitchFamily="34" charset="-122"/>
                <a:cs typeface="Arial" pitchFamily="34" charset="-120"/>
              </a:rPr>
              <a:t>Dur sur les idées.</a:t>
            </a:r>
            <a:endParaRPr lang="en-US" sz="1800" dirty="0"/>
          </a:p>
          <a:p>
            <a:pPr algn="l" indent="0" marL="0">
              <a:buNone/>
            </a:pPr>
            <a:r>
              <a:rPr lang="en-US" sz="1800" b="1" dirty="0">
                <a:solidFill>
                  <a:schemeClr val="tx1"/>
                </a:solidFill>
                <a:latin typeface="Arial" pitchFamily="34" charset="0"/>
                <a:ea typeface="Arial" pitchFamily="34" charset="-122"/>
                <a:cs typeface="Arial" pitchFamily="34" charset="-120"/>
              </a:rPr>
              <a:t>Doux avec les gens.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lIns="0" tIns="0" rIns="0" bIns="0" rtlCol="0" anchor="t"/>
          <a:lstStyle/>
          <a:p>
            <a:pPr algn="l" indent="0" marL="0">
              <a:buNone/>
            </a:pPr>
            <a:r>
              <a:rPr lang="en-US" sz="3600" dirty="0">
                <a:solidFill>
                  <a:schemeClr val="accent2"/>
                </a:solidFill>
              </a:rPr>
              <a:t>Question d'entrée</a:t>
            </a:r>
            <a:endParaRPr lang="en-US" sz="3600" dirty="0"/>
          </a:p>
        </p:txBody>
      </p:sp>
      <p:sp>
        <p:nvSpPr>
          <p:cNvPr id="3" name="Text 1"/>
          <p:cNvSpPr txBox="1"/>
          <p:nvPr/>
        </p:nvSpPr>
        <p:spPr>
          <a:xfrm>
            <a:off x="548640" y="1737360"/>
            <a:ext cx="7863840" cy="2377440"/>
          </a:xfrm>
          <a:prstGeom prst="rect">
            <a:avLst/>
          </a:prstGeom>
          <a:noFill/>
          <a:ln/>
        </p:spPr>
        <p:txBody>
          <a:bodyPr wrap="square" lIns="0" tIns="0" rIns="0" bIns="0" rtlCol="0" anchor="t"/>
          <a:lstStyle/>
          <a:p>
            <a:pPr indent="0" marL="0">
              <a:lnSpc>
                <a:spcPct val="95000"/>
              </a:lnSpc>
              <a:buNone/>
            </a:pPr>
            <a:r>
              <a:rPr lang="en-US" sz="4800" dirty="0">
                <a:solidFill>
                  <a:schemeClr val="bg2"/>
                </a:solidFill>
                <a:latin typeface="Rockwell Extra Bold" pitchFamily="34" charset="0"/>
                <a:ea typeface="Rockwell Extra Bold" pitchFamily="34" charset="-122"/>
                <a:cs typeface="Rockwell Extra Bold" pitchFamily="34" charset="-120"/>
              </a:rPr>
              <a:t>As-tu déjà gagné un débat…</a:t>
            </a:r>
            <a:endParaRPr lang="en-US" sz="4800" dirty="0"/>
          </a:p>
          <a:p>
            <a:pPr indent="0" marL="0">
              <a:lnSpc>
                <a:spcPct val="95000"/>
              </a:lnSpc>
              <a:buNone/>
            </a:pPr>
            <a:r>
              <a:rPr lang="en-US" sz="4800" dirty="0">
                <a:solidFill>
                  <a:schemeClr val="bg2"/>
                </a:solidFill>
                <a:latin typeface="Rockwell Extra Bold" pitchFamily="34" charset="0"/>
                <a:ea typeface="Rockwell Extra Bold" pitchFamily="34" charset="-122"/>
                <a:cs typeface="Rockwell Extra Bold" pitchFamily="34" charset="-120"/>
              </a:rPr>
              <a:t>et perdu un ami?</a:t>
            </a:r>
            <a:endParaRPr lang="en-US" sz="4800" dirty="0"/>
          </a:p>
        </p:txBody>
      </p:sp>
      <p:sp>
        <p:nvSpPr>
          <p:cNvPr id="4" name="Text 2"/>
          <p:cNvSpPr txBox="1"/>
          <p:nvPr/>
        </p:nvSpPr>
        <p:spPr>
          <a:xfrm>
            <a:off x="548640" y="4754880"/>
            <a:ext cx="6949440" cy="822960"/>
          </a:xfrm>
          <a:prstGeom prst="rect">
            <a:avLst/>
          </a:prstGeom>
          <a:noFill/>
          <a:ln/>
        </p:spPr>
        <p:txBody>
          <a:bodyPr wrap="square" lIns="0" tIns="0" rIns="0" bIns="0" rtlCol="0" anchor="t"/>
          <a:lstStyle/>
          <a:p>
            <a:pPr indent="0" marL="0">
              <a:buNone/>
            </a:pPr>
            <a:r>
              <a:rPr lang="en-US" sz="1600" dirty="0">
                <a:solidFill>
                  <a:schemeClr val="bg2"/>
                </a:solidFill>
                <a:latin typeface="Arial" pitchFamily="34" charset="0"/>
                <a:ea typeface="Arial" pitchFamily="34" charset="-122"/>
                <a:cs typeface="Arial" pitchFamily="34" charset="-120"/>
              </a:rPr>
              <a:t>Écris ta réponse sur un papillon adhésif. Pas de nom. On les colle sur le « mur des cicatrices », on les relira à la fin.</a:t>
            </a:r>
            <a:endParaRPr lang="en-US" sz="1600" dirty="0"/>
          </a:p>
        </p:txBody>
      </p:sp>
      <p:pic>
        <p:nvPicPr>
          <p:cNvPr id="5" name="Image 0" descr="preencoded.png">    </p:cNvPr>
          <p:cNvPicPr>
            <a:picLocks noChangeAspect="1"/>
          </p:cNvPicPr>
          <p:nvPr/>
        </p:nvPicPr>
        <p:blipFill>
          <a:blip r:embed="rId1"/>
          <a:stretch>
            <a:fillRect/>
          </a:stretch>
        </p:blipFill>
        <p:spPr>
          <a:xfrm>
            <a:off x="8503920" y="1463040"/>
            <a:ext cx="1600200" cy="1920240"/>
          </a:xfrm>
          <a:prstGeom prst="rect">
            <a:avLst/>
          </a:prstGeom>
        </p:spPr>
      </p:pic>
      <p:pic>
        <p:nvPicPr>
          <p:cNvPr id="6" name="Image 1" descr="preencoded.png">    </p:cNvPr>
          <p:cNvPicPr>
            <a:picLocks noChangeAspect="1"/>
          </p:cNvPicPr>
          <p:nvPr/>
        </p:nvPicPr>
        <p:blipFill>
          <a:blip r:embed="rId2"/>
          <a:stretch>
            <a:fillRect/>
          </a:stretch>
        </p:blipFill>
        <p:spPr>
          <a:xfrm>
            <a:off x="10058400" y="1463040"/>
            <a:ext cx="1600200" cy="1920240"/>
          </a:xfrm>
          <a:prstGeom prst="rect">
            <a:avLst/>
          </a:prstGeom>
        </p:spPr>
      </p:pic>
      <p:pic>
        <p:nvPicPr>
          <p:cNvPr id="7" name="Image 2" descr="preencoded.png">    </p:cNvPr>
          <p:cNvPicPr>
            <a:picLocks noChangeAspect="1"/>
          </p:cNvPicPr>
          <p:nvPr/>
        </p:nvPicPr>
        <p:blipFill>
          <a:blip r:embed="rId3"/>
          <a:stretch>
            <a:fillRect/>
          </a:stretch>
        </p:blipFill>
        <p:spPr>
          <a:xfrm>
            <a:off x="9281160" y="3657600"/>
            <a:ext cx="1600200" cy="1920240"/>
          </a:xfrm>
          <a:prstGeom prst="rect">
            <a:avLst/>
          </a:prstGeom>
        </p:spPr>
      </p:pic>
      <p:sp>
        <p:nvSpPr>
          <p:cNvPr id="8" name="Shape 3"/>
          <p:cNvSpPr/>
          <p:nvPr/>
        </p:nvSpPr>
        <p:spPr>
          <a:xfrm>
            <a:off x="9966960" y="411480"/>
            <a:ext cx="1645920" cy="457200"/>
          </a:xfrm>
          <a:prstGeom prst="roundRect">
            <a:avLst>
              <a:gd name="adj" fmla="val 50000"/>
            </a:avLst>
          </a:prstGeom>
          <a:solidFill>
            <a:schemeClr val="accent2"/>
          </a:solidFill>
          <a:ln/>
        </p:spPr>
      </p:sp>
      <p:sp>
        <p:nvSpPr>
          <p:cNvPr id="9" name="Text 4"/>
          <p:cNvSpPr txBox="1"/>
          <p:nvPr/>
        </p:nvSpPr>
        <p:spPr>
          <a:xfrm>
            <a:off x="9966960" y="411480"/>
            <a:ext cx="1645920" cy="457200"/>
          </a:xfrm>
          <a:prstGeom prst="rect">
            <a:avLst/>
          </a:prstGeom>
          <a:noFill/>
          <a:ln/>
        </p:spPr>
        <p:txBody>
          <a:bodyPr wrap="square" lIns="0" tIns="0" rIns="0" bIns="0" rtlCol="0" anchor="ctr"/>
          <a:lstStyle/>
          <a:p>
            <a:pPr algn="ctr" indent="0" marL="0">
              <a:buNone/>
            </a:pPr>
            <a:r>
              <a:rPr lang="en-US" sz="1400" b="1" dirty="0">
                <a:solidFill>
                  <a:schemeClr val="tx1"/>
                </a:solidFill>
              </a:rPr>
              <a:t>⏱ 3 min</a:t>
            </a:r>
            <a:endParaRPr lang="en-US" sz="14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lIns="0" tIns="0" rIns="0" bIns="0" rtlCol="0" anchor="t"/>
          <a:lstStyle/>
          <a:p>
            <a:pPr algn="l" indent="0" marL="0">
              <a:buNone/>
            </a:pPr>
            <a:r>
              <a:rPr lang="en-US" sz="3600" dirty="0">
                <a:solidFill>
                  <a:schemeClr val="accent1"/>
                </a:solidFill>
              </a:rPr>
              <a:t>Le parcours de la séance</a:t>
            </a:r>
            <a:endParaRPr lang="en-US" sz="3600" dirty="0"/>
          </a:p>
        </p:txBody>
      </p:sp>
      <p:sp>
        <p:nvSpPr>
          <p:cNvPr id="3" name="Shape 1"/>
          <p:cNvSpPr/>
          <p:nvPr/>
        </p:nvSpPr>
        <p:spPr>
          <a:xfrm>
            <a:off x="1143000" y="1600200"/>
            <a:ext cx="640080" cy="640080"/>
          </a:xfrm>
          <a:prstGeom prst="ellipse">
            <a:avLst/>
          </a:prstGeom>
          <a:solidFill>
            <a:schemeClr val="accent1"/>
          </a:solidFill>
          <a:ln w="19050">
            <a:solidFill>
              <a:schemeClr val="tx1"/>
            </a:solidFill>
            <a:prstDash val="solid"/>
          </a:ln>
        </p:spPr>
      </p:sp>
      <p:sp>
        <p:nvSpPr>
          <p:cNvPr id="4" name="Text 2"/>
          <p:cNvSpPr txBox="1"/>
          <p:nvPr/>
        </p:nvSpPr>
        <p:spPr>
          <a:xfrm>
            <a:off x="1143000" y="1600200"/>
            <a:ext cx="640080" cy="640080"/>
          </a:xfrm>
          <a:prstGeom prst="rect">
            <a:avLst/>
          </a:prstGeom>
          <a:noFill/>
          <a:ln/>
        </p:spPr>
        <p:txBody>
          <a:bodyPr wrap="square" lIns="0" tIns="0" rIns="0" bIns="0" rtlCol="0" anchor="ctr"/>
          <a:lstStyle/>
          <a:p>
            <a:pPr algn="ctr" indent="0" marL="0">
              <a:buNone/>
            </a:pPr>
            <a:r>
              <a:rPr lang="en-US" sz="2400" dirty="0">
                <a:solidFill>
                  <a:schemeClr val="bg2"/>
                </a:solidFill>
                <a:latin typeface="Rockwell Extra Bold" pitchFamily="34" charset="0"/>
                <a:ea typeface="Rockwell Extra Bold" pitchFamily="34" charset="-122"/>
                <a:cs typeface="Rockwell Extra Bold" pitchFamily="34" charset="-120"/>
              </a:rPr>
              <a:t>0</a:t>
            </a:r>
            <a:endParaRPr lang="en-US" sz="2400" dirty="0"/>
          </a:p>
        </p:txBody>
      </p:sp>
      <p:sp>
        <p:nvSpPr>
          <p:cNvPr id="5" name="Shape 3"/>
          <p:cNvSpPr/>
          <p:nvPr/>
        </p:nvSpPr>
        <p:spPr>
          <a:xfrm>
            <a:off x="1828800" y="1920240"/>
            <a:ext cx="1234440" cy="0"/>
          </a:xfrm>
          <a:prstGeom prst="line">
            <a:avLst/>
          </a:prstGeom>
          <a:noFill/>
          <a:ln w="25400">
            <a:solidFill>
              <a:schemeClr val="tx1"/>
            </a:solidFill>
            <a:prstDash val="dash"/>
          </a:ln>
        </p:spPr>
      </p:sp>
      <p:sp>
        <p:nvSpPr>
          <p:cNvPr id="6" name="Shape 4"/>
          <p:cNvSpPr/>
          <p:nvPr/>
        </p:nvSpPr>
        <p:spPr>
          <a:xfrm>
            <a:off x="548640" y="2514600"/>
            <a:ext cx="1691640" cy="3017520"/>
          </a:xfrm>
          <a:prstGeom prst="rect">
            <a:avLst/>
          </a:prstGeom>
          <a:solidFill>
            <a:schemeClr val="bg1"/>
          </a:solidFill>
          <a:ln w="25400">
            <a:solidFill>
              <a:schemeClr val="tx1"/>
            </a:solidFill>
            <a:prstDash val="solid"/>
          </a:ln>
        </p:spPr>
      </p:sp>
      <p:sp>
        <p:nvSpPr>
          <p:cNvPr id="7" name="Text 5"/>
          <p:cNvSpPr txBox="1"/>
          <p:nvPr/>
        </p:nvSpPr>
        <p:spPr>
          <a:xfrm>
            <a:off x="685800" y="2651760"/>
            <a:ext cx="1417320" cy="868680"/>
          </a:xfrm>
          <a:prstGeom prst="rect">
            <a:avLst/>
          </a:prstGeom>
          <a:noFill/>
          <a:ln/>
        </p:spPr>
        <p:txBody>
          <a:bodyPr wrap="square" lIns="0" tIns="0" rIns="0" bIns="0" rtlCol="0" anchor="t"/>
          <a:lstStyle/>
          <a:p>
            <a:pPr indent="0" marL="0">
              <a:buNone/>
            </a:pPr>
            <a:r>
              <a:rPr lang="en-US" sz="1500" dirty="0">
                <a:solidFill>
                  <a:schemeClr val="accent1"/>
                </a:solidFill>
                <a:latin typeface="Rockwell Extra Bold" pitchFamily="34" charset="0"/>
                <a:ea typeface="Rockwell Extra Bold" pitchFamily="34" charset="-122"/>
                <a:cs typeface="Rockwell Extra Bold" pitchFamily="34" charset="-120"/>
              </a:rPr>
              <a:t>Échauffement</a:t>
            </a:r>
            <a:endParaRPr lang="en-US" sz="1500" dirty="0"/>
          </a:p>
        </p:txBody>
      </p:sp>
      <p:sp>
        <p:nvSpPr>
          <p:cNvPr id="8" name="Text 6"/>
          <p:cNvSpPr txBox="1"/>
          <p:nvPr/>
        </p:nvSpPr>
        <p:spPr>
          <a:xfrm>
            <a:off x="685800" y="3566160"/>
            <a:ext cx="1417320" cy="1280160"/>
          </a:xfrm>
          <a:prstGeom prst="rect">
            <a:avLst/>
          </a:prstGeom>
          <a:noFill/>
          <a:ln/>
        </p:spPr>
        <p:txBody>
          <a:bodyPr wrap="square" lIns="0" tIns="0" rIns="0" bIns="0" rtlCol="0" anchor="t"/>
          <a:lstStyle/>
          <a:p>
            <a:pPr indent="0" marL="0">
              <a:buNone/>
            </a:pPr>
            <a:r>
              <a:rPr lang="en-US" sz="1300" dirty="0">
                <a:solidFill>
                  <a:schemeClr val="tx1"/>
                </a:solidFill>
                <a:latin typeface="Arial" pitchFamily="34" charset="0"/>
                <a:ea typeface="Arial" pitchFamily="34" charset="-122"/>
                <a:cs typeface="Arial" pitchFamily="34" charset="-120"/>
              </a:rPr>
              <a:t>Zine, ligne qui bouge, course à trois jambes</a:t>
            </a:r>
            <a:endParaRPr lang="en-US" sz="1300" dirty="0"/>
          </a:p>
        </p:txBody>
      </p:sp>
      <p:sp>
        <p:nvSpPr>
          <p:cNvPr id="9" name="Text 7"/>
          <p:cNvSpPr txBox="1"/>
          <p:nvPr/>
        </p:nvSpPr>
        <p:spPr>
          <a:xfrm>
            <a:off x="685800" y="5029200"/>
            <a:ext cx="1417320" cy="365760"/>
          </a:xfrm>
          <a:prstGeom prst="rect">
            <a:avLst/>
          </a:prstGeom>
          <a:noFill/>
          <a:ln/>
        </p:spPr>
        <p:txBody>
          <a:bodyPr wrap="square" lIns="0" tIns="0" rIns="0" bIns="0" rtlCol="0" anchor="t"/>
          <a:lstStyle/>
          <a:p>
            <a:pPr indent="0" marL="0">
              <a:buNone/>
            </a:pPr>
            <a:r>
              <a:rPr lang="en-US" sz="1400" b="1" dirty="0">
                <a:solidFill>
                  <a:schemeClr val="tx2"/>
                </a:solidFill>
                <a:latin typeface="Arial" pitchFamily="34" charset="0"/>
                <a:ea typeface="Arial" pitchFamily="34" charset="-122"/>
                <a:cs typeface="Arial" pitchFamily="34" charset="-120"/>
              </a:rPr>
              <a:t>25 min</a:t>
            </a:r>
            <a:endParaRPr lang="en-US" sz="1400" dirty="0"/>
          </a:p>
        </p:txBody>
      </p:sp>
      <p:sp>
        <p:nvSpPr>
          <p:cNvPr id="10" name="Shape 8"/>
          <p:cNvSpPr/>
          <p:nvPr/>
        </p:nvSpPr>
        <p:spPr>
          <a:xfrm>
            <a:off x="3017520" y="1600200"/>
            <a:ext cx="640080" cy="640080"/>
          </a:xfrm>
          <a:prstGeom prst="ellipse">
            <a:avLst/>
          </a:prstGeom>
          <a:solidFill>
            <a:schemeClr val="accent2"/>
          </a:solidFill>
          <a:ln w="19050">
            <a:solidFill>
              <a:schemeClr val="tx1"/>
            </a:solidFill>
            <a:prstDash val="solid"/>
          </a:ln>
        </p:spPr>
      </p:sp>
      <p:sp>
        <p:nvSpPr>
          <p:cNvPr id="11" name="Text 9"/>
          <p:cNvSpPr txBox="1"/>
          <p:nvPr/>
        </p:nvSpPr>
        <p:spPr>
          <a:xfrm>
            <a:off x="3017520" y="1600200"/>
            <a:ext cx="640080" cy="640080"/>
          </a:xfrm>
          <a:prstGeom prst="rect">
            <a:avLst/>
          </a:prstGeom>
          <a:noFill/>
          <a:ln/>
        </p:spPr>
        <p:txBody>
          <a:bodyPr wrap="square" lIns="0" tIns="0" rIns="0" bIns="0" rtlCol="0" anchor="ctr"/>
          <a:lstStyle/>
          <a:p>
            <a:pPr algn="ctr" indent="0" marL="0">
              <a:buNone/>
            </a:pPr>
            <a:r>
              <a:rPr lang="en-US" sz="2400" dirty="0">
                <a:solidFill>
                  <a:schemeClr val="tx1"/>
                </a:solidFill>
                <a:latin typeface="Rockwell Extra Bold" pitchFamily="34" charset="0"/>
                <a:ea typeface="Rockwell Extra Bold" pitchFamily="34" charset="-122"/>
                <a:cs typeface="Rockwell Extra Bold" pitchFamily="34" charset="-120"/>
              </a:rPr>
              <a:t>1</a:t>
            </a:r>
            <a:endParaRPr lang="en-US" sz="2400" dirty="0"/>
          </a:p>
        </p:txBody>
      </p:sp>
      <p:sp>
        <p:nvSpPr>
          <p:cNvPr id="12" name="Shape 10"/>
          <p:cNvSpPr/>
          <p:nvPr/>
        </p:nvSpPr>
        <p:spPr>
          <a:xfrm>
            <a:off x="3703320" y="1920240"/>
            <a:ext cx="1234440" cy="0"/>
          </a:xfrm>
          <a:prstGeom prst="line">
            <a:avLst/>
          </a:prstGeom>
          <a:noFill/>
          <a:ln w="25400">
            <a:solidFill>
              <a:schemeClr val="tx1"/>
            </a:solidFill>
            <a:prstDash val="dash"/>
          </a:ln>
        </p:spPr>
      </p:sp>
      <p:sp>
        <p:nvSpPr>
          <p:cNvPr id="13" name="Shape 11"/>
          <p:cNvSpPr/>
          <p:nvPr/>
        </p:nvSpPr>
        <p:spPr>
          <a:xfrm>
            <a:off x="2423160" y="2514600"/>
            <a:ext cx="1691640" cy="3017520"/>
          </a:xfrm>
          <a:prstGeom prst="rect">
            <a:avLst/>
          </a:prstGeom>
          <a:solidFill>
            <a:schemeClr val="bg1"/>
          </a:solidFill>
          <a:ln w="25400">
            <a:solidFill>
              <a:schemeClr val="tx1"/>
            </a:solidFill>
            <a:prstDash val="solid"/>
          </a:ln>
        </p:spPr>
      </p:sp>
      <p:sp>
        <p:nvSpPr>
          <p:cNvPr id="14" name="Text 12"/>
          <p:cNvSpPr txBox="1"/>
          <p:nvPr/>
        </p:nvSpPr>
        <p:spPr>
          <a:xfrm>
            <a:off x="2560320" y="2651760"/>
            <a:ext cx="1417320" cy="868680"/>
          </a:xfrm>
          <a:prstGeom prst="rect">
            <a:avLst/>
          </a:prstGeom>
          <a:noFill/>
          <a:ln/>
        </p:spPr>
        <p:txBody>
          <a:bodyPr wrap="square" lIns="0" tIns="0" rIns="0" bIns="0" rtlCol="0" anchor="t"/>
          <a:lstStyle/>
          <a:p>
            <a:pPr indent="0" marL="0">
              <a:buNone/>
            </a:pPr>
            <a:r>
              <a:rPr lang="en-US" sz="1500" dirty="0">
                <a:solidFill>
                  <a:schemeClr val="accent1"/>
                </a:solidFill>
                <a:latin typeface="Rockwell Extra Bold" pitchFamily="34" charset="0"/>
                <a:ea typeface="Rockwell Extra Bold" pitchFamily="34" charset="-122"/>
                <a:cs typeface="Rockwell Extra Bold" pitchFamily="34" charset="-120"/>
              </a:rPr>
              <a:t>Les coups bas</a:t>
            </a:r>
            <a:endParaRPr lang="en-US" sz="1500" dirty="0"/>
          </a:p>
        </p:txBody>
      </p:sp>
      <p:sp>
        <p:nvSpPr>
          <p:cNvPr id="15" name="Text 13"/>
          <p:cNvSpPr txBox="1"/>
          <p:nvPr/>
        </p:nvSpPr>
        <p:spPr>
          <a:xfrm>
            <a:off x="2560320" y="3566160"/>
            <a:ext cx="1417320" cy="1280160"/>
          </a:xfrm>
          <a:prstGeom prst="rect">
            <a:avLst/>
          </a:prstGeom>
          <a:noFill/>
          <a:ln/>
        </p:spPr>
        <p:txBody>
          <a:bodyPr wrap="square" lIns="0" tIns="0" rIns="0" bIns="0" rtlCol="0" anchor="t"/>
          <a:lstStyle/>
          <a:p>
            <a:pPr indent="0" marL="0">
              <a:buNone/>
            </a:pPr>
            <a:r>
              <a:rPr lang="en-US" sz="1300" dirty="0">
                <a:solidFill>
                  <a:schemeClr val="tx1"/>
                </a:solidFill>
                <a:latin typeface="Arial" pitchFamily="34" charset="0"/>
                <a:ea typeface="Arial" pitchFamily="34" charset="-122"/>
                <a:cs typeface="Arial" pitchFamily="34" charset="-120"/>
              </a:rPr>
              <a:t>Coche-les, dur/doux, pyramide</a:t>
            </a:r>
            <a:endParaRPr lang="en-US" sz="1300" dirty="0"/>
          </a:p>
        </p:txBody>
      </p:sp>
      <p:sp>
        <p:nvSpPr>
          <p:cNvPr id="16" name="Text 14"/>
          <p:cNvSpPr txBox="1"/>
          <p:nvPr/>
        </p:nvSpPr>
        <p:spPr>
          <a:xfrm>
            <a:off x="2560320" y="5029200"/>
            <a:ext cx="1417320" cy="365760"/>
          </a:xfrm>
          <a:prstGeom prst="rect">
            <a:avLst/>
          </a:prstGeom>
          <a:noFill/>
          <a:ln/>
        </p:spPr>
        <p:txBody>
          <a:bodyPr wrap="square" lIns="0" tIns="0" rIns="0" bIns="0" rtlCol="0" anchor="t"/>
          <a:lstStyle/>
          <a:p>
            <a:pPr indent="0" marL="0">
              <a:buNone/>
            </a:pPr>
            <a:r>
              <a:rPr lang="en-US" sz="1400" b="1" dirty="0">
                <a:solidFill>
                  <a:schemeClr val="tx2"/>
                </a:solidFill>
                <a:latin typeface="Arial" pitchFamily="34" charset="0"/>
                <a:ea typeface="Arial" pitchFamily="34" charset="-122"/>
                <a:cs typeface="Arial" pitchFamily="34" charset="-120"/>
              </a:rPr>
              <a:t>20 min</a:t>
            </a:r>
            <a:endParaRPr lang="en-US" sz="1400" dirty="0"/>
          </a:p>
        </p:txBody>
      </p:sp>
      <p:sp>
        <p:nvSpPr>
          <p:cNvPr id="17" name="Shape 15"/>
          <p:cNvSpPr/>
          <p:nvPr/>
        </p:nvSpPr>
        <p:spPr>
          <a:xfrm>
            <a:off x="4892040" y="1600200"/>
            <a:ext cx="640080" cy="640080"/>
          </a:xfrm>
          <a:prstGeom prst="ellipse">
            <a:avLst/>
          </a:prstGeom>
          <a:solidFill>
            <a:schemeClr val="accent1"/>
          </a:solidFill>
          <a:ln w="19050">
            <a:solidFill>
              <a:schemeClr val="tx1"/>
            </a:solidFill>
            <a:prstDash val="solid"/>
          </a:ln>
        </p:spPr>
      </p:sp>
      <p:sp>
        <p:nvSpPr>
          <p:cNvPr id="18" name="Text 16"/>
          <p:cNvSpPr txBox="1"/>
          <p:nvPr/>
        </p:nvSpPr>
        <p:spPr>
          <a:xfrm>
            <a:off x="4892040" y="1600200"/>
            <a:ext cx="640080" cy="640080"/>
          </a:xfrm>
          <a:prstGeom prst="rect">
            <a:avLst/>
          </a:prstGeom>
          <a:noFill/>
          <a:ln/>
        </p:spPr>
        <p:txBody>
          <a:bodyPr wrap="square" lIns="0" tIns="0" rIns="0" bIns="0" rtlCol="0" anchor="ctr"/>
          <a:lstStyle/>
          <a:p>
            <a:pPr algn="ctr" indent="0" marL="0">
              <a:buNone/>
            </a:pPr>
            <a:r>
              <a:rPr lang="en-US" sz="2400" dirty="0">
                <a:solidFill>
                  <a:schemeClr val="bg2"/>
                </a:solidFill>
                <a:latin typeface="Rockwell Extra Bold" pitchFamily="34" charset="0"/>
                <a:ea typeface="Rockwell Extra Bold" pitchFamily="34" charset="-122"/>
                <a:cs typeface="Rockwell Extra Bold" pitchFamily="34" charset="-120"/>
              </a:rPr>
              <a:t>2</a:t>
            </a:r>
            <a:endParaRPr lang="en-US" sz="2400" dirty="0"/>
          </a:p>
        </p:txBody>
      </p:sp>
      <p:sp>
        <p:nvSpPr>
          <p:cNvPr id="19" name="Shape 17"/>
          <p:cNvSpPr/>
          <p:nvPr/>
        </p:nvSpPr>
        <p:spPr>
          <a:xfrm>
            <a:off x="5577840" y="1920240"/>
            <a:ext cx="1234440" cy="0"/>
          </a:xfrm>
          <a:prstGeom prst="line">
            <a:avLst/>
          </a:prstGeom>
          <a:noFill/>
          <a:ln w="25400">
            <a:solidFill>
              <a:schemeClr val="tx1"/>
            </a:solidFill>
            <a:prstDash val="dash"/>
          </a:ln>
        </p:spPr>
      </p:sp>
      <p:sp>
        <p:nvSpPr>
          <p:cNvPr id="20" name="Shape 18"/>
          <p:cNvSpPr/>
          <p:nvPr/>
        </p:nvSpPr>
        <p:spPr>
          <a:xfrm>
            <a:off x="4297680" y="2514600"/>
            <a:ext cx="1691640" cy="3017520"/>
          </a:xfrm>
          <a:prstGeom prst="rect">
            <a:avLst/>
          </a:prstGeom>
          <a:solidFill>
            <a:schemeClr val="bg1"/>
          </a:solidFill>
          <a:ln w="25400">
            <a:solidFill>
              <a:schemeClr val="tx1"/>
            </a:solidFill>
            <a:prstDash val="solid"/>
          </a:ln>
        </p:spPr>
      </p:sp>
      <p:sp>
        <p:nvSpPr>
          <p:cNvPr id="21" name="Text 19"/>
          <p:cNvSpPr txBox="1"/>
          <p:nvPr/>
        </p:nvSpPr>
        <p:spPr>
          <a:xfrm>
            <a:off x="4434840" y="2651760"/>
            <a:ext cx="1417320" cy="868680"/>
          </a:xfrm>
          <a:prstGeom prst="rect">
            <a:avLst/>
          </a:prstGeom>
          <a:noFill/>
          <a:ln/>
        </p:spPr>
        <p:txBody>
          <a:bodyPr wrap="square" lIns="0" tIns="0" rIns="0" bIns="0" rtlCol="0" anchor="t"/>
          <a:lstStyle/>
          <a:p>
            <a:pPr indent="0" marL="0">
              <a:buNone/>
            </a:pPr>
            <a:r>
              <a:rPr lang="en-US" sz="1500" dirty="0">
                <a:solidFill>
                  <a:schemeClr val="accent1"/>
                </a:solidFill>
                <a:latin typeface="Rockwell Extra Bold" pitchFamily="34" charset="0"/>
                <a:ea typeface="Rockwell Extra Bold" pitchFamily="34" charset="-122"/>
                <a:cs typeface="Rockwell Extra Bold" pitchFamily="34" charset="-120"/>
              </a:rPr>
              <a:t>Le bestiaire</a:t>
            </a:r>
            <a:endParaRPr lang="en-US" sz="1500" dirty="0"/>
          </a:p>
        </p:txBody>
      </p:sp>
      <p:sp>
        <p:nvSpPr>
          <p:cNvPr id="22" name="Text 20"/>
          <p:cNvSpPr txBox="1"/>
          <p:nvPr/>
        </p:nvSpPr>
        <p:spPr>
          <a:xfrm>
            <a:off x="4434840" y="3566160"/>
            <a:ext cx="1417320" cy="1280160"/>
          </a:xfrm>
          <a:prstGeom prst="rect">
            <a:avLst/>
          </a:prstGeom>
          <a:noFill/>
          <a:ln/>
        </p:spPr>
        <p:txBody>
          <a:bodyPr wrap="square" lIns="0" tIns="0" rIns="0" bIns="0" rtlCol="0" anchor="t"/>
          <a:lstStyle/>
          <a:p>
            <a:pPr indent="0" marL="0">
              <a:buNone/>
            </a:pPr>
            <a:r>
              <a:rPr lang="en-US" sz="1300" dirty="0">
                <a:solidFill>
                  <a:schemeClr val="tx1"/>
                </a:solidFill>
                <a:latin typeface="Arial" pitchFamily="34" charset="0"/>
                <a:ea typeface="Arial" pitchFamily="34" charset="-122"/>
                <a:cs typeface="Arial" pitchFamily="34" charset="-120"/>
              </a:rPr>
              <a:t>Croquis-éclair, bal masqué, bingo</a:t>
            </a:r>
            <a:endParaRPr lang="en-US" sz="1300" dirty="0"/>
          </a:p>
        </p:txBody>
      </p:sp>
      <p:sp>
        <p:nvSpPr>
          <p:cNvPr id="23" name="Text 21"/>
          <p:cNvSpPr txBox="1"/>
          <p:nvPr/>
        </p:nvSpPr>
        <p:spPr>
          <a:xfrm>
            <a:off x="4434840" y="5029200"/>
            <a:ext cx="1417320" cy="365760"/>
          </a:xfrm>
          <a:prstGeom prst="rect">
            <a:avLst/>
          </a:prstGeom>
          <a:noFill/>
          <a:ln/>
        </p:spPr>
        <p:txBody>
          <a:bodyPr wrap="square" lIns="0" tIns="0" rIns="0" bIns="0" rtlCol="0" anchor="t"/>
          <a:lstStyle/>
          <a:p>
            <a:pPr indent="0" marL="0">
              <a:buNone/>
            </a:pPr>
            <a:r>
              <a:rPr lang="en-US" sz="1400" b="1" dirty="0">
                <a:solidFill>
                  <a:schemeClr val="tx2"/>
                </a:solidFill>
                <a:latin typeface="Arial" pitchFamily="34" charset="0"/>
                <a:ea typeface="Arial" pitchFamily="34" charset="-122"/>
                <a:cs typeface="Arial" pitchFamily="34" charset="-120"/>
              </a:rPr>
              <a:t>40 min</a:t>
            </a:r>
            <a:endParaRPr lang="en-US" sz="1400" dirty="0"/>
          </a:p>
        </p:txBody>
      </p:sp>
      <p:sp>
        <p:nvSpPr>
          <p:cNvPr id="24" name="Shape 22"/>
          <p:cNvSpPr/>
          <p:nvPr/>
        </p:nvSpPr>
        <p:spPr>
          <a:xfrm>
            <a:off x="6766560" y="1600200"/>
            <a:ext cx="640080" cy="640080"/>
          </a:xfrm>
          <a:prstGeom prst="ellipse">
            <a:avLst/>
          </a:prstGeom>
          <a:solidFill>
            <a:schemeClr val="accent2"/>
          </a:solidFill>
          <a:ln w="19050">
            <a:solidFill>
              <a:schemeClr val="tx1"/>
            </a:solidFill>
            <a:prstDash val="solid"/>
          </a:ln>
        </p:spPr>
      </p:sp>
      <p:sp>
        <p:nvSpPr>
          <p:cNvPr id="25" name="Text 23"/>
          <p:cNvSpPr txBox="1"/>
          <p:nvPr/>
        </p:nvSpPr>
        <p:spPr>
          <a:xfrm>
            <a:off x="6766560" y="1600200"/>
            <a:ext cx="640080" cy="640080"/>
          </a:xfrm>
          <a:prstGeom prst="rect">
            <a:avLst/>
          </a:prstGeom>
          <a:noFill/>
          <a:ln/>
        </p:spPr>
        <p:txBody>
          <a:bodyPr wrap="square" lIns="0" tIns="0" rIns="0" bIns="0" rtlCol="0" anchor="ctr"/>
          <a:lstStyle/>
          <a:p>
            <a:pPr algn="ctr" indent="0" marL="0">
              <a:buNone/>
            </a:pPr>
            <a:r>
              <a:rPr lang="en-US" sz="2400" dirty="0">
                <a:solidFill>
                  <a:schemeClr val="tx1"/>
                </a:solidFill>
                <a:latin typeface="Rockwell Extra Bold" pitchFamily="34" charset="0"/>
                <a:ea typeface="Rockwell Extra Bold" pitchFamily="34" charset="-122"/>
                <a:cs typeface="Rockwell Extra Bold" pitchFamily="34" charset="-120"/>
              </a:rPr>
              <a:t>3</a:t>
            </a:r>
            <a:endParaRPr lang="en-US" sz="2400" dirty="0"/>
          </a:p>
        </p:txBody>
      </p:sp>
      <p:sp>
        <p:nvSpPr>
          <p:cNvPr id="26" name="Shape 24"/>
          <p:cNvSpPr/>
          <p:nvPr/>
        </p:nvSpPr>
        <p:spPr>
          <a:xfrm>
            <a:off x="7452360" y="1920240"/>
            <a:ext cx="1234440" cy="0"/>
          </a:xfrm>
          <a:prstGeom prst="line">
            <a:avLst/>
          </a:prstGeom>
          <a:noFill/>
          <a:ln w="25400">
            <a:solidFill>
              <a:schemeClr val="tx1"/>
            </a:solidFill>
            <a:prstDash val="dash"/>
          </a:ln>
        </p:spPr>
      </p:sp>
      <p:sp>
        <p:nvSpPr>
          <p:cNvPr id="27" name="Shape 25"/>
          <p:cNvSpPr/>
          <p:nvPr/>
        </p:nvSpPr>
        <p:spPr>
          <a:xfrm>
            <a:off x="6172200" y="2514600"/>
            <a:ext cx="1691640" cy="3017520"/>
          </a:xfrm>
          <a:prstGeom prst="rect">
            <a:avLst/>
          </a:prstGeom>
          <a:solidFill>
            <a:schemeClr val="bg1"/>
          </a:solidFill>
          <a:ln w="25400">
            <a:solidFill>
              <a:schemeClr val="tx1"/>
            </a:solidFill>
            <a:prstDash val="solid"/>
          </a:ln>
        </p:spPr>
      </p:sp>
      <p:sp>
        <p:nvSpPr>
          <p:cNvPr id="28" name="Text 26"/>
          <p:cNvSpPr txBox="1"/>
          <p:nvPr/>
        </p:nvSpPr>
        <p:spPr>
          <a:xfrm>
            <a:off x="6309360" y="2651760"/>
            <a:ext cx="1417320" cy="868680"/>
          </a:xfrm>
          <a:prstGeom prst="rect">
            <a:avLst/>
          </a:prstGeom>
          <a:noFill/>
          <a:ln/>
        </p:spPr>
        <p:txBody>
          <a:bodyPr wrap="square" lIns="0" tIns="0" rIns="0" bIns="0" rtlCol="0" anchor="t"/>
          <a:lstStyle/>
          <a:p>
            <a:pPr indent="0" marL="0">
              <a:buNone/>
            </a:pPr>
            <a:r>
              <a:rPr lang="en-US" sz="1500" dirty="0">
                <a:solidFill>
                  <a:schemeClr val="accent1"/>
                </a:solidFill>
                <a:latin typeface="Rockwell Extra Bold" pitchFamily="34" charset="0"/>
                <a:ea typeface="Rockwell Extra Bold" pitchFamily="34" charset="-122"/>
                <a:cs typeface="Rockwell Extra Bold" pitchFamily="34" charset="-120"/>
              </a:rPr>
              <a:t>Écrire</a:t>
            </a:r>
            <a:endParaRPr lang="en-US" sz="1500" dirty="0"/>
          </a:p>
        </p:txBody>
      </p:sp>
      <p:sp>
        <p:nvSpPr>
          <p:cNvPr id="29" name="Text 27"/>
          <p:cNvSpPr txBox="1"/>
          <p:nvPr/>
        </p:nvSpPr>
        <p:spPr>
          <a:xfrm>
            <a:off x="6309360" y="3566160"/>
            <a:ext cx="1417320" cy="1280160"/>
          </a:xfrm>
          <a:prstGeom prst="rect">
            <a:avLst/>
          </a:prstGeom>
          <a:noFill/>
          <a:ln/>
        </p:spPr>
        <p:txBody>
          <a:bodyPr wrap="square" lIns="0" tIns="0" rIns="0" bIns="0" rtlCol="0" anchor="t"/>
          <a:lstStyle/>
          <a:p>
            <a:pPr indent="0" marL="0">
              <a:buNone/>
            </a:pPr>
            <a:r>
              <a:rPr lang="en-US" sz="1300" dirty="0">
                <a:solidFill>
                  <a:schemeClr val="tx1"/>
                </a:solidFill>
                <a:latin typeface="Arial" pitchFamily="34" charset="0"/>
                <a:ea typeface="Arial" pitchFamily="34" charset="-122"/>
                <a:cs typeface="Arial" pitchFamily="34" charset="-120"/>
              </a:rPr>
              <a:t>Ascenseur, homme d'acier, 39ᵉ stratagème</a:t>
            </a:r>
            <a:endParaRPr lang="en-US" sz="1300" dirty="0"/>
          </a:p>
        </p:txBody>
      </p:sp>
      <p:sp>
        <p:nvSpPr>
          <p:cNvPr id="30" name="Text 28"/>
          <p:cNvSpPr txBox="1"/>
          <p:nvPr/>
        </p:nvSpPr>
        <p:spPr>
          <a:xfrm>
            <a:off x="6309360" y="5029200"/>
            <a:ext cx="1417320" cy="365760"/>
          </a:xfrm>
          <a:prstGeom prst="rect">
            <a:avLst/>
          </a:prstGeom>
          <a:noFill/>
          <a:ln/>
        </p:spPr>
        <p:txBody>
          <a:bodyPr wrap="square" lIns="0" tIns="0" rIns="0" bIns="0" rtlCol="0" anchor="t"/>
          <a:lstStyle/>
          <a:p>
            <a:pPr indent="0" marL="0">
              <a:buNone/>
            </a:pPr>
            <a:r>
              <a:rPr lang="en-US" sz="1400" b="1" dirty="0">
                <a:solidFill>
                  <a:schemeClr val="tx2"/>
                </a:solidFill>
                <a:latin typeface="Arial" pitchFamily="34" charset="0"/>
                <a:ea typeface="Arial" pitchFamily="34" charset="-122"/>
                <a:cs typeface="Arial" pitchFamily="34" charset="-120"/>
              </a:rPr>
              <a:t>35 min</a:t>
            </a:r>
            <a:endParaRPr lang="en-US" sz="1400" dirty="0"/>
          </a:p>
        </p:txBody>
      </p:sp>
      <p:sp>
        <p:nvSpPr>
          <p:cNvPr id="31" name="Shape 29"/>
          <p:cNvSpPr/>
          <p:nvPr/>
        </p:nvSpPr>
        <p:spPr>
          <a:xfrm>
            <a:off x="8641080" y="1600200"/>
            <a:ext cx="640080" cy="640080"/>
          </a:xfrm>
          <a:prstGeom prst="ellipse">
            <a:avLst/>
          </a:prstGeom>
          <a:solidFill>
            <a:schemeClr val="accent1"/>
          </a:solidFill>
          <a:ln w="19050">
            <a:solidFill>
              <a:schemeClr val="tx1"/>
            </a:solidFill>
            <a:prstDash val="solid"/>
          </a:ln>
        </p:spPr>
      </p:sp>
      <p:sp>
        <p:nvSpPr>
          <p:cNvPr id="32" name="Text 30"/>
          <p:cNvSpPr txBox="1"/>
          <p:nvPr/>
        </p:nvSpPr>
        <p:spPr>
          <a:xfrm>
            <a:off x="8641080" y="1600200"/>
            <a:ext cx="640080" cy="640080"/>
          </a:xfrm>
          <a:prstGeom prst="rect">
            <a:avLst/>
          </a:prstGeom>
          <a:noFill/>
          <a:ln/>
        </p:spPr>
        <p:txBody>
          <a:bodyPr wrap="square" lIns="0" tIns="0" rIns="0" bIns="0" rtlCol="0" anchor="ctr"/>
          <a:lstStyle/>
          <a:p>
            <a:pPr algn="ctr" indent="0" marL="0">
              <a:buNone/>
            </a:pPr>
            <a:r>
              <a:rPr lang="en-US" sz="2400" dirty="0">
                <a:solidFill>
                  <a:schemeClr val="bg2"/>
                </a:solidFill>
                <a:latin typeface="Rockwell Extra Bold" pitchFamily="34" charset="0"/>
                <a:ea typeface="Rockwell Extra Bold" pitchFamily="34" charset="-122"/>
                <a:cs typeface="Rockwell Extra Bold" pitchFamily="34" charset="-120"/>
              </a:rPr>
              <a:t>4</a:t>
            </a:r>
            <a:endParaRPr lang="en-US" sz="2400" dirty="0"/>
          </a:p>
        </p:txBody>
      </p:sp>
      <p:sp>
        <p:nvSpPr>
          <p:cNvPr id="33" name="Shape 31"/>
          <p:cNvSpPr/>
          <p:nvPr/>
        </p:nvSpPr>
        <p:spPr>
          <a:xfrm>
            <a:off x="9326880" y="1920240"/>
            <a:ext cx="1234440" cy="0"/>
          </a:xfrm>
          <a:prstGeom prst="line">
            <a:avLst/>
          </a:prstGeom>
          <a:noFill/>
          <a:ln w="25400">
            <a:solidFill>
              <a:schemeClr val="tx1"/>
            </a:solidFill>
            <a:prstDash val="dash"/>
          </a:ln>
        </p:spPr>
      </p:sp>
      <p:sp>
        <p:nvSpPr>
          <p:cNvPr id="34" name="Shape 32"/>
          <p:cNvSpPr/>
          <p:nvPr/>
        </p:nvSpPr>
        <p:spPr>
          <a:xfrm>
            <a:off x="8046720" y="2514600"/>
            <a:ext cx="1691640" cy="3017520"/>
          </a:xfrm>
          <a:prstGeom prst="rect">
            <a:avLst/>
          </a:prstGeom>
          <a:solidFill>
            <a:schemeClr val="bg1"/>
          </a:solidFill>
          <a:ln w="25400">
            <a:solidFill>
              <a:schemeClr val="tx1"/>
            </a:solidFill>
            <a:prstDash val="solid"/>
          </a:ln>
        </p:spPr>
      </p:sp>
      <p:sp>
        <p:nvSpPr>
          <p:cNvPr id="35" name="Text 33"/>
          <p:cNvSpPr txBox="1"/>
          <p:nvPr/>
        </p:nvSpPr>
        <p:spPr>
          <a:xfrm>
            <a:off x="8183880" y="2651760"/>
            <a:ext cx="1417320" cy="868680"/>
          </a:xfrm>
          <a:prstGeom prst="rect">
            <a:avLst/>
          </a:prstGeom>
          <a:noFill/>
          <a:ln/>
        </p:spPr>
        <p:txBody>
          <a:bodyPr wrap="square" lIns="0" tIns="0" rIns="0" bIns="0" rtlCol="0" anchor="t"/>
          <a:lstStyle/>
          <a:p>
            <a:pPr indent="0" marL="0">
              <a:buNone/>
            </a:pPr>
            <a:r>
              <a:rPr lang="en-US" sz="1500" dirty="0">
                <a:solidFill>
                  <a:schemeClr val="accent1"/>
                </a:solidFill>
                <a:latin typeface="Rockwell Extra Bold" pitchFamily="34" charset="0"/>
                <a:ea typeface="Rockwell Extra Bold" pitchFamily="34" charset="-122"/>
                <a:cs typeface="Rockwell Extra Bold" pitchFamily="34" charset="-120"/>
              </a:rPr>
              <a:t>L'arène</a:t>
            </a:r>
            <a:endParaRPr lang="en-US" sz="1500" dirty="0"/>
          </a:p>
        </p:txBody>
      </p:sp>
      <p:sp>
        <p:nvSpPr>
          <p:cNvPr id="36" name="Text 34"/>
          <p:cNvSpPr txBox="1"/>
          <p:nvPr/>
        </p:nvSpPr>
        <p:spPr>
          <a:xfrm>
            <a:off x="8183880" y="3566160"/>
            <a:ext cx="1417320" cy="1280160"/>
          </a:xfrm>
          <a:prstGeom prst="rect">
            <a:avLst/>
          </a:prstGeom>
          <a:noFill/>
          <a:ln/>
        </p:spPr>
        <p:txBody>
          <a:bodyPr wrap="square" lIns="0" tIns="0" rIns="0" bIns="0" rtlCol="0" anchor="t"/>
          <a:lstStyle/>
          <a:p>
            <a:pPr indent="0" marL="0">
              <a:buNone/>
            </a:pPr>
            <a:r>
              <a:rPr lang="en-US" sz="1300" dirty="0">
                <a:solidFill>
                  <a:schemeClr val="tx1"/>
                </a:solidFill>
                <a:latin typeface="Arial" pitchFamily="34" charset="0"/>
                <a:ea typeface="Arial" pitchFamily="34" charset="-122"/>
                <a:cs typeface="Arial" pitchFamily="34" charset="-120"/>
              </a:rPr>
              <a:t>Aquarium à jetons</a:t>
            </a:r>
            <a:endParaRPr lang="en-US" sz="1300" dirty="0"/>
          </a:p>
        </p:txBody>
      </p:sp>
      <p:sp>
        <p:nvSpPr>
          <p:cNvPr id="37" name="Text 35"/>
          <p:cNvSpPr txBox="1"/>
          <p:nvPr/>
        </p:nvSpPr>
        <p:spPr>
          <a:xfrm>
            <a:off x="8183880" y="5029200"/>
            <a:ext cx="1417320" cy="365760"/>
          </a:xfrm>
          <a:prstGeom prst="rect">
            <a:avLst/>
          </a:prstGeom>
          <a:noFill/>
          <a:ln/>
        </p:spPr>
        <p:txBody>
          <a:bodyPr wrap="square" lIns="0" tIns="0" rIns="0" bIns="0" rtlCol="0" anchor="t"/>
          <a:lstStyle/>
          <a:p>
            <a:pPr indent="0" marL="0">
              <a:buNone/>
            </a:pPr>
            <a:r>
              <a:rPr lang="en-US" sz="1400" b="1" dirty="0">
                <a:solidFill>
                  <a:schemeClr val="tx2"/>
                </a:solidFill>
                <a:latin typeface="Arial" pitchFamily="34" charset="0"/>
                <a:ea typeface="Arial" pitchFamily="34" charset="-122"/>
                <a:cs typeface="Arial" pitchFamily="34" charset="-120"/>
              </a:rPr>
              <a:t>25 min</a:t>
            </a:r>
            <a:endParaRPr lang="en-US" sz="1400" dirty="0"/>
          </a:p>
        </p:txBody>
      </p:sp>
      <p:sp>
        <p:nvSpPr>
          <p:cNvPr id="38" name="Shape 36"/>
          <p:cNvSpPr/>
          <p:nvPr/>
        </p:nvSpPr>
        <p:spPr>
          <a:xfrm>
            <a:off x="10515600" y="1600200"/>
            <a:ext cx="640080" cy="640080"/>
          </a:xfrm>
          <a:prstGeom prst="ellipse">
            <a:avLst/>
          </a:prstGeom>
          <a:solidFill>
            <a:schemeClr val="accent2"/>
          </a:solidFill>
          <a:ln w="19050">
            <a:solidFill>
              <a:schemeClr val="tx1"/>
            </a:solidFill>
            <a:prstDash val="solid"/>
          </a:ln>
        </p:spPr>
      </p:sp>
      <p:sp>
        <p:nvSpPr>
          <p:cNvPr id="39" name="Text 37"/>
          <p:cNvSpPr txBox="1"/>
          <p:nvPr/>
        </p:nvSpPr>
        <p:spPr>
          <a:xfrm>
            <a:off x="10515600" y="1600200"/>
            <a:ext cx="640080" cy="640080"/>
          </a:xfrm>
          <a:prstGeom prst="rect">
            <a:avLst/>
          </a:prstGeom>
          <a:noFill/>
          <a:ln/>
        </p:spPr>
        <p:txBody>
          <a:bodyPr wrap="square" lIns="0" tIns="0" rIns="0" bIns="0" rtlCol="0" anchor="ctr"/>
          <a:lstStyle/>
          <a:p>
            <a:pPr algn="ctr" indent="0" marL="0">
              <a:buNone/>
            </a:pPr>
            <a:r>
              <a:rPr lang="en-US" sz="2400" dirty="0">
                <a:solidFill>
                  <a:schemeClr val="tx1"/>
                </a:solidFill>
                <a:latin typeface="Rockwell Extra Bold" pitchFamily="34" charset="0"/>
                <a:ea typeface="Rockwell Extra Bold" pitchFamily="34" charset="-122"/>
                <a:cs typeface="Rockwell Extra Bold" pitchFamily="34" charset="-120"/>
              </a:rPr>
              <a:t>5</a:t>
            </a:r>
            <a:endParaRPr lang="en-US" sz="2400" dirty="0"/>
          </a:p>
        </p:txBody>
      </p:sp>
      <p:sp>
        <p:nvSpPr>
          <p:cNvPr id="40" name="Shape 38"/>
          <p:cNvSpPr/>
          <p:nvPr/>
        </p:nvSpPr>
        <p:spPr>
          <a:xfrm>
            <a:off x="9921240" y="2514600"/>
            <a:ext cx="1691640" cy="3017520"/>
          </a:xfrm>
          <a:prstGeom prst="rect">
            <a:avLst/>
          </a:prstGeom>
          <a:solidFill>
            <a:schemeClr val="bg1"/>
          </a:solidFill>
          <a:ln w="25400">
            <a:solidFill>
              <a:schemeClr val="tx1"/>
            </a:solidFill>
            <a:prstDash val="solid"/>
          </a:ln>
        </p:spPr>
      </p:sp>
      <p:sp>
        <p:nvSpPr>
          <p:cNvPr id="41" name="Text 39"/>
          <p:cNvSpPr txBox="1"/>
          <p:nvPr/>
        </p:nvSpPr>
        <p:spPr>
          <a:xfrm>
            <a:off x="10058400" y="2651760"/>
            <a:ext cx="1417320" cy="868680"/>
          </a:xfrm>
          <a:prstGeom prst="rect">
            <a:avLst/>
          </a:prstGeom>
          <a:noFill/>
          <a:ln/>
        </p:spPr>
        <p:txBody>
          <a:bodyPr wrap="square" lIns="0" tIns="0" rIns="0" bIns="0" rtlCol="0" anchor="t"/>
          <a:lstStyle/>
          <a:p>
            <a:pPr indent="0" marL="0">
              <a:buNone/>
            </a:pPr>
            <a:r>
              <a:rPr lang="en-US" sz="1500" dirty="0">
                <a:solidFill>
                  <a:schemeClr val="accent1"/>
                </a:solidFill>
                <a:latin typeface="Rockwell Extra Bold" pitchFamily="34" charset="0"/>
                <a:ea typeface="Rockwell Extra Bold" pitchFamily="34" charset="-122"/>
                <a:cs typeface="Rockwell Extra Bold" pitchFamily="34" charset="-120"/>
              </a:rPr>
              <a:t>Repartir avec</a:t>
            </a:r>
            <a:endParaRPr lang="en-US" sz="1500" dirty="0"/>
          </a:p>
        </p:txBody>
      </p:sp>
      <p:sp>
        <p:nvSpPr>
          <p:cNvPr id="42" name="Text 40"/>
          <p:cNvSpPr txBox="1"/>
          <p:nvPr/>
        </p:nvSpPr>
        <p:spPr>
          <a:xfrm>
            <a:off x="10058400" y="3566160"/>
            <a:ext cx="1417320" cy="1280160"/>
          </a:xfrm>
          <a:prstGeom prst="rect">
            <a:avLst/>
          </a:prstGeom>
          <a:noFill/>
          <a:ln/>
        </p:spPr>
        <p:txBody>
          <a:bodyPr wrap="square" lIns="0" tIns="0" rIns="0" bIns="0" rtlCol="0" anchor="t"/>
          <a:lstStyle/>
          <a:p>
            <a:pPr indent="0" marL="0">
              <a:buNone/>
            </a:pPr>
            <a:r>
              <a:rPr lang="en-US" sz="1300" dirty="0">
                <a:solidFill>
                  <a:schemeClr val="tx1"/>
                </a:solidFill>
                <a:latin typeface="Arial" pitchFamily="34" charset="0"/>
                <a:ea typeface="Arial" pitchFamily="34" charset="-122"/>
                <a:cs typeface="Arial" pitchFamily="34" charset="-120"/>
              </a:rPr>
              <a:t>Talisman, mise à jour relationnelle</a:t>
            </a:r>
            <a:endParaRPr lang="en-US" sz="1300" dirty="0"/>
          </a:p>
        </p:txBody>
      </p:sp>
      <p:sp>
        <p:nvSpPr>
          <p:cNvPr id="43" name="Text 41"/>
          <p:cNvSpPr txBox="1"/>
          <p:nvPr/>
        </p:nvSpPr>
        <p:spPr>
          <a:xfrm>
            <a:off x="10058400" y="5029200"/>
            <a:ext cx="1417320" cy="365760"/>
          </a:xfrm>
          <a:prstGeom prst="rect">
            <a:avLst/>
          </a:prstGeom>
          <a:noFill/>
          <a:ln/>
        </p:spPr>
        <p:txBody>
          <a:bodyPr wrap="square" lIns="0" tIns="0" rIns="0" bIns="0" rtlCol="0" anchor="t"/>
          <a:lstStyle/>
          <a:p>
            <a:pPr indent="0" marL="0">
              <a:buNone/>
            </a:pPr>
            <a:r>
              <a:rPr lang="en-US" sz="1400" b="1" dirty="0">
                <a:solidFill>
                  <a:schemeClr val="tx2"/>
                </a:solidFill>
                <a:latin typeface="Arial" pitchFamily="34" charset="0"/>
                <a:ea typeface="Arial" pitchFamily="34" charset="-122"/>
                <a:cs typeface="Arial" pitchFamily="34" charset="-120"/>
              </a:rPr>
              <a:t>35 min</a:t>
            </a:r>
            <a:endParaRPr lang="en-US" sz="1400" dirty="0"/>
          </a:p>
        </p:txBody>
      </p:sp>
      <p:sp>
        <p:nvSpPr>
          <p:cNvPr id="44" name="Text 42"/>
          <p:cNvSpPr txBox="1"/>
          <p:nvPr/>
        </p:nvSpPr>
        <p:spPr>
          <a:xfrm>
            <a:off x="548640" y="5760720"/>
            <a:ext cx="11064240" cy="411480"/>
          </a:xfrm>
          <a:prstGeom prst="rect">
            <a:avLst/>
          </a:prstGeom>
          <a:noFill/>
          <a:ln/>
        </p:spPr>
        <p:txBody>
          <a:bodyPr wrap="square" lIns="0" tIns="0" rIns="0" bIns="0" rtlCol="0" anchor="t"/>
          <a:lstStyle/>
          <a:p>
            <a:pPr indent="0" marL="0">
              <a:buNone/>
            </a:pPr>
            <a:r>
              <a:rPr lang="en-US" sz="1500" b="1" dirty="0">
                <a:solidFill>
                  <a:schemeClr val="accent1"/>
                </a:solidFill>
                <a:latin typeface="Arial" pitchFamily="34" charset="0"/>
                <a:ea typeface="Arial" pitchFamily="34" charset="-122"/>
                <a:cs typeface="Arial" pitchFamily="34" charset="-120"/>
              </a:rPr>
              <a:t>Règle du joker : </a:t>
            </a:r>
            <a:pPr indent="0" marL="0">
              <a:buNone/>
            </a:pPr>
            <a:r>
              <a:rPr lang="en-US" sz="1500" dirty="0">
                <a:solidFill>
                  <a:schemeClr val="tx1"/>
                </a:solidFill>
                <a:latin typeface="Arial" pitchFamily="34" charset="0"/>
                <a:ea typeface="Arial" pitchFamily="34" charset="-122"/>
                <a:cs typeface="Arial" pitchFamily="34" charset="-120"/>
              </a:rPr>
              <a:t>chacun peut passer son tour, à tout moment, sans se justifier.</a:t>
            </a:r>
            <a:endParaRPr lang="en-US" sz="15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1"/>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57200" y="274320"/>
            <a:ext cx="4572000" cy="2926080"/>
          </a:xfrm>
          <a:prstGeom prst="rect">
            <a:avLst/>
          </a:prstGeom>
          <a:noFill/>
          <a:ln/>
        </p:spPr>
        <p:txBody>
          <a:bodyPr wrap="square" lIns="0" tIns="0" rIns="0" bIns="0" rtlCol="0" anchor="t"/>
          <a:lstStyle/>
          <a:p>
            <a:pPr indent="0" marL="0">
              <a:buNone/>
            </a:pPr>
            <a:r>
              <a:rPr lang="en-US" sz="20000" dirty="0">
                <a:solidFill>
                  <a:schemeClr val="tx1"/>
                </a:solidFill>
                <a:latin typeface="Rockwell Extra Bold" pitchFamily="34" charset="0"/>
                <a:ea typeface="Rockwell Extra Bold" pitchFamily="34" charset="-122"/>
                <a:cs typeface="Rockwell Extra Bold" pitchFamily="34" charset="-120"/>
              </a:rPr>
              <a:t>0</a:t>
            </a:r>
            <a:endParaRPr lang="en-US" sz="20000" dirty="0"/>
          </a:p>
        </p:txBody>
      </p:sp>
      <p:sp>
        <p:nvSpPr>
          <p:cNvPr id="3" name="Text 0"/>
          <p:cNvSpPr/>
          <p:nvPr>
            <p:ph idx="100" type="title" hasCustomPrompt="1"/>
          </p:nvPr>
        </p:nvSpPr>
        <p:spPr>
          <a:xfrm>
            <a:off x="548640" y="3291840"/>
            <a:ext cx="7498080" cy="2194560"/>
          </a:xfrm>
          <a:prstGeom prst="rect">
            <a:avLst/>
          </a:prstGeom>
          <a:noFill/>
          <a:ln/>
        </p:spPr>
        <p:txBody>
          <a:bodyPr wrap="square" lIns="0" tIns="0" rIns="0" bIns="0" rtlCol="0" anchor="t"/>
          <a:lstStyle/>
          <a:p>
            <a:pPr algn="l" indent="0" marL="0">
              <a:buNone/>
            </a:pPr>
            <a:r>
              <a:rPr lang="en-US" sz="5400" dirty="0">
                <a:solidFill>
                  <a:schemeClr val="bg2"/>
                </a:solidFill>
              </a:rPr>
              <a:t>Échauffement</a:t>
            </a:r>
            <a:endParaRPr lang="en-US" sz="5400" dirty="0"/>
          </a:p>
        </p:txBody>
      </p:sp>
      <p:sp>
        <p:nvSpPr>
          <p:cNvPr id="4" name="Text 0"/>
          <p:cNvSpPr/>
          <p:nvPr>
            <p:ph idx="101" type="body" hasCustomPrompt="1"/>
          </p:nvPr>
        </p:nvSpPr>
        <p:spPr>
          <a:xfrm>
            <a:off x="548640" y="5486400"/>
            <a:ext cx="7498080" cy="731520"/>
          </a:xfrm>
          <a:prstGeom prst="rect">
            <a:avLst/>
          </a:prstGeom>
          <a:noFill/>
          <a:ln/>
        </p:spPr>
        <p:txBody>
          <a:bodyPr wrap="square" lIns="0" tIns="0" rIns="0" bIns="0" rtlCol="0"/>
          <a:lstStyle/>
          <a:p>
            <a:pPr indent="0" marL="0">
              <a:buNone/>
            </a:pPr>
            <a:r>
              <a:rPr lang="en-US" sz="1800" dirty="0">
                <a:solidFill>
                  <a:schemeClr val="bg2"/>
                </a:solidFill>
              </a:rPr>
              <a:t>Trois activités pour entrer dans le jeu sans entrer en guerre</a:t>
            </a:r>
            <a:endParaRPr lang="en-US" sz="1800" dirty="0"/>
          </a:p>
        </p:txBody>
      </p:sp>
      <p:pic>
        <p:nvPicPr>
          <p:cNvPr id="5" name="silhouette" descr="preencoded.png">    </p:cNvPr>
          <p:cNvPicPr>
            <a:picLocks noChangeAspect="1"/>
          </p:cNvPicPr>
          <p:nvPr/>
        </p:nvPicPr>
        <p:blipFill>
          <a:blip r:embed="rId1"/>
          <a:stretch>
            <a:fillRect/>
          </a:stretch>
        </p:blipFill>
        <p:spPr>
          <a:xfrm>
            <a:off x="8138160" y="914400"/>
            <a:ext cx="3566160" cy="4297680"/>
          </a:xfrm>
          <a:prstGeom prst="rect">
            <a:avLst/>
          </a:prstGeom>
        </p:spPr>
      </p:pic>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lIns="0" tIns="0" rIns="0" bIns="0" rtlCol="0" anchor="t"/>
          <a:lstStyle/>
          <a:p>
            <a:pPr algn="l" indent="0" marL="0">
              <a:buNone/>
            </a:pPr>
            <a:r>
              <a:rPr lang="en-US" sz="3600" dirty="0">
                <a:solidFill>
                  <a:schemeClr val="accent1"/>
                </a:solidFill>
              </a:rPr>
              <a:t>Activité 1 · Plie ton zine</a:t>
            </a:r>
            <a:endParaRPr lang="en-US" sz="3600" dirty="0"/>
          </a:p>
        </p:txBody>
      </p:sp>
      <p:sp>
        <p:nvSpPr>
          <p:cNvPr id="3" name="Shape 1"/>
          <p:cNvSpPr/>
          <p:nvPr/>
        </p:nvSpPr>
        <p:spPr>
          <a:xfrm>
            <a:off x="9966960" y="411480"/>
            <a:ext cx="1645920" cy="457200"/>
          </a:xfrm>
          <a:prstGeom prst="roundRect">
            <a:avLst>
              <a:gd name="adj" fmla="val 50000"/>
            </a:avLst>
          </a:prstGeom>
          <a:solidFill>
            <a:schemeClr val="tx1"/>
          </a:solidFill>
          <a:ln/>
        </p:spPr>
      </p:sp>
      <p:sp>
        <p:nvSpPr>
          <p:cNvPr id="4" name="Text 2"/>
          <p:cNvSpPr txBox="1"/>
          <p:nvPr/>
        </p:nvSpPr>
        <p:spPr>
          <a:xfrm>
            <a:off x="9966960" y="411480"/>
            <a:ext cx="1645920" cy="457200"/>
          </a:xfrm>
          <a:prstGeom prst="rect">
            <a:avLst/>
          </a:prstGeom>
          <a:noFill/>
          <a:ln/>
        </p:spPr>
        <p:txBody>
          <a:bodyPr wrap="square" lIns="0" tIns="0" rIns="0" bIns="0" rtlCol="0" anchor="ctr"/>
          <a:lstStyle/>
          <a:p>
            <a:pPr algn="ctr" indent="0" marL="0">
              <a:buNone/>
            </a:pPr>
            <a:r>
              <a:rPr lang="en-US" sz="1400" b="1" dirty="0">
                <a:solidFill>
                  <a:schemeClr val="bg2"/>
                </a:solidFill>
              </a:rPr>
              <a:t>⏱ 7 min</a:t>
            </a:r>
            <a:endParaRPr lang="en-US" sz="1400" dirty="0"/>
          </a:p>
        </p:txBody>
      </p:sp>
      <p:sp>
        <p:nvSpPr>
          <p:cNvPr id="5" name="Shape 3"/>
          <p:cNvSpPr/>
          <p:nvPr/>
        </p:nvSpPr>
        <p:spPr>
          <a:xfrm>
            <a:off x="548640" y="1508760"/>
            <a:ext cx="2194560" cy="1737360"/>
          </a:xfrm>
          <a:prstGeom prst="rect">
            <a:avLst/>
          </a:prstGeom>
          <a:solidFill>
            <a:schemeClr val="bg1"/>
          </a:solidFill>
          <a:ln w="25400">
            <a:solidFill>
              <a:schemeClr val="tx1"/>
            </a:solidFill>
            <a:prstDash val="solid"/>
          </a:ln>
        </p:spPr>
      </p:sp>
      <p:sp>
        <p:nvSpPr>
          <p:cNvPr id="6" name="Shape 4"/>
          <p:cNvSpPr/>
          <p:nvPr/>
        </p:nvSpPr>
        <p:spPr>
          <a:xfrm>
            <a:off x="685800" y="1645920"/>
            <a:ext cx="502920" cy="502920"/>
          </a:xfrm>
          <a:prstGeom prst="ellipse">
            <a:avLst/>
          </a:prstGeom>
          <a:solidFill>
            <a:schemeClr val="accent1"/>
          </a:solidFill>
          <a:ln w="19050">
            <a:solidFill>
              <a:schemeClr val="tx1"/>
            </a:solidFill>
            <a:prstDash val="solid"/>
          </a:ln>
        </p:spPr>
      </p:sp>
      <p:sp>
        <p:nvSpPr>
          <p:cNvPr id="7" name="Text 5"/>
          <p:cNvSpPr txBox="1"/>
          <p:nvPr/>
        </p:nvSpPr>
        <p:spPr>
          <a:xfrm>
            <a:off x="685800" y="1645920"/>
            <a:ext cx="502920" cy="502920"/>
          </a:xfrm>
          <a:prstGeom prst="rect">
            <a:avLst/>
          </a:prstGeom>
          <a:noFill/>
          <a:ln/>
        </p:spPr>
        <p:txBody>
          <a:bodyPr wrap="square" lIns="0" tIns="0" rIns="0" bIns="0" rtlCol="0" anchor="ctr"/>
          <a:lstStyle/>
          <a:p>
            <a:pPr algn="ctr" indent="0" marL="0">
              <a:buNone/>
            </a:pPr>
            <a:r>
              <a:rPr lang="en-US" sz="1800" dirty="0">
                <a:solidFill>
                  <a:schemeClr val="bg2"/>
                </a:solidFill>
                <a:latin typeface="Rockwell Extra Bold" pitchFamily="34" charset="0"/>
                <a:ea typeface="Rockwell Extra Bold" pitchFamily="34" charset="-122"/>
                <a:cs typeface="Rockwell Extra Bold" pitchFamily="34" charset="-120"/>
              </a:rPr>
              <a:t>1</a:t>
            </a:r>
            <a:endParaRPr lang="en-US" sz="1800" dirty="0"/>
          </a:p>
        </p:txBody>
      </p:sp>
      <p:sp>
        <p:nvSpPr>
          <p:cNvPr id="8" name="Text 6"/>
          <p:cNvSpPr txBox="1"/>
          <p:nvPr/>
        </p:nvSpPr>
        <p:spPr>
          <a:xfrm>
            <a:off x="685800" y="2286000"/>
            <a:ext cx="1920240" cy="868680"/>
          </a:xfrm>
          <a:prstGeom prst="rect">
            <a:avLst/>
          </a:prstGeom>
          <a:noFill/>
          <a:ln/>
        </p:spPr>
        <p:txBody>
          <a:bodyPr wrap="square" lIns="0" tIns="0" rIns="0" bIns="0" rtlCol="0" anchor="t"/>
          <a:lstStyle/>
          <a:p>
            <a:pPr indent="0" marL="0">
              <a:buNone/>
            </a:pPr>
            <a:r>
              <a:rPr lang="en-US" sz="1500" b="1" dirty="0">
                <a:solidFill>
                  <a:schemeClr val="tx1"/>
                </a:solidFill>
                <a:latin typeface="Arial" pitchFamily="34" charset="0"/>
                <a:ea typeface="Arial" pitchFamily="34" charset="-122"/>
                <a:cs typeface="Arial" pitchFamily="34" charset="-120"/>
              </a:rPr>
              <a:t>Plier en deux sur la longueur</a:t>
            </a:r>
            <a:endParaRPr lang="en-US" sz="1500" dirty="0"/>
          </a:p>
        </p:txBody>
      </p:sp>
      <p:sp>
        <p:nvSpPr>
          <p:cNvPr id="9" name="Shape 7"/>
          <p:cNvSpPr/>
          <p:nvPr/>
        </p:nvSpPr>
        <p:spPr>
          <a:xfrm>
            <a:off x="2926080" y="1508760"/>
            <a:ext cx="2194560" cy="1737360"/>
          </a:xfrm>
          <a:prstGeom prst="rect">
            <a:avLst/>
          </a:prstGeom>
          <a:solidFill>
            <a:schemeClr val="bg1"/>
          </a:solidFill>
          <a:ln w="25400">
            <a:solidFill>
              <a:schemeClr val="tx1"/>
            </a:solidFill>
            <a:prstDash val="solid"/>
          </a:ln>
        </p:spPr>
      </p:sp>
      <p:sp>
        <p:nvSpPr>
          <p:cNvPr id="10" name="Shape 8"/>
          <p:cNvSpPr/>
          <p:nvPr/>
        </p:nvSpPr>
        <p:spPr>
          <a:xfrm>
            <a:off x="3063240" y="1645920"/>
            <a:ext cx="502920" cy="502920"/>
          </a:xfrm>
          <a:prstGeom prst="ellipse">
            <a:avLst/>
          </a:prstGeom>
          <a:solidFill>
            <a:schemeClr val="accent1"/>
          </a:solidFill>
          <a:ln w="19050">
            <a:solidFill>
              <a:schemeClr val="tx1"/>
            </a:solidFill>
            <a:prstDash val="solid"/>
          </a:ln>
        </p:spPr>
      </p:sp>
      <p:sp>
        <p:nvSpPr>
          <p:cNvPr id="11" name="Text 9"/>
          <p:cNvSpPr txBox="1"/>
          <p:nvPr/>
        </p:nvSpPr>
        <p:spPr>
          <a:xfrm>
            <a:off x="3063240" y="1645920"/>
            <a:ext cx="502920" cy="502920"/>
          </a:xfrm>
          <a:prstGeom prst="rect">
            <a:avLst/>
          </a:prstGeom>
          <a:noFill/>
          <a:ln/>
        </p:spPr>
        <p:txBody>
          <a:bodyPr wrap="square" lIns="0" tIns="0" rIns="0" bIns="0" rtlCol="0" anchor="ctr"/>
          <a:lstStyle/>
          <a:p>
            <a:pPr algn="ctr" indent="0" marL="0">
              <a:buNone/>
            </a:pPr>
            <a:r>
              <a:rPr lang="en-US" sz="1800" dirty="0">
                <a:solidFill>
                  <a:schemeClr val="bg2"/>
                </a:solidFill>
                <a:latin typeface="Rockwell Extra Bold" pitchFamily="34" charset="0"/>
                <a:ea typeface="Rockwell Extra Bold" pitchFamily="34" charset="-122"/>
                <a:cs typeface="Rockwell Extra Bold" pitchFamily="34" charset="-120"/>
              </a:rPr>
              <a:t>2</a:t>
            </a:r>
            <a:endParaRPr lang="en-US" sz="1800" dirty="0"/>
          </a:p>
        </p:txBody>
      </p:sp>
      <p:sp>
        <p:nvSpPr>
          <p:cNvPr id="12" name="Text 10"/>
          <p:cNvSpPr txBox="1"/>
          <p:nvPr/>
        </p:nvSpPr>
        <p:spPr>
          <a:xfrm>
            <a:off x="3063240" y="2286000"/>
            <a:ext cx="1920240" cy="868680"/>
          </a:xfrm>
          <a:prstGeom prst="rect">
            <a:avLst/>
          </a:prstGeom>
          <a:noFill/>
          <a:ln/>
        </p:spPr>
        <p:txBody>
          <a:bodyPr wrap="square" lIns="0" tIns="0" rIns="0" bIns="0" rtlCol="0" anchor="t"/>
          <a:lstStyle/>
          <a:p>
            <a:pPr indent="0" marL="0">
              <a:buNone/>
            </a:pPr>
            <a:r>
              <a:rPr lang="en-US" sz="1500" b="1" dirty="0">
                <a:solidFill>
                  <a:schemeClr val="tx1"/>
                </a:solidFill>
                <a:latin typeface="Arial" pitchFamily="34" charset="0"/>
                <a:ea typeface="Arial" pitchFamily="34" charset="-122"/>
                <a:cs typeface="Arial" pitchFamily="34" charset="-120"/>
              </a:rPr>
              <a:t>Plier en 4 sur la largeur : 8 cases</a:t>
            </a:r>
            <a:endParaRPr lang="en-US" sz="1500" dirty="0"/>
          </a:p>
        </p:txBody>
      </p:sp>
      <p:sp>
        <p:nvSpPr>
          <p:cNvPr id="13" name="Shape 11"/>
          <p:cNvSpPr/>
          <p:nvPr/>
        </p:nvSpPr>
        <p:spPr>
          <a:xfrm>
            <a:off x="5303520" y="1508760"/>
            <a:ext cx="2194560" cy="1737360"/>
          </a:xfrm>
          <a:prstGeom prst="rect">
            <a:avLst/>
          </a:prstGeom>
          <a:solidFill>
            <a:schemeClr val="bg1"/>
          </a:solidFill>
          <a:ln w="25400">
            <a:solidFill>
              <a:schemeClr val="tx1"/>
            </a:solidFill>
            <a:prstDash val="solid"/>
          </a:ln>
        </p:spPr>
      </p:sp>
      <p:sp>
        <p:nvSpPr>
          <p:cNvPr id="14" name="Shape 12"/>
          <p:cNvSpPr/>
          <p:nvPr/>
        </p:nvSpPr>
        <p:spPr>
          <a:xfrm>
            <a:off x="5440680" y="1645920"/>
            <a:ext cx="502920" cy="502920"/>
          </a:xfrm>
          <a:prstGeom prst="ellipse">
            <a:avLst/>
          </a:prstGeom>
          <a:solidFill>
            <a:schemeClr val="accent1"/>
          </a:solidFill>
          <a:ln w="19050">
            <a:solidFill>
              <a:schemeClr val="tx1"/>
            </a:solidFill>
            <a:prstDash val="solid"/>
          </a:ln>
        </p:spPr>
      </p:sp>
      <p:sp>
        <p:nvSpPr>
          <p:cNvPr id="15" name="Text 13"/>
          <p:cNvSpPr txBox="1"/>
          <p:nvPr/>
        </p:nvSpPr>
        <p:spPr>
          <a:xfrm>
            <a:off x="5440680" y="1645920"/>
            <a:ext cx="502920" cy="502920"/>
          </a:xfrm>
          <a:prstGeom prst="rect">
            <a:avLst/>
          </a:prstGeom>
          <a:noFill/>
          <a:ln/>
        </p:spPr>
        <p:txBody>
          <a:bodyPr wrap="square" lIns="0" tIns="0" rIns="0" bIns="0" rtlCol="0" anchor="ctr"/>
          <a:lstStyle/>
          <a:p>
            <a:pPr algn="ctr" indent="0" marL="0">
              <a:buNone/>
            </a:pPr>
            <a:r>
              <a:rPr lang="en-US" sz="1800" dirty="0">
                <a:solidFill>
                  <a:schemeClr val="bg2"/>
                </a:solidFill>
                <a:latin typeface="Rockwell Extra Bold" pitchFamily="34" charset="0"/>
                <a:ea typeface="Rockwell Extra Bold" pitchFamily="34" charset="-122"/>
                <a:cs typeface="Rockwell Extra Bold" pitchFamily="34" charset="-120"/>
              </a:rPr>
              <a:t>3</a:t>
            </a:r>
            <a:endParaRPr lang="en-US" sz="1800" dirty="0"/>
          </a:p>
        </p:txBody>
      </p:sp>
      <p:sp>
        <p:nvSpPr>
          <p:cNvPr id="16" name="Text 14"/>
          <p:cNvSpPr txBox="1"/>
          <p:nvPr/>
        </p:nvSpPr>
        <p:spPr>
          <a:xfrm>
            <a:off x="5440680" y="2286000"/>
            <a:ext cx="1920240" cy="868680"/>
          </a:xfrm>
          <a:prstGeom prst="rect">
            <a:avLst/>
          </a:prstGeom>
          <a:noFill/>
          <a:ln/>
        </p:spPr>
        <p:txBody>
          <a:bodyPr wrap="square" lIns="0" tIns="0" rIns="0" bIns="0" rtlCol="0" anchor="t"/>
          <a:lstStyle/>
          <a:p>
            <a:pPr indent="0" marL="0">
              <a:buNone/>
            </a:pPr>
            <a:r>
              <a:rPr lang="en-US" sz="1500" b="1" dirty="0">
                <a:solidFill>
                  <a:schemeClr val="tx1"/>
                </a:solidFill>
                <a:latin typeface="Arial" pitchFamily="34" charset="0"/>
                <a:ea typeface="Arial" pitchFamily="34" charset="-122"/>
                <a:cs typeface="Arial" pitchFamily="34" charset="-120"/>
              </a:rPr>
              <a:t>Couper la fente centrale</a:t>
            </a:r>
            <a:endParaRPr lang="en-US" sz="1500" dirty="0"/>
          </a:p>
        </p:txBody>
      </p:sp>
      <p:sp>
        <p:nvSpPr>
          <p:cNvPr id="17" name="Shape 15"/>
          <p:cNvSpPr/>
          <p:nvPr/>
        </p:nvSpPr>
        <p:spPr>
          <a:xfrm>
            <a:off x="548640" y="3474720"/>
            <a:ext cx="2194560" cy="1737360"/>
          </a:xfrm>
          <a:prstGeom prst="rect">
            <a:avLst/>
          </a:prstGeom>
          <a:solidFill>
            <a:schemeClr val="bg1"/>
          </a:solidFill>
          <a:ln w="25400">
            <a:solidFill>
              <a:schemeClr val="tx1"/>
            </a:solidFill>
            <a:prstDash val="solid"/>
          </a:ln>
        </p:spPr>
      </p:sp>
      <p:sp>
        <p:nvSpPr>
          <p:cNvPr id="18" name="Shape 16"/>
          <p:cNvSpPr/>
          <p:nvPr/>
        </p:nvSpPr>
        <p:spPr>
          <a:xfrm>
            <a:off x="685800" y="3611880"/>
            <a:ext cx="502920" cy="502920"/>
          </a:xfrm>
          <a:prstGeom prst="ellipse">
            <a:avLst/>
          </a:prstGeom>
          <a:solidFill>
            <a:schemeClr val="accent1"/>
          </a:solidFill>
          <a:ln w="19050">
            <a:solidFill>
              <a:schemeClr val="tx1"/>
            </a:solidFill>
            <a:prstDash val="solid"/>
          </a:ln>
        </p:spPr>
      </p:sp>
      <p:sp>
        <p:nvSpPr>
          <p:cNvPr id="19" name="Text 17"/>
          <p:cNvSpPr txBox="1"/>
          <p:nvPr/>
        </p:nvSpPr>
        <p:spPr>
          <a:xfrm>
            <a:off x="685800" y="3611880"/>
            <a:ext cx="502920" cy="502920"/>
          </a:xfrm>
          <a:prstGeom prst="rect">
            <a:avLst/>
          </a:prstGeom>
          <a:noFill/>
          <a:ln/>
        </p:spPr>
        <p:txBody>
          <a:bodyPr wrap="square" lIns="0" tIns="0" rIns="0" bIns="0" rtlCol="0" anchor="ctr"/>
          <a:lstStyle/>
          <a:p>
            <a:pPr algn="ctr" indent="0" marL="0">
              <a:buNone/>
            </a:pPr>
            <a:r>
              <a:rPr lang="en-US" sz="1800" dirty="0">
                <a:solidFill>
                  <a:schemeClr val="bg2"/>
                </a:solidFill>
                <a:latin typeface="Rockwell Extra Bold" pitchFamily="34" charset="0"/>
                <a:ea typeface="Rockwell Extra Bold" pitchFamily="34" charset="-122"/>
                <a:cs typeface="Rockwell Extra Bold" pitchFamily="34" charset="-120"/>
              </a:rPr>
              <a:t>4</a:t>
            </a:r>
            <a:endParaRPr lang="en-US" sz="1800" dirty="0"/>
          </a:p>
        </p:txBody>
      </p:sp>
      <p:sp>
        <p:nvSpPr>
          <p:cNvPr id="20" name="Text 18"/>
          <p:cNvSpPr txBox="1"/>
          <p:nvPr/>
        </p:nvSpPr>
        <p:spPr>
          <a:xfrm>
            <a:off x="685800" y="4251960"/>
            <a:ext cx="1920240" cy="868680"/>
          </a:xfrm>
          <a:prstGeom prst="rect">
            <a:avLst/>
          </a:prstGeom>
          <a:noFill/>
          <a:ln/>
        </p:spPr>
        <p:txBody>
          <a:bodyPr wrap="square" lIns="0" tIns="0" rIns="0" bIns="0" rtlCol="0" anchor="t"/>
          <a:lstStyle/>
          <a:p>
            <a:pPr indent="0" marL="0">
              <a:buNone/>
            </a:pPr>
            <a:r>
              <a:rPr lang="en-US" sz="1500" b="1" dirty="0">
                <a:solidFill>
                  <a:schemeClr val="tx1"/>
                </a:solidFill>
                <a:latin typeface="Arial" pitchFamily="34" charset="0"/>
                <a:ea typeface="Arial" pitchFamily="34" charset="-122"/>
                <a:cs typeface="Arial" pitchFamily="34" charset="-120"/>
              </a:rPr>
              <a:t>Pousser vers le centre : losange</a:t>
            </a:r>
            <a:endParaRPr lang="en-US" sz="1500" dirty="0"/>
          </a:p>
        </p:txBody>
      </p:sp>
      <p:sp>
        <p:nvSpPr>
          <p:cNvPr id="21" name="Shape 19"/>
          <p:cNvSpPr/>
          <p:nvPr/>
        </p:nvSpPr>
        <p:spPr>
          <a:xfrm>
            <a:off x="2926080" y="3474720"/>
            <a:ext cx="2194560" cy="1737360"/>
          </a:xfrm>
          <a:prstGeom prst="rect">
            <a:avLst/>
          </a:prstGeom>
          <a:solidFill>
            <a:schemeClr val="bg1"/>
          </a:solidFill>
          <a:ln w="25400">
            <a:solidFill>
              <a:schemeClr val="tx1"/>
            </a:solidFill>
            <a:prstDash val="solid"/>
          </a:ln>
        </p:spPr>
      </p:sp>
      <p:sp>
        <p:nvSpPr>
          <p:cNvPr id="22" name="Shape 20"/>
          <p:cNvSpPr/>
          <p:nvPr/>
        </p:nvSpPr>
        <p:spPr>
          <a:xfrm>
            <a:off x="3063240" y="3611880"/>
            <a:ext cx="502920" cy="502920"/>
          </a:xfrm>
          <a:prstGeom prst="ellipse">
            <a:avLst/>
          </a:prstGeom>
          <a:solidFill>
            <a:schemeClr val="accent1"/>
          </a:solidFill>
          <a:ln w="19050">
            <a:solidFill>
              <a:schemeClr val="tx1"/>
            </a:solidFill>
            <a:prstDash val="solid"/>
          </a:ln>
        </p:spPr>
      </p:sp>
      <p:sp>
        <p:nvSpPr>
          <p:cNvPr id="23" name="Text 21"/>
          <p:cNvSpPr txBox="1"/>
          <p:nvPr/>
        </p:nvSpPr>
        <p:spPr>
          <a:xfrm>
            <a:off x="3063240" y="3611880"/>
            <a:ext cx="502920" cy="502920"/>
          </a:xfrm>
          <a:prstGeom prst="rect">
            <a:avLst/>
          </a:prstGeom>
          <a:noFill/>
          <a:ln/>
        </p:spPr>
        <p:txBody>
          <a:bodyPr wrap="square" lIns="0" tIns="0" rIns="0" bIns="0" rtlCol="0" anchor="ctr"/>
          <a:lstStyle/>
          <a:p>
            <a:pPr algn="ctr" indent="0" marL="0">
              <a:buNone/>
            </a:pPr>
            <a:r>
              <a:rPr lang="en-US" sz="1800" dirty="0">
                <a:solidFill>
                  <a:schemeClr val="bg2"/>
                </a:solidFill>
                <a:latin typeface="Rockwell Extra Bold" pitchFamily="34" charset="0"/>
                <a:ea typeface="Rockwell Extra Bold" pitchFamily="34" charset="-122"/>
                <a:cs typeface="Rockwell Extra Bold" pitchFamily="34" charset="-120"/>
              </a:rPr>
              <a:t>5</a:t>
            </a:r>
            <a:endParaRPr lang="en-US" sz="1800" dirty="0"/>
          </a:p>
        </p:txBody>
      </p:sp>
      <p:sp>
        <p:nvSpPr>
          <p:cNvPr id="24" name="Text 22"/>
          <p:cNvSpPr txBox="1"/>
          <p:nvPr/>
        </p:nvSpPr>
        <p:spPr>
          <a:xfrm>
            <a:off x="3063240" y="4251960"/>
            <a:ext cx="1920240" cy="868680"/>
          </a:xfrm>
          <a:prstGeom prst="rect">
            <a:avLst/>
          </a:prstGeom>
          <a:noFill/>
          <a:ln/>
        </p:spPr>
        <p:txBody>
          <a:bodyPr wrap="square" lIns="0" tIns="0" rIns="0" bIns="0" rtlCol="0" anchor="t"/>
          <a:lstStyle/>
          <a:p>
            <a:pPr indent="0" marL="0">
              <a:buNone/>
            </a:pPr>
            <a:r>
              <a:rPr lang="en-US" sz="1500" b="1" dirty="0">
                <a:solidFill>
                  <a:schemeClr val="tx1"/>
                </a:solidFill>
                <a:latin typeface="Arial" pitchFamily="34" charset="0"/>
                <a:ea typeface="Arial" pitchFamily="34" charset="-122"/>
                <a:cs typeface="Arial" pitchFamily="34" charset="-120"/>
              </a:rPr>
              <a:t>Rabattre en livret</a:t>
            </a:r>
            <a:endParaRPr lang="en-US" sz="1500" dirty="0"/>
          </a:p>
        </p:txBody>
      </p:sp>
      <p:sp>
        <p:nvSpPr>
          <p:cNvPr id="25" name="Shape 23"/>
          <p:cNvSpPr/>
          <p:nvPr/>
        </p:nvSpPr>
        <p:spPr>
          <a:xfrm>
            <a:off x="5303520" y="3474720"/>
            <a:ext cx="2194560" cy="1737360"/>
          </a:xfrm>
          <a:prstGeom prst="rect">
            <a:avLst/>
          </a:prstGeom>
          <a:solidFill>
            <a:schemeClr val="bg1"/>
          </a:solidFill>
          <a:ln w="25400">
            <a:solidFill>
              <a:schemeClr val="tx1"/>
            </a:solidFill>
            <a:prstDash val="solid"/>
          </a:ln>
        </p:spPr>
      </p:sp>
      <p:sp>
        <p:nvSpPr>
          <p:cNvPr id="26" name="Shape 24"/>
          <p:cNvSpPr/>
          <p:nvPr/>
        </p:nvSpPr>
        <p:spPr>
          <a:xfrm>
            <a:off x="5440680" y="3611880"/>
            <a:ext cx="502920" cy="502920"/>
          </a:xfrm>
          <a:prstGeom prst="ellipse">
            <a:avLst/>
          </a:prstGeom>
          <a:solidFill>
            <a:schemeClr val="accent1"/>
          </a:solidFill>
          <a:ln w="19050">
            <a:solidFill>
              <a:schemeClr val="tx1"/>
            </a:solidFill>
            <a:prstDash val="solid"/>
          </a:ln>
        </p:spPr>
      </p:sp>
      <p:sp>
        <p:nvSpPr>
          <p:cNvPr id="27" name="Text 25"/>
          <p:cNvSpPr txBox="1"/>
          <p:nvPr/>
        </p:nvSpPr>
        <p:spPr>
          <a:xfrm>
            <a:off x="5440680" y="3611880"/>
            <a:ext cx="502920" cy="502920"/>
          </a:xfrm>
          <a:prstGeom prst="rect">
            <a:avLst/>
          </a:prstGeom>
          <a:noFill/>
          <a:ln/>
        </p:spPr>
        <p:txBody>
          <a:bodyPr wrap="square" lIns="0" tIns="0" rIns="0" bIns="0" rtlCol="0" anchor="ctr"/>
          <a:lstStyle/>
          <a:p>
            <a:pPr algn="ctr" indent="0" marL="0">
              <a:buNone/>
            </a:pPr>
            <a:r>
              <a:rPr lang="en-US" sz="1800" dirty="0">
                <a:solidFill>
                  <a:schemeClr val="bg2"/>
                </a:solidFill>
                <a:latin typeface="Rockwell Extra Bold" pitchFamily="34" charset="0"/>
                <a:ea typeface="Rockwell Extra Bold" pitchFamily="34" charset="-122"/>
                <a:cs typeface="Rockwell Extra Bold" pitchFamily="34" charset="-120"/>
              </a:rPr>
              <a:t>6</a:t>
            </a:r>
            <a:endParaRPr lang="en-US" sz="1800" dirty="0"/>
          </a:p>
        </p:txBody>
      </p:sp>
      <p:sp>
        <p:nvSpPr>
          <p:cNvPr id="28" name="Text 26"/>
          <p:cNvSpPr txBox="1"/>
          <p:nvPr/>
        </p:nvSpPr>
        <p:spPr>
          <a:xfrm>
            <a:off x="5440680" y="4251960"/>
            <a:ext cx="1920240" cy="868680"/>
          </a:xfrm>
          <a:prstGeom prst="rect">
            <a:avLst/>
          </a:prstGeom>
          <a:noFill/>
          <a:ln/>
        </p:spPr>
        <p:txBody>
          <a:bodyPr wrap="square" lIns="0" tIns="0" rIns="0" bIns="0" rtlCol="0" anchor="t"/>
          <a:lstStyle/>
          <a:p>
            <a:pPr indent="0" marL="0">
              <a:buNone/>
            </a:pPr>
            <a:r>
              <a:rPr lang="en-US" sz="1500" b="1" dirty="0">
                <a:solidFill>
                  <a:schemeClr val="tx1"/>
                </a:solidFill>
                <a:latin typeface="Arial" pitchFamily="34" charset="0"/>
                <a:ea typeface="Arial" pitchFamily="34" charset="-122"/>
                <a:cs typeface="Arial" pitchFamily="34" charset="-120"/>
              </a:rPr>
              <a:t>Couverture sur le dessus</a:t>
            </a:r>
            <a:endParaRPr lang="en-US" sz="1500" dirty="0"/>
          </a:p>
        </p:txBody>
      </p:sp>
      <p:sp>
        <p:nvSpPr>
          <p:cNvPr id="29" name="Shape 27"/>
          <p:cNvSpPr/>
          <p:nvPr/>
        </p:nvSpPr>
        <p:spPr>
          <a:xfrm>
            <a:off x="7955280" y="1508760"/>
            <a:ext cx="3657600" cy="3840480"/>
          </a:xfrm>
          <a:prstGeom prst="rect">
            <a:avLst/>
          </a:prstGeom>
          <a:solidFill>
            <a:schemeClr val="tx1"/>
          </a:solidFill>
          <a:ln w="25400">
            <a:solidFill>
              <a:schemeClr val="tx1"/>
            </a:solidFill>
            <a:prstDash val="solid"/>
          </a:ln>
        </p:spPr>
      </p:sp>
      <p:sp>
        <p:nvSpPr>
          <p:cNvPr id="30" name="Text 28"/>
          <p:cNvSpPr txBox="1"/>
          <p:nvPr/>
        </p:nvSpPr>
        <p:spPr>
          <a:xfrm>
            <a:off x="8183880" y="1691640"/>
            <a:ext cx="3200400" cy="822960"/>
          </a:xfrm>
          <a:prstGeom prst="rect">
            <a:avLst/>
          </a:prstGeom>
          <a:noFill/>
          <a:ln/>
        </p:spPr>
        <p:txBody>
          <a:bodyPr wrap="square" lIns="0" tIns="0" rIns="0" bIns="0" rtlCol="0" anchor="t"/>
          <a:lstStyle/>
          <a:p>
            <a:pPr indent="0" marL="0">
              <a:buNone/>
            </a:pPr>
            <a:r>
              <a:rPr lang="en-US" sz="1800" dirty="0">
                <a:solidFill>
                  <a:schemeClr val="accent2"/>
                </a:solidFill>
                <a:latin typeface="Rockwell Extra Bold" pitchFamily="34" charset="0"/>
                <a:ea typeface="Rockwell Extra Bold" pitchFamily="34" charset="-122"/>
                <a:cs typeface="Rockwell Extra Bold" pitchFamily="34" charset="-120"/>
              </a:rPr>
              <a:t>Pourquoi commencer par du papier?</a:t>
            </a:r>
            <a:endParaRPr lang="en-US" sz="1800" dirty="0"/>
          </a:p>
        </p:txBody>
      </p:sp>
      <p:sp>
        <p:nvSpPr>
          <p:cNvPr id="31" name="Text 29"/>
          <p:cNvSpPr txBox="1"/>
          <p:nvPr/>
        </p:nvSpPr>
        <p:spPr>
          <a:xfrm>
            <a:off x="8183880" y="2606040"/>
            <a:ext cx="3200400" cy="2560320"/>
          </a:xfrm>
          <a:prstGeom prst="rect">
            <a:avLst/>
          </a:prstGeom>
          <a:noFill/>
          <a:ln/>
        </p:spPr>
        <p:txBody>
          <a:bodyPr wrap="square" lIns="0" tIns="0" rIns="0" bIns="0" rtlCol="0" anchor="t"/>
          <a:lstStyle/>
          <a:p>
            <a:pPr indent="0" marL="0">
              <a:buNone/>
            </a:pPr>
            <a:r>
              <a:rPr lang="en-US" sz="1500" dirty="0">
                <a:solidFill>
                  <a:schemeClr val="bg2"/>
                </a:solidFill>
                <a:latin typeface="Arial" pitchFamily="34" charset="0"/>
                <a:ea typeface="Arial" pitchFamily="34" charset="-122"/>
                <a:cs typeface="Arial" pitchFamily="34" charset="-120"/>
              </a:rPr>
              <a:t>Un geste manuel ralentit la salle, crée un objet commun et donne à chacun un carnet de 8 activités à remplir en cours de route.</a:t>
            </a:r>
            <a:endParaRPr lang="en-US" sz="15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1"/>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lIns="0" tIns="0" rIns="0" bIns="0" rtlCol="0" anchor="t"/>
          <a:lstStyle/>
          <a:p>
            <a:pPr algn="l" indent="0" marL="0">
              <a:buNone/>
            </a:pPr>
            <a:r>
              <a:rPr lang="en-US" sz="3600" dirty="0">
                <a:solidFill>
                  <a:schemeClr val="accent1"/>
                </a:solidFill>
              </a:rPr>
              <a:t>Activité 2 · La ligne qui bouge</a:t>
            </a:r>
            <a:endParaRPr lang="en-US" sz="3600" dirty="0"/>
          </a:p>
        </p:txBody>
      </p:sp>
      <p:sp>
        <p:nvSpPr>
          <p:cNvPr id="3" name="Shape 1"/>
          <p:cNvSpPr/>
          <p:nvPr/>
        </p:nvSpPr>
        <p:spPr>
          <a:xfrm>
            <a:off x="9966960" y="411480"/>
            <a:ext cx="1645920" cy="457200"/>
          </a:xfrm>
          <a:prstGeom prst="roundRect">
            <a:avLst>
              <a:gd name="adj" fmla="val 50000"/>
            </a:avLst>
          </a:prstGeom>
          <a:solidFill>
            <a:schemeClr val="tx1"/>
          </a:solidFill>
          <a:ln/>
        </p:spPr>
      </p:sp>
      <p:sp>
        <p:nvSpPr>
          <p:cNvPr id="4" name="Text 2"/>
          <p:cNvSpPr txBox="1"/>
          <p:nvPr/>
        </p:nvSpPr>
        <p:spPr>
          <a:xfrm>
            <a:off x="9966960" y="411480"/>
            <a:ext cx="1645920" cy="457200"/>
          </a:xfrm>
          <a:prstGeom prst="rect">
            <a:avLst/>
          </a:prstGeom>
          <a:noFill/>
          <a:ln/>
        </p:spPr>
        <p:txBody>
          <a:bodyPr wrap="square" lIns="0" tIns="0" rIns="0" bIns="0" rtlCol="0" anchor="ctr"/>
          <a:lstStyle/>
          <a:p>
            <a:pPr algn="ctr" indent="0" marL="0">
              <a:buNone/>
            </a:pPr>
            <a:r>
              <a:rPr lang="en-US" sz="1400" b="1" dirty="0">
                <a:solidFill>
                  <a:schemeClr val="bg2"/>
                </a:solidFill>
              </a:rPr>
              <a:t>⏱ 13 min</a:t>
            </a:r>
            <a:endParaRPr lang="en-US" sz="1400" dirty="0"/>
          </a:p>
        </p:txBody>
      </p:sp>
      <p:sp>
        <p:nvSpPr>
          <p:cNvPr id="5" name="Shape 3"/>
          <p:cNvSpPr/>
          <p:nvPr/>
        </p:nvSpPr>
        <p:spPr>
          <a:xfrm>
            <a:off x="822960" y="2331720"/>
            <a:ext cx="10515600" cy="0"/>
          </a:xfrm>
          <a:prstGeom prst="line">
            <a:avLst/>
          </a:prstGeom>
          <a:noFill/>
          <a:ln w="50800">
            <a:solidFill>
              <a:schemeClr val="tx1"/>
            </a:solidFill>
            <a:prstDash val="solid"/>
            <a:headEnd type="triangle"/>
            <a:tailEnd type="triangle"/>
          </a:ln>
        </p:spPr>
      </p:sp>
      <p:sp>
        <p:nvSpPr>
          <p:cNvPr id="6" name="Text 4"/>
          <p:cNvSpPr txBox="1"/>
          <p:nvPr/>
        </p:nvSpPr>
        <p:spPr>
          <a:xfrm>
            <a:off x="548640" y="1508760"/>
            <a:ext cx="3657600" cy="365760"/>
          </a:xfrm>
          <a:prstGeom prst="rect">
            <a:avLst/>
          </a:prstGeom>
          <a:noFill/>
          <a:ln/>
        </p:spPr>
        <p:txBody>
          <a:bodyPr wrap="square" lIns="0" tIns="0" rIns="0" bIns="0" rtlCol="0" anchor="t"/>
          <a:lstStyle/>
          <a:p>
            <a:pPr indent="0" marL="0">
              <a:buNone/>
            </a:pPr>
            <a:r>
              <a:rPr lang="en-US" sz="1300" b="1" dirty="0">
                <a:solidFill>
                  <a:schemeClr val="accent1"/>
                </a:solidFill>
                <a:latin typeface="Arial" pitchFamily="34" charset="0"/>
                <a:ea typeface="Arial" pitchFamily="34" charset="-122"/>
                <a:cs typeface="Arial" pitchFamily="34" charset="-120"/>
              </a:rPr>
              <a:t>TOTALEMENT D'ACCORD</a:t>
            </a:r>
            <a:endParaRPr lang="en-US" sz="1300" dirty="0"/>
          </a:p>
        </p:txBody>
      </p:sp>
      <p:sp>
        <p:nvSpPr>
          <p:cNvPr id="7" name="Text 5"/>
          <p:cNvSpPr txBox="1"/>
          <p:nvPr/>
        </p:nvSpPr>
        <p:spPr>
          <a:xfrm>
            <a:off x="8869680" y="1508760"/>
            <a:ext cx="2743200" cy="365760"/>
          </a:xfrm>
          <a:prstGeom prst="rect">
            <a:avLst/>
          </a:prstGeom>
          <a:noFill/>
          <a:ln/>
        </p:spPr>
        <p:txBody>
          <a:bodyPr wrap="square" lIns="0" tIns="0" rIns="0" bIns="0" rtlCol="0" anchor="t"/>
          <a:lstStyle/>
          <a:p>
            <a:pPr algn="r" indent="0" marL="0">
              <a:buNone/>
            </a:pPr>
            <a:r>
              <a:rPr lang="en-US" sz="1300" b="1" dirty="0">
                <a:solidFill>
                  <a:schemeClr val="accent1"/>
                </a:solidFill>
                <a:latin typeface="Arial" pitchFamily="34" charset="0"/>
                <a:ea typeface="Arial" pitchFamily="34" charset="-122"/>
                <a:cs typeface="Arial" pitchFamily="34" charset="-120"/>
              </a:rPr>
              <a:t>PAS DU TOUT</a:t>
            </a:r>
            <a:endParaRPr lang="en-US" sz="1300" dirty="0"/>
          </a:p>
        </p:txBody>
      </p:sp>
      <p:sp>
        <p:nvSpPr>
          <p:cNvPr id="8" name="Text 6"/>
          <p:cNvSpPr txBox="1"/>
          <p:nvPr/>
        </p:nvSpPr>
        <p:spPr>
          <a:xfrm>
            <a:off x="548640" y="2743200"/>
            <a:ext cx="5486400" cy="411480"/>
          </a:xfrm>
          <a:prstGeom prst="rect">
            <a:avLst/>
          </a:prstGeom>
          <a:noFill/>
          <a:ln/>
        </p:spPr>
        <p:txBody>
          <a:bodyPr wrap="square" lIns="0" tIns="0" rIns="0" bIns="0" rtlCol="0" anchor="t"/>
          <a:lstStyle/>
          <a:p>
            <a:pPr indent="0" marL="0">
              <a:buNone/>
            </a:pPr>
            <a:r>
              <a:rPr lang="en-US" sz="1800" dirty="0">
                <a:solidFill>
                  <a:schemeClr val="accent1"/>
                </a:solidFill>
                <a:latin typeface="Rockwell Extra Bold" pitchFamily="34" charset="0"/>
                <a:ea typeface="Rockwell Extra Bold" pitchFamily="34" charset="-122"/>
                <a:cs typeface="Rockwell Extra Bold" pitchFamily="34" charset="-120"/>
              </a:rPr>
              <a:t>Énoncés possibles</a:t>
            </a:r>
            <a:endParaRPr lang="en-US" sz="1800" dirty="0"/>
          </a:p>
        </p:txBody>
      </p:sp>
      <p:sp>
        <p:nvSpPr>
          <p:cNvPr id="9" name="Text 7"/>
          <p:cNvSpPr txBox="1"/>
          <p:nvPr/>
        </p:nvSpPr>
        <p:spPr>
          <a:xfrm>
            <a:off x="548640" y="3200400"/>
            <a:ext cx="5669280" cy="21031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latin typeface="Arial" pitchFamily="34" charset="0"/>
                <a:ea typeface="Arial" pitchFamily="34" charset="-122"/>
                <a:cs typeface="Arial" pitchFamily="34" charset="-120"/>
              </a:rPr>
              <a:t>« Le télétravail devrait être un droit. »</a:t>
            </a:r>
            <a:endParaRPr lang="en-US" sz="1600" dirty="0"/>
          </a:p>
          <a:p>
            <a:pPr marL="342900" indent="-342900">
              <a:spcAft>
                <a:spcPts val="800"/>
              </a:spcAft>
              <a:buSzPct val="100000"/>
              <a:buChar char="•"/>
            </a:pPr>
            <a:r>
              <a:rPr lang="en-US" sz="1600" dirty="0">
                <a:solidFill>
                  <a:schemeClr val="tx1"/>
                </a:solidFill>
                <a:latin typeface="Arial" pitchFamily="34" charset="0"/>
                <a:ea typeface="Arial" pitchFamily="34" charset="-122"/>
                <a:cs typeface="Arial" pitchFamily="34" charset="-120"/>
              </a:rPr>
              <a:t>« On devrait pouvoir parler politique au souper de famille. »</a:t>
            </a:r>
            <a:endParaRPr lang="en-US" sz="1600" dirty="0"/>
          </a:p>
          <a:p>
            <a:pPr marL="342900" indent="-342900">
              <a:spcAft>
                <a:spcPts val="800"/>
              </a:spcAft>
              <a:buSzPct val="100000"/>
              <a:buChar char="•"/>
            </a:pPr>
            <a:r>
              <a:rPr lang="en-US" sz="1600" dirty="0">
                <a:solidFill>
                  <a:schemeClr val="tx1"/>
                </a:solidFill>
                <a:latin typeface="Arial" pitchFamily="34" charset="0"/>
                <a:ea typeface="Arial" pitchFamily="34" charset="-122"/>
                <a:cs typeface="Arial" pitchFamily="34" charset="-120"/>
              </a:rPr>
              <a:t>« Un bon argument peut toujours être dit poliment. »</a:t>
            </a:r>
            <a:endParaRPr lang="en-US" sz="1600" dirty="0"/>
          </a:p>
          <a:p>
            <a:pPr marL="342900" indent="-342900">
              <a:spcAft>
                <a:spcPts val="800"/>
              </a:spcAft>
              <a:buSzPct val="100000"/>
              <a:buChar char="•"/>
            </a:pPr>
            <a:r>
              <a:rPr lang="en-US" sz="1600" dirty="0">
                <a:solidFill>
                  <a:schemeClr val="tx1"/>
                </a:solidFill>
                <a:latin typeface="Arial" pitchFamily="34" charset="0"/>
                <a:ea typeface="Arial" pitchFamily="34" charset="-122"/>
                <a:cs typeface="Arial" pitchFamily="34" charset="-120"/>
              </a:rPr>
              <a:t>« Changer d'avis, c'est perdre la face. »</a:t>
            </a:r>
            <a:endParaRPr lang="en-US" sz="1600" dirty="0"/>
          </a:p>
        </p:txBody>
      </p:sp>
      <p:sp>
        <p:nvSpPr>
          <p:cNvPr id="10" name="Shape 8"/>
          <p:cNvSpPr/>
          <p:nvPr/>
        </p:nvSpPr>
        <p:spPr>
          <a:xfrm>
            <a:off x="6675120" y="2743200"/>
            <a:ext cx="4937760" cy="3017520"/>
          </a:xfrm>
          <a:prstGeom prst="rect">
            <a:avLst/>
          </a:prstGeom>
          <a:solidFill>
            <a:schemeClr val="tx1"/>
          </a:solidFill>
          <a:ln w="25400">
            <a:solidFill>
              <a:schemeClr val="tx1"/>
            </a:solidFill>
            <a:prstDash val="solid"/>
          </a:ln>
        </p:spPr>
      </p:sp>
      <p:sp>
        <p:nvSpPr>
          <p:cNvPr id="11" name="Text 9"/>
          <p:cNvSpPr txBox="1"/>
          <p:nvPr/>
        </p:nvSpPr>
        <p:spPr>
          <a:xfrm>
            <a:off x="6903720" y="2926080"/>
            <a:ext cx="4572000" cy="457200"/>
          </a:xfrm>
          <a:prstGeom prst="rect">
            <a:avLst/>
          </a:prstGeom>
          <a:noFill/>
          <a:ln/>
        </p:spPr>
        <p:txBody>
          <a:bodyPr wrap="square" lIns="0" tIns="0" rIns="0" bIns="0" rtlCol="0" anchor="t"/>
          <a:lstStyle/>
          <a:p>
            <a:pPr indent="0" marL="0">
              <a:buNone/>
            </a:pPr>
            <a:r>
              <a:rPr lang="en-US" sz="2000" dirty="0">
                <a:solidFill>
                  <a:schemeClr val="accent2"/>
                </a:solidFill>
                <a:latin typeface="Rockwell Extra Bold" pitchFamily="34" charset="0"/>
                <a:ea typeface="Rockwell Extra Bold" pitchFamily="34" charset="-122"/>
                <a:cs typeface="Rockwell Extra Bold" pitchFamily="34" charset="-120"/>
              </a:rPr>
              <a:t>La règle surprise</a:t>
            </a:r>
            <a:endParaRPr lang="en-US" sz="2000" dirty="0"/>
          </a:p>
        </p:txBody>
      </p:sp>
      <p:sp>
        <p:nvSpPr>
          <p:cNvPr id="12" name="Text 10"/>
          <p:cNvSpPr txBox="1"/>
          <p:nvPr/>
        </p:nvSpPr>
        <p:spPr>
          <a:xfrm>
            <a:off x="6903720" y="3474720"/>
            <a:ext cx="4480560" cy="2103120"/>
          </a:xfrm>
          <a:prstGeom prst="rect">
            <a:avLst/>
          </a:prstGeom>
          <a:noFill/>
          <a:ln/>
        </p:spPr>
        <p:txBody>
          <a:bodyPr wrap="square" lIns="0" tIns="0" rIns="0" bIns="0" rtlCol="0" anchor="t"/>
          <a:lstStyle/>
          <a:p>
            <a:pPr indent="0" marL="0">
              <a:buNone/>
            </a:pPr>
            <a:r>
              <a:rPr lang="en-US" sz="1600" dirty="0">
                <a:solidFill>
                  <a:schemeClr val="bg2"/>
                </a:solidFill>
                <a:latin typeface="Arial" pitchFamily="34" charset="0"/>
                <a:ea typeface="Arial" pitchFamily="34" charset="-122"/>
                <a:cs typeface="Arial" pitchFamily="34" charset="-120"/>
              </a:rPr>
              <a:t>On ne peut bouger que si quelqu'un d'autre nous a fait bouger. Puis, au signal « Change de bord! », chacun va défendre la position opposée à la sienne pendant 1 minute.</a:t>
            </a:r>
            <a:endParaRPr lang="en-US" sz="16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1"/>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lIns="0" tIns="0" rIns="0" bIns="0" rtlCol="0" anchor="t"/>
          <a:lstStyle/>
          <a:p>
            <a:pPr algn="l" indent="0" marL="0">
              <a:buNone/>
            </a:pPr>
            <a:r>
              <a:rPr lang="en-US" sz="3600" dirty="0">
                <a:solidFill>
                  <a:schemeClr val="accent1"/>
                </a:solidFill>
              </a:rPr>
              <a:t>Activité 3 · La course à trois jambes</a:t>
            </a:r>
            <a:endParaRPr lang="en-US" sz="3600" dirty="0"/>
          </a:p>
        </p:txBody>
      </p:sp>
      <p:sp>
        <p:nvSpPr>
          <p:cNvPr id="3" name="Shape 1"/>
          <p:cNvSpPr/>
          <p:nvPr/>
        </p:nvSpPr>
        <p:spPr>
          <a:xfrm>
            <a:off x="9966960" y="411480"/>
            <a:ext cx="1645920" cy="457200"/>
          </a:xfrm>
          <a:prstGeom prst="roundRect">
            <a:avLst>
              <a:gd name="adj" fmla="val 50000"/>
            </a:avLst>
          </a:prstGeom>
          <a:solidFill>
            <a:schemeClr val="tx1"/>
          </a:solidFill>
          <a:ln/>
        </p:spPr>
      </p:sp>
      <p:sp>
        <p:nvSpPr>
          <p:cNvPr id="4" name="Text 2"/>
          <p:cNvSpPr txBox="1"/>
          <p:nvPr/>
        </p:nvSpPr>
        <p:spPr>
          <a:xfrm>
            <a:off x="9966960" y="411480"/>
            <a:ext cx="1645920" cy="457200"/>
          </a:xfrm>
          <a:prstGeom prst="rect">
            <a:avLst/>
          </a:prstGeom>
          <a:noFill/>
          <a:ln/>
        </p:spPr>
        <p:txBody>
          <a:bodyPr wrap="square" lIns="0" tIns="0" rIns="0" bIns="0" rtlCol="0" anchor="ctr"/>
          <a:lstStyle/>
          <a:p>
            <a:pPr algn="ctr" indent="0" marL="0">
              <a:buNone/>
            </a:pPr>
            <a:r>
              <a:rPr lang="en-US" sz="1400" b="1" dirty="0">
                <a:solidFill>
                  <a:schemeClr val="bg2"/>
                </a:solidFill>
              </a:rPr>
              <a:t>⏱ 12 min</a:t>
            </a:r>
            <a:endParaRPr lang="en-US" sz="1400" dirty="0"/>
          </a:p>
        </p:txBody>
      </p:sp>
      <p:sp>
        <p:nvSpPr>
          <p:cNvPr id="5" name="Shape 3"/>
          <p:cNvSpPr/>
          <p:nvPr/>
        </p:nvSpPr>
        <p:spPr>
          <a:xfrm>
            <a:off x="548640" y="1325880"/>
            <a:ext cx="548640" cy="548640"/>
          </a:xfrm>
          <a:prstGeom prst="ellipse">
            <a:avLst/>
          </a:prstGeom>
          <a:solidFill>
            <a:schemeClr val="accent1"/>
          </a:solidFill>
          <a:ln w="19050">
            <a:solidFill>
              <a:schemeClr val="tx1"/>
            </a:solidFill>
            <a:prstDash val="solid"/>
          </a:ln>
        </p:spPr>
      </p:sp>
      <p:sp>
        <p:nvSpPr>
          <p:cNvPr id="6" name="Text 4"/>
          <p:cNvSpPr txBox="1"/>
          <p:nvPr/>
        </p:nvSpPr>
        <p:spPr>
          <a:xfrm>
            <a:off x="548640" y="1325880"/>
            <a:ext cx="548640" cy="548640"/>
          </a:xfrm>
          <a:prstGeom prst="rect">
            <a:avLst/>
          </a:prstGeom>
          <a:noFill/>
          <a:ln/>
        </p:spPr>
        <p:txBody>
          <a:bodyPr wrap="square" lIns="0" tIns="0" rIns="0" bIns="0" rtlCol="0" anchor="ctr"/>
          <a:lstStyle/>
          <a:p>
            <a:pPr algn="ctr" indent="0" marL="0">
              <a:buNone/>
            </a:pPr>
            <a:r>
              <a:rPr lang="en-US" sz="2000" dirty="0">
                <a:solidFill>
                  <a:schemeClr val="bg2"/>
                </a:solidFill>
                <a:latin typeface="Rockwell Extra Bold" pitchFamily="34" charset="0"/>
                <a:ea typeface="Rockwell Extra Bold" pitchFamily="34" charset="-122"/>
                <a:cs typeface="Rockwell Extra Bold" pitchFamily="34" charset="-120"/>
              </a:rPr>
              <a:t>1</a:t>
            </a:r>
            <a:endParaRPr lang="en-US" sz="2000" dirty="0"/>
          </a:p>
        </p:txBody>
      </p:sp>
      <p:sp>
        <p:nvSpPr>
          <p:cNvPr id="7" name="Text 5"/>
          <p:cNvSpPr txBox="1"/>
          <p:nvPr/>
        </p:nvSpPr>
        <p:spPr>
          <a:xfrm>
            <a:off x="1280160" y="1344168"/>
            <a:ext cx="2286000" cy="502920"/>
          </a:xfrm>
          <a:prstGeom prst="rect">
            <a:avLst/>
          </a:prstGeom>
          <a:noFill/>
          <a:ln/>
        </p:spPr>
        <p:txBody>
          <a:bodyPr wrap="square" lIns="0" tIns="0" rIns="0" bIns="0" rtlCol="0" anchor="ctr"/>
          <a:lstStyle/>
          <a:p>
            <a:pPr indent="0" marL="0">
              <a:buNone/>
            </a:pPr>
            <a:r>
              <a:rPr lang="en-US" sz="1700" dirty="0">
                <a:solidFill>
                  <a:schemeClr val="accent1"/>
                </a:solidFill>
                <a:latin typeface="Rockwell Extra Bold" pitchFamily="34" charset="0"/>
                <a:ea typeface="Rockwell Extra Bold" pitchFamily="34" charset="-122"/>
                <a:cs typeface="Rockwell Extra Bold" pitchFamily="34" charset="-120"/>
              </a:rPr>
              <a:t>Duos opposés</a:t>
            </a:r>
            <a:endParaRPr lang="en-US" sz="1700" dirty="0"/>
          </a:p>
        </p:txBody>
      </p:sp>
      <p:sp>
        <p:nvSpPr>
          <p:cNvPr id="8" name="Text 6"/>
          <p:cNvSpPr txBox="1"/>
          <p:nvPr/>
        </p:nvSpPr>
        <p:spPr>
          <a:xfrm>
            <a:off x="3566160" y="1289304"/>
            <a:ext cx="4206240" cy="868680"/>
          </a:xfrm>
          <a:prstGeom prst="rect">
            <a:avLst/>
          </a:prstGeom>
          <a:noFill/>
          <a:ln/>
        </p:spPr>
        <p:txBody>
          <a:bodyPr wrap="square" lIns="0" tIns="0" rIns="0" bIns="0" rtlCol="0" anchor="ctr"/>
          <a:lstStyle/>
          <a:p>
            <a:pPr indent="0" marL="0">
              <a:buNone/>
            </a:pPr>
            <a:r>
              <a:rPr lang="en-US" sz="1400" dirty="0">
                <a:solidFill>
                  <a:schemeClr val="tx1"/>
                </a:solidFill>
                <a:latin typeface="Arial" pitchFamily="34" charset="0"/>
                <a:ea typeface="Arial" pitchFamily="34" charset="-122"/>
                <a:cs typeface="Arial" pitchFamily="34" charset="-120"/>
              </a:rPr>
              <a:t>Un de chaque bout de la ligne qui bouge. Bras dessus, bras dessous.</a:t>
            </a:r>
            <a:endParaRPr lang="en-US" sz="1400" dirty="0"/>
          </a:p>
        </p:txBody>
      </p:sp>
      <p:sp>
        <p:nvSpPr>
          <p:cNvPr id="9" name="Shape 7"/>
          <p:cNvSpPr/>
          <p:nvPr/>
        </p:nvSpPr>
        <p:spPr>
          <a:xfrm>
            <a:off x="548640" y="2258568"/>
            <a:ext cx="548640" cy="548640"/>
          </a:xfrm>
          <a:prstGeom prst="ellipse">
            <a:avLst/>
          </a:prstGeom>
          <a:solidFill>
            <a:schemeClr val="accent1"/>
          </a:solidFill>
          <a:ln w="19050">
            <a:solidFill>
              <a:schemeClr val="tx1"/>
            </a:solidFill>
            <a:prstDash val="solid"/>
          </a:ln>
        </p:spPr>
      </p:sp>
      <p:sp>
        <p:nvSpPr>
          <p:cNvPr id="10" name="Text 8"/>
          <p:cNvSpPr txBox="1"/>
          <p:nvPr/>
        </p:nvSpPr>
        <p:spPr>
          <a:xfrm>
            <a:off x="548640" y="2258568"/>
            <a:ext cx="548640" cy="548640"/>
          </a:xfrm>
          <a:prstGeom prst="rect">
            <a:avLst/>
          </a:prstGeom>
          <a:noFill/>
          <a:ln/>
        </p:spPr>
        <p:txBody>
          <a:bodyPr wrap="square" lIns="0" tIns="0" rIns="0" bIns="0" rtlCol="0" anchor="ctr"/>
          <a:lstStyle/>
          <a:p>
            <a:pPr algn="ctr" indent="0" marL="0">
              <a:buNone/>
            </a:pPr>
            <a:r>
              <a:rPr lang="en-US" sz="2000" dirty="0">
                <a:solidFill>
                  <a:schemeClr val="bg2"/>
                </a:solidFill>
                <a:latin typeface="Rockwell Extra Bold" pitchFamily="34" charset="0"/>
                <a:ea typeface="Rockwell Extra Bold" pitchFamily="34" charset="-122"/>
                <a:cs typeface="Rockwell Extra Bold" pitchFamily="34" charset="-120"/>
              </a:rPr>
              <a:t>2</a:t>
            </a:r>
            <a:endParaRPr lang="en-US" sz="2000" dirty="0"/>
          </a:p>
        </p:txBody>
      </p:sp>
      <p:sp>
        <p:nvSpPr>
          <p:cNvPr id="11" name="Text 9"/>
          <p:cNvSpPr txBox="1"/>
          <p:nvPr/>
        </p:nvSpPr>
        <p:spPr>
          <a:xfrm>
            <a:off x="1280160" y="2276856"/>
            <a:ext cx="2286000" cy="502920"/>
          </a:xfrm>
          <a:prstGeom prst="rect">
            <a:avLst/>
          </a:prstGeom>
          <a:noFill/>
          <a:ln/>
        </p:spPr>
        <p:txBody>
          <a:bodyPr wrap="square" lIns="0" tIns="0" rIns="0" bIns="0" rtlCol="0" anchor="ctr"/>
          <a:lstStyle/>
          <a:p>
            <a:pPr indent="0" marL="0">
              <a:buNone/>
            </a:pPr>
            <a:r>
              <a:rPr lang="en-US" sz="1700" dirty="0">
                <a:solidFill>
                  <a:schemeClr val="accent1"/>
                </a:solidFill>
                <a:latin typeface="Rockwell Extra Bold" pitchFamily="34" charset="0"/>
                <a:ea typeface="Rockwell Extra Bold" pitchFamily="34" charset="-122"/>
                <a:cs typeface="Rockwell Extra Bold" pitchFamily="34" charset="-120"/>
              </a:rPr>
              <a:t>Départ</a:t>
            </a:r>
            <a:endParaRPr lang="en-US" sz="1700" dirty="0"/>
          </a:p>
        </p:txBody>
      </p:sp>
      <p:sp>
        <p:nvSpPr>
          <p:cNvPr id="12" name="Text 10"/>
          <p:cNvSpPr txBox="1"/>
          <p:nvPr/>
        </p:nvSpPr>
        <p:spPr>
          <a:xfrm>
            <a:off x="3566160" y="2221992"/>
            <a:ext cx="4206240" cy="868680"/>
          </a:xfrm>
          <a:prstGeom prst="rect">
            <a:avLst/>
          </a:prstGeom>
          <a:noFill/>
          <a:ln/>
        </p:spPr>
        <p:txBody>
          <a:bodyPr wrap="square" lIns="0" tIns="0" rIns="0" bIns="0" rtlCol="0" anchor="ctr"/>
          <a:lstStyle/>
          <a:p>
            <a:pPr indent="0" marL="0">
              <a:buNone/>
            </a:pPr>
            <a:r>
              <a:rPr lang="en-US" sz="1400" dirty="0">
                <a:solidFill>
                  <a:schemeClr val="tx1"/>
                </a:solidFill>
                <a:latin typeface="Arial" pitchFamily="34" charset="0"/>
                <a:ea typeface="Arial" pitchFamily="34" charset="-122"/>
                <a:cs typeface="Arial" pitchFamily="34" charset="-120"/>
              </a:rPr>
              <a:t>Tous les duos au fond de la salle, face au tableau.</a:t>
            </a:r>
            <a:endParaRPr lang="en-US" sz="1400" dirty="0"/>
          </a:p>
        </p:txBody>
      </p:sp>
      <p:sp>
        <p:nvSpPr>
          <p:cNvPr id="13" name="Shape 11"/>
          <p:cNvSpPr/>
          <p:nvPr/>
        </p:nvSpPr>
        <p:spPr>
          <a:xfrm>
            <a:off x="548640" y="3191256"/>
            <a:ext cx="548640" cy="548640"/>
          </a:xfrm>
          <a:prstGeom prst="ellipse">
            <a:avLst/>
          </a:prstGeom>
          <a:solidFill>
            <a:schemeClr val="accent2"/>
          </a:solidFill>
          <a:ln w="19050">
            <a:solidFill>
              <a:schemeClr val="tx1"/>
            </a:solidFill>
            <a:prstDash val="solid"/>
          </a:ln>
        </p:spPr>
      </p:sp>
      <p:sp>
        <p:nvSpPr>
          <p:cNvPr id="14" name="Text 12"/>
          <p:cNvSpPr txBox="1"/>
          <p:nvPr/>
        </p:nvSpPr>
        <p:spPr>
          <a:xfrm>
            <a:off x="548640" y="3191256"/>
            <a:ext cx="548640" cy="548640"/>
          </a:xfrm>
          <a:prstGeom prst="rect">
            <a:avLst/>
          </a:prstGeom>
          <a:noFill/>
          <a:ln/>
        </p:spPr>
        <p:txBody>
          <a:bodyPr wrap="square" lIns="0" tIns="0" rIns="0" bIns="0" rtlCol="0" anchor="ctr"/>
          <a:lstStyle/>
          <a:p>
            <a:pPr algn="ctr" indent="0" marL="0">
              <a:buNone/>
            </a:pPr>
            <a:r>
              <a:rPr lang="en-US" sz="2000" dirty="0">
                <a:solidFill>
                  <a:schemeClr val="tx1"/>
                </a:solidFill>
                <a:latin typeface="Rockwell Extra Bold" pitchFamily="34" charset="0"/>
                <a:ea typeface="Rockwell Extra Bold" pitchFamily="34" charset="-122"/>
                <a:cs typeface="Rockwell Extra Bold" pitchFamily="34" charset="-120"/>
              </a:rPr>
              <a:t>3</a:t>
            </a:r>
            <a:endParaRPr lang="en-US" sz="2000" dirty="0"/>
          </a:p>
        </p:txBody>
      </p:sp>
      <p:sp>
        <p:nvSpPr>
          <p:cNvPr id="15" name="Text 13"/>
          <p:cNvSpPr txBox="1"/>
          <p:nvPr/>
        </p:nvSpPr>
        <p:spPr>
          <a:xfrm>
            <a:off x="1280160" y="3209544"/>
            <a:ext cx="2286000" cy="502920"/>
          </a:xfrm>
          <a:prstGeom prst="rect">
            <a:avLst/>
          </a:prstGeom>
          <a:noFill/>
          <a:ln/>
        </p:spPr>
        <p:txBody>
          <a:bodyPr wrap="square" lIns="0" tIns="0" rIns="0" bIns="0" rtlCol="0" anchor="ctr"/>
          <a:lstStyle/>
          <a:p>
            <a:pPr indent="0" marL="0">
              <a:buNone/>
            </a:pPr>
            <a:r>
              <a:rPr lang="en-US" sz="1700" dirty="0">
                <a:solidFill>
                  <a:schemeClr val="accent1"/>
                </a:solidFill>
                <a:latin typeface="Rockwell Extra Bold" pitchFamily="34" charset="0"/>
                <a:ea typeface="Rockwell Extra Bold" pitchFamily="34" charset="-122"/>
                <a:cs typeface="Rockwell Extra Bold" pitchFamily="34" charset="-120"/>
              </a:rPr>
              <a:t>Un accord = un pas</a:t>
            </a:r>
            <a:endParaRPr lang="en-US" sz="1700" dirty="0"/>
          </a:p>
        </p:txBody>
      </p:sp>
      <p:sp>
        <p:nvSpPr>
          <p:cNvPr id="16" name="Text 14"/>
          <p:cNvSpPr txBox="1"/>
          <p:nvPr/>
        </p:nvSpPr>
        <p:spPr>
          <a:xfrm>
            <a:off x="3566160" y="3154680"/>
            <a:ext cx="4206240" cy="868680"/>
          </a:xfrm>
          <a:prstGeom prst="rect">
            <a:avLst/>
          </a:prstGeom>
          <a:noFill/>
          <a:ln/>
        </p:spPr>
        <p:txBody>
          <a:bodyPr wrap="square" lIns="0" tIns="0" rIns="0" bIns="0" rtlCol="0" anchor="ctr"/>
          <a:lstStyle/>
          <a:p>
            <a:pPr indent="0" marL="0">
              <a:buNone/>
            </a:pPr>
            <a:r>
              <a:rPr lang="en-US" sz="1400" dirty="0">
                <a:solidFill>
                  <a:schemeClr val="tx1"/>
                </a:solidFill>
                <a:latin typeface="Arial" pitchFamily="34" charset="0"/>
                <a:ea typeface="Arial" pitchFamily="34" charset="-122"/>
                <a:cs typeface="Arial" pitchFamily="34" charset="-120"/>
              </a:rPr>
              <a:t>Énonce un point d'accord sincère sur le sujet. Si l'autre dit « d'accord », le duo avance d'un pas.</a:t>
            </a:r>
            <a:endParaRPr lang="en-US" sz="1400" dirty="0"/>
          </a:p>
        </p:txBody>
      </p:sp>
      <p:sp>
        <p:nvSpPr>
          <p:cNvPr id="17" name="Shape 15"/>
          <p:cNvSpPr/>
          <p:nvPr/>
        </p:nvSpPr>
        <p:spPr>
          <a:xfrm>
            <a:off x="548640" y="4123944"/>
            <a:ext cx="548640" cy="548640"/>
          </a:xfrm>
          <a:prstGeom prst="ellipse">
            <a:avLst/>
          </a:prstGeom>
          <a:solidFill>
            <a:schemeClr val="accent1"/>
          </a:solidFill>
          <a:ln w="19050">
            <a:solidFill>
              <a:schemeClr val="tx1"/>
            </a:solidFill>
            <a:prstDash val="solid"/>
          </a:ln>
        </p:spPr>
      </p:sp>
      <p:sp>
        <p:nvSpPr>
          <p:cNvPr id="18" name="Text 16"/>
          <p:cNvSpPr txBox="1"/>
          <p:nvPr/>
        </p:nvSpPr>
        <p:spPr>
          <a:xfrm>
            <a:off x="548640" y="4123944"/>
            <a:ext cx="548640" cy="548640"/>
          </a:xfrm>
          <a:prstGeom prst="rect">
            <a:avLst/>
          </a:prstGeom>
          <a:noFill/>
          <a:ln/>
        </p:spPr>
        <p:txBody>
          <a:bodyPr wrap="square" lIns="0" tIns="0" rIns="0" bIns="0" rtlCol="0" anchor="ctr"/>
          <a:lstStyle/>
          <a:p>
            <a:pPr algn="ctr" indent="0" marL="0">
              <a:buNone/>
            </a:pPr>
            <a:r>
              <a:rPr lang="en-US" sz="2000" dirty="0">
                <a:solidFill>
                  <a:schemeClr val="bg2"/>
                </a:solidFill>
                <a:latin typeface="Rockwell Extra Bold" pitchFamily="34" charset="0"/>
                <a:ea typeface="Rockwell Extra Bold" pitchFamily="34" charset="-122"/>
                <a:cs typeface="Rockwell Extra Bold" pitchFamily="34" charset="-120"/>
              </a:rPr>
              <a:t>4</a:t>
            </a:r>
            <a:endParaRPr lang="en-US" sz="2000" dirty="0"/>
          </a:p>
        </p:txBody>
      </p:sp>
      <p:sp>
        <p:nvSpPr>
          <p:cNvPr id="19" name="Text 17"/>
          <p:cNvSpPr txBox="1"/>
          <p:nvPr/>
        </p:nvSpPr>
        <p:spPr>
          <a:xfrm>
            <a:off x="1280160" y="4142232"/>
            <a:ext cx="2286000" cy="502920"/>
          </a:xfrm>
          <a:prstGeom prst="rect">
            <a:avLst/>
          </a:prstGeom>
          <a:noFill/>
          <a:ln/>
        </p:spPr>
        <p:txBody>
          <a:bodyPr wrap="square" lIns="0" tIns="0" rIns="0" bIns="0" rtlCol="0" anchor="ctr"/>
          <a:lstStyle/>
          <a:p>
            <a:pPr indent="0" marL="0">
              <a:buNone/>
            </a:pPr>
            <a:r>
              <a:rPr lang="en-US" sz="1700" dirty="0">
                <a:solidFill>
                  <a:schemeClr val="accent1"/>
                </a:solidFill>
                <a:latin typeface="Rockwell Extra Bold" pitchFamily="34" charset="0"/>
                <a:ea typeface="Rockwell Extra Bold" pitchFamily="34" charset="-122"/>
                <a:cs typeface="Rockwell Extra Bold" pitchFamily="34" charset="-120"/>
              </a:rPr>
              <a:t>« Trop facile! »</a:t>
            </a:r>
            <a:endParaRPr lang="en-US" sz="1700" dirty="0"/>
          </a:p>
        </p:txBody>
      </p:sp>
      <p:sp>
        <p:nvSpPr>
          <p:cNvPr id="20" name="Text 18"/>
          <p:cNvSpPr txBox="1"/>
          <p:nvPr/>
        </p:nvSpPr>
        <p:spPr>
          <a:xfrm>
            <a:off x="3566160" y="4087368"/>
            <a:ext cx="4206240" cy="868680"/>
          </a:xfrm>
          <a:prstGeom prst="rect">
            <a:avLst/>
          </a:prstGeom>
          <a:noFill/>
          <a:ln/>
        </p:spPr>
        <p:txBody>
          <a:bodyPr wrap="square" lIns="0" tIns="0" rIns="0" bIns="0" rtlCol="0" anchor="ctr"/>
          <a:lstStyle/>
          <a:p>
            <a:pPr indent="0" marL="0">
              <a:buNone/>
            </a:pPr>
            <a:r>
              <a:rPr lang="en-US" sz="1400" dirty="0">
                <a:solidFill>
                  <a:schemeClr val="tx1"/>
                </a:solidFill>
                <a:latin typeface="Arial" pitchFamily="34" charset="0"/>
                <a:ea typeface="Arial" pitchFamily="34" charset="-122"/>
                <a:cs typeface="Arial" pitchFamily="34" charset="-120"/>
              </a:rPr>
              <a:t>Le groupe peut crier « Trop facile! » sur un accord banal (« on veut tous être heureux »). Pas refusé.</a:t>
            </a:r>
            <a:endParaRPr lang="en-US" sz="1400" dirty="0"/>
          </a:p>
        </p:txBody>
      </p:sp>
      <p:sp>
        <p:nvSpPr>
          <p:cNvPr id="21" name="Shape 19"/>
          <p:cNvSpPr/>
          <p:nvPr/>
        </p:nvSpPr>
        <p:spPr>
          <a:xfrm>
            <a:off x="548640" y="5056632"/>
            <a:ext cx="548640" cy="548640"/>
          </a:xfrm>
          <a:prstGeom prst="ellipse">
            <a:avLst/>
          </a:prstGeom>
          <a:solidFill>
            <a:schemeClr val="accent1"/>
          </a:solidFill>
          <a:ln w="19050">
            <a:solidFill>
              <a:schemeClr val="tx1"/>
            </a:solidFill>
            <a:prstDash val="solid"/>
          </a:ln>
        </p:spPr>
      </p:sp>
      <p:sp>
        <p:nvSpPr>
          <p:cNvPr id="22" name="Text 20"/>
          <p:cNvSpPr txBox="1"/>
          <p:nvPr/>
        </p:nvSpPr>
        <p:spPr>
          <a:xfrm>
            <a:off x="548640" y="5056632"/>
            <a:ext cx="548640" cy="548640"/>
          </a:xfrm>
          <a:prstGeom prst="rect">
            <a:avLst/>
          </a:prstGeom>
          <a:noFill/>
          <a:ln/>
        </p:spPr>
        <p:txBody>
          <a:bodyPr wrap="square" lIns="0" tIns="0" rIns="0" bIns="0" rtlCol="0" anchor="ctr"/>
          <a:lstStyle/>
          <a:p>
            <a:pPr algn="ctr" indent="0" marL="0">
              <a:buNone/>
            </a:pPr>
            <a:r>
              <a:rPr lang="en-US" sz="2000" dirty="0">
                <a:solidFill>
                  <a:schemeClr val="bg2"/>
                </a:solidFill>
                <a:latin typeface="Rockwell Extra Bold" pitchFamily="34" charset="0"/>
                <a:ea typeface="Rockwell Extra Bold" pitchFamily="34" charset="-122"/>
                <a:cs typeface="Rockwell Extra Bold" pitchFamily="34" charset="-120"/>
              </a:rPr>
              <a:t>5</a:t>
            </a:r>
            <a:endParaRPr lang="en-US" sz="2000" dirty="0"/>
          </a:p>
        </p:txBody>
      </p:sp>
      <p:sp>
        <p:nvSpPr>
          <p:cNvPr id="23" name="Text 21"/>
          <p:cNvSpPr txBox="1"/>
          <p:nvPr/>
        </p:nvSpPr>
        <p:spPr>
          <a:xfrm>
            <a:off x="1280160" y="5074920"/>
            <a:ext cx="2286000" cy="502920"/>
          </a:xfrm>
          <a:prstGeom prst="rect">
            <a:avLst/>
          </a:prstGeom>
          <a:noFill/>
          <a:ln/>
        </p:spPr>
        <p:txBody>
          <a:bodyPr wrap="square" lIns="0" tIns="0" rIns="0" bIns="0" rtlCol="0" anchor="ctr"/>
          <a:lstStyle/>
          <a:p>
            <a:pPr indent="0" marL="0">
              <a:buNone/>
            </a:pPr>
            <a:r>
              <a:rPr lang="en-US" sz="1700" dirty="0">
                <a:solidFill>
                  <a:schemeClr val="accent1"/>
                </a:solidFill>
                <a:latin typeface="Rockwell Extra Bold" pitchFamily="34" charset="0"/>
                <a:ea typeface="Rockwell Extra Bold" pitchFamily="34" charset="-122"/>
                <a:cs typeface="Rockwell Extra Bold" pitchFamily="34" charset="-120"/>
              </a:rPr>
              <a:t>Le mur</a:t>
            </a:r>
            <a:endParaRPr lang="en-US" sz="1700" dirty="0"/>
          </a:p>
        </p:txBody>
      </p:sp>
      <p:sp>
        <p:nvSpPr>
          <p:cNvPr id="24" name="Text 22"/>
          <p:cNvSpPr txBox="1"/>
          <p:nvPr/>
        </p:nvSpPr>
        <p:spPr>
          <a:xfrm>
            <a:off x="3566160" y="5020056"/>
            <a:ext cx="4206240" cy="868680"/>
          </a:xfrm>
          <a:prstGeom prst="rect">
            <a:avLst/>
          </a:prstGeom>
          <a:noFill/>
          <a:ln/>
        </p:spPr>
        <p:txBody>
          <a:bodyPr wrap="square" lIns="0" tIns="0" rIns="0" bIns="0" rtlCol="0" anchor="ctr"/>
          <a:lstStyle/>
          <a:p>
            <a:pPr indent="0" marL="0">
              <a:buNone/>
            </a:pPr>
            <a:r>
              <a:rPr lang="en-US" sz="1400" dirty="0">
                <a:solidFill>
                  <a:schemeClr val="tx1"/>
                </a:solidFill>
                <a:latin typeface="Arial" pitchFamily="34" charset="0"/>
                <a:ea typeface="Arial" pitchFamily="34" charset="-122"/>
                <a:cs typeface="Arial" pitchFamily="34" charset="-120"/>
              </a:rPr>
              <a:t>Premier duo arrivé : il écrit sa phrase commune au tableau, puis la lit.</a:t>
            </a:r>
            <a:endParaRPr lang="en-US" sz="1400" dirty="0"/>
          </a:p>
        </p:txBody>
      </p:sp>
      <p:sp>
        <p:nvSpPr>
          <p:cNvPr id="25" name="Shape 23"/>
          <p:cNvSpPr/>
          <p:nvPr/>
        </p:nvSpPr>
        <p:spPr>
          <a:xfrm>
            <a:off x="8138160" y="1325880"/>
            <a:ext cx="3474720" cy="4572000"/>
          </a:xfrm>
          <a:prstGeom prst="rect">
            <a:avLst/>
          </a:prstGeom>
          <a:solidFill>
            <a:schemeClr val="tx1"/>
          </a:solidFill>
          <a:ln w="25400">
            <a:solidFill>
              <a:schemeClr val="tx1"/>
            </a:solidFill>
            <a:prstDash val="solid"/>
          </a:ln>
        </p:spPr>
      </p:sp>
      <p:pic>
        <p:nvPicPr>
          <p:cNvPr id="26" name="Image 0" descr="preencoded.png">    </p:cNvPr>
          <p:cNvPicPr>
            <a:picLocks noChangeAspect="1"/>
          </p:cNvPicPr>
          <p:nvPr/>
        </p:nvPicPr>
        <p:blipFill>
          <a:blip r:embed="rId1"/>
          <a:stretch>
            <a:fillRect/>
          </a:stretch>
        </p:blipFill>
        <p:spPr>
          <a:xfrm>
            <a:off x="8458200" y="1463040"/>
            <a:ext cx="1097280" cy="1325880"/>
          </a:xfrm>
          <a:prstGeom prst="rect">
            <a:avLst/>
          </a:prstGeom>
        </p:spPr>
      </p:pic>
      <p:pic>
        <p:nvPicPr>
          <p:cNvPr id="27" name="Image 1" descr="preencoded.png">    </p:cNvPr>
          <p:cNvPicPr>
            <a:picLocks noChangeAspect="1"/>
          </p:cNvPicPr>
          <p:nvPr/>
        </p:nvPicPr>
        <p:blipFill>
          <a:blip r:embed="rId2"/>
          <a:stretch>
            <a:fillRect/>
          </a:stretch>
        </p:blipFill>
        <p:spPr>
          <a:xfrm>
            <a:off x="9098280" y="1463040"/>
            <a:ext cx="1097280" cy="1325880"/>
          </a:xfrm>
          <a:prstGeom prst="rect">
            <a:avLst/>
          </a:prstGeom>
        </p:spPr>
      </p:pic>
      <p:sp>
        <p:nvSpPr>
          <p:cNvPr id="28" name="Text 24"/>
          <p:cNvSpPr txBox="1"/>
          <p:nvPr/>
        </p:nvSpPr>
        <p:spPr>
          <a:xfrm>
            <a:off x="8366760" y="2926080"/>
            <a:ext cx="3017520" cy="457200"/>
          </a:xfrm>
          <a:prstGeom prst="rect">
            <a:avLst/>
          </a:prstGeom>
          <a:noFill/>
          <a:ln/>
        </p:spPr>
        <p:txBody>
          <a:bodyPr wrap="square" lIns="0" tIns="0" rIns="0" bIns="0" rtlCol="0" anchor="t"/>
          <a:lstStyle/>
          <a:p>
            <a:pPr indent="0" marL="0">
              <a:buNone/>
            </a:pPr>
            <a:r>
              <a:rPr lang="en-US" sz="1800" dirty="0">
                <a:solidFill>
                  <a:schemeClr val="accent2"/>
                </a:solidFill>
                <a:latin typeface="Rockwell Extra Bold" pitchFamily="34" charset="0"/>
                <a:ea typeface="Rockwell Extra Bold" pitchFamily="34" charset="-122"/>
                <a:cs typeface="Rockwell Extra Bold" pitchFamily="34" charset="-120"/>
              </a:rPr>
              <a:t>Pourquoi ça marche</a:t>
            </a:r>
            <a:endParaRPr lang="en-US" sz="1800" dirty="0"/>
          </a:p>
        </p:txBody>
      </p:sp>
      <p:sp>
        <p:nvSpPr>
          <p:cNvPr id="29" name="Text 25"/>
          <p:cNvSpPr txBox="1"/>
          <p:nvPr/>
        </p:nvSpPr>
        <p:spPr>
          <a:xfrm>
            <a:off x="8366760" y="3429000"/>
            <a:ext cx="3063240" cy="22860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bg2"/>
                </a:solidFill>
                <a:latin typeface="Arial" pitchFamily="34" charset="0"/>
                <a:ea typeface="Arial" pitchFamily="34" charset="-122"/>
                <a:cs typeface="Arial" pitchFamily="34" charset="-120"/>
              </a:rPr>
              <a:t>Liés, on ne peut pas s'éloigner de l'autre.</a:t>
            </a:r>
            <a:endParaRPr lang="en-US" sz="1400" dirty="0"/>
          </a:p>
          <a:p>
            <a:pPr marL="342900" indent="-342900">
              <a:spcAft>
                <a:spcPts val="800"/>
              </a:spcAft>
              <a:buSzPct val="100000"/>
              <a:buChar char="•"/>
            </a:pPr>
            <a:r>
              <a:rPr lang="en-US" sz="1400" dirty="0">
                <a:solidFill>
                  <a:schemeClr val="bg2"/>
                </a:solidFill>
                <a:latin typeface="Arial" pitchFamily="34" charset="0"/>
                <a:ea typeface="Arial" pitchFamily="34" charset="-122"/>
                <a:cs typeface="Arial" pitchFamily="34" charset="-120"/>
              </a:rPr>
              <a:t>La course oblige à chercher l'accord vite et fort.</a:t>
            </a:r>
            <a:endParaRPr lang="en-US" sz="1400" dirty="0"/>
          </a:p>
          <a:p>
            <a:pPr marL="342900" indent="-342900">
              <a:spcAft>
                <a:spcPts val="800"/>
              </a:spcAft>
              <a:buSzPct val="100000"/>
              <a:buChar char="•"/>
            </a:pPr>
            <a:r>
              <a:rPr lang="en-US" sz="1400" dirty="0">
                <a:solidFill>
                  <a:schemeClr val="bg2"/>
                </a:solidFill>
                <a:latin typeface="Arial" pitchFamily="34" charset="0"/>
                <a:ea typeface="Arial" pitchFamily="34" charset="-122"/>
                <a:cs typeface="Arial" pitchFamily="34" charset="-120"/>
              </a:rPr>
              <a:t>C'est la règle 2 de Rapoport, vécue avec le corps.</a:t>
            </a:r>
            <a:endParaRPr lang="en-US" sz="14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1"/>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57200" y="274320"/>
            <a:ext cx="4572000" cy="2926080"/>
          </a:xfrm>
          <a:prstGeom prst="rect">
            <a:avLst/>
          </a:prstGeom>
          <a:noFill/>
          <a:ln/>
        </p:spPr>
        <p:txBody>
          <a:bodyPr wrap="square" lIns="0" tIns="0" rIns="0" bIns="0" rtlCol="0" anchor="t"/>
          <a:lstStyle/>
          <a:p>
            <a:pPr indent="0" marL="0">
              <a:buNone/>
            </a:pPr>
            <a:r>
              <a:rPr lang="en-US" sz="20000" dirty="0">
                <a:solidFill>
                  <a:schemeClr val="tx1"/>
                </a:solidFill>
                <a:latin typeface="Rockwell Extra Bold" pitchFamily="34" charset="0"/>
                <a:ea typeface="Rockwell Extra Bold" pitchFamily="34" charset="-122"/>
                <a:cs typeface="Rockwell Extra Bold" pitchFamily="34" charset="-120"/>
              </a:rPr>
              <a:t>1</a:t>
            </a:r>
            <a:endParaRPr lang="en-US" sz="20000" dirty="0"/>
          </a:p>
        </p:txBody>
      </p:sp>
      <p:sp>
        <p:nvSpPr>
          <p:cNvPr id="3" name="Text 0"/>
          <p:cNvSpPr/>
          <p:nvPr>
            <p:ph idx="100" type="title" hasCustomPrompt="1"/>
          </p:nvPr>
        </p:nvSpPr>
        <p:spPr>
          <a:xfrm>
            <a:off x="548640" y="3291840"/>
            <a:ext cx="7498080" cy="2194560"/>
          </a:xfrm>
          <a:prstGeom prst="rect">
            <a:avLst/>
          </a:prstGeom>
          <a:noFill/>
          <a:ln/>
        </p:spPr>
        <p:txBody>
          <a:bodyPr wrap="square" lIns="0" tIns="0" rIns="0" bIns="0" rtlCol="0" anchor="t"/>
          <a:lstStyle/>
          <a:p>
            <a:pPr algn="l" indent="0" marL="0">
              <a:buNone/>
            </a:pPr>
            <a:r>
              <a:rPr lang="en-US" sz="5400" dirty="0">
                <a:solidFill>
                  <a:schemeClr val="bg2"/>
                </a:solidFill>
              </a:rPr>
              <a:t>Le manuel du tricheur</a:t>
            </a:r>
            <a:endParaRPr lang="en-US" sz="5400" dirty="0"/>
          </a:p>
        </p:txBody>
      </p:sp>
      <p:sp>
        <p:nvSpPr>
          <p:cNvPr id="4" name="Text 0"/>
          <p:cNvSpPr/>
          <p:nvPr>
            <p:ph idx="101" type="body" hasCustomPrompt="1"/>
          </p:nvPr>
        </p:nvSpPr>
        <p:spPr>
          <a:xfrm>
            <a:off x="548640" y="5486400"/>
            <a:ext cx="7498080" cy="731520"/>
          </a:xfrm>
          <a:prstGeom prst="rect">
            <a:avLst/>
          </a:prstGeom>
          <a:noFill/>
          <a:ln/>
        </p:spPr>
        <p:txBody>
          <a:bodyPr wrap="square" lIns="0" tIns="0" rIns="0" bIns="0" rtlCol="0"/>
          <a:lstStyle/>
          <a:p>
            <a:pPr indent="0" marL="0">
              <a:buNone/>
            </a:pPr>
            <a:r>
              <a:rPr lang="en-US" sz="1800" dirty="0">
                <a:solidFill>
                  <a:schemeClr val="bg2"/>
                </a:solidFill>
              </a:rPr>
              <a:t>Apprendre les coups bas pour s'en immuniser</a:t>
            </a:r>
            <a:endParaRPr lang="en-US" sz="1800" dirty="0"/>
          </a:p>
        </p:txBody>
      </p:sp>
      <p:pic>
        <p:nvPicPr>
          <p:cNvPr id="5" name="silhouette" descr="preencoded.png">    </p:cNvPr>
          <p:cNvPicPr>
            <a:picLocks noChangeAspect="1"/>
          </p:cNvPicPr>
          <p:nvPr/>
        </p:nvPicPr>
        <p:blipFill>
          <a:blip r:embed="rId1"/>
          <a:stretch>
            <a:fillRect/>
          </a:stretch>
        </p:blipFill>
        <p:spPr>
          <a:xfrm>
            <a:off x="8138160" y="914400"/>
            <a:ext cx="3566160" cy="4297680"/>
          </a:xfrm>
          <a:prstGeom prst="rect">
            <a:avLst/>
          </a:prstGeom>
        </p:spPr>
      </p:pic>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lIns="0" tIns="0" rIns="0" bIns="0" rtlCol="0" anchor="t"/>
          <a:lstStyle/>
          <a:p>
            <a:pPr algn="l" indent="0" marL="0">
              <a:buNone/>
            </a:pPr>
            <a:r>
              <a:rPr lang="en-US" sz="3600" dirty="0">
                <a:solidFill>
                  <a:schemeClr val="accent1"/>
                </a:solidFill>
              </a:rPr>
              <a:t>Le guide du tricheur</a:t>
            </a:r>
            <a:endParaRPr lang="en-US" sz="3600" dirty="0"/>
          </a:p>
        </p:txBody>
      </p:sp>
      <p:sp>
        <p:nvSpPr>
          <p:cNvPr id="3" name="Text 1"/>
          <p:cNvSpPr txBox="1"/>
          <p:nvPr/>
        </p:nvSpPr>
        <p:spPr>
          <a:xfrm>
            <a:off x="457200" y="1280160"/>
            <a:ext cx="4572000" cy="3108960"/>
          </a:xfrm>
          <a:prstGeom prst="rect">
            <a:avLst/>
          </a:prstGeom>
          <a:noFill/>
          <a:ln/>
        </p:spPr>
        <p:txBody>
          <a:bodyPr wrap="square" lIns="0" tIns="0" rIns="0" bIns="0" rtlCol="0" anchor="t"/>
          <a:lstStyle/>
          <a:p>
            <a:pPr indent="0" marL="0">
              <a:buNone/>
            </a:pPr>
            <a:r>
              <a:rPr lang="en-US" sz="22000" dirty="0">
                <a:solidFill>
                  <a:schemeClr val="accent1"/>
                </a:solidFill>
                <a:latin typeface="Rockwell Extra Bold" pitchFamily="34" charset="0"/>
                <a:ea typeface="Rockwell Extra Bold" pitchFamily="34" charset="-122"/>
                <a:cs typeface="Rockwell Extra Bold" pitchFamily="34" charset="-120"/>
              </a:rPr>
              <a:t>38</a:t>
            </a:r>
            <a:endParaRPr lang="en-US" sz="22000" dirty="0"/>
          </a:p>
        </p:txBody>
      </p:sp>
      <p:sp>
        <p:nvSpPr>
          <p:cNvPr id="4" name="Text 2"/>
          <p:cNvSpPr txBox="1"/>
          <p:nvPr/>
        </p:nvSpPr>
        <p:spPr>
          <a:xfrm>
            <a:off x="548640" y="4343400"/>
            <a:ext cx="4389120" cy="82296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stratagèmes pour avoir raison, même quand on a tort</a:t>
            </a:r>
            <a:endParaRPr lang="en-US" sz="1800" dirty="0"/>
          </a:p>
        </p:txBody>
      </p:sp>
      <p:sp>
        <p:nvSpPr>
          <p:cNvPr id="5" name="Text 3"/>
          <p:cNvSpPr txBox="1"/>
          <p:nvPr/>
        </p:nvSpPr>
        <p:spPr>
          <a:xfrm>
            <a:off x="5486400" y="1463040"/>
            <a:ext cx="6126480" cy="1280160"/>
          </a:xfrm>
          <a:prstGeom prst="rect">
            <a:avLst/>
          </a:prstGeom>
          <a:noFill/>
          <a:ln/>
        </p:spPr>
        <p:txBody>
          <a:bodyPr wrap="square" lIns="0" tIns="0" rIns="0" bIns="0" rtlCol="0" anchor="t"/>
          <a:lstStyle/>
          <a:p>
            <a:pPr indent="0" marL="0">
              <a:buNone/>
            </a:pPr>
            <a:r>
              <a:rPr lang="en-US" sz="1700" b="1" i="1" dirty="0">
                <a:solidFill>
                  <a:schemeClr val="tx1"/>
                </a:solidFill>
                <a:latin typeface="Arial" pitchFamily="34" charset="0"/>
                <a:ea typeface="Arial" pitchFamily="34" charset="-122"/>
                <a:cs typeface="Arial" pitchFamily="34" charset="-120"/>
              </a:rPr>
              <a:t>L'Art d'avoir toujours raison</a:t>
            </a:r>
            <a:endParaRPr lang="en-US" sz="1700" dirty="0"/>
          </a:p>
          <a:p>
            <a:pPr indent="0" marL="0">
              <a:buNone/>
            </a:pPr>
            <a:r>
              <a:rPr lang="en-US" sz="1700" dirty="0">
                <a:solidFill>
                  <a:schemeClr val="tx1"/>
                </a:solidFill>
                <a:latin typeface="Arial" pitchFamily="34" charset="0"/>
                <a:ea typeface="Arial" pitchFamily="34" charset="-122"/>
                <a:cs typeface="Arial" pitchFamily="34" charset="-120"/>
              </a:rPr>
              <a:t>Écrit vers 1830 par Arthur Schopenhauer.</a:t>
            </a:r>
            <a:endParaRPr lang="en-US" sz="1700" dirty="0"/>
          </a:p>
        </p:txBody>
      </p:sp>
      <p:sp>
        <p:nvSpPr>
          <p:cNvPr id="6" name="Shape 4"/>
          <p:cNvSpPr/>
          <p:nvPr/>
        </p:nvSpPr>
        <p:spPr>
          <a:xfrm>
            <a:off x="5486400" y="2834640"/>
            <a:ext cx="6126480" cy="1280160"/>
          </a:xfrm>
          <a:prstGeom prst="rect">
            <a:avLst/>
          </a:prstGeom>
          <a:solidFill>
            <a:schemeClr val="accent2"/>
          </a:solidFill>
          <a:ln w="25400">
            <a:solidFill>
              <a:schemeClr val="tx1"/>
            </a:solidFill>
            <a:prstDash val="solid"/>
          </a:ln>
        </p:spPr>
      </p:sp>
      <p:sp>
        <p:nvSpPr>
          <p:cNvPr id="7" name="Text 5"/>
          <p:cNvSpPr txBox="1"/>
          <p:nvPr/>
        </p:nvSpPr>
        <p:spPr>
          <a:xfrm>
            <a:off x="5715000" y="3017520"/>
            <a:ext cx="5669280" cy="914400"/>
          </a:xfrm>
          <a:prstGeom prst="rect">
            <a:avLst/>
          </a:prstGeom>
          <a:noFill/>
          <a:ln/>
        </p:spPr>
        <p:txBody>
          <a:bodyPr wrap="square" lIns="0" tIns="0" rIns="0" bIns="0" rtlCol="0" anchor="ctr"/>
          <a:lstStyle/>
          <a:p>
            <a:pPr indent="0" marL="0">
              <a:buNone/>
            </a:pPr>
            <a:r>
              <a:rPr lang="en-US" sz="2100" dirty="0">
                <a:solidFill>
                  <a:schemeClr val="tx1"/>
                </a:solidFill>
                <a:latin typeface="Rockwell Extra Bold" pitchFamily="34" charset="0"/>
                <a:ea typeface="Rockwell Extra Bold" pitchFamily="34" charset="-122"/>
                <a:cs typeface="Rockwell Extra Bold" pitchFamily="34" charset="-120"/>
              </a:rPr>
              <a:t>« Le débat est un combat d'escrime intellectuel. »</a:t>
            </a:r>
            <a:endParaRPr lang="en-US" sz="2100" dirty="0"/>
          </a:p>
        </p:txBody>
      </p:sp>
      <p:sp>
        <p:nvSpPr>
          <p:cNvPr id="8" name="Text 6"/>
          <p:cNvSpPr txBox="1"/>
          <p:nvPr/>
        </p:nvSpPr>
        <p:spPr>
          <a:xfrm>
            <a:off x="5486400" y="4434840"/>
            <a:ext cx="6126480" cy="731520"/>
          </a:xfrm>
          <a:prstGeom prst="rect">
            <a:avLst/>
          </a:prstGeom>
          <a:noFill/>
          <a:ln/>
        </p:spPr>
        <p:txBody>
          <a:bodyPr wrap="square" lIns="0" tIns="0" rIns="0" bIns="0" rtlCol="0" anchor="t"/>
          <a:lstStyle/>
          <a:p>
            <a:pPr indent="0" marL="0">
              <a:buNone/>
            </a:pPr>
            <a:r>
              <a:rPr lang="en-US" sz="2000" dirty="0">
                <a:solidFill>
                  <a:schemeClr val="accent1"/>
                </a:solidFill>
                <a:latin typeface="Rockwell Extra Bold" pitchFamily="34" charset="0"/>
                <a:ea typeface="Rockwell Extra Bold" pitchFamily="34" charset="-122"/>
                <a:cs typeface="Rockwell Extra Bold" pitchFamily="34" charset="-120"/>
              </a:rPr>
              <a:t>On les apprend pour s'en protéger. Comme un vaccin.</a:t>
            </a:r>
            <a:endParaRPr lang="en-US" sz="20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1"/>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lIns="0" tIns="0" rIns="0" bIns="0" rtlCol="0" anchor="t"/>
          <a:lstStyle/>
          <a:p>
            <a:pPr algn="l" indent="0" marL="0">
              <a:buNone/>
            </a:pPr>
            <a:r>
              <a:rPr lang="en-US" sz="3600" dirty="0">
                <a:solidFill>
                  <a:schemeClr val="accent1"/>
                </a:solidFill>
              </a:rPr>
              <a:t>Agréable ne veut pas dire mou</a:t>
            </a:r>
            <a:endParaRPr lang="en-US" sz="3600" dirty="0"/>
          </a:p>
        </p:txBody>
      </p:sp>
      <p:sp>
        <p:nvSpPr>
          <p:cNvPr id="3" name="Text 1"/>
          <p:cNvSpPr txBox="1"/>
          <p:nvPr/>
        </p:nvSpPr>
        <p:spPr>
          <a:xfrm>
            <a:off x="2834640" y="1371600"/>
            <a:ext cx="8229600" cy="365760"/>
          </a:xfrm>
          <a:prstGeom prst="rect">
            <a:avLst/>
          </a:prstGeom>
          <a:noFill/>
          <a:ln/>
        </p:spPr>
        <p:txBody>
          <a:bodyPr wrap="square" lIns="0" tIns="0" rIns="0" bIns="0" rtlCol="0" anchor="t"/>
          <a:lstStyle/>
          <a:p>
            <a:pPr indent="0" marL="0">
              <a:buNone/>
            </a:pPr>
            <a:r>
              <a:rPr lang="en-US" sz="1400" b="1" dirty="0">
                <a:solidFill>
                  <a:schemeClr val="tx2"/>
                </a:solidFill>
                <a:latin typeface="Arial" pitchFamily="34" charset="0"/>
                <a:ea typeface="Arial" pitchFamily="34" charset="-122"/>
                <a:cs typeface="Arial" pitchFamily="34" charset="-120"/>
              </a:rPr>
              <a:t>→ envers les IDÉES</a:t>
            </a:r>
            <a:endParaRPr lang="en-US" sz="1400" dirty="0"/>
          </a:p>
        </p:txBody>
      </p:sp>
      <p:sp>
        <p:nvSpPr>
          <p:cNvPr id="4" name="Text 2"/>
          <p:cNvSpPr txBox="1"/>
          <p:nvPr/>
        </p:nvSpPr>
        <p:spPr>
          <a:xfrm>
            <a:off x="548640" y="1828800"/>
            <a:ext cx="2103120" cy="457200"/>
          </a:xfrm>
          <a:prstGeom prst="rect">
            <a:avLst/>
          </a:prstGeom>
          <a:noFill/>
          <a:ln/>
        </p:spPr>
        <p:txBody>
          <a:bodyPr wrap="square" lIns="0" tIns="0" rIns="0" bIns="0" rtlCol="0" anchor="t"/>
          <a:lstStyle/>
          <a:p>
            <a:pPr indent="0" marL="0">
              <a:buNone/>
            </a:pPr>
            <a:r>
              <a:rPr lang="en-US" sz="1400" b="1" dirty="0">
                <a:solidFill>
                  <a:schemeClr val="tx2"/>
                </a:solidFill>
                <a:latin typeface="Arial" pitchFamily="34" charset="0"/>
                <a:ea typeface="Arial" pitchFamily="34" charset="-122"/>
                <a:cs typeface="Arial" pitchFamily="34" charset="-120"/>
              </a:rPr>
              <a:t>envers les PERSONNES ↓</a:t>
            </a:r>
            <a:endParaRPr lang="en-US" sz="1400" dirty="0"/>
          </a:p>
        </p:txBody>
      </p:sp>
      <p:sp>
        <p:nvSpPr>
          <p:cNvPr id="5" name="Text 3"/>
          <p:cNvSpPr txBox="1"/>
          <p:nvPr/>
        </p:nvSpPr>
        <p:spPr>
          <a:xfrm>
            <a:off x="548640" y="2651760"/>
            <a:ext cx="2103120" cy="457200"/>
          </a:xfrm>
          <a:prstGeom prst="rect">
            <a:avLst/>
          </a:prstGeom>
          <a:noFill/>
          <a:ln/>
        </p:spPr>
        <p:txBody>
          <a:bodyPr wrap="square" lIns="0" tIns="0" rIns="0" bIns="0" rtlCol="0" anchor="t"/>
          <a:lstStyle/>
          <a:p>
            <a:pPr indent="0" marL="0">
              <a:buNone/>
            </a:pPr>
            <a:r>
              <a:rPr lang="en-US" sz="2000" dirty="0">
                <a:solidFill>
                  <a:schemeClr val="accent1"/>
                </a:solidFill>
                <a:latin typeface="Rockwell Extra Bold" pitchFamily="34" charset="0"/>
                <a:ea typeface="Rockwell Extra Bold" pitchFamily="34" charset="-122"/>
                <a:cs typeface="Rockwell Extra Bold" pitchFamily="34" charset="-120"/>
              </a:rPr>
              <a:t>doux</a:t>
            </a:r>
            <a:endParaRPr lang="en-US" sz="2000" dirty="0"/>
          </a:p>
        </p:txBody>
      </p:sp>
      <p:sp>
        <p:nvSpPr>
          <p:cNvPr id="6" name="Text 4"/>
          <p:cNvSpPr txBox="1"/>
          <p:nvPr/>
        </p:nvSpPr>
        <p:spPr>
          <a:xfrm>
            <a:off x="548640" y="4572000"/>
            <a:ext cx="2103120" cy="457200"/>
          </a:xfrm>
          <a:prstGeom prst="rect">
            <a:avLst/>
          </a:prstGeom>
          <a:noFill/>
          <a:ln/>
        </p:spPr>
        <p:txBody>
          <a:bodyPr wrap="square" lIns="0" tIns="0" rIns="0" bIns="0" rtlCol="0" anchor="t"/>
          <a:lstStyle/>
          <a:p>
            <a:pPr indent="0" marL="0">
              <a:buNone/>
            </a:pPr>
            <a:r>
              <a:rPr lang="en-US" sz="2000" dirty="0">
                <a:solidFill>
                  <a:schemeClr val="accent1"/>
                </a:solidFill>
                <a:latin typeface="Rockwell Extra Bold" pitchFamily="34" charset="0"/>
                <a:ea typeface="Rockwell Extra Bold" pitchFamily="34" charset="-122"/>
                <a:cs typeface="Rockwell Extra Bold" pitchFamily="34" charset="-120"/>
              </a:rPr>
              <a:t>dur</a:t>
            </a:r>
            <a:endParaRPr lang="en-US" sz="2000" dirty="0"/>
          </a:p>
        </p:txBody>
      </p:sp>
      <p:sp>
        <p:nvSpPr>
          <p:cNvPr id="7" name="Text 5"/>
          <p:cNvSpPr txBox="1"/>
          <p:nvPr/>
        </p:nvSpPr>
        <p:spPr>
          <a:xfrm>
            <a:off x="2834640" y="1691640"/>
            <a:ext cx="4114800" cy="365760"/>
          </a:xfrm>
          <a:prstGeom prst="rect">
            <a:avLst/>
          </a:prstGeom>
          <a:noFill/>
          <a:ln/>
        </p:spPr>
        <p:txBody>
          <a:bodyPr wrap="square" lIns="0" tIns="0" rIns="0" bIns="0" rtlCol="0" anchor="t"/>
          <a:lstStyle/>
          <a:p>
            <a:pPr algn="ctr" indent="0" marL="0">
              <a:buNone/>
            </a:pPr>
            <a:r>
              <a:rPr lang="en-US" sz="1800" dirty="0">
                <a:solidFill>
                  <a:schemeClr val="accent1"/>
                </a:solidFill>
                <a:latin typeface="Rockwell Extra Bold" pitchFamily="34" charset="0"/>
                <a:ea typeface="Rockwell Extra Bold" pitchFamily="34" charset="-122"/>
                <a:cs typeface="Rockwell Extra Bold" pitchFamily="34" charset="-120"/>
              </a:rPr>
              <a:t>mou</a:t>
            </a:r>
            <a:endParaRPr lang="en-US" sz="1800" dirty="0"/>
          </a:p>
        </p:txBody>
      </p:sp>
      <p:sp>
        <p:nvSpPr>
          <p:cNvPr id="8" name="Text 6"/>
          <p:cNvSpPr txBox="1"/>
          <p:nvPr/>
        </p:nvSpPr>
        <p:spPr>
          <a:xfrm>
            <a:off x="7223760" y="1691640"/>
            <a:ext cx="4389120" cy="365760"/>
          </a:xfrm>
          <a:prstGeom prst="rect">
            <a:avLst/>
          </a:prstGeom>
          <a:noFill/>
          <a:ln/>
        </p:spPr>
        <p:txBody>
          <a:bodyPr wrap="square" lIns="0" tIns="0" rIns="0" bIns="0" rtlCol="0" anchor="t"/>
          <a:lstStyle/>
          <a:p>
            <a:pPr algn="ctr" indent="0" marL="0">
              <a:buNone/>
            </a:pPr>
            <a:r>
              <a:rPr lang="en-US" sz="1800" dirty="0">
                <a:solidFill>
                  <a:schemeClr val="accent1"/>
                </a:solidFill>
                <a:latin typeface="Rockwell Extra Bold" pitchFamily="34" charset="0"/>
                <a:ea typeface="Rockwell Extra Bold" pitchFamily="34" charset="-122"/>
                <a:cs typeface="Rockwell Extra Bold" pitchFamily="34" charset="-120"/>
              </a:rPr>
              <a:t>ferme</a:t>
            </a:r>
            <a:endParaRPr lang="en-US" sz="1800" dirty="0"/>
          </a:p>
        </p:txBody>
      </p:sp>
      <p:sp>
        <p:nvSpPr>
          <p:cNvPr id="9" name="Shape 7"/>
          <p:cNvSpPr/>
          <p:nvPr/>
        </p:nvSpPr>
        <p:spPr>
          <a:xfrm>
            <a:off x="2834640" y="2148840"/>
            <a:ext cx="4206240" cy="1783080"/>
          </a:xfrm>
          <a:prstGeom prst="rect">
            <a:avLst/>
          </a:prstGeom>
          <a:solidFill>
            <a:schemeClr val="bg1"/>
          </a:solidFill>
          <a:ln w="25400">
            <a:solidFill>
              <a:schemeClr val="tx1"/>
            </a:solidFill>
            <a:prstDash val="solid"/>
          </a:ln>
        </p:spPr>
      </p:sp>
      <p:pic>
        <p:nvPicPr>
          <p:cNvPr id="10" name="Image 0" descr="preencoded.png">    </p:cNvPr>
          <p:cNvPicPr>
            <a:picLocks noChangeAspect="1"/>
          </p:cNvPicPr>
          <p:nvPr/>
        </p:nvPicPr>
        <p:blipFill>
          <a:blip r:embed="rId1"/>
          <a:stretch>
            <a:fillRect/>
          </a:stretch>
        </p:blipFill>
        <p:spPr>
          <a:xfrm>
            <a:off x="5943600" y="2286000"/>
            <a:ext cx="960120" cy="1161288"/>
          </a:xfrm>
          <a:prstGeom prst="rect">
            <a:avLst/>
          </a:prstGeom>
        </p:spPr>
      </p:pic>
      <p:sp>
        <p:nvSpPr>
          <p:cNvPr id="11" name="Text 8"/>
          <p:cNvSpPr txBox="1"/>
          <p:nvPr/>
        </p:nvSpPr>
        <p:spPr>
          <a:xfrm>
            <a:off x="3017520" y="2313432"/>
            <a:ext cx="2834640" cy="457200"/>
          </a:xfrm>
          <a:prstGeom prst="rect">
            <a:avLst/>
          </a:prstGeom>
          <a:noFill/>
          <a:ln/>
        </p:spPr>
        <p:txBody>
          <a:bodyPr wrap="square" lIns="0" tIns="0" rIns="0" bIns="0" rtlCol="0" anchor="t"/>
          <a:lstStyle/>
          <a:p>
            <a:pPr indent="0" marL="0">
              <a:buNone/>
            </a:pPr>
            <a:r>
              <a:rPr lang="en-US" sz="1900" dirty="0">
                <a:solidFill>
                  <a:schemeClr val="accent1"/>
                </a:solidFill>
                <a:latin typeface="Rockwell Extra Bold" pitchFamily="34" charset="0"/>
                <a:ea typeface="Rockwell Extra Bold" pitchFamily="34" charset="-122"/>
                <a:cs typeface="Rockwell Extra Bold" pitchFamily="34" charset="-120"/>
              </a:rPr>
              <a:t>La Girouette</a:t>
            </a:r>
            <a:endParaRPr lang="en-US" sz="1900" dirty="0"/>
          </a:p>
        </p:txBody>
      </p:sp>
      <p:sp>
        <p:nvSpPr>
          <p:cNvPr id="12" name="Text 9"/>
          <p:cNvSpPr txBox="1"/>
          <p:nvPr/>
        </p:nvSpPr>
        <p:spPr>
          <a:xfrm>
            <a:off x="3017520" y="2834640"/>
            <a:ext cx="2926080" cy="100584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Tout le monde a raison. Personne n'apprend rien.</a:t>
            </a:r>
            <a:endParaRPr lang="en-US" sz="1400" dirty="0"/>
          </a:p>
        </p:txBody>
      </p:sp>
      <p:sp>
        <p:nvSpPr>
          <p:cNvPr id="13" name="Shape 10"/>
          <p:cNvSpPr/>
          <p:nvPr/>
        </p:nvSpPr>
        <p:spPr>
          <a:xfrm>
            <a:off x="7223760" y="2148840"/>
            <a:ext cx="4206240" cy="1783080"/>
          </a:xfrm>
          <a:prstGeom prst="rect">
            <a:avLst/>
          </a:prstGeom>
          <a:solidFill>
            <a:schemeClr val="accent2"/>
          </a:solidFill>
          <a:ln w="25400">
            <a:solidFill>
              <a:schemeClr val="tx1"/>
            </a:solidFill>
            <a:prstDash val="solid"/>
          </a:ln>
        </p:spPr>
      </p:sp>
      <p:pic>
        <p:nvPicPr>
          <p:cNvPr id="14" name="Image 1" descr="preencoded.png">    </p:cNvPr>
          <p:cNvPicPr>
            <a:picLocks noChangeAspect="1"/>
          </p:cNvPicPr>
          <p:nvPr/>
        </p:nvPicPr>
        <p:blipFill>
          <a:blip r:embed="rId2"/>
          <a:stretch>
            <a:fillRect/>
          </a:stretch>
        </p:blipFill>
        <p:spPr>
          <a:xfrm>
            <a:off x="10332720" y="2286000"/>
            <a:ext cx="960120" cy="1161288"/>
          </a:xfrm>
          <a:prstGeom prst="rect">
            <a:avLst/>
          </a:prstGeom>
        </p:spPr>
      </p:pic>
      <p:sp>
        <p:nvSpPr>
          <p:cNvPr id="15" name="Text 11"/>
          <p:cNvSpPr txBox="1"/>
          <p:nvPr/>
        </p:nvSpPr>
        <p:spPr>
          <a:xfrm>
            <a:off x="7406640" y="2313432"/>
            <a:ext cx="2834640" cy="457200"/>
          </a:xfrm>
          <a:prstGeom prst="rect">
            <a:avLst/>
          </a:prstGeom>
          <a:noFill/>
          <a:ln/>
        </p:spPr>
        <p:txBody>
          <a:bodyPr wrap="square" lIns="0" tIns="0" rIns="0" bIns="0" rtlCol="0" anchor="t"/>
          <a:lstStyle/>
          <a:p>
            <a:pPr indent="0" marL="0">
              <a:buNone/>
            </a:pPr>
            <a:r>
              <a:rPr lang="en-US" sz="1900" dirty="0">
                <a:solidFill>
                  <a:schemeClr val="accent1"/>
                </a:solidFill>
                <a:latin typeface="Rockwell Extra Bold" pitchFamily="34" charset="0"/>
                <a:ea typeface="Rockwell Extra Bold" pitchFamily="34" charset="-122"/>
                <a:cs typeface="Rockwell Extra Bold" pitchFamily="34" charset="-120"/>
              </a:rPr>
              <a:t>Le Bâtisseur</a:t>
            </a:r>
            <a:endParaRPr lang="en-US" sz="1900" dirty="0"/>
          </a:p>
        </p:txBody>
      </p:sp>
      <p:sp>
        <p:nvSpPr>
          <p:cNvPr id="16" name="Text 12"/>
          <p:cNvSpPr txBox="1"/>
          <p:nvPr/>
        </p:nvSpPr>
        <p:spPr>
          <a:xfrm>
            <a:off x="7406640" y="2834640"/>
            <a:ext cx="2926080" cy="100584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Exigeant sur le fond, bienveillant avec les gens. LA CIBLE.</a:t>
            </a:r>
            <a:endParaRPr lang="en-US" sz="1400" dirty="0"/>
          </a:p>
        </p:txBody>
      </p:sp>
      <p:sp>
        <p:nvSpPr>
          <p:cNvPr id="17" name="Shape 13"/>
          <p:cNvSpPr/>
          <p:nvPr/>
        </p:nvSpPr>
        <p:spPr>
          <a:xfrm>
            <a:off x="2834640" y="4069080"/>
            <a:ext cx="4206240" cy="1783080"/>
          </a:xfrm>
          <a:prstGeom prst="rect">
            <a:avLst/>
          </a:prstGeom>
          <a:solidFill>
            <a:schemeClr val="bg1"/>
          </a:solidFill>
          <a:ln w="25400">
            <a:solidFill>
              <a:schemeClr val="tx1"/>
            </a:solidFill>
            <a:prstDash val="solid"/>
          </a:ln>
        </p:spPr>
      </p:sp>
      <p:pic>
        <p:nvPicPr>
          <p:cNvPr id="18" name="Image 2" descr="preencoded.png">    </p:cNvPr>
          <p:cNvPicPr>
            <a:picLocks noChangeAspect="1"/>
          </p:cNvPicPr>
          <p:nvPr/>
        </p:nvPicPr>
        <p:blipFill>
          <a:blip r:embed="rId3"/>
          <a:stretch>
            <a:fillRect/>
          </a:stretch>
        </p:blipFill>
        <p:spPr>
          <a:xfrm>
            <a:off x="5943600" y="4206240"/>
            <a:ext cx="960120" cy="1161288"/>
          </a:xfrm>
          <a:prstGeom prst="rect">
            <a:avLst/>
          </a:prstGeom>
        </p:spPr>
      </p:pic>
      <p:sp>
        <p:nvSpPr>
          <p:cNvPr id="19" name="Text 14"/>
          <p:cNvSpPr txBox="1"/>
          <p:nvPr/>
        </p:nvSpPr>
        <p:spPr>
          <a:xfrm>
            <a:off x="3017520" y="4233672"/>
            <a:ext cx="2834640" cy="457200"/>
          </a:xfrm>
          <a:prstGeom prst="rect">
            <a:avLst/>
          </a:prstGeom>
          <a:noFill/>
          <a:ln/>
        </p:spPr>
        <p:txBody>
          <a:bodyPr wrap="square" lIns="0" tIns="0" rIns="0" bIns="0" rtlCol="0" anchor="t"/>
          <a:lstStyle/>
          <a:p>
            <a:pPr indent="0" marL="0">
              <a:buNone/>
            </a:pPr>
            <a:r>
              <a:rPr lang="en-US" sz="1900" dirty="0">
                <a:solidFill>
                  <a:schemeClr val="accent1"/>
                </a:solidFill>
                <a:latin typeface="Rockwell Extra Bold" pitchFamily="34" charset="0"/>
                <a:ea typeface="Rockwell Extra Bold" pitchFamily="34" charset="-122"/>
                <a:cs typeface="Rockwell Extra Bold" pitchFamily="34" charset="-120"/>
              </a:rPr>
              <a:t>Le Sniper</a:t>
            </a:r>
            <a:endParaRPr lang="en-US" sz="1900" dirty="0"/>
          </a:p>
        </p:txBody>
      </p:sp>
      <p:sp>
        <p:nvSpPr>
          <p:cNvPr id="20" name="Text 15"/>
          <p:cNvSpPr txBox="1"/>
          <p:nvPr/>
        </p:nvSpPr>
        <p:spPr>
          <a:xfrm>
            <a:off x="3017520" y="4754880"/>
            <a:ext cx="2926080" cy="100584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Faible sur les idées, cruel avec les gens. Le pire des deux mondes.</a:t>
            </a:r>
            <a:endParaRPr lang="en-US" sz="1400" dirty="0"/>
          </a:p>
        </p:txBody>
      </p:sp>
      <p:sp>
        <p:nvSpPr>
          <p:cNvPr id="21" name="Shape 16"/>
          <p:cNvSpPr/>
          <p:nvPr/>
        </p:nvSpPr>
        <p:spPr>
          <a:xfrm>
            <a:off x="7223760" y="4069080"/>
            <a:ext cx="4206240" cy="1783080"/>
          </a:xfrm>
          <a:prstGeom prst="rect">
            <a:avLst/>
          </a:prstGeom>
          <a:solidFill>
            <a:schemeClr val="bg1"/>
          </a:solidFill>
          <a:ln w="25400">
            <a:solidFill>
              <a:schemeClr val="tx1"/>
            </a:solidFill>
            <a:prstDash val="solid"/>
          </a:ln>
        </p:spPr>
      </p:sp>
      <p:pic>
        <p:nvPicPr>
          <p:cNvPr id="22" name="Image 3" descr="preencoded.png">    </p:cNvPr>
          <p:cNvPicPr>
            <a:picLocks noChangeAspect="1"/>
          </p:cNvPicPr>
          <p:nvPr/>
        </p:nvPicPr>
        <p:blipFill>
          <a:blip r:embed="rId4"/>
          <a:stretch>
            <a:fillRect/>
          </a:stretch>
        </p:blipFill>
        <p:spPr>
          <a:xfrm>
            <a:off x="10332720" y="4206240"/>
            <a:ext cx="960120" cy="1161288"/>
          </a:xfrm>
          <a:prstGeom prst="rect">
            <a:avLst/>
          </a:prstGeom>
        </p:spPr>
      </p:pic>
      <p:sp>
        <p:nvSpPr>
          <p:cNvPr id="23" name="Text 17"/>
          <p:cNvSpPr txBox="1"/>
          <p:nvPr/>
        </p:nvSpPr>
        <p:spPr>
          <a:xfrm>
            <a:off x="7406640" y="4233672"/>
            <a:ext cx="2834640" cy="457200"/>
          </a:xfrm>
          <a:prstGeom prst="rect">
            <a:avLst/>
          </a:prstGeom>
          <a:noFill/>
          <a:ln/>
        </p:spPr>
        <p:txBody>
          <a:bodyPr wrap="square" lIns="0" tIns="0" rIns="0" bIns="0" rtlCol="0" anchor="t"/>
          <a:lstStyle/>
          <a:p>
            <a:pPr indent="0" marL="0">
              <a:buNone/>
            </a:pPr>
            <a:r>
              <a:rPr lang="en-US" sz="1900" dirty="0">
                <a:solidFill>
                  <a:schemeClr val="accent1"/>
                </a:solidFill>
                <a:latin typeface="Rockwell Extra Bold" pitchFamily="34" charset="0"/>
                <a:ea typeface="Rockwell Extra Bold" pitchFamily="34" charset="-122"/>
                <a:cs typeface="Rockwell Extra Bold" pitchFamily="34" charset="-120"/>
              </a:rPr>
              <a:t>Le Bulldozer</a:t>
            </a:r>
            <a:endParaRPr lang="en-US" sz="1900" dirty="0"/>
          </a:p>
        </p:txBody>
      </p:sp>
      <p:sp>
        <p:nvSpPr>
          <p:cNvPr id="24" name="Text 18"/>
          <p:cNvSpPr txBox="1"/>
          <p:nvPr/>
        </p:nvSpPr>
        <p:spPr>
          <a:xfrm>
            <a:off x="7406640" y="4754880"/>
            <a:ext cx="2926080" cy="100584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Gagne les débats, perd les relations.</a:t>
            </a:r>
            <a:endParaRPr lang="en-US" sz="14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1"/>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lIns="0" tIns="0" rIns="0" bIns="0" rtlCol="0" anchor="t"/>
          <a:lstStyle/>
          <a:p>
            <a:pPr algn="l" indent="0" marL="0">
              <a:buNone/>
            </a:pPr>
            <a:r>
              <a:rPr lang="en-US" sz="3600" dirty="0">
                <a:solidFill>
                  <a:schemeClr val="accent1"/>
                </a:solidFill>
              </a:rPr>
              <a:t>9 coups bas · coche-les</a:t>
            </a:r>
            <a:endParaRPr lang="en-US" sz="3600" dirty="0"/>
          </a:p>
        </p:txBody>
      </p:sp>
      <p:sp>
        <p:nvSpPr>
          <p:cNvPr id="3" name="Shape 1"/>
          <p:cNvSpPr/>
          <p:nvPr/>
        </p:nvSpPr>
        <p:spPr>
          <a:xfrm>
            <a:off x="9966960" y="411480"/>
            <a:ext cx="1645920" cy="457200"/>
          </a:xfrm>
          <a:prstGeom prst="roundRect">
            <a:avLst>
              <a:gd name="adj" fmla="val 50000"/>
            </a:avLst>
          </a:prstGeom>
          <a:solidFill>
            <a:schemeClr val="tx1"/>
          </a:solidFill>
          <a:ln/>
        </p:spPr>
      </p:sp>
      <p:sp>
        <p:nvSpPr>
          <p:cNvPr id="4" name="Text 2"/>
          <p:cNvSpPr txBox="1"/>
          <p:nvPr/>
        </p:nvSpPr>
        <p:spPr>
          <a:xfrm>
            <a:off x="9966960" y="411480"/>
            <a:ext cx="1645920" cy="457200"/>
          </a:xfrm>
          <a:prstGeom prst="rect">
            <a:avLst/>
          </a:prstGeom>
          <a:noFill/>
          <a:ln/>
        </p:spPr>
        <p:txBody>
          <a:bodyPr wrap="square" lIns="0" tIns="0" rIns="0" bIns="0" rtlCol="0" anchor="ctr"/>
          <a:lstStyle/>
          <a:p>
            <a:pPr algn="ctr" indent="0" marL="0">
              <a:buNone/>
            </a:pPr>
            <a:r>
              <a:rPr lang="en-US" sz="1400" b="1" dirty="0">
                <a:solidFill>
                  <a:schemeClr val="bg2"/>
                </a:solidFill>
              </a:rPr>
              <a:t>⏱ 5 min</a:t>
            </a:r>
            <a:endParaRPr lang="en-US" sz="1400" dirty="0"/>
          </a:p>
        </p:txBody>
      </p:sp>
      <p:sp>
        <p:nvSpPr>
          <p:cNvPr id="5" name="Shape 3"/>
          <p:cNvSpPr/>
          <p:nvPr/>
        </p:nvSpPr>
        <p:spPr>
          <a:xfrm>
            <a:off x="548640" y="1371600"/>
            <a:ext cx="3566160" cy="1463040"/>
          </a:xfrm>
          <a:prstGeom prst="rect">
            <a:avLst/>
          </a:prstGeom>
          <a:solidFill>
            <a:schemeClr val="bg1"/>
          </a:solidFill>
          <a:ln w="25400">
            <a:solidFill>
              <a:schemeClr val="tx1"/>
            </a:solidFill>
            <a:prstDash val="solid"/>
          </a:ln>
        </p:spPr>
      </p:sp>
      <p:sp>
        <p:nvSpPr>
          <p:cNvPr id="6" name="Text 4"/>
          <p:cNvSpPr txBox="1"/>
          <p:nvPr/>
        </p:nvSpPr>
        <p:spPr>
          <a:xfrm>
            <a:off x="658368" y="1481328"/>
            <a:ext cx="868680" cy="685800"/>
          </a:xfrm>
          <a:prstGeom prst="rect">
            <a:avLst/>
          </a:prstGeom>
          <a:noFill/>
          <a:ln/>
        </p:spPr>
        <p:txBody>
          <a:bodyPr wrap="square" lIns="0" tIns="0" rIns="0" bIns="0" rtlCol="0" anchor="t"/>
          <a:lstStyle/>
          <a:p>
            <a:pPr indent="0" marL="0">
              <a:buNone/>
            </a:pPr>
            <a:r>
              <a:rPr lang="en-US" sz="3200" dirty="0">
                <a:solidFill>
                  <a:schemeClr val="accent1"/>
                </a:solidFill>
                <a:latin typeface="Rockwell Extra Bold" pitchFamily="34" charset="0"/>
                <a:ea typeface="Rockwell Extra Bold" pitchFamily="34" charset="-122"/>
                <a:cs typeface="Rockwell Extra Bold" pitchFamily="34" charset="-120"/>
              </a:rPr>
              <a:t>1</a:t>
            </a:r>
            <a:endParaRPr lang="en-US" sz="3200" dirty="0"/>
          </a:p>
        </p:txBody>
      </p:sp>
      <p:sp>
        <p:nvSpPr>
          <p:cNvPr id="7" name="Text 5"/>
          <p:cNvSpPr txBox="1"/>
          <p:nvPr/>
        </p:nvSpPr>
        <p:spPr>
          <a:xfrm>
            <a:off x="1554480" y="1481328"/>
            <a:ext cx="2468880" cy="365760"/>
          </a:xfrm>
          <a:prstGeom prst="rect">
            <a:avLst/>
          </a:prstGeom>
          <a:noFill/>
          <a:ln/>
        </p:spPr>
        <p:txBody>
          <a:bodyPr wrap="square" lIns="0" tIns="0" rIns="0" bIns="0" rtlCol="0" anchor="t"/>
          <a:lstStyle/>
          <a:p>
            <a:pPr indent="0" marL="0">
              <a:buNone/>
            </a:pPr>
            <a:r>
              <a:rPr lang="en-US" sz="1500" dirty="0">
                <a:solidFill>
                  <a:schemeClr val="tx1"/>
                </a:solidFill>
                <a:latin typeface="Rockwell Extra Bold" pitchFamily="34" charset="0"/>
                <a:ea typeface="Rockwell Extra Bold" pitchFamily="34" charset="-122"/>
                <a:cs typeface="Rockwell Extra Bold" pitchFamily="34" charset="-120"/>
              </a:rPr>
              <a:t>L'élastique</a:t>
            </a:r>
            <a:endParaRPr lang="en-US" sz="1500" dirty="0"/>
          </a:p>
        </p:txBody>
      </p:sp>
      <p:sp>
        <p:nvSpPr>
          <p:cNvPr id="8" name="Text 6"/>
          <p:cNvSpPr txBox="1"/>
          <p:nvPr/>
        </p:nvSpPr>
        <p:spPr>
          <a:xfrm>
            <a:off x="1554480" y="1828800"/>
            <a:ext cx="2468880" cy="411480"/>
          </a:xfrm>
          <a:prstGeom prst="rect">
            <a:avLst/>
          </a:prstGeom>
          <a:noFill/>
          <a:ln/>
        </p:spPr>
        <p:txBody>
          <a:bodyPr wrap="square" lIns="0" tIns="0" rIns="0" bIns="0" rtlCol="0" anchor="t"/>
          <a:lstStyle/>
          <a:p>
            <a:pPr indent="0" marL="0">
              <a:buNone/>
            </a:pPr>
            <a:r>
              <a:rPr lang="en-US" sz="1200" dirty="0">
                <a:solidFill>
                  <a:schemeClr val="tx1"/>
                </a:solidFill>
                <a:latin typeface="Arial" pitchFamily="34" charset="0"/>
                <a:ea typeface="Arial" pitchFamily="34" charset="-122"/>
                <a:cs typeface="Arial" pitchFamily="34" charset="-120"/>
              </a:rPr>
              <a:t>Étirer ta thèse jusqu'à l'absurde</a:t>
            </a:r>
            <a:endParaRPr lang="en-US" sz="1200" dirty="0"/>
          </a:p>
        </p:txBody>
      </p:sp>
      <p:sp>
        <p:nvSpPr>
          <p:cNvPr id="9" name="Text 7"/>
          <p:cNvSpPr txBox="1"/>
          <p:nvPr/>
        </p:nvSpPr>
        <p:spPr>
          <a:xfrm>
            <a:off x="685800" y="2331720"/>
            <a:ext cx="3337560" cy="411480"/>
          </a:xfrm>
          <a:prstGeom prst="rect">
            <a:avLst/>
          </a:prstGeom>
          <a:noFill/>
          <a:ln/>
        </p:spPr>
        <p:txBody>
          <a:bodyPr wrap="square" lIns="0" tIns="0" rIns="0" bIns="0" rtlCol="0" anchor="t"/>
          <a:lstStyle/>
          <a:p>
            <a:pPr indent="0" marL="0">
              <a:buNone/>
            </a:pPr>
            <a:r>
              <a:rPr lang="en-US" sz="1300" b="1" dirty="0">
                <a:solidFill>
                  <a:schemeClr val="tx2"/>
                </a:solidFill>
                <a:latin typeface="Arial" pitchFamily="34" charset="0"/>
                <a:ea typeface="Arial" pitchFamily="34" charset="-122"/>
                <a:cs typeface="Arial" pitchFamily="34" charset="-120"/>
              </a:rPr>
              <a:t>→ « Ce n'est pas ce que j'ai dit. »</a:t>
            </a:r>
            <a:endParaRPr lang="en-US" sz="1300" dirty="0"/>
          </a:p>
        </p:txBody>
      </p:sp>
      <p:sp>
        <p:nvSpPr>
          <p:cNvPr id="10" name="Shape 8"/>
          <p:cNvSpPr/>
          <p:nvPr/>
        </p:nvSpPr>
        <p:spPr>
          <a:xfrm>
            <a:off x="4279392" y="1371600"/>
            <a:ext cx="3566160" cy="1463040"/>
          </a:xfrm>
          <a:prstGeom prst="rect">
            <a:avLst/>
          </a:prstGeom>
          <a:solidFill>
            <a:schemeClr val="bg1"/>
          </a:solidFill>
          <a:ln w="25400">
            <a:solidFill>
              <a:schemeClr val="tx1"/>
            </a:solidFill>
            <a:prstDash val="solid"/>
          </a:ln>
        </p:spPr>
      </p:sp>
      <p:sp>
        <p:nvSpPr>
          <p:cNvPr id="11" name="Text 9"/>
          <p:cNvSpPr txBox="1"/>
          <p:nvPr/>
        </p:nvSpPr>
        <p:spPr>
          <a:xfrm>
            <a:off x="4389120" y="1481328"/>
            <a:ext cx="868680" cy="685800"/>
          </a:xfrm>
          <a:prstGeom prst="rect">
            <a:avLst/>
          </a:prstGeom>
          <a:noFill/>
          <a:ln/>
        </p:spPr>
        <p:txBody>
          <a:bodyPr wrap="square" lIns="0" tIns="0" rIns="0" bIns="0" rtlCol="0" anchor="t"/>
          <a:lstStyle/>
          <a:p>
            <a:pPr indent="0" marL="0">
              <a:buNone/>
            </a:pPr>
            <a:r>
              <a:rPr lang="en-US" sz="3200" dirty="0">
                <a:solidFill>
                  <a:schemeClr val="accent1"/>
                </a:solidFill>
                <a:latin typeface="Rockwell Extra Bold" pitchFamily="34" charset="0"/>
                <a:ea typeface="Rockwell Extra Bold" pitchFamily="34" charset="-122"/>
                <a:cs typeface="Rockwell Extra Bold" pitchFamily="34" charset="-120"/>
              </a:rPr>
              <a:t>8</a:t>
            </a:r>
            <a:endParaRPr lang="en-US" sz="3200" dirty="0"/>
          </a:p>
        </p:txBody>
      </p:sp>
      <p:sp>
        <p:nvSpPr>
          <p:cNvPr id="12" name="Text 10"/>
          <p:cNvSpPr txBox="1"/>
          <p:nvPr/>
        </p:nvSpPr>
        <p:spPr>
          <a:xfrm>
            <a:off x="5285232" y="1481328"/>
            <a:ext cx="2468880" cy="365760"/>
          </a:xfrm>
          <a:prstGeom prst="rect">
            <a:avLst/>
          </a:prstGeom>
          <a:noFill/>
          <a:ln/>
        </p:spPr>
        <p:txBody>
          <a:bodyPr wrap="square" lIns="0" tIns="0" rIns="0" bIns="0" rtlCol="0" anchor="t"/>
          <a:lstStyle/>
          <a:p>
            <a:pPr indent="0" marL="0">
              <a:buNone/>
            </a:pPr>
            <a:r>
              <a:rPr lang="en-US" sz="1500" dirty="0">
                <a:solidFill>
                  <a:schemeClr val="tx1"/>
                </a:solidFill>
                <a:latin typeface="Rockwell Extra Bold" pitchFamily="34" charset="0"/>
                <a:ea typeface="Rockwell Extra Bold" pitchFamily="34" charset="-122"/>
                <a:cs typeface="Rockwell Extra Bold" pitchFamily="34" charset="-120"/>
              </a:rPr>
              <a:t>L'allumette</a:t>
            </a:r>
            <a:endParaRPr lang="en-US" sz="1500" dirty="0"/>
          </a:p>
        </p:txBody>
      </p:sp>
      <p:sp>
        <p:nvSpPr>
          <p:cNvPr id="13" name="Text 11"/>
          <p:cNvSpPr txBox="1"/>
          <p:nvPr/>
        </p:nvSpPr>
        <p:spPr>
          <a:xfrm>
            <a:off x="5285232" y="1828800"/>
            <a:ext cx="2468880" cy="411480"/>
          </a:xfrm>
          <a:prstGeom prst="rect">
            <a:avLst/>
          </a:prstGeom>
          <a:noFill/>
          <a:ln/>
        </p:spPr>
        <p:txBody>
          <a:bodyPr wrap="square" lIns="0" tIns="0" rIns="0" bIns="0" rtlCol="0" anchor="t"/>
          <a:lstStyle/>
          <a:p>
            <a:pPr indent="0" marL="0">
              <a:buNone/>
            </a:pPr>
            <a:r>
              <a:rPr lang="en-US" sz="1200" dirty="0">
                <a:solidFill>
                  <a:schemeClr val="tx1"/>
                </a:solidFill>
                <a:latin typeface="Arial" pitchFamily="34" charset="0"/>
                <a:ea typeface="Arial" pitchFamily="34" charset="-122"/>
                <a:cs typeface="Arial" pitchFamily="34" charset="-120"/>
              </a:rPr>
              <a:t>Te mettre en colère</a:t>
            </a:r>
            <a:endParaRPr lang="en-US" sz="1200" dirty="0"/>
          </a:p>
        </p:txBody>
      </p:sp>
      <p:sp>
        <p:nvSpPr>
          <p:cNvPr id="14" name="Text 12"/>
          <p:cNvSpPr txBox="1"/>
          <p:nvPr/>
        </p:nvSpPr>
        <p:spPr>
          <a:xfrm>
            <a:off x="4416552" y="2331720"/>
            <a:ext cx="3337560" cy="411480"/>
          </a:xfrm>
          <a:prstGeom prst="rect">
            <a:avLst/>
          </a:prstGeom>
          <a:noFill/>
          <a:ln/>
        </p:spPr>
        <p:txBody>
          <a:bodyPr wrap="square" lIns="0" tIns="0" rIns="0" bIns="0" rtlCol="0" anchor="t"/>
          <a:lstStyle/>
          <a:p>
            <a:pPr indent="0" marL="0">
              <a:buNone/>
            </a:pPr>
            <a:r>
              <a:rPr lang="en-US" sz="1300" b="1" dirty="0">
                <a:solidFill>
                  <a:schemeClr val="tx2"/>
                </a:solidFill>
                <a:latin typeface="Arial" pitchFamily="34" charset="0"/>
                <a:ea typeface="Arial" pitchFamily="34" charset="-122"/>
                <a:cs typeface="Arial" pitchFamily="34" charset="-120"/>
              </a:rPr>
              <a:t>→ « Ça monte, je ralentis. »</a:t>
            </a:r>
            <a:endParaRPr lang="en-US" sz="1300" dirty="0"/>
          </a:p>
        </p:txBody>
      </p:sp>
      <p:sp>
        <p:nvSpPr>
          <p:cNvPr id="15" name="Shape 13"/>
          <p:cNvSpPr/>
          <p:nvPr/>
        </p:nvSpPr>
        <p:spPr>
          <a:xfrm>
            <a:off x="8010144" y="1371600"/>
            <a:ext cx="3566160" cy="1463040"/>
          </a:xfrm>
          <a:prstGeom prst="rect">
            <a:avLst/>
          </a:prstGeom>
          <a:solidFill>
            <a:schemeClr val="bg1"/>
          </a:solidFill>
          <a:ln w="25400">
            <a:solidFill>
              <a:schemeClr val="tx1"/>
            </a:solidFill>
            <a:prstDash val="solid"/>
          </a:ln>
        </p:spPr>
      </p:sp>
      <p:sp>
        <p:nvSpPr>
          <p:cNvPr id="16" name="Text 14"/>
          <p:cNvSpPr txBox="1"/>
          <p:nvPr/>
        </p:nvSpPr>
        <p:spPr>
          <a:xfrm>
            <a:off x="8119872" y="1481328"/>
            <a:ext cx="868680" cy="685800"/>
          </a:xfrm>
          <a:prstGeom prst="rect">
            <a:avLst/>
          </a:prstGeom>
          <a:noFill/>
          <a:ln/>
        </p:spPr>
        <p:txBody>
          <a:bodyPr wrap="square" lIns="0" tIns="0" rIns="0" bIns="0" rtlCol="0" anchor="t"/>
          <a:lstStyle/>
          <a:p>
            <a:pPr indent="0" marL="0">
              <a:buNone/>
            </a:pPr>
            <a:r>
              <a:rPr lang="en-US" sz="3200" dirty="0">
                <a:solidFill>
                  <a:schemeClr val="accent1"/>
                </a:solidFill>
                <a:latin typeface="Rockwell Extra Bold" pitchFamily="34" charset="0"/>
                <a:ea typeface="Rockwell Extra Bold" pitchFamily="34" charset="-122"/>
                <a:cs typeface="Rockwell Extra Bold" pitchFamily="34" charset="-120"/>
              </a:rPr>
              <a:t>13</a:t>
            </a:r>
            <a:endParaRPr lang="en-US" sz="3200" dirty="0"/>
          </a:p>
        </p:txBody>
      </p:sp>
      <p:sp>
        <p:nvSpPr>
          <p:cNvPr id="17" name="Text 15"/>
          <p:cNvSpPr txBox="1"/>
          <p:nvPr/>
        </p:nvSpPr>
        <p:spPr>
          <a:xfrm>
            <a:off x="9015984" y="1481328"/>
            <a:ext cx="2468880" cy="365760"/>
          </a:xfrm>
          <a:prstGeom prst="rect">
            <a:avLst/>
          </a:prstGeom>
          <a:noFill/>
          <a:ln/>
        </p:spPr>
        <p:txBody>
          <a:bodyPr wrap="square" lIns="0" tIns="0" rIns="0" bIns="0" rtlCol="0" anchor="t"/>
          <a:lstStyle/>
          <a:p>
            <a:pPr indent="0" marL="0">
              <a:buNone/>
            </a:pPr>
            <a:r>
              <a:rPr lang="en-US" sz="1500" dirty="0">
                <a:solidFill>
                  <a:schemeClr val="tx1"/>
                </a:solidFill>
                <a:latin typeface="Rockwell Extra Bold" pitchFamily="34" charset="0"/>
                <a:ea typeface="Rockwell Extra Bold" pitchFamily="34" charset="-122"/>
                <a:cs typeface="Rockwell Extra Bold" pitchFamily="34" charset="-120"/>
              </a:rPr>
              <a:t>Le faux choix</a:t>
            </a:r>
            <a:endParaRPr lang="en-US" sz="1500" dirty="0"/>
          </a:p>
        </p:txBody>
      </p:sp>
      <p:sp>
        <p:nvSpPr>
          <p:cNvPr id="18" name="Text 16"/>
          <p:cNvSpPr txBox="1"/>
          <p:nvPr/>
        </p:nvSpPr>
        <p:spPr>
          <a:xfrm>
            <a:off x="9015984" y="1828800"/>
            <a:ext cx="2468880" cy="411480"/>
          </a:xfrm>
          <a:prstGeom prst="rect">
            <a:avLst/>
          </a:prstGeom>
          <a:noFill/>
          <a:ln/>
        </p:spPr>
        <p:txBody>
          <a:bodyPr wrap="square" lIns="0" tIns="0" rIns="0" bIns="0" rtlCol="0" anchor="t"/>
          <a:lstStyle/>
          <a:p>
            <a:pPr indent="0" marL="0">
              <a:buNone/>
            </a:pPr>
            <a:r>
              <a:rPr lang="en-US" sz="1200" dirty="0">
                <a:solidFill>
                  <a:schemeClr val="tx1"/>
                </a:solidFill>
                <a:latin typeface="Arial" pitchFamily="34" charset="0"/>
                <a:ea typeface="Arial" pitchFamily="34" charset="-122"/>
                <a:cs typeface="Arial" pitchFamily="34" charset="-120"/>
              </a:rPr>
              <a:t>« C'est ça ou le chaos »</a:t>
            </a:r>
            <a:endParaRPr lang="en-US" sz="1200" dirty="0"/>
          </a:p>
        </p:txBody>
      </p:sp>
      <p:sp>
        <p:nvSpPr>
          <p:cNvPr id="19" name="Text 17"/>
          <p:cNvSpPr txBox="1"/>
          <p:nvPr/>
        </p:nvSpPr>
        <p:spPr>
          <a:xfrm>
            <a:off x="8147304" y="2331720"/>
            <a:ext cx="3337560" cy="411480"/>
          </a:xfrm>
          <a:prstGeom prst="rect">
            <a:avLst/>
          </a:prstGeom>
          <a:noFill/>
          <a:ln/>
        </p:spPr>
        <p:txBody>
          <a:bodyPr wrap="square" lIns="0" tIns="0" rIns="0" bIns="0" rtlCol="0" anchor="t"/>
          <a:lstStyle/>
          <a:p>
            <a:pPr indent="0" marL="0">
              <a:buNone/>
            </a:pPr>
            <a:r>
              <a:rPr lang="en-US" sz="1300" b="1" dirty="0">
                <a:solidFill>
                  <a:schemeClr val="tx2"/>
                </a:solidFill>
                <a:latin typeface="Arial" pitchFamily="34" charset="0"/>
                <a:ea typeface="Arial" pitchFamily="34" charset="-122"/>
                <a:cs typeface="Arial" pitchFamily="34" charset="-120"/>
              </a:rPr>
              <a:t>→ « Il existe une 3ᵉ option. »</a:t>
            </a:r>
            <a:endParaRPr lang="en-US" sz="1300" dirty="0"/>
          </a:p>
        </p:txBody>
      </p:sp>
      <p:sp>
        <p:nvSpPr>
          <p:cNvPr id="20" name="Shape 18"/>
          <p:cNvSpPr/>
          <p:nvPr/>
        </p:nvSpPr>
        <p:spPr>
          <a:xfrm>
            <a:off x="548640" y="2999232"/>
            <a:ext cx="3566160" cy="1463040"/>
          </a:xfrm>
          <a:prstGeom prst="rect">
            <a:avLst/>
          </a:prstGeom>
          <a:solidFill>
            <a:schemeClr val="bg1"/>
          </a:solidFill>
          <a:ln w="25400">
            <a:solidFill>
              <a:schemeClr val="tx1"/>
            </a:solidFill>
            <a:prstDash val="solid"/>
          </a:ln>
        </p:spPr>
      </p:sp>
      <p:sp>
        <p:nvSpPr>
          <p:cNvPr id="21" name="Text 19"/>
          <p:cNvSpPr txBox="1"/>
          <p:nvPr/>
        </p:nvSpPr>
        <p:spPr>
          <a:xfrm>
            <a:off x="658368" y="3108960"/>
            <a:ext cx="868680" cy="685800"/>
          </a:xfrm>
          <a:prstGeom prst="rect">
            <a:avLst/>
          </a:prstGeom>
          <a:noFill/>
          <a:ln/>
        </p:spPr>
        <p:txBody>
          <a:bodyPr wrap="square" lIns="0" tIns="0" rIns="0" bIns="0" rtlCol="0" anchor="t"/>
          <a:lstStyle/>
          <a:p>
            <a:pPr indent="0" marL="0">
              <a:buNone/>
            </a:pPr>
            <a:r>
              <a:rPr lang="en-US" sz="3200" dirty="0">
                <a:solidFill>
                  <a:schemeClr val="accent1"/>
                </a:solidFill>
                <a:latin typeface="Rockwell Extra Bold" pitchFamily="34" charset="0"/>
                <a:ea typeface="Rockwell Extra Bold" pitchFamily="34" charset="-122"/>
                <a:cs typeface="Rockwell Extra Bold" pitchFamily="34" charset="-120"/>
              </a:rPr>
              <a:t>18</a:t>
            </a:r>
            <a:endParaRPr lang="en-US" sz="3200" dirty="0"/>
          </a:p>
        </p:txBody>
      </p:sp>
      <p:sp>
        <p:nvSpPr>
          <p:cNvPr id="22" name="Text 20"/>
          <p:cNvSpPr txBox="1"/>
          <p:nvPr/>
        </p:nvSpPr>
        <p:spPr>
          <a:xfrm>
            <a:off x="1554480" y="3108960"/>
            <a:ext cx="2468880" cy="365760"/>
          </a:xfrm>
          <a:prstGeom prst="rect">
            <a:avLst/>
          </a:prstGeom>
          <a:noFill/>
          <a:ln/>
        </p:spPr>
        <p:txBody>
          <a:bodyPr wrap="square" lIns="0" tIns="0" rIns="0" bIns="0" rtlCol="0" anchor="t"/>
          <a:lstStyle/>
          <a:p>
            <a:pPr indent="0" marL="0">
              <a:buNone/>
            </a:pPr>
            <a:r>
              <a:rPr lang="en-US" sz="1500" dirty="0">
                <a:solidFill>
                  <a:schemeClr val="tx1"/>
                </a:solidFill>
                <a:latin typeface="Rockwell Extra Bold" pitchFamily="34" charset="0"/>
                <a:ea typeface="Rockwell Extra Bold" pitchFamily="34" charset="-122"/>
                <a:cs typeface="Rockwell Extra Bold" pitchFamily="34" charset="-120"/>
              </a:rPr>
              <a:t>Le coupe-fil</a:t>
            </a:r>
            <a:endParaRPr lang="en-US" sz="1500" dirty="0"/>
          </a:p>
        </p:txBody>
      </p:sp>
      <p:sp>
        <p:nvSpPr>
          <p:cNvPr id="23" name="Text 21"/>
          <p:cNvSpPr txBox="1"/>
          <p:nvPr/>
        </p:nvSpPr>
        <p:spPr>
          <a:xfrm>
            <a:off x="1554480" y="3456432"/>
            <a:ext cx="2468880" cy="411480"/>
          </a:xfrm>
          <a:prstGeom prst="rect">
            <a:avLst/>
          </a:prstGeom>
          <a:noFill/>
          <a:ln/>
        </p:spPr>
        <p:txBody>
          <a:bodyPr wrap="square" lIns="0" tIns="0" rIns="0" bIns="0" rtlCol="0" anchor="t"/>
          <a:lstStyle/>
          <a:p>
            <a:pPr indent="0" marL="0">
              <a:buNone/>
            </a:pPr>
            <a:r>
              <a:rPr lang="en-US" sz="1200" dirty="0">
                <a:solidFill>
                  <a:schemeClr val="tx1"/>
                </a:solidFill>
                <a:latin typeface="Arial" pitchFamily="34" charset="0"/>
                <a:ea typeface="Arial" pitchFamily="34" charset="-122"/>
                <a:cs typeface="Arial" pitchFamily="34" charset="-120"/>
              </a:rPr>
              <a:t>Interrompre quand on perd</a:t>
            </a:r>
            <a:endParaRPr lang="en-US" sz="1200" dirty="0"/>
          </a:p>
        </p:txBody>
      </p:sp>
      <p:sp>
        <p:nvSpPr>
          <p:cNvPr id="24" name="Text 22"/>
          <p:cNvSpPr txBox="1"/>
          <p:nvPr/>
        </p:nvSpPr>
        <p:spPr>
          <a:xfrm>
            <a:off x="685800" y="3959352"/>
            <a:ext cx="3337560" cy="411480"/>
          </a:xfrm>
          <a:prstGeom prst="rect">
            <a:avLst/>
          </a:prstGeom>
          <a:noFill/>
          <a:ln/>
        </p:spPr>
        <p:txBody>
          <a:bodyPr wrap="square" lIns="0" tIns="0" rIns="0" bIns="0" rtlCol="0" anchor="t"/>
          <a:lstStyle/>
          <a:p>
            <a:pPr indent="0" marL="0">
              <a:buNone/>
            </a:pPr>
            <a:r>
              <a:rPr lang="en-US" sz="1300" b="1" dirty="0">
                <a:solidFill>
                  <a:schemeClr val="tx2"/>
                </a:solidFill>
                <a:latin typeface="Arial" pitchFamily="34" charset="0"/>
                <a:ea typeface="Arial" pitchFamily="34" charset="-122"/>
                <a:cs typeface="Arial" pitchFamily="34" charset="-120"/>
              </a:rPr>
              <a:t>→ « Je finis, puis je t'écoute. »</a:t>
            </a:r>
            <a:endParaRPr lang="en-US" sz="1300" dirty="0"/>
          </a:p>
        </p:txBody>
      </p:sp>
      <p:sp>
        <p:nvSpPr>
          <p:cNvPr id="25" name="Shape 23"/>
          <p:cNvSpPr/>
          <p:nvPr/>
        </p:nvSpPr>
        <p:spPr>
          <a:xfrm>
            <a:off x="4279392" y="2999232"/>
            <a:ext cx="3566160" cy="1463040"/>
          </a:xfrm>
          <a:prstGeom prst="rect">
            <a:avLst/>
          </a:prstGeom>
          <a:solidFill>
            <a:schemeClr val="bg1"/>
          </a:solidFill>
          <a:ln w="25400">
            <a:solidFill>
              <a:schemeClr val="tx1"/>
            </a:solidFill>
            <a:prstDash val="solid"/>
          </a:ln>
        </p:spPr>
      </p:sp>
      <p:sp>
        <p:nvSpPr>
          <p:cNvPr id="26" name="Text 24"/>
          <p:cNvSpPr txBox="1"/>
          <p:nvPr/>
        </p:nvSpPr>
        <p:spPr>
          <a:xfrm>
            <a:off x="4389120" y="3108960"/>
            <a:ext cx="868680" cy="685800"/>
          </a:xfrm>
          <a:prstGeom prst="rect">
            <a:avLst/>
          </a:prstGeom>
          <a:noFill/>
          <a:ln/>
        </p:spPr>
        <p:txBody>
          <a:bodyPr wrap="square" lIns="0" tIns="0" rIns="0" bIns="0" rtlCol="0" anchor="t"/>
          <a:lstStyle/>
          <a:p>
            <a:pPr indent="0" marL="0">
              <a:buNone/>
            </a:pPr>
            <a:r>
              <a:rPr lang="en-US" sz="3200" dirty="0">
                <a:solidFill>
                  <a:schemeClr val="accent1"/>
                </a:solidFill>
                <a:latin typeface="Rockwell Extra Bold" pitchFamily="34" charset="0"/>
                <a:ea typeface="Rockwell Extra Bold" pitchFamily="34" charset="-122"/>
                <a:cs typeface="Rockwell Extra Bold" pitchFamily="34" charset="-120"/>
              </a:rPr>
              <a:t>29</a:t>
            </a:r>
            <a:endParaRPr lang="en-US" sz="3200" dirty="0"/>
          </a:p>
        </p:txBody>
      </p:sp>
      <p:sp>
        <p:nvSpPr>
          <p:cNvPr id="27" name="Text 25"/>
          <p:cNvSpPr txBox="1"/>
          <p:nvPr/>
        </p:nvSpPr>
        <p:spPr>
          <a:xfrm>
            <a:off x="5285232" y="3108960"/>
            <a:ext cx="2468880" cy="365760"/>
          </a:xfrm>
          <a:prstGeom prst="rect">
            <a:avLst/>
          </a:prstGeom>
          <a:noFill/>
          <a:ln/>
        </p:spPr>
        <p:txBody>
          <a:bodyPr wrap="square" lIns="0" tIns="0" rIns="0" bIns="0" rtlCol="0" anchor="t"/>
          <a:lstStyle/>
          <a:p>
            <a:pPr indent="0" marL="0">
              <a:buNone/>
            </a:pPr>
            <a:r>
              <a:rPr lang="en-US" sz="1500" dirty="0">
                <a:solidFill>
                  <a:schemeClr val="tx1"/>
                </a:solidFill>
                <a:latin typeface="Rockwell Extra Bold" pitchFamily="34" charset="0"/>
                <a:ea typeface="Rockwell Extra Bold" pitchFamily="34" charset="-122"/>
                <a:cs typeface="Rockwell Extra Bold" pitchFamily="34" charset="-120"/>
              </a:rPr>
              <a:t>La diversion</a:t>
            </a:r>
            <a:endParaRPr lang="en-US" sz="1500" dirty="0"/>
          </a:p>
        </p:txBody>
      </p:sp>
      <p:sp>
        <p:nvSpPr>
          <p:cNvPr id="28" name="Text 26"/>
          <p:cNvSpPr txBox="1"/>
          <p:nvPr/>
        </p:nvSpPr>
        <p:spPr>
          <a:xfrm>
            <a:off x="5285232" y="3456432"/>
            <a:ext cx="2468880" cy="411480"/>
          </a:xfrm>
          <a:prstGeom prst="rect">
            <a:avLst/>
          </a:prstGeom>
          <a:noFill/>
          <a:ln/>
        </p:spPr>
        <p:txBody>
          <a:bodyPr wrap="square" lIns="0" tIns="0" rIns="0" bIns="0" rtlCol="0" anchor="t"/>
          <a:lstStyle/>
          <a:p>
            <a:pPr indent="0" marL="0">
              <a:buNone/>
            </a:pPr>
            <a:r>
              <a:rPr lang="en-US" sz="1200" dirty="0">
                <a:solidFill>
                  <a:schemeClr val="tx1"/>
                </a:solidFill>
                <a:latin typeface="Arial" pitchFamily="34" charset="0"/>
                <a:ea typeface="Arial" pitchFamily="34" charset="-122"/>
                <a:cs typeface="Arial" pitchFamily="34" charset="-120"/>
              </a:rPr>
              <a:t>Changer de sujet en douce</a:t>
            </a:r>
            <a:endParaRPr lang="en-US" sz="1200" dirty="0"/>
          </a:p>
        </p:txBody>
      </p:sp>
      <p:sp>
        <p:nvSpPr>
          <p:cNvPr id="29" name="Text 27"/>
          <p:cNvSpPr txBox="1"/>
          <p:nvPr/>
        </p:nvSpPr>
        <p:spPr>
          <a:xfrm>
            <a:off x="4416552" y="3959352"/>
            <a:ext cx="3337560" cy="411480"/>
          </a:xfrm>
          <a:prstGeom prst="rect">
            <a:avLst/>
          </a:prstGeom>
          <a:noFill/>
          <a:ln/>
        </p:spPr>
        <p:txBody>
          <a:bodyPr wrap="square" lIns="0" tIns="0" rIns="0" bIns="0" rtlCol="0" anchor="t"/>
          <a:lstStyle/>
          <a:p>
            <a:pPr indent="0" marL="0">
              <a:buNone/>
            </a:pPr>
            <a:r>
              <a:rPr lang="en-US" sz="1300" b="1" dirty="0">
                <a:solidFill>
                  <a:schemeClr val="tx2"/>
                </a:solidFill>
                <a:latin typeface="Arial" pitchFamily="34" charset="0"/>
                <a:ea typeface="Arial" pitchFamily="34" charset="-122"/>
                <a:cs typeface="Arial" pitchFamily="34" charset="-120"/>
              </a:rPr>
              <a:t>→ « On parlait de… »</a:t>
            </a:r>
            <a:endParaRPr lang="en-US" sz="1300" dirty="0"/>
          </a:p>
        </p:txBody>
      </p:sp>
      <p:sp>
        <p:nvSpPr>
          <p:cNvPr id="30" name="Shape 28"/>
          <p:cNvSpPr/>
          <p:nvPr/>
        </p:nvSpPr>
        <p:spPr>
          <a:xfrm>
            <a:off x="8010144" y="2999232"/>
            <a:ext cx="3566160" cy="1463040"/>
          </a:xfrm>
          <a:prstGeom prst="rect">
            <a:avLst/>
          </a:prstGeom>
          <a:solidFill>
            <a:schemeClr val="bg1"/>
          </a:solidFill>
          <a:ln w="25400">
            <a:solidFill>
              <a:schemeClr val="tx1"/>
            </a:solidFill>
            <a:prstDash val="solid"/>
          </a:ln>
        </p:spPr>
      </p:sp>
      <p:sp>
        <p:nvSpPr>
          <p:cNvPr id="31" name="Text 29"/>
          <p:cNvSpPr txBox="1"/>
          <p:nvPr/>
        </p:nvSpPr>
        <p:spPr>
          <a:xfrm>
            <a:off x="8119872" y="3108960"/>
            <a:ext cx="868680" cy="685800"/>
          </a:xfrm>
          <a:prstGeom prst="rect">
            <a:avLst/>
          </a:prstGeom>
          <a:noFill/>
          <a:ln/>
        </p:spPr>
        <p:txBody>
          <a:bodyPr wrap="square" lIns="0" tIns="0" rIns="0" bIns="0" rtlCol="0" anchor="t"/>
          <a:lstStyle/>
          <a:p>
            <a:pPr indent="0" marL="0">
              <a:buNone/>
            </a:pPr>
            <a:r>
              <a:rPr lang="en-US" sz="3200" dirty="0">
                <a:solidFill>
                  <a:schemeClr val="accent1"/>
                </a:solidFill>
                <a:latin typeface="Rockwell Extra Bold" pitchFamily="34" charset="0"/>
                <a:ea typeface="Rockwell Extra Bold" pitchFamily="34" charset="-122"/>
                <a:cs typeface="Rockwell Extra Bold" pitchFamily="34" charset="-120"/>
              </a:rPr>
              <a:t>30</a:t>
            </a:r>
            <a:endParaRPr lang="en-US" sz="3200" dirty="0"/>
          </a:p>
        </p:txBody>
      </p:sp>
      <p:sp>
        <p:nvSpPr>
          <p:cNvPr id="32" name="Text 30"/>
          <p:cNvSpPr txBox="1"/>
          <p:nvPr/>
        </p:nvSpPr>
        <p:spPr>
          <a:xfrm>
            <a:off x="9015984" y="3108960"/>
            <a:ext cx="2468880" cy="365760"/>
          </a:xfrm>
          <a:prstGeom prst="rect">
            <a:avLst/>
          </a:prstGeom>
          <a:noFill/>
          <a:ln/>
        </p:spPr>
        <p:txBody>
          <a:bodyPr wrap="square" lIns="0" tIns="0" rIns="0" bIns="0" rtlCol="0" anchor="t"/>
          <a:lstStyle/>
          <a:p>
            <a:pPr indent="0" marL="0">
              <a:buNone/>
            </a:pPr>
            <a:r>
              <a:rPr lang="en-US" sz="1500" dirty="0">
                <a:solidFill>
                  <a:schemeClr val="tx1"/>
                </a:solidFill>
                <a:latin typeface="Rockwell Extra Bold" pitchFamily="34" charset="0"/>
                <a:ea typeface="Rockwell Extra Bold" pitchFamily="34" charset="-122"/>
                <a:cs typeface="Rockwell Extra Bold" pitchFamily="34" charset="-120"/>
              </a:rPr>
              <a:t>Le galon</a:t>
            </a:r>
            <a:endParaRPr lang="en-US" sz="1500" dirty="0"/>
          </a:p>
        </p:txBody>
      </p:sp>
      <p:sp>
        <p:nvSpPr>
          <p:cNvPr id="33" name="Text 31"/>
          <p:cNvSpPr txBox="1"/>
          <p:nvPr/>
        </p:nvSpPr>
        <p:spPr>
          <a:xfrm>
            <a:off x="9015984" y="3456432"/>
            <a:ext cx="2468880" cy="411480"/>
          </a:xfrm>
          <a:prstGeom prst="rect">
            <a:avLst/>
          </a:prstGeom>
          <a:noFill/>
          <a:ln/>
        </p:spPr>
        <p:txBody>
          <a:bodyPr wrap="square" lIns="0" tIns="0" rIns="0" bIns="0" rtlCol="0" anchor="t"/>
          <a:lstStyle/>
          <a:p>
            <a:pPr indent="0" marL="0">
              <a:buNone/>
            </a:pPr>
            <a:r>
              <a:rPr lang="en-US" sz="1200" dirty="0">
                <a:solidFill>
                  <a:schemeClr val="tx1"/>
                </a:solidFill>
                <a:latin typeface="Arial" pitchFamily="34" charset="0"/>
                <a:ea typeface="Arial" pitchFamily="34" charset="-122"/>
                <a:cs typeface="Arial" pitchFamily="34" charset="-120"/>
              </a:rPr>
              <a:t>« Un expert l'a dit »</a:t>
            </a:r>
            <a:endParaRPr lang="en-US" sz="1200" dirty="0"/>
          </a:p>
        </p:txBody>
      </p:sp>
      <p:sp>
        <p:nvSpPr>
          <p:cNvPr id="34" name="Text 32"/>
          <p:cNvSpPr txBox="1"/>
          <p:nvPr/>
        </p:nvSpPr>
        <p:spPr>
          <a:xfrm>
            <a:off x="8147304" y="3959352"/>
            <a:ext cx="3337560" cy="411480"/>
          </a:xfrm>
          <a:prstGeom prst="rect">
            <a:avLst/>
          </a:prstGeom>
          <a:noFill/>
          <a:ln/>
        </p:spPr>
        <p:txBody>
          <a:bodyPr wrap="square" lIns="0" tIns="0" rIns="0" bIns="0" rtlCol="0" anchor="t"/>
          <a:lstStyle/>
          <a:p>
            <a:pPr indent="0" marL="0">
              <a:buNone/>
            </a:pPr>
            <a:r>
              <a:rPr lang="en-US" sz="1300" b="1" dirty="0">
                <a:solidFill>
                  <a:schemeClr val="tx2"/>
                </a:solidFill>
                <a:latin typeface="Arial" pitchFamily="34" charset="0"/>
                <a:ea typeface="Arial" pitchFamily="34" charset="-122"/>
                <a:cs typeface="Arial" pitchFamily="34" charset="-120"/>
              </a:rPr>
              <a:t>→ « Quelles sont ses raisons? »</a:t>
            </a:r>
            <a:endParaRPr lang="en-US" sz="1300" dirty="0"/>
          </a:p>
        </p:txBody>
      </p:sp>
      <p:sp>
        <p:nvSpPr>
          <p:cNvPr id="35" name="Shape 33"/>
          <p:cNvSpPr/>
          <p:nvPr/>
        </p:nvSpPr>
        <p:spPr>
          <a:xfrm>
            <a:off x="548640" y="4626864"/>
            <a:ext cx="3566160" cy="1463040"/>
          </a:xfrm>
          <a:prstGeom prst="rect">
            <a:avLst/>
          </a:prstGeom>
          <a:solidFill>
            <a:schemeClr val="bg1"/>
          </a:solidFill>
          <a:ln w="25400">
            <a:solidFill>
              <a:schemeClr val="tx1"/>
            </a:solidFill>
            <a:prstDash val="solid"/>
          </a:ln>
        </p:spPr>
      </p:sp>
      <p:sp>
        <p:nvSpPr>
          <p:cNvPr id="36" name="Text 34"/>
          <p:cNvSpPr txBox="1"/>
          <p:nvPr/>
        </p:nvSpPr>
        <p:spPr>
          <a:xfrm>
            <a:off x="658368" y="4736592"/>
            <a:ext cx="868680" cy="685800"/>
          </a:xfrm>
          <a:prstGeom prst="rect">
            <a:avLst/>
          </a:prstGeom>
          <a:noFill/>
          <a:ln/>
        </p:spPr>
        <p:txBody>
          <a:bodyPr wrap="square" lIns="0" tIns="0" rIns="0" bIns="0" rtlCol="0" anchor="t"/>
          <a:lstStyle/>
          <a:p>
            <a:pPr indent="0" marL="0">
              <a:buNone/>
            </a:pPr>
            <a:r>
              <a:rPr lang="en-US" sz="3200" dirty="0">
                <a:solidFill>
                  <a:schemeClr val="accent1"/>
                </a:solidFill>
                <a:latin typeface="Rockwell Extra Bold" pitchFamily="34" charset="0"/>
                <a:ea typeface="Rockwell Extra Bold" pitchFamily="34" charset="-122"/>
                <a:cs typeface="Rockwell Extra Bold" pitchFamily="34" charset="-120"/>
              </a:rPr>
              <a:t>32</a:t>
            </a:r>
            <a:endParaRPr lang="en-US" sz="3200" dirty="0"/>
          </a:p>
        </p:txBody>
      </p:sp>
      <p:sp>
        <p:nvSpPr>
          <p:cNvPr id="37" name="Text 35"/>
          <p:cNvSpPr txBox="1"/>
          <p:nvPr/>
        </p:nvSpPr>
        <p:spPr>
          <a:xfrm>
            <a:off x="1554480" y="4736592"/>
            <a:ext cx="2468880" cy="365760"/>
          </a:xfrm>
          <a:prstGeom prst="rect">
            <a:avLst/>
          </a:prstGeom>
          <a:noFill/>
          <a:ln/>
        </p:spPr>
        <p:txBody>
          <a:bodyPr wrap="square" lIns="0" tIns="0" rIns="0" bIns="0" rtlCol="0" anchor="t"/>
          <a:lstStyle/>
          <a:p>
            <a:pPr indent="0" marL="0">
              <a:buNone/>
            </a:pPr>
            <a:r>
              <a:rPr lang="en-US" sz="1500" dirty="0">
                <a:solidFill>
                  <a:schemeClr val="tx1"/>
                </a:solidFill>
                <a:latin typeface="Rockwell Extra Bold" pitchFamily="34" charset="0"/>
                <a:ea typeface="Rockwell Extra Bold" pitchFamily="34" charset="-122"/>
                <a:cs typeface="Rockwell Extra Bold" pitchFamily="34" charset="-120"/>
              </a:rPr>
              <a:t>L'étiquette</a:t>
            </a:r>
            <a:endParaRPr lang="en-US" sz="1500" dirty="0"/>
          </a:p>
        </p:txBody>
      </p:sp>
      <p:sp>
        <p:nvSpPr>
          <p:cNvPr id="38" name="Text 36"/>
          <p:cNvSpPr txBox="1"/>
          <p:nvPr/>
        </p:nvSpPr>
        <p:spPr>
          <a:xfrm>
            <a:off x="1554480" y="5084064"/>
            <a:ext cx="2468880" cy="411480"/>
          </a:xfrm>
          <a:prstGeom prst="rect">
            <a:avLst/>
          </a:prstGeom>
          <a:noFill/>
          <a:ln/>
        </p:spPr>
        <p:txBody>
          <a:bodyPr wrap="square" lIns="0" tIns="0" rIns="0" bIns="0" rtlCol="0" anchor="t"/>
          <a:lstStyle/>
          <a:p>
            <a:pPr indent="0" marL="0">
              <a:buNone/>
            </a:pPr>
            <a:r>
              <a:rPr lang="en-US" sz="1200" dirty="0">
                <a:solidFill>
                  <a:schemeClr val="tx1"/>
                </a:solidFill>
                <a:latin typeface="Arial" pitchFamily="34" charset="0"/>
                <a:ea typeface="Arial" pitchFamily="34" charset="-122"/>
                <a:cs typeface="Arial" pitchFamily="34" charset="-120"/>
              </a:rPr>
              <a:t>Coller un nom odieux à l'idée</a:t>
            </a:r>
            <a:endParaRPr lang="en-US" sz="1200" dirty="0"/>
          </a:p>
        </p:txBody>
      </p:sp>
      <p:sp>
        <p:nvSpPr>
          <p:cNvPr id="39" name="Text 37"/>
          <p:cNvSpPr txBox="1"/>
          <p:nvPr/>
        </p:nvSpPr>
        <p:spPr>
          <a:xfrm>
            <a:off x="685800" y="5586984"/>
            <a:ext cx="3337560" cy="411480"/>
          </a:xfrm>
          <a:prstGeom prst="rect">
            <a:avLst/>
          </a:prstGeom>
          <a:noFill/>
          <a:ln/>
        </p:spPr>
        <p:txBody>
          <a:bodyPr wrap="square" lIns="0" tIns="0" rIns="0" bIns="0" rtlCol="0" anchor="t"/>
          <a:lstStyle/>
          <a:p>
            <a:pPr indent="0" marL="0">
              <a:buNone/>
            </a:pPr>
            <a:r>
              <a:rPr lang="en-US" sz="1300" b="1" dirty="0">
                <a:solidFill>
                  <a:schemeClr val="tx2"/>
                </a:solidFill>
                <a:latin typeface="Arial" pitchFamily="34" charset="0"/>
                <a:ea typeface="Arial" pitchFamily="34" charset="-122"/>
                <a:cs typeface="Arial" pitchFamily="34" charset="-120"/>
              </a:rPr>
              <a:t>→ « Parlons de l'idée, pas du mot. »</a:t>
            </a:r>
            <a:endParaRPr lang="en-US" sz="1300" dirty="0"/>
          </a:p>
        </p:txBody>
      </p:sp>
      <p:sp>
        <p:nvSpPr>
          <p:cNvPr id="40" name="Shape 38"/>
          <p:cNvSpPr/>
          <p:nvPr/>
        </p:nvSpPr>
        <p:spPr>
          <a:xfrm>
            <a:off x="4279392" y="4626864"/>
            <a:ext cx="3566160" cy="1463040"/>
          </a:xfrm>
          <a:prstGeom prst="rect">
            <a:avLst/>
          </a:prstGeom>
          <a:solidFill>
            <a:schemeClr val="bg1"/>
          </a:solidFill>
          <a:ln w="25400">
            <a:solidFill>
              <a:schemeClr val="tx1"/>
            </a:solidFill>
            <a:prstDash val="solid"/>
          </a:ln>
        </p:spPr>
      </p:sp>
      <p:sp>
        <p:nvSpPr>
          <p:cNvPr id="41" name="Text 39"/>
          <p:cNvSpPr txBox="1"/>
          <p:nvPr/>
        </p:nvSpPr>
        <p:spPr>
          <a:xfrm>
            <a:off x="4389120" y="4736592"/>
            <a:ext cx="868680" cy="685800"/>
          </a:xfrm>
          <a:prstGeom prst="rect">
            <a:avLst/>
          </a:prstGeom>
          <a:noFill/>
          <a:ln/>
        </p:spPr>
        <p:txBody>
          <a:bodyPr wrap="square" lIns="0" tIns="0" rIns="0" bIns="0" rtlCol="0" anchor="t"/>
          <a:lstStyle/>
          <a:p>
            <a:pPr indent="0" marL="0">
              <a:buNone/>
            </a:pPr>
            <a:r>
              <a:rPr lang="en-US" sz="3200" dirty="0">
                <a:solidFill>
                  <a:schemeClr val="accent1"/>
                </a:solidFill>
                <a:latin typeface="Rockwell Extra Bold" pitchFamily="34" charset="0"/>
                <a:ea typeface="Rockwell Extra Bold" pitchFamily="34" charset="-122"/>
                <a:cs typeface="Rockwell Extra Bold" pitchFamily="34" charset="-120"/>
              </a:rPr>
              <a:t>36</a:t>
            </a:r>
            <a:endParaRPr lang="en-US" sz="3200" dirty="0"/>
          </a:p>
        </p:txBody>
      </p:sp>
      <p:sp>
        <p:nvSpPr>
          <p:cNvPr id="42" name="Text 40"/>
          <p:cNvSpPr txBox="1"/>
          <p:nvPr/>
        </p:nvSpPr>
        <p:spPr>
          <a:xfrm>
            <a:off x="5285232" y="4736592"/>
            <a:ext cx="2468880" cy="365760"/>
          </a:xfrm>
          <a:prstGeom prst="rect">
            <a:avLst/>
          </a:prstGeom>
          <a:noFill/>
          <a:ln/>
        </p:spPr>
        <p:txBody>
          <a:bodyPr wrap="square" lIns="0" tIns="0" rIns="0" bIns="0" rtlCol="0" anchor="t"/>
          <a:lstStyle/>
          <a:p>
            <a:pPr indent="0" marL="0">
              <a:buNone/>
            </a:pPr>
            <a:r>
              <a:rPr lang="en-US" sz="1500" dirty="0">
                <a:solidFill>
                  <a:schemeClr val="tx1"/>
                </a:solidFill>
                <a:latin typeface="Rockwell Extra Bold" pitchFamily="34" charset="0"/>
                <a:ea typeface="Rockwell Extra Bold" pitchFamily="34" charset="-122"/>
                <a:cs typeface="Rockwell Extra Bold" pitchFamily="34" charset="-120"/>
              </a:rPr>
              <a:t>Le brouillard</a:t>
            </a:r>
            <a:endParaRPr lang="en-US" sz="1500" dirty="0"/>
          </a:p>
        </p:txBody>
      </p:sp>
      <p:sp>
        <p:nvSpPr>
          <p:cNvPr id="43" name="Text 41"/>
          <p:cNvSpPr txBox="1"/>
          <p:nvPr/>
        </p:nvSpPr>
        <p:spPr>
          <a:xfrm>
            <a:off x="5285232" y="5084064"/>
            <a:ext cx="2468880" cy="411480"/>
          </a:xfrm>
          <a:prstGeom prst="rect">
            <a:avLst/>
          </a:prstGeom>
          <a:noFill/>
          <a:ln/>
        </p:spPr>
        <p:txBody>
          <a:bodyPr wrap="square" lIns="0" tIns="0" rIns="0" bIns="0" rtlCol="0" anchor="t"/>
          <a:lstStyle/>
          <a:p>
            <a:pPr indent="0" marL="0">
              <a:buNone/>
            </a:pPr>
            <a:r>
              <a:rPr lang="en-US" sz="1200" dirty="0">
                <a:solidFill>
                  <a:schemeClr val="tx1"/>
                </a:solidFill>
                <a:latin typeface="Arial" pitchFamily="34" charset="0"/>
                <a:ea typeface="Arial" pitchFamily="34" charset="-122"/>
                <a:cs typeface="Arial" pitchFamily="34" charset="-120"/>
              </a:rPr>
              <a:t>Noyer sous le jargon</a:t>
            </a:r>
            <a:endParaRPr lang="en-US" sz="1200" dirty="0"/>
          </a:p>
        </p:txBody>
      </p:sp>
      <p:sp>
        <p:nvSpPr>
          <p:cNvPr id="44" name="Text 42"/>
          <p:cNvSpPr txBox="1"/>
          <p:nvPr/>
        </p:nvSpPr>
        <p:spPr>
          <a:xfrm>
            <a:off x="4416552" y="5586984"/>
            <a:ext cx="3337560" cy="411480"/>
          </a:xfrm>
          <a:prstGeom prst="rect">
            <a:avLst/>
          </a:prstGeom>
          <a:noFill/>
          <a:ln/>
        </p:spPr>
        <p:txBody>
          <a:bodyPr wrap="square" lIns="0" tIns="0" rIns="0" bIns="0" rtlCol="0" anchor="t"/>
          <a:lstStyle/>
          <a:p>
            <a:pPr indent="0" marL="0">
              <a:buNone/>
            </a:pPr>
            <a:r>
              <a:rPr lang="en-US" sz="1300" b="1" dirty="0">
                <a:solidFill>
                  <a:schemeClr val="tx2"/>
                </a:solidFill>
                <a:latin typeface="Arial" pitchFamily="34" charset="0"/>
                <a:ea typeface="Arial" pitchFamily="34" charset="-122"/>
                <a:cs typeface="Arial" pitchFamily="34" charset="-120"/>
              </a:rPr>
              <a:t>→ « Dis-le à un enfant de 10 ans. »</a:t>
            </a:r>
            <a:endParaRPr lang="en-US" sz="1300" dirty="0"/>
          </a:p>
        </p:txBody>
      </p:sp>
      <p:sp>
        <p:nvSpPr>
          <p:cNvPr id="45" name="Shape 43"/>
          <p:cNvSpPr/>
          <p:nvPr/>
        </p:nvSpPr>
        <p:spPr>
          <a:xfrm>
            <a:off x="8010144" y="4626864"/>
            <a:ext cx="3566160" cy="1463040"/>
          </a:xfrm>
          <a:prstGeom prst="rect">
            <a:avLst/>
          </a:prstGeom>
          <a:solidFill>
            <a:schemeClr val="bg1"/>
          </a:solidFill>
          <a:ln w="25400">
            <a:solidFill>
              <a:schemeClr val="tx1"/>
            </a:solidFill>
            <a:prstDash val="solid"/>
          </a:ln>
        </p:spPr>
      </p:sp>
      <p:sp>
        <p:nvSpPr>
          <p:cNvPr id="46" name="Text 44"/>
          <p:cNvSpPr txBox="1"/>
          <p:nvPr/>
        </p:nvSpPr>
        <p:spPr>
          <a:xfrm>
            <a:off x="8119872" y="4736592"/>
            <a:ext cx="868680" cy="685800"/>
          </a:xfrm>
          <a:prstGeom prst="rect">
            <a:avLst/>
          </a:prstGeom>
          <a:noFill/>
          <a:ln/>
        </p:spPr>
        <p:txBody>
          <a:bodyPr wrap="square" lIns="0" tIns="0" rIns="0" bIns="0" rtlCol="0" anchor="t"/>
          <a:lstStyle/>
          <a:p>
            <a:pPr indent="0" marL="0">
              <a:buNone/>
            </a:pPr>
            <a:r>
              <a:rPr lang="en-US" sz="3200" dirty="0">
                <a:solidFill>
                  <a:schemeClr val="accent1"/>
                </a:solidFill>
                <a:latin typeface="Rockwell Extra Bold" pitchFamily="34" charset="0"/>
                <a:ea typeface="Rockwell Extra Bold" pitchFamily="34" charset="-122"/>
                <a:cs typeface="Rockwell Extra Bold" pitchFamily="34" charset="-120"/>
              </a:rPr>
              <a:t>38</a:t>
            </a:r>
            <a:endParaRPr lang="en-US" sz="3200" dirty="0"/>
          </a:p>
        </p:txBody>
      </p:sp>
      <p:sp>
        <p:nvSpPr>
          <p:cNvPr id="47" name="Text 45"/>
          <p:cNvSpPr txBox="1"/>
          <p:nvPr/>
        </p:nvSpPr>
        <p:spPr>
          <a:xfrm>
            <a:off x="9015984" y="4736592"/>
            <a:ext cx="2468880" cy="365760"/>
          </a:xfrm>
          <a:prstGeom prst="rect">
            <a:avLst/>
          </a:prstGeom>
          <a:noFill/>
          <a:ln/>
        </p:spPr>
        <p:txBody>
          <a:bodyPr wrap="square" lIns="0" tIns="0" rIns="0" bIns="0" rtlCol="0" anchor="t"/>
          <a:lstStyle/>
          <a:p>
            <a:pPr indent="0" marL="0">
              <a:buNone/>
            </a:pPr>
            <a:r>
              <a:rPr lang="en-US" sz="1500" dirty="0">
                <a:solidFill>
                  <a:schemeClr val="tx1"/>
                </a:solidFill>
                <a:latin typeface="Rockwell Extra Bold" pitchFamily="34" charset="0"/>
                <a:ea typeface="Rockwell Extra Bold" pitchFamily="34" charset="-122"/>
                <a:cs typeface="Rockwell Extra Bold" pitchFamily="34" charset="-120"/>
              </a:rPr>
              <a:t>Le K.-O.</a:t>
            </a:r>
            <a:endParaRPr lang="en-US" sz="1500" dirty="0"/>
          </a:p>
        </p:txBody>
      </p:sp>
      <p:sp>
        <p:nvSpPr>
          <p:cNvPr id="48" name="Text 46"/>
          <p:cNvSpPr txBox="1"/>
          <p:nvPr/>
        </p:nvSpPr>
        <p:spPr>
          <a:xfrm>
            <a:off x="9015984" y="5084064"/>
            <a:ext cx="2468880" cy="411480"/>
          </a:xfrm>
          <a:prstGeom prst="rect">
            <a:avLst/>
          </a:prstGeom>
          <a:noFill/>
          <a:ln/>
        </p:spPr>
        <p:txBody>
          <a:bodyPr wrap="square" lIns="0" tIns="0" rIns="0" bIns="0" rtlCol="0" anchor="t"/>
          <a:lstStyle/>
          <a:p>
            <a:pPr indent="0" marL="0">
              <a:buNone/>
            </a:pPr>
            <a:r>
              <a:rPr lang="en-US" sz="1200" dirty="0">
                <a:solidFill>
                  <a:schemeClr val="tx1"/>
                </a:solidFill>
                <a:latin typeface="Arial" pitchFamily="34" charset="0"/>
                <a:ea typeface="Arial" pitchFamily="34" charset="-122"/>
                <a:cs typeface="Arial" pitchFamily="34" charset="-120"/>
              </a:rPr>
              <a:t>L'attaque personnelle</a:t>
            </a:r>
            <a:endParaRPr lang="en-US" sz="1200" dirty="0"/>
          </a:p>
        </p:txBody>
      </p:sp>
      <p:sp>
        <p:nvSpPr>
          <p:cNvPr id="49" name="Text 47"/>
          <p:cNvSpPr txBox="1"/>
          <p:nvPr/>
        </p:nvSpPr>
        <p:spPr>
          <a:xfrm>
            <a:off x="8147304" y="5586984"/>
            <a:ext cx="3337560" cy="411480"/>
          </a:xfrm>
          <a:prstGeom prst="rect">
            <a:avLst/>
          </a:prstGeom>
          <a:noFill/>
          <a:ln/>
        </p:spPr>
        <p:txBody>
          <a:bodyPr wrap="square" lIns="0" tIns="0" rIns="0" bIns="0" rtlCol="0" anchor="t"/>
          <a:lstStyle/>
          <a:p>
            <a:pPr indent="0" marL="0">
              <a:buNone/>
            </a:pPr>
            <a:r>
              <a:rPr lang="en-US" sz="1300" b="1" dirty="0">
                <a:solidFill>
                  <a:schemeClr val="tx2"/>
                </a:solidFill>
                <a:latin typeface="Arial" pitchFamily="34" charset="0"/>
                <a:ea typeface="Arial" pitchFamily="34" charset="-122"/>
                <a:cs typeface="Arial" pitchFamily="34" charset="-120"/>
              </a:rPr>
              <a:t>→ Le calme. Il n'a plus d'arguments.</a:t>
            </a:r>
            <a:endParaRPr lang="en-US" sz="13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1"/>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lIns="0" tIns="0" rIns="0" bIns="0" rtlCol="0" anchor="t"/>
          <a:lstStyle/>
          <a:p>
            <a:pPr algn="l" indent="0" marL="0">
              <a:buNone/>
            </a:pPr>
            <a:r>
              <a:rPr lang="en-US" sz="3600" dirty="0">
                <a:solidFill>
                  <a:schemeClr val="accent1"/>
                </a:solidFill>
              </a:rPr>
              <a:t>Les coups bas dans la vraie vie</a:t>
            </a:r>
            <a:endParaRPr lang="en-US" sz="3600" dirty="0"/>
          </a:p>
        </p:txBody>
      </p:sp>
      <p:sp>
        <p:nvSpPr>
          <p:cNvPr id="3" name="Text 1"/>
          <p:cNvSpPr txBox="1"/>
          <p:nvPr/>
        </p:nvSpPr>
        <p:spPr>
          <a:xfrm>
            <a:off x="548640" y="1325880"/>
            <a:ext cx="11064240" cy="548640"/>
          </a:xfrm>
          <a:prstGeom prst="rect">
            <a:avLst/>
          </a:prstGeom>
          <a:noFill/>
          <a:ln/>
        </p:spPr>
        <p:txBody>
          <a:bodyPr wrap="square" lIns="0" tIns="0" rIns="0" bIns="0" rtlCol="0" anchor="t"/>
          <a:lstStyle/>
          <a:p>
            <a:pPr indent="0" marL="0">
              <a:buNone/>
            </a:pPr>
            <a:r>
              <a:rPr lang="en-US" sz="1600" dirty="0">
                <a:solidFill>
                  <a:schemeClr val="tx1"/>
                </a:solidFill>
                <a:latin typeface="Arial" pitchFamily="34" charset="0"/>
                <a:ea typeface="Arial" pitchFamily="34" charset="-122"/>
                <a:cs typeface="Arial" pitchFamily="34" charset="-120"/>
              </a:rPr>
              <a:t>Ils ne restent pas dans les livres de philosophie. On les croise chaque semaine.</a:t>
            </a:r>
            <a:endParaRPr lang="en-US" sz="1600" dirty="0"/>
          </a:p>
        </p:txBody>
      </p:sp>
      <p:sp>
        <p:nvSpPr>
          <p:cNvPr id="4" name="Text 2"/>
          <p:cNvSpPr txBox="1"/>
          <p:nvPr/>
        </p:nvSpPr>
        <p:spPr>
          <a:xfrm>
            <a:off x="731520" y="2011680"/>
            <a:ext cx="2286000" cy="365760"/>
          </a:xfrm>
          <a:prstGeom prst="rect">
            <a:avLst/>
          </a:prstGeom>
          <a:noFill/>
          <a:ln/>
        </p:spPr>
        <p:txBody>
          <a:bodyPr wrap="square" lIns="0" tIns="0" rIns="0" bIns="0" rtlCol="0" anchor="t"/>
          <a:lstStyle/>
          <a:p>
            <a:pPr indent="0" marL="0">
              <a:buNone/>
            </a:pPr>
            <a:r>
              <a:rPr lang="en-US" sz="1400" b="1" dirty="0">
                <a:solidFill>
                  <a:schemeClr val="tx2"/>
                </a:solidFill>
                <a:latin typeface="Arial" pitchFamily="34" charset="0"/>
                <a:ea typeface="Arial" pitchFamily="34" charset="-122"/>
                <a:cs typeface="Arial" pitchFamily="34" charset="-120"/>
              </a:rPr>
              <a:t>Où</a:t>
            </a:r>
            <a:endParaRPr lang="en-US" sz="1400" dirty="0"/>
          </a:p>
        </p:txBody>
      </p:sp>
      <p:sp>
        <p:nvSpPr>
          <p:cNvPr id="5" name="Text 3"/>
          <p:cNvSpPr txBox="1"/>
          <p:nvPr/>
        </p:nvSpPr>
        <p:spPr>
          <a:xfrm>
            <a:off x="3291840" y="2011680"/>
            <a:ext cx="4572000" cy="365760"/>
          </a:xfrm>
          <a:prstGeom prst="rect">
            <a:avLst/>
          </a:prstGeom>
          <a:noFill/>
          <a:ln/>
        </p:spPr>
        <p:txBody>
          <a:bodyPr wrap="square" lIns="0" tIns="0" rIns="0" bIns="0" rtlCol="0" anchor="t"/>
          <a:lstStyle/>
          <a:p>
            <a:pPr indent="0" marL="0">
              <a:buNone/>
            </a:pPr>
            <a:r>
              <a:rPr lang="en-US" sz="1400" b="1" dirty="0">
                <a:solidFill>
                  <a:schemeClr val="tx2"/>
                </a:solidFill>
                <a:latin typeface="Arial" pitchFamily="34" charset="0"/>
                <a:ea typeface="Arial" pitchFamily="34" charset="-122"/>
                <a:cs typeface="Arial" pitchFamily="34" charset="-120"/>
              </a:rPr>
              <a:t>Ce qu'on entend</a:t>
            </a:r>
            <a:endParaRPr lang="en-US" sz="1400" dirty="0"/>
          </a:p>
        </p:txBody>
      </p:sp>
      <p:sp>
        <p:nvSpPr>
          <p:cNvPr id="6" name="Text 4"/>
          <p:cNvSpPr txBox="1"/>
          <p:nvPr/>
        </p:nvSpPr>
        <p:spPr>
          <a:xfrm>
            <a:off x="8778240" y="2011680"/>
            <a:ext cx="2743200" cy="365760"/>
          </a:xfrm>
          <a:prstGeom prst="rect">
            <a:avLst/>
          </a:prstGeom>
          <a:noFill/>
          <a:ln/>
        </p:spPr>
        <p:txBody>
          <a:bodyPr wrap="square" lIns="0" tIns="0" rIns="0" bIns="0" rtlCol="0" anchor="t"/>
          <a:lstStyle/>
          <a:p>
            <a:pPr indent="0" marL="0">
              <a:buNone/>
            </a:pPr>
            <a:r>
              <a:rPr lang="en-US" sz="1400" b="1" dirty="0">
                <a:solidFill>
                  <a:schemeClr val="tx2"/>
                </a:solidFill>
                <a:latin typeface="Arial" pitchFamily="34" charset="0"/>
                <a:ea typeface="Arial" pitchFamily="34" charset="-122"/>
                <a:cs typeface="Arial" pitchFamily="34" charset="-120"/>
              </a:rPr>
              <a:t>Le coup bas</a:t>
            </a:r>
            <a:endParaRPr lang="en-US" sz="1400" dirty="0"/>
          </a:p>
        </p:txBody>
      </p:sp>
      <p:sp>
        <p:nvSpPr>
          <p:cNvPr id="7" name="Shape 5"/>
          <p:cNvSpPr/>
          <p:nvPr/>
        </p:nvSpPr>
        <p:spPr>
          <a:xfrm>
            <a:off x="548640" y="2423160"/>
            <a:ext cx="2560320" cy="512064"/>
          </a:xfrm>
          <a:prstGeom prst="rect">
            <a:avLst/>
          </a:prstGeom>
          <a:solidFill>
            <a:schemeClr val="tx1"/>
          </a:solidFill>
          <a:ln w="19050">
            <a:solidFill>
              <a:schemeClr val="tx1"/>
            </a:solidFill>
            <a:prstDash val="solid"/>
          </a:ln>
        </p:spPr>
      </p:sp>
      <p:sp>
        <p:nvSpPr>
          <p:cNvPr id="8" name="Text 6"/>
          <p:cNvSpPr txBox="1"/>
          <p:nvPr/>
        </p:nvSpPr>
        <p:spPr>
          <a:xfrm>
            <a:off x="685800" y="2423160"/>
            <a:ext cx="2377440" cy="512064"/>
          </a:xfrm>
          <a:prstGeom prst="rect">
            <a:avLst/>
          </a:prstGeom>
          <a:noFill/>
          <a:ln/>
        </p:spPr>
        <p:txBody>
          <a:bodyPr wrap="square" lIns="0" tIns="0" rIns="0" bIns="0" rtlCol="0" anchor="ctr"/>
          <a:lstStyle/>
          <a:p>
            <a:pPr indent="0" marL="0">
              <a:buNone/>
            </a:pPr>
            <a:r>
              <a:rPr lang="en-US" sz="1500" b="1" dirty="0">
                <a:solidFill>
                  <a:schemeClr val="bg2"/>
                </a:solidFill>
                <a:latin typeface="Arial" pitchFamily="34" charset="0"/>
                <a:ea typeface="Arial" pitchFamily="34" charset="-122"/>
                <a:cs typeface="Arial" pitchFamily="34" charset="-120"/>
              </a:rPr>
              <a:t>Souper de famille</a:t>
            </a:r>
            <a:endParaRPr lang="en-US" sz="1500" dirty="0"/>
          </a:p>
        </p:txBody>
      </p:sp>
      <p:sp>
        <p:nvSpPr>
          <p:cNvPr id="9" name="Shape 7"/>
          <p:cNvSpPr/>
          <p:nvPr/>
        </p:nvSpPr>
        <p:spPr>
          <a:xfrm>
            <a:off x="3108960" y="2423160"/>
            <a:ext cx="5486400" cy="512064"/>
          </a:xfrm>
          <a:prstGeom prst="rect">
            <a:avLst/>
          </a:prstGeom>
          <a:solidFill>
            <a:schemeClr val="bg1"/>
          </a:solidFill>
          <a:ln w="19050">
            <a:solidFill>
              <a:schemeClr val="tx1"/>
            </a:solidFill>
            <a:prstDash val="solid"/>
          </a:ln>
        </p:spPr>
      </p:sp>
      <p:sp>
        <p:nvSpPr>
          <p:cNvPr id="10" name="Text 8"/>
          <p:cNvSpPr txBox="1"/>
          <p:nvPr/>
        </p:nvSpPr>
        <p:spPr>
          <a:xfrm>
            <a:off x="3291840" y="2423160"/>
            <a:ext cx="5212080" cy="512064"/>
          </a:xfrm>
          <a:prstGeom prst="rect">
            <a:avLst/>
          </a:prstGeom>
          <a:noFill/>
          <a:ln/>
        </p:spPr>
        <p:txBody>
          <a:bodyPr wrap="square" lIns="0" tIns="0" rIns="0" bIns="0" rtlCol="0" anchor="ctr"/>
          <a:lstStyle/>
          <a:p>
            <a:pPr indent="0" marL="0">
              <a:buNone/>
            </a:pPr>
            <a:r>
              <a:rPr lang="en-US" sz="1500" i="1" dirty="0">
                <a:solidFill>
                  <a:schemeClr val="tx1"/>
                </a:solidFill>
                <a:latin typeface="Arial" pitchFamily="34" charset="0"/>
                <a:ea typeface="Arial" pitchFamily="34" charset="-122"/>
                <a:cs typeface="Arial" pitchFamily="34" charset="-120"/>
              </a:rPr>
              <a:t>« Toi, de toute façon, t'as toujours été comme ça. »</a:t>
            </a:r>
            <a:endParaRPr lang="en-US" sz="1500" dirty="0"/>
          </a:p>
        </p:txBody>
      </p:sp>
      <p:sp>
        <p:nvSpPr>
          <p:cNvPr id="11" name="Shape 9"/>
          <p:cNvSpPr/>
          <p:nvPr/>
        </p:nvSpPr>
        <p:spPr>
          <a:xfrm>
            <a:off x="8595360" y="2423160"/>
            <a:ext cx="3017520" cy="512064"/>
          </a:xfrm>
          <a:prstGeom prst="rect">
            <a:avLst/>
          </a:prstGeom>
          <a:solidFill>
            <a:schemeClr val="accent2"/>
          </a:solidFill>
          <a:ln w="19050">
            <a:solidFill>
              <a:schemeClr val="tx1"/>
            </a:solidFill>
            <a:prstDash val="solid"/>
          </a:ln>
        </p:spPr>
      </p:sp>
      <p:sp>
        <p:nvSpPr>
          <p:cNvPr id="12" name="Text 10"/>
          <p:cNvSpPr txBox="1"/>
          <p:nvPr/>
        </p:nvSpPr>
        <p:spPr>
          <a:xfrm>
            <a:off x="8778240" y="2423160"/>
            <a:ext cx="2743200" cy="512064"/>
          </a:xfrm>
          <a:prstGeom prst="rect">
            <a:avLst/>
          </a:prstGeom>
          <a:noFill/>
          <a:ln/>
        </p:spPr>
        <p:txBody>
          <a:bodyPr wrap="square" lIns="0" tIns="0" rIns="0" bIns="0" rtlCol="0" anchor="ctr"/>
          <a:lstStyle/>
          <a:p>
            <a:pPr indent="0" marL="0">
              <a:buNone/>
            </a:pPr>
            <a:r>
              <a:rPr lang="en-US" sz="1500" b="1" dirty="0">
                <a:solidFill>
                  <a:schemeClr val="tx1"/>
                </a:solidFill>
                <a:latin typeface="Arial" pitchFamily="34" charset="0"/>
                <a:ea typeface="Arial" pitchFamily="34" charset="-122"/>
                <a:cs typeface="Arial" pitchFamily="34" charset="-120"/>
              </a:rPr>
              <a:t>38 · Le K.-O.</a:t>
            </a:r>
            <a:endParaRPr lang="en-US" sz="1500" dirty="0"/>
          </a:p>
        </p:txBody>
      </p:sp>
      <p:sp>
        <p:nvSpPr>
          <p:cNvPr id="13" name="Shape 11"/>
          <p:cNvSpPr/>
          <p:nvPr/>
        </p:nvSpPr>
        <p:spPr>
          <a:xfrm>
            <a:off x="548640" y="3044952"/>
            <a:ext cx="2560320" cy="512064"/>
          </a:xfrm>
          <a:prstGeom prst="rect">
            <a:avLst/>
          </a:prstGeom>
          <a:solidFill>
            <a:schemeClr val="tx1"/>
          </a:solidFill>
          <a:ln w="19050">
            <a:solidFill>
              <a:schemeClr val="tx1"/>
            </a:solidFill>
            <a:prstDash val="solid"/>
          </a:ln>
        </p:spPr>
      </p:sp>
      <p:sp>
        <p:nvSpPr>
          <p:cNvPr id="14" name="Text 12"/>
          <p:cNvSpPr txBox="1"/>
          <p:nvPr/>
        </p:nvSpPr>
        <p:spPr>
          <a:xfrm>
            <a:off x="685800" y="3044952"/>
            <a:ext cx="2377440" cy="512064"/>
          </a:xfrm>
          <a:prstGeom prst="rect">
            <a:avLst/>
          </a:prstGeom>
          <a:noFill/>
          <a:ln/>
        </p:spPr>
        <p:txBody>
          <a:bodyPr wrap="square" lIns="0" tIns="0" rIns="0" bIns="0" rtlCol="0" anchor="ctr"/>
          <a:lstStyle/>
          <a:p>
            <a:pPr indent="0" marL="0">
              <a:buNone/>
            </a:pPr>
            <a:r>
              <a:rPr lang="en-US" sz="1500" b="1" dirty="0">
                <a:solidFill>
                  <a:schemeClr val="bg2"/>
                </a:solidFill>
                <a:latin typeface="Arial" pitchFamily="34" charset="0"/>
                <a:ea typeface="Arial" pitchFamily="34" charset="-122"/>
                <a:cs typeface="Arial" pitchFamily="34" charset="-120"/>
              </a:rPr>
              <a:t>Réunion d'équipe</a:t>
            </a:r>
            <a:endParaRPr lang="en-US" sz="1500" dirty="0"/>
          </a:p>
        </p:txBody>
      </p:sp>
      <p:sp>
        <p:nvSpPr>
          <p:cNvPr id="15" name="Shape 13"/>
          <p:cNvSpPr/>
          <p:nvPr/>
        </p:nvSpPr>
        <p:spPr>
          <a:xfrm>
            <a:off x="3108960" y="3044952"/>
            <a:ext cx="5486400" cy="512064"/>
          </a:xfrm>
          <a:prstGeom prst="rect">
            <a:avLst/>
          </a:prstGeom>
          <a:solidFill>
            <a:schemeClr val="bg1"/>
          </a:solidFill>
          <a:ln w="19050">
            <a:solidFill>
              <a:schemeClr val="tx1"/>
            </a:solidFill>
            <a:prstDash val="solid"/>
          </a:ln>
        </p:spPr>
      </p:sp>
      <p:sp>
        <p:nvSpPr>
          <p:cNvPr id="16" name="Text 14"/>
          <p:cNvSpPr txBox="1"/>
          <p:nvPr/>
        </p:nvSpPr>
        <p:spPr>
          <a:xfrm>
            <a:off x="3291840" y="3044952"/>
            <a:ext cx="5212080" cy="512064"/>
          </a:xfrm>
          <a:prstGeom prst="rect">
            <a:avLst/>
          </a:prstGeom>
          <a:noFill/>
          <a:ln/>
        </p:spPr>
        <p:txBody>
          <a:bodyPr wrap="square" lIns="0" tIns="0" rIns="0" bIns="0" rtlCol="0" anchor="ctr"/>
          <a:lstStyle/>
          <a:p>
            <a:pPr indent="0" marL="0">
              <a:buNone/>
            </a:pPr>
            <a:r>
              <a:rPr lang="en-US" sz="1500" i="1" dirty="0">
                <a:solidFill>
                  <a:schemeClr val="tx1"/>
                </a:solidFill>
                <a:latin typeface="Arial" pitchFamily="34" charset="0"/>
                <a:ea typeface="Arial" pitchFamily="34" charset="-122"/>
                <a:cs typeface="Arial" pitchFamily="34" charset="-120"/>
              </a:rPr>
              <a:t>« C'est ça ou on ferme le projet. »</a:t>
            </a:r>
            <a:endParaRPr lang="en-US" sz="1500" dirty="0"/>
          </a:p>
        </p:txBody>
      </p:sp>
      <p:sp>
        <p:nvSpPr>
          <p:cNvPr id="17" name="Shape 15"/>
          <p:cNvSpPr/>
          <p:nvPr/>
        </p:nvSpPr>
        <p:spPr>
          <a:xfrm>
            <a:off x="8595360" y="3044952"/>
            <a:ext cx="3017520" cy="512064"/>
          </a:xfrm>
          <a:prstGeom prst="rect">
            <a:avLst/>
          </a:prstGeom>
          <a:solidFill>
            <a:schemeClr val="accent2"/>
          </a:solidFill>
          <a:ln w="19050">
            <a:solidFill>
              <a:schemeClr val="tx1"/>
            </a:solidFill>
            <a:prstDash val="solid"/>
          </a:ln>
        </p:spPr>
      </p:sp>
      <p:sp>
        <p:nvSpPr>
          <p:cNvPr id="18" name="Text 16"/>
          <p:cNvSpPr txBox="1"/>
          <p:nvPr/>
        </p:nvSpPr>
        <p:spPr>
          <a:xfrm>
            <a:off x="8778240" y="3044952"/>
            <a:ext cx="2743200" cy="512064"/>
          </a:xfrm>
          <a:prstGeom prst="rect">
            <a:avLst/>
          </a:prstGeom>
          <a:noFill/>
          <a:ln/>
        </p:spPr>
        <p:txBody>
          <a:bodyPr wrap="square" lIns="0" tIns="0" rIns="0" bIns="0" rtlCol="0" anchor="ctr"/>
          <a:lstStyle/>
          <a:p>
            <a:pPr indent="0" marL="0">
              <a:buNone/>
            </a:pPr>
            <a:r>
              <a:rPr lang="en-US" sz="1500" b="1" dirty="0">
                <a:solidFill>
                  <a:schemeClr val="tx1"/>
                </a:solidFill>
                <a:latin typeface="Arial" pitchFamily="34" charset="0"/>
                <a:ea typeface="Arial" pitchFamily="34" charset="-122"/>
                <a:cs typeface="Arial" pitchFamily="34" charset="-120"/>
              </a:rPr>
              <a:t>13 · Le faux choix</a:t>
            </a:r>
            <a:endParaRPr lang="en-US" sz="1500" dirty="0"/>
          </a:p>
        </p:txBody>
      </p:sp>
      <p:sp>
        <p:nvSpPr>
          <p:cNvPr id="19" name="Shape 17"/>
          <p:cNvSpPr/>
          <p:nvPr/>
        </p:nvSpPr>
        <p:spPr>
          <a:xfrm>
            <a:off x="548640" y="3666744"/>
            <a:ext cx="2560320" cy="512064"/>
          </a:xfrm>
          <a:prstGeom prst="rect">
            <a:avLst/>
          </a:prstGeom>
          <a:solidFill>
            <a:schemeClr val="tx1"/>
          </a:solidFill>
          <a:ln w="19050">
            <a:solidFill>
              <a:schemeClr val="tx1"/>
            </a:solidFill>
            <a:prstDash val="solid"/>
          </a:ln>
        </p:spPr>
      </p:sp>
      <p:sp>
        <p:nvSpPr>
          <p:cNvPr id="20" name="Text 18"/>
          <p:cNvSpPr txBox="1"/>
          <p:nvPr/>
        </p:nvSpPr>
        <p:spPr>
          <a:xfrm>
            <a:off x="685800" y="3666744"/>
            <a:ext cx="2377440" cy="512064"/>
          </a:xfrm>
          <a:prstGeom prst="rect">
            <a:avLst/>
          </a:prstGeom>
          <a:noFill/>
          <a:ln/>
        </p:spPr>
        <p:txBody>
          <a:bodyPr wrap="square" lIns="0" tIns="0" rIns="0" bIns="0" rtlCol="0" anchor="ctr"/>
          <a:lstStyle/>
          <a:p>
            <a:pPr indent="0" marL="0">
              <a:buNone/>
            </a:pPr>
            <a:r>
              <a:rPr lang="en-US" sz="1500" b="1" dirty="0">
                <a:solidFill>
                  <a:schemeClr val="bg2"/>
                </a:solidFill>
                <a:latin typeface="Arial" pitchFamily="34" charset="0"/>
                <a:ea typeface="Arial" pitchFamily="34" charset="-122"/>
                <a:cs typeface="Arial" pitchFamily="34" charset="-120"/>
              </a:rPr>
              <a:t>Réseaux sociaux</a:t>
            </a:r>
            <a:endParaRPr lang="en-US" sz="1500" dirty="0"/>
          </a:p>
        </p:txBody>
      </p:sp>
      <p:sp>
        <p:nvSpPr>
          <p:cNvPr id="21" name="Shape 19"/>
          <p:cNvSpPr/>
          <p:nvPr/>
        </p:nvSpPr>
        <p:spPr>
          <a:xfrm>
            <a:off x="3108960" y="3666744"/>
            <a:ext cx="5486400" cy="512064"/>
          </a:xfrm>
          <a:prstGeom prst="rect">
            <a:avLst/>
          </a:prstGeom>
          <a:solidFill>
            <a:schemeClr val="bg1"/>
          </a:solidFill>
          <a:ln w="19050">
            <a:solidFill>
              <a:schemeClr val="tx1"/>
            </a:solidFill>
            <a:prstDash val="solid"/>
          </a:ln>
        </p:spPr>
      </p:sp>
      <p:sp>
        <p:nvSpPr>
          <p:cNvPr id="22" name="Text 20"/>
          <p:cNvSpPr txBox="1"/>
          <p:nvPr/>
        </p:nvSpPr>
        <p:spPr>
          <a:xfrm>
            <a:off x="3291840" y="3666744"/>
            <a:ext cx="5212080" cy="512064"/>
          </a:xfrm>
          <a:prstGeom prst="rect">
            <a:avLst/>
          </a:prstGeom>
          <a:noFill/>
          <a:ln/>
        </p:spPr>
        <p:txBody>
          <a:bodyPr wrap="square" lIns="0" tIns="0" rIns="0" bIns="0" rtlCol="0" anchor="ctr"/>
          <a:lstStyle/>
          <a:p>
            <a:pPr indent="0" marL="0">
              <a:buNone/>
            </a:pPr>
            <a:r>
              <a:rPr lang="en-US" sz="1500" i="1" dirty="0">
                <a:solidFill>
                  <a:schemeClr val="tx1"/>
                </a:solidFill>
                <a:latin typeface="Arial" pitchFamily="34" charset="0"/>
                <a:ea typeface="Arial" pitchFamily="34" charset="-122"/>
                <a:cs typeface="Arial" pitchFamily="34" charset="-120"/>
              </a:rPr>
              <a:t>« Donc tu veux qu'on abolisse la police? »</a:t>
            </a:r>
            <a:endParaRPr lang="en-US" sz="1500" dirty="0"/>
          </a:p>
        </p:txBody>
      </p:sp>
      <p:sp>
        <p:nvSpPr>
          <p:cNvPr id="23" name="Shape 21"/>
          <p:cNvSpPr/>
          <p:nvPr/>
        </p:nvSpPr>
        <p:spPr>
          <a:xfrm>
            <a:off x="8595360" y="3666744"/>
            <a:ext cx="3017520" cy="512064"/>
          </a:xfrm>
          <a:prstGeom prst="rect">
            <a:avLst/>
          </a:prstGeom>
          <a:solidFill>
            <a:schemeClr val="accent2"/>
          </a:solidFill>
          <a:ln w="19050">
            <a:solidFill>
              <a:schemeClr val="tx1"/>
            </a:solidFill>
            <a:prstDash val="solid"/>
          </a:ln>
        </p:spPr>
      </p:sp>
      <p:sp>
        <p:nvSpPr>
          <p:cNvPr id="24" name="Text 22"/>
          <p:cNvSpPr txBox="1"/>
          <p:nvPr/>
        </p:nvSpPr>
        <p:spPr>
          <a:xfrm>
            <a:off x="8778240" y="3666744"/>
            <a:ext cx="2743200" cy="512064"/>
          </a:xfrm>
          <a:prstGeom prst="rect">
            <a:avLst/>
          </a:prstGeom>
          <a:noFill/>
          <a:ln/>
        </p:spPr>
        <p:txBody>
          <a:bodyPr wrap="square" lIns="0" tIns="0" rIns="0" bIns="0" rtlCol="0" anchor="ctr"/>
          <a:lstStyle/>
          <a:p>
            <a:pPr indent="0" marL="0">
              <a:buNone/>
            </a:pPr>
            <a:r>
              <a:rPr lang="en-US" sz="1500" b="1" dirty="0">
                <a:solidFill>
                  <a:schemeClr val="tx1"/>
                </a:solidFill>
                <a:latin typeface="Arial" pitchFamily="34" charset="0"/>
                <a:ea typeface="Arial" pitchFamily="34" charset="-122"/>
                <a:cs typeface="Arial" pitchFamily="34" charset="-120"/>
              </a:rPr>
              <a:t>1 · L'élastique</a:t>
            </a:r>
            <a:endParaRPr lang="en-US" sz="1500" dirty="0"/>
          </a:p>
        </p:txBody>
      </p:sp>
      <p:sp>
        <p:nvSpPr>
          <p:cNvPr id="25" name="Shape 23"/>
          <p:cNvSpPr/>
          <p:nvPr/>
        </p:nvSpPr>
        <p:spPr>
          <a:xfrm>
            <a:off x="548640" y="4288536"/>
            <a:ext cx="2560320" cy="512064"/>
          </a:xfrm>
          <a:prstGeom prst="rect">
            <a:avLst/>
          </a:prstGeom>
          <a:solidFill>
            <a:schemeClr val="tx1"/>
          </a:solidFill>
          <a:ln w="19050">
            <a:solidFill>
              <a:schemeClr val="tx1"/>
            </a:solidFill>
            <a:prstDash val="solid"/>
          </a:ln>
        </p:spPr>
      </p:sp>
      <p:sp>
        <p:nvSpPr>
          <p:cNvPr id="26" name="Text 24"/>
          <p:cNvSpPr txBox="1"/>
          <p:nvPr/>
        </p:nvSpPr>
        <p:spPr>
          <a:xfrm>
            <a:off x="685800" y="4288536"/>
            <a:ext cx="2377440" cy="512064"/>
          </a:xfrm>
          <a:prstGeom prst="rect">
            <a:avLst/>
          </a:prstGeom>
          <a:noFill/>
          <a:ln/>
        </p:spPr>
        <p:txBody>
          <a:bodyPr wrap="square" lIns="0" tIns="0" rIns="0" bIns="0" rtlCol="0" anchor="ctr"/>
          <a:lstStyle/>
          <a:p>
            <a:pPr indent="0" marL="0">
              <a:buNone/>
            </a:pPr>
            <a:r>
              <a:rPr lang="en-US" sz="1500" b="1" dirty="0">
                <a:solidFill>
                  <a:schemeClr val="bg2"/>
                </a:solidFill>
                <a:latin typeface="Arial" pitchFamily="34" charset="0"/>
                <a:ea typeface="Arial" pitchFamily="34" charset="-122"/>
                <a:cs typeface="Arial" pitchFamily="34" charset="-120"/>
              </a:rPr>
              <a:t>Conseil municipal</a:t>
            </a:r>
            <a:endParaRPr lang="en-US" sz="1500" dirty="0"/>
          </a:p>
        </p:txBody>
      </p:sp>
      <p:sp>
        <p:nvSpPr>
          <p:cNvPr id="27" name="Shape 25"/>
          <p:cNvSpPr/>
          <p:nvPr/>
        </p:nvSpPr>
        <p:spPr>
          <a:xfrm>
            <a:off x="3108960" y="4288536"/>
            <a:ext cx="5486400" cy="512064"/>
          </a:xfrm>
          <a:prstGeom prst="rect">
            <a:avLst/>
          </a:prstGeom>
          <a:solidFill>
            <a:schemeClr val="bg1"/>
          </a:solidFill>
          <a:ln w="19050">
            <a:solidFill>
              <a:schemeClr val="tx1"/>
            </a:solidFill>
            <a:prstDash val="solid"/>
          </a:ln>
        </p:spPr>
      </p:sp>
      <p:sp>
        <p:nvSpPr>
          <p:cNvPr id="28" name="Text 26"/>
          <p:cNvSpPr txBox="1"/>
          <p:nvPr/>
        </p:nvSpPr>
        <p:spPr>
          <a:xfrm>
            <a:off x="3291840" y="4288536"/>
            <a:ext cx="5212080" cy="512064"/>
          </a:xfrm>
          <a:prstGeom prst="rect">
            <a:avLst/>
          </a:prstGeom>
          <a:noFill/>
          <a:ln/>
        </p:spPr>
        <p:txBody>
          <a:bodyPr wrap="square" lIns="0" tIns="0" rIns="0" bIns="0" rtlCol="0" anchor="ctr"/>
          <a:lstStyle/>
          <a:p>
            <a:pPr indent="0" marL="0">
              <a:buNone/>
            </a:pPr>
            <a:r>
              <a:rPr lang="en-US" sz="1500" i="1" dirty="0">
                <a:solidFill>
                  <a:schemeClr val="tx1"/>
                </a:solidFill>
                <a:latin typeface="Arial" pitchFamily="34" charset="0"/>
                <a:ea typeface="Arial" pitchFamily="34" charset="-122"/>
                <a:cs typeface="Arial" pitchFamily="34" charset="-120"/>
              </a:rPr>
              <a:t>« Ça, c'est une idée de radicaux. »</a:t>
            </a:r>
            <a:endParaRPr lang="en-US" sz="1500" dirty="0"/>
          </a:p>
        </p:txBody>
      </p:sp>
      <p:sp>
        <p:nvSpPr>
          <p:cNvPr id="29" name="Shape 27"/>
          <p:cNvSpPr/>
          <p:nvPr/>
        </p:nvSpPr>
        <p:spPr>
          <a:xfrm>
            <a:off x="8595360" y="4288536"/>
            <a:ext cx="3017520" cy="512064"/>
          </a:xfrm>
          <a:prstGeom prst="rect">
            <a:avLst/>
          </a:prstGeom>
          <a:solidFill>
            <a:schemeClr val="accent2"/>
          </a:solidFill>
          <a:ln w="19050">
            <a:solidFill>
              <a:schemeClr val="tx1"/>
            </a:solidFill>
            <a:prstDash val="solid"/>
          </a:ln>
        </p:spPr>
      </p:sp>
      <p:sp>
        <p:nvSpPr>
          <p:cNvPr id="30" name="Text 28"/>
          <p:cNvSpPr txBox="1"/>
          <p:nvPr/>
        </p:nvSpPr>
        <p:spPr>
          <a:xfrm>
            <a:off x="8778240" y="4288536"/>
            <a:ext cx="2743200" cy="512064"/>
          </a:xfrm>
          <a:prstGeom prst="rect">
            <a:avLst/>
          </a:prstGeom>
          <a:noFill/>
          <a:ln/>
        </p:spPr>
        <p:txBody>
          <a:bodyPr wrap="square" lIns="0" tIns="0" rIns="0" bIns="0" rtlCol="0" anchor="ctr"/>
          <a:lstStyle/>
          <a:p>
            <a:pPr indent="0" marL="0">
              <a:buNone/>
            </a:pPr>
            <a:r>
              <a:rPr lang="en-US" sz="1500" b="1" dirty="0">
                <a:solidFill>
                  <a:schemeClr val="tx1"/>
                </a:solidFill>
                <a:latin typeface="Arial" pitchFamily="34" charset="0"/>
                <a:ea typeface="Arial" pitchFamily="34" charset="-122"/>
                <a:cs typeface="Arial" pitchFamily="34" charset="-120"/>
              </a:rPr>
              <a:t>32 · L'étiquette</a:t>
            </a:r>
            <a:endParaRPr lang="en-US" sz="1500" dirty="0"/>
          </a:p>
        </p:txBody>
      </p:sp>
      <p:sp>
        <p:nvSpPr>
          <p:cNvPr id="31" name="Shape 29"/>
          <p:cNvSpPr/>
          <p:nvPr/>
        </p:nvSpPr>
        <p:spPr>
          <a:xfrm>
            <a:off x="548640" y="4910328"/>
            <a:ext cx="2560320" cy="512064"/>
          </a:xfrm>
          <a:prstGeom prst="rect">
            <a:avLst/>
          </a:prstGeom>
          <a:solidFill>
            <a:schemeClr val="tx1"/>
          </a:solidFill>
          <a:ln w="19050">
            <a:solidFill>
              <a:schemeClr val="tx1"/>
            </a:solidFill>
            <a:prstDash val="solid"/>
          </a:ln>
        </p:spPr>
      </p:sp>
      <p:sp>
        <p:nvSpPr>
          <p:cNvPr id="32" name="Text 30"/>
          <p:cNvSpPr txBox="1"/>
          <p:nvPr/>
        </p:nvSpPr>
        <p:spPr>
          <a:xfrm>
            <a:off x="685800" y="4910328"/>
            <a:ext cx="2377440" cy="512064"/>
          </a:xfrm>
          <a:prstGeom prst="rect">
            <a:avLst/>
          </a:prstGeom>
          <a:noFill/>
          <a:ln/>
        </p:spPr>
        <p:txBody>
          <a:bodyPr wrap="square" lIns="0" tIns="0" rIns="0" bIns="0" rtlCol="0" anchor="ctr"/>
          <a:lstStyle/>
          <a:p>
            <a:pPr indent="0" marL="0">
              <a:buNone/>
            </a:pPr>
            <a:r>
              <a:rPr lang="en-US" sz="1500" b="1" dirty="0">
                <a:solidFill>
                  <a:schemeClr val="bg2"/>
                </a:solidFill>
                <a:latin typeface="Arial" pitchFamily="34" charset="0"/>
                <a:ea typeface="Arial" pitchFamily="34" charset="-122"/>
                <a:cs typeface="Arial" pitchFamily="34" charset="-120"/>
              </a:rPr>
              <a:t>Entre ami·es</a:t>
            </a:r>
            <a:endParaRPr lang="en-US" sz="1500" dirty="0"/>
          </a:p>
        </p:txBody>
      </p:sp>
      <p:sp>
        <p:nvSpPr>
          <p:cNvPr id="33" name="Shape 31"/>
          <p:cNvSpPr/>
          <p:nvPr/>
        </p:nvSpPr>
        <p:spPr>
          <a:xfrm>
            <a:off x="3108960" y="4910328"/>
            <a:ext cx="5486400" cy="512064"/>
          </a:xfrm>
          <a:prstGeom prst="rect">
            <a:avLst/>
          </a:prstGeom>
          <a:solidFill>
            <a:schemeClr val="bg1"/>
          </a:solidFill>
          <a:ln w="19050">
            <a:solidFill>
              <a:schemeClr val="tx1"/>
            </a:solidFill>
            <a:prstDash val="solid"/>
          </a:ln>
        </p:spPr>
      </p:sp>
      <p:sp>
        <p:nvSpPr>
          <p:cNvPr id="34" name="Text 32"/>
          <p:cNvSpPr txBox="1"/>
          <p:nvPr/>
        </p:nvSpPr>
        <p:spPr>
          <a:xfrm>
            <a:off x="3291840" y="4910328"/>
            <a:ext cx="5212080" cy="512064"/>
          </a:xfrm>
          <a:prstGeom prst="rect">
            <a:avLst/>
          </a:prstGeom>
          <a:noFill/>
          <a:ln/>
        </p:spPr>
        <p:txBody>
          <a:bodyPr wrap="square" lIns="0" tIns="0" rIns="0" bIns="0" rtlCol="0" anchor="ctr"/>
          <a:lstStyle/>
          <a:p>
            <a:pPr indent="0" marL="0">
              <a:buNone/>
            </a:pPr>
            <a:r>
              <a:rPr lang="en-US" sz="1500" i="1" dirty="0">
                <a:solidFill>
                  <a:schemeClr val="tx1"/>
                </a:solidFill>
                <a:latin typeface="Arial" pitchFamily="34" charset="0"/>
                <a:ea typeface="Arial" pitchFamily="34" charset="-122"/>
                <a:cs typeface="Arial" pitchFamily="34" charset="-120"/>
              </a:rPr>
              <a:t>« Un médecin l'a dit à la télé, c'est réglé. »</a:t>
            </a:r>
            <a:endParaRPr lang="en-US" sz="1500" dirty="0"/>
          </a:p>
        </p:txBody>
      </p:sp>
      <p:sp>
        <p:nvSpPr>
          <p:cNvPr id="35" name="Shape 33"/>
          <p:cNvSpPr/>
          <p:nvPr/>
        </p:nvSpPr>
        <p:spPr>
          <a:xfrm>
            <a:off x="8595360" y="4910328"/>
            <a:ext cx="3017520" cy="512064"/>
          </a:xfrm>
          <a:prstGeom prst="rect">
            <a:avLst/>
          </a:prstGeom>
          <a:solidFill>
            <a:schemeClr val="accent2"/>
          </a:solidFill>
          <a:ln w="19050">
            <a:solidFill>
              <a:schemeClr val="tx1"/>
            </a:solidFill>
            <a:prstDash val="solid"/>
          </a:ln>
        </p:spPr>
      </p:sp>
      <p:sp>
        <p:nvSpPr>
          <p:cNvPr id="36" name="Text 34"/>
          <p:cNvSpPr txBox="1"/>
          <p:nvPr/>
        </p:nvSpPr>
        <p:spPr>
          <a:xfrm>
            <a:off x="8778240" y="4910328"/>
            <a:ext cx="2743200" cy="512064"/>
          </a:xfrm>
          <a:prstGeom prst="rect">
            <a:avLst/>
          </a:prstGeom>
          <a:noFill/>
          <a:ln/>
        </p:spPr>
        <p:txBody>
          <a:bodyPr wrap="square" lIns="0" tIns="0" rIns="0" bIns="0" rtlCol="0" anchor="ctr"/>
          <a:lstStyle/>
          <a:p>
            <a:pPr indent="0" marL="0">
              <a:buNone/>
            </a:pPr>
            <a:r>
              <a:rPr lang="en-US" sz="1500" b="1" dirty="0">
                <a:solidFill>
                  <a:schemeClr val="tx1"/>
                </a:solidFill>
                <a:latin typeface="Arial" pitchFamily="34" charset="0"/>
                <a:ea typeface="Arial" pitchFamily="34" charset="-122"/>
                <a:cs typeface="Arial" pitchFamily="34" charset="-120"/>
              </a:rPr>
              <a:t>30 · Le galon</a:t>
            </a:r>
            <a:endParaRPr lang="en-US" sz="1500" dirty="0"/>
          </a:p>
        </p:txBody>
      </p:sp>
      <p:sp>
        <p:nvSpPr>
          <p:cNvPr id="37" name="Shape 35"/>
          <p:cNvSpPr/>
          <p:nvPr/>
        </p:nvSpPr>
        <p:spPr>
          <a:xfrm>
            <a:off x="548640" y="5532120"/>
            <a:ext cx="2560320" cy="512064"/>
          </a:xfrm>
          <a:prstGeom prst="rect">
            <a:avLst/>
          </a:prstGeom>
          <a:solidFill>
            <a:schemeClr val="tx1"/>
          </a:solidFill>
          <a:ln w="19050">
            <a:solidFill>
              <a:schemeClr val="tx1"/>
            </a:solidFill>
            <a:prstDash val="solid"/>
          </a:ln>
        </p:spPr>
      </p:sp>
      <p:sp>
        <p:nvSpPr>
          <p:cNvPr id="38" name="Text 36"/>
          <p:cNvSpPr txBox="1"/>
          <p:nvPr/>
        </p:nvSpPr>
        <p:spPr>
          <a:xfrm>
            <a:off x="685800" y="5532120"/>
            <a:ext cx="2377440" cy="512064"/>
          </a:xfrm>
          <a:prstGeom prst="rect">
            <a:avLst/>
          </a:prstGeom>
          <a:noFill/>
          <a:ln/>
        </p:spPr>
        <p:txBody>
          <a:bodyPr wrap="square" lIns="0" tIns="0" rIns="0" bIns="0" rtlCol="0" anchor="ctr"/>
          <a:lstStyle/>
          <a:p>
            <a:pPr indent="0" marL="0">
              <a:buNone/>
            </a:pPr>
            <a:r>
              <a:rPr lang="en-US" sz="1500" b="1" dirty="0">
                <a:solidFill>
                  <a:schemeClr val="bg2"/>
                </a:solidFill>
                <a:latin typeface="Arial" pitchFamily="34" charset="0"/>
                <a:ea typeface="Arial" pitchFamily="34" charset="-122"/>
                <a:cs typeface="Arial" pitchFamily="34" charset="-120"/>
              </a:rPr>
              <a:t>Couple</a:t>
            </a:r>
            <a:endParaRPr lang="en-US" sz="1500" dirty="0"/>
          </a:p>
        </p:txBody>
      </p:sp>
      <p:sp>
        <p:nvSpPr>
          <p:cNvPr id="39" name="Shape 37"/>
          <p:cNvSpPr/>
          <p:nvPr/>
        </p:nvSpPr>
        <p:spPr>
          <a:xfrm>
            <a:off x="3108960" y="5532120"/>
            <a:ext cx="5486400" cy="512064"/>
          </a:xfrm>
          <a:prstGeom prst="rect">
            <a:avLst/>
          </a:prstGeom>
          <a:solidFill>
            <a:schemeClr val="bg1"/>
          </a:solidFill>
          <a:ln w="19050">
            <a:solidFill>
              <a:schemeClr val="tx1"/>
            </a:solidFill>
            <a:prstDash val="solid"/>
          </a:ln>
        </p:spPr>
      </p:sp>
      <p:sp>
        <p:nvSpPr>
          <p:cNvPr id="40" name="Text 38"/>
          <p:cNvSpPr txBox="1"/>
          <p:nvPr/>
        </p:nvSpPr>
        <p:spPr>
          <a:xfrm>
            <a:off x="3291840" y="5532120"/>
            <a:ext cx="5212080" cy="512064"/>
          </a:xfrm>
          <a:prstGeom prst="rect">
            <a:avLst/>
          </a:prstGeom>
          <a:noFill/>
          <a:ln/>
        </p:spPr>
        <p:txBody>
          <a:bodyPr wrap="square" lIns="0" tIns="0" rIns="0" bIns="0" rtlCol="0" anchor="ctr"/>
          <a:lstStyle/>
          <a:p>
            <a:pPr indent="0" marL="0">
              <a:buNone/>
            </a:pPr>
            <a:r>
              <a:rPr lang="en-US" sz="1500" i="1" dirty="0">
                <a:solidFill>
                  <a:schemeClr val="tx1"/>
                </a:solidFill>
                <a:latin typeface="Arial" pitchFamily="34" charset="0"/>
                <a:ea typeface="Arial" pitchFamily="34" charset="-122"/>
                <a:cs typeface="Arial" pitchFamily="34" charset="-120"/>
              </a:rPr>
              <a:t>« Pis toi, la semaine passée, hein? »</a:t>
            </a:r>
            <a:endParaRPr lang="en-US" sz="1500" dirty="0"/>
          </a:p>
        </p:txBody>
      </p:sp>
      <p:sp>
        <p:nvSpPr>
          <p:cNvPr id="41" name="Shape 39"/>
          <p:cNvSpPr/>
          <p:nvPr/>
        </p:nvSpPr>
        <p:spPr>
          <a:xfrm>
            <a:off x="8595360" y="5532120"/>
            <a:ext cx="3017520" cy="512064"/>
          </a:xfrm>
          <a:prstGeom prst="rect">
            <a:avLst/>
          </a:prstGeom>
          <a:solidFill>
            <a:schemeClr val="accent2"/>
          </a:solidFill>
          <a:ln w="19050">
            <a:solidFill>
              <a:schemeClr val="tx1"/>
            </a:solidFill>
            <a:prstDash val="solid"/>
          </a:ln>
        </p:spPr>
      </p:sp>
      <p:sp>
        <p:nvSpPr>
          <p:cNvPr id="42" name="Text 40"/>
          <p:cNvSpPr txBox="1"/>
          <p:nvPr/>
        </p:nvSpPr>
        <p:spPr>
          <a:xfrm>
            <a:off x="8778240" y="5532120"/>
            <a:ext cx="2743200" cy="512064"/>
          </a:xfrm>
          <a:prstGeom prst="rect">
            <a:avLst/>
          </a:prstGeom>
          <a:noFill/>
          <a:ln/>
        </p:spPr>
        <p:txBody>
          <a:bodyPr wrap="square" lIns="0" tIns="0" rIns="0" bIns="0" rtlCol="0" anchor="ctr"/>
          <a:lstStyle/>
          <a:p>
            <a:pPr indent="0" marL="0">
              <a:buNone/>
            </a:pPr>
            <a:r>
              <a:rPr lang="en-US" sz="1500" b="1" dirty="0">
                <a:solidFill>
                  <a:schemeClr val="tx1"/>
                </a:solidFill>
                <a:latin typeface="Arial" pitchFamily="34" charset="0"/>
                <a:ea typeface="Arial" pitchFamily="34" charset="-122"/>
                <a:cs typeface="Arial" pitchFamily="34" charset="-120"/>
              </a:rPr>
              <a:t>29 · La diversion</a:t>
            </a:r>
            <a:endParaRPr lang="en-US" sz="15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1"/>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lIns="0" tIns="0" rIns="0" bIns="0" rtlCol="0" anchor="t"/>
          <a:lstStyle/>
          <a:p>
            <a:pPr algn="l" indent="0" marL="0">
              <a:buNone/>
            </a:pPr>
            <a:r>
              <a:rPr lang="en-US" sz="3600" dirty="0">
                <a:solidFill>
                  <a:schemeClr val="accent1"/>
                </a:solidFill>
              </a:rPr>
              <a:t>Monte la pyramide du désaccord</a:t>
            </a:r>
            <a:endParaRPr lang="en-US" sz="3600" dirty="0"/>
          </a:p>
        </p:txBody>
      </p:sp>
      <p:sp>
        <p:nvSpPr>
          <p:cNvPr id="3" name="Shape 1"/>
          <p:cNvSpPr/>
          <p:nvPr/>
        </p:nvSpPr>
        <p:spPr>
          <a:xfrm>
            <a:off x="2834640" y="1325880"/>
            <a:ext cx="2377440" cy="621792"/>
          </a:xfrm>
          <a:prstGeom prst="rect">
            <a:avLst/>
          </a:prstGeom>
          <a:solidFill>
            <a:schemeClr val="accent1"/>
          </a:solidFill>
          <a:ln/>
        </p:spPr>
      </p:sp>
      <p:sp>
        <p:nvSpPr>
          <p:cNvPr id="4" name="Text 2"/>
          <p:cNvSpPr txBox="1"/>
          <p:nvPr/>
        </p:nvSpPr>
        <p:spPr>
          <a:xfrm>
            <a:off x="2834640" y="1325880"/>
            <a:ext cx="2377440" cy="621792"/>
          </a:xfrm>
          <a:prstGeom prst="rect">
            <a:avLst/>
          </a:prstGeom>
          <a:noFill/>
          <a:ln/>
        </p:spPr>
        <p:txBody>
          <a:bodyPr wrap="square" lIns="0" tIns="0" rIns="0" bIns="0" rtlCol="0" anchor="ctr"/>
          <a:lstStyle/>
          <a:p>
            <a:pPr algn="ctr" indent="0" marL="0">
              <a:buNone/>
            </a:pPr>
            <a:r>
              <a:rPr lang="en-US" sz="1500" dirty="0">
                <a:solidFill>
                  <a:schemeClr val="bg2"/>
                </a:solidFill>
                <a:latin typeface="Rockwell Extra Bold" pitchFamily="34" charset="0"/>
                <a:ea typeface="Rockwell Extra Bold" pitchFamily="34" charset="-122"/>
                <a:cs typeface="Rockwell Extra Bold" pitchFamily="34" charset="-120"/>
              </a:rPr>
              <a:t>6 · Réfuter le cœur</a:t>
            </a:r>
            <a:endParaRPr lang="en-US" sz="1500" dirty="0"/>
          </a:p>
        </p:txBody>
      </p:sp>
      <p:sp>
        <p:nvSpPr>
          <p:cNvPr id="5" name="Text 3"/>
          <p:cNvSpPr txBox="1"/>
          <p:nvPr/>
        </p:nvSpPr>
        <p:spPr>
          <a:xfrm>
            <a:off x="7589520" y="1325880"/>
            <a:ext cx="4023360" cy="621792"/>
          </a:xfrm>
          <a:prstGeom prst="rect">
            <a:avLst/>
          </a:prstGeom>
          <a:noFill/>
          <a:ln/>
        </p:spPr>
        <p:txBody>
          <a:bodyPr wrap="square" lIns="0" tIns="0" rIns="0" bIns="0" rtlCol="0" anchor="ctr"/>
          <a:lstStyle/>
          <a:p>
            <a:pPr indent="0" marL="0">
              <a:buNone/>
            </a:pPr>
            <a:r>
              <a:rPr lang="en-US" sz="1300" dirty="0">
                <a:solidFill>
                  <a:schemeClr val="tx1"/>
                </a:solidFill>
                <a:latin typeface="Arial" pitchFamily="34" charset="0"/>
                <a:ea typeface="Arial" pitchFamily="34" charset="-122"/>
                <a:cs typeface="Arial" pitchFamily="34" charset="-120"/>
              </a:rPr>
              <a:t>« Ton idée centrale ne tient pas parce que… »</a:t>
            </a:r>
            <a:endParaRPr lang="en-US" sz="1300" dirty="0"/>
          </a:p>
        </p:txBody>
      </p:sp>
      <p:sp>
        <p:nvSpPr>
          <p:cNvPr id="6" name="Shape 4"/>
          <p:cNvSpPr/>
          <p:nvPr/>
        </p:nvSpPr>
        <p:spPr>
          <a:xfrm>
            <a:off x="5303520" y="1636776"/>
            <a:ext cx="2194560" cy="0"/>
          </a:xfrm>
          <a:prstGeom prst="line">
            <a:avLst/>
          </a:prstGeom>
          <a:noFill/>
          <a:ln w="12700">
            <a:solidFill>
              <a:schemeClr val="tx2"/>
            </a:solidFill>
            <a:prstDash val="sysDot"/>
          </a:ln>
        </p:spPr>
      </p:sp>
      <p:sp>
        <p:nvSpPr>
          <p:cNvPr id="7" name="Shape 5"/>
          <p:cNvSpPr/>
          <p:nvPr/>
        </p:nvSpPr>
        <p:spPr>
          <a:xfrm>
            <a:off x="2468880" y="1984248"/>
            <a:ext cx="3108960" cy="621792"/>
          </a:xfrm>
          <a:prstGeom prst="rect">
            <a:avLst/>
          </a:prstGeom>
          <a:solidFill>
            <a:schemeClr val="accent1"/>
          </a:solidFill>
          <a:ln/>
        </p:spPr>
      </p:sp>
      <p:sp>
        <p:nvSpPr>
          <p:cNvPr id="8" name="Text 6"/>
          <p:cNvSpPr txBox="1"/>
          <p:nvPr/>
        </p:nvSpPr>
        <p:spPr>
          <a:xfrm>
            <a:off x="2468880" y="1984248"/>
            <a:ext cx="3108960" cy="621792"/>
          </a:xfrm>
          <a:prstGeom prst="rect">
            <a:avLst/>
          </a:prstGeom>
          <a:noFill/>
          <a:ln/>
        </p:spPr>
        <p:txBody>
          <a:bodyPr wrap="square" lIns="0" tIns="0" rIns="0" bIns="0" rtlCol="0" anchor="ctr"/>
          <a:lstStyle/>
          <a:p>
            <a:pPr algn="ctr" indent="0" marL="0">
              <a:buNone/>
            </a:pPr>
            <a:r>
              <a:rPr lang="en-US" sz="1500" dirty="0">
                <a:solidFill>
                  <a:schemeClr val="bg2"/>
                </a:solidFill>
                <a:latin typeface="Rockwell Extra Bold" pitchFamily="34" charset="0"/>
                <a:ea typeface="Rockwell Extra Bold" pitchFamily="34" charset="-122"/>
                <a:cs typeface="Rockwell Extra Bold" pitchFamily="34" charset="-120"/>
              </a:rPr>
              <a:t>5 · Réfutation</a:t>
            </a:r>
            <a:endParaRPr lang="en-US" sz="1500" dirty="0"/>
          </a:p>
        </p:txBody>
      </p:sp>
      <p:sp>
        <p:nvSpPr>
          <p:cNvPr id="9" name="Text 7"/>
          <p:cNvSpPr txBox="1"/>
          <p:nvPr/>
        </p:nvSpPr>
        <p:spPr>
          <a:xfrm>
            <a:off x="7589520" y="1984248"/>
            <a:ext cx="4023360" cy="621792"/>
          </a:xfrm>
          <a:prstGeom prst="rect">
            <a:avLst/>
          </a:prstGeom>
          <a:noFill/>
          <a:ln/>
        </p:spPr>
        <p:txBody>
          <a:bodyPr wrap="square" lIns="0" tIns="0" rIns="0" bIns="0" rtlCol="0" anchor="ctr"/>
          <a:lstStyle/>
          <a:p>
            <a:pPr indent="0" marL="0">
              <a:buNone/>
            </a:pPr>
            <a:r>
              <a:rPr lang="en-US" sz="1300" dirty="0">
                <a:solidFill>
                  <a:schemeClr val="tx1"/>
                </a:solidFill>
                <a:latin typeface="Arial" pitchFamily="34" charset="0"/>
                <a:ea typeface="Arial" pitchFamily="34" charset="-122"/>
                <a:cs typeface="Arial" pitchFamily="34" charset="-120"/>
              </a:rPr>
              <a:t>Citer l'autre et montrer l'erreur</a:t>
            </a:r>
            <a:endParaRPr lang="en-US" sz="1300" dirty="0"/>
          </a:p>
        </p:txBody>
      </p:sp>
      <p:sp>
        <p:nvSpPr>
          <p:cNvPr id="10" name="Shape 8"/>
          <p:cNvSpPr/>
          <p:nvPr/>
        </p:nvSpPr>
        <p:spPr>
          <a:xfrm>
            <a:off x="5669280" y="2295144"/>
            <a:ext cx="1828800" cy="0"/>
          </a:xfrm>
          <a:prstGeom prst="line">
            <a:avLst/>
          </a:prstGeom>
          <a:noFill/>
          <a:ln w="12700">
            <a:solidFill>
              <a:schemeClr val="tx2"/>
            </a:solidFill>
            <a:prstDash val="sysDot"/>
          </a:ln>
        </p:spPr>
      </p:sp>
      <p:sp>
        <p:nvSpPr>
          <p:cNvPr id="11" name="Shape 9"/>
          <p:cNvSpPr/>
          <p:nvPr/>
        </p:nvSpPr>
        <p:spPr>
          <a:xfrm>
            <a:off x="2103120" y="2642616"/>
            <a:ext cx="3840480" cy="621792"/>
          </a:xfrm>
          <a:prstGeom prst="rect">
            <a:avLst/>
          </a:prstGeom>
          <a:solidFill>
            <a:schemeClr val="accent1"/>
          </a:solidFill>
          <a:ln/>
        </p:spPr>
      </p:sp>
      <p:sp>
        <p:nvSpPr>
          <p:cNvPr id="12" name="Text 10"/>
          <p:cNvSpPr txBox="1"/>
          <p:nvPr/>
        </p:nvSpPr>
        <p:spPr>
          <a:xfrm>
            <a:off x="2103120" y="2642616"/>
            <a:ext cx="3840480" cy="621792"/>
          </a:xfrm>
          <a:prstGeom prst="rect">
            <a:avLst/>
          </a:prstGeom>
          <a:noFill/>
          <a:ln/>
        </p:spPr>
        <p:txBody>
          <a:bodyPr wrap="square" lIns="0" tIns="0" rIns="0" bIns="0" rtlCol="0" anchor="ctr"/>
          <a:lstStyle/>
          <a:p>
            <a:pPr algn="ctr" indent="0" marL="0">
              <a:buNone/>
            </a:pPr>
            <a:r>
              <a:rPr lang="en-US" sz="1500" dirty="0">
                <a:solidFill>
                  <a:schemeClr val="bg2"/>
                </a:solidFill>
                <a:latin typeface="Rockwell Extra Bold" pitchFamily="34" charset="0"/>
                <a:ea typeface="Rockwell Extra Bold" pitchFamily="34" charset="-122"/>
                <a:cs typeface="Rockwell Extra Bold" pitchFamily="34" charset="-120"/>
              </a:rPr>
              <a:t>4 · Contre-argument</a:t>
            </a:r>
            <a:endParaRPr lang="en-US" sz="1500" dirty="0"/>
          </a:p>
        </p:txBody>
      </p:sp>
      <p:sp>
        <p:nvSpPr>
          <p:cNvPr id="13" name="Text 11"/>
          <p:cNvSpPr txBox="1"/>
          <p:nvPr/>
        </p:nvSpPr>
        <p:spPr>
          <a:xfrm>
            <a:off x="7589520" y="2642616"/>
            <a:ext cx="4023360" cy="621792"/>
          </a:xfrm>
          <a:prstGeom prst="rect">
            <a:avLst/>
          </a:prstGeom>
          <a:noFill/>
          <a:ln/>
        </p:spPr>
        <p:txBody>
          <a:bodyPr wrap="square" lIns="0" tIns="0" rIns="0" bIns="0" rtlCol="0" anchor="ctr"/>
          <a:lstStyle/>
          <a:p>
            <a:pPr indent="0" marL="0">
              <a:buNone/>
            </a:pPr>
            <a:r>
              <a:rPr lang="en-US" sz="1300" dirty="0">
                <a:solidFill>
                  <a:schemeClr val="tx1"/>
                </a:solidFill>
                <a:latin typeface="Arial" pitchFamily="34" charset="0"/>
                <a:ea typeface="Arial" pitchFamily="34" charset="-122"/>
                <a:cs typeface="Arial" pitchFamily="34" charset="-120"/>
              </a:rPr>
              <a:t>Une autre raison, avec preuve</a:t>
            </a:r>
            <a:endParaRPr lang="en-US" sz="1300" dirty="0"/>
          </a:p>
        </p:txBody>
      </p:sp>
      <p:sp>
        <p:nvSpPr>
          <p:cNvPr id="14" name="Shape 12"/>
          <p:cNvSpPr/>
          <p:nvPr/>
        </p:nvSpPr>
        <p:spPr>
          <a:xfrm>
            <a:off x="6035040" y="2953512"/>
            <a:ext cx="1463040" cy="0"/>
          </a:xfrm>
          <a:prstGeom prst="line">
            <a:avLst/>
          </a:prstGeom>
          <a:noFill/>
          <a:ln w="12700">
            <a:solidFill>
              <a:schemeClr val="tx2"/>
            </a:solidFill>
            <a:prstDash val="sysDot"/>
          </a:ln>
        </p:spPr>
      </p:sp>
      <p:sp>
        <p:nvSpPr>
          <p:cNvPr id="15" name="Shape 13"/>
          <p:cNvSpPr/>
          <p:nvPr/>
        </p:nvSpPr>
        <p:spPr>
          <a:xfrm>
            <a:off x="1737360" y="3300984"/>
            <a:ext cx="4572000" cy="621792"/>
          </a:xfrm>
          <a:prstGeom prst="rect">
            <a:avLst/>
          </a:prstGeom>
          <a:solidFill>
            <a:schemeClr val="accent2"/>
          </a:solidFill>
          <a:ln/>
        </p:spPr>
      </p:sp>
      <p:sp>
        <p:nvSpPr>
          <p:cNvPr id="16" name="Text 14"/>
          <p:cNvSpPr txBox="1"/>
          <p:nvPr/>
        </p:nvSpPr>
        <p:spPr>
          <a:xfrm>
            <a:off x="1737360" y="3300984"/>
            <a:ext cx="4572000" cy="621792"/>
          </a:xfrm>
          <a:prstGeom prst="rect">
            <a:avLst/>
          </a:prstGeom>
          <a:noFill/>
          <a:ln/>
        </p:spPr>
        <p:txBody>
          <a:bodyPr wrap="square" lIns="0" tIns="0" rIns="0" bIns="0" rtlCol="0" anchor="ctr"/>
          <a:lstStyle/>
          <a:p>
            <a:pPr algn="ctr" indent="0" marL="0">
              <a:buNone/>
            </a:pPr>
            <a:r>
              <a:rPr lang="en-US" sz="1500" dirty="0">
                <a:solidFill>
                  <a:schemeClr val="tx1"/>
                </a:solidFill>
                <a:latin typeface="Rockwell Extra Bold" pitchFamily="34" charset="0"/>
                <a:ea typeface="Rockwell Extra Bold" pitchFamily="34" charset="-122"/>
                <a:cs typeface="Rockwell Extra Bold" pitchFamily="34" charset="-120"/>
              </a:rPr>
              <a:t>3 · Contradiction</a:t>
            </a:r>
            <a:endParaRPr lang="en-US" sz="1500" dirty="0"/>
          </a:p>
        </p:txBody>
      </p:sp>
      <p:sp>
        <p:nvSpPr>
          <p:cNvPr id="17" name="Text 15"/>
          <p:cNvSpPr txBox="1"/>
          <p:nvPr/>
        </p:nvSpPr>
        <p:spPr>
          <a:xfrm>
            <a:off x="7589520" y="3300984"/>
            <a:ext cx="4023360" cy="621792"/>
          </a:xfrm>
          <a:prstGeom prst="rect">
            <a:avLst/>
          </a:prstGeom>
          <a:noFill/>
          <a:ln/>
        </p:spPr>
        <p:txBody>
          <a:bodyPr wrap="square" lIns="0" tIns="0" rIns="0" bIns="0" rtlCol="0" anchor="ctr"/>
          <a:lstStyle/>
          <a:p>
            <a:pPr indent="0" marL="0">
              <a:buNone/>
            </a:pPr>
            <a:r>
              <a:rPr lang="en-US" sz="1300" dirty="0">
                <a:solidFill>
                  <a:schemeClr val="tx1"/>
                </a:solidFill>
                <a:latin typeface="Arial" pitchFamily="34" charset="0"/>
                <a:ea typeface="Arial" pitchFamily="34" charset="-122"/>
                <a:cs typeface="Arial" pitchFamily="34" charset="-120"/>
              </a:rPr>
              <a:t>« Non, c'est faux. » (sans raison)</a:t>
            </a:r>
            <a:endParaRPr lang="en-US" sz="1300" dirty="0"/>
          </a:p>
        </p:txBody>
      </p:sp>
      <p:sp>
        <p:nvSpPr>
          <p:cNvPr id="18" name="Shape 16"/>
          <p:cNvSpPr/>
          <p:nvPr/>
        </p:nvSpPr>
        <p:spPr>
          <a:xfrm>
            <a:off x="6400800" y="3611880"/>
            <a:ext cx="1097280" cy="0"/>
          </a:xfrm>
          <a:prstGeom prst="line">
            <a:avLst/>
          </a:prstGeom>
          <a:noFill/>
          <a:ln w="12700">
            <a:solidFill>
              <a:schemeClr val="tx2"/>
            </a:solidFill>
            <a:prstDash val="sysDot"/>
          </a:ln>
        </p:spPr>
      </p:sp>
      <p:sp>
        <p:nvSpPr>
          <p:cNvPr id="19" name="Shape 17"/>
          <p:cNvSpPr/>
          <p:nvPr/>
        </p:nvSpPr>
        <p:spPr>
          <a:xfrm>
            <a:off x="1371600" y="3959352"/>
            <a:ext cx="5303520" cy="621792"/>
          </a:xfrm>
          <a:prstGeom prst="rect">
            <a:avLst/>
          </a:prstGeom>
          <a:solidFill>
            <a:schemeClr val="tx1"/>
          </a:solidFill>
          <a:ln/>
        </p:spPr>
      </p:sp>
      <p:sp>
        <p:nvSpPr>
          <p:cNvPr id="20" name="Text 18"/>
          <p:cNvSpPr txBox="1"/>
          <p:nvPr/>
        </p:nvSpPr>
        <p:spPr>
          <a:xfrm>
            <a:off x="1371600" y="3959352"/>
            <a:ext cx="5303520" cy="621792"/>
          </a:xfrm>
          <a:prstGeom prst="rect">
            <a:avLst/>
          </a:prstGeom>
          <a:noFill/>
          <a:ln/>
        </p:spPr>
        <p:txBody>
          <a:bodyPr wrap="square" lIns="0" tIns="0" rIns="0" bIns="0" rtlCol="0" anchor="ctr"/>
          <a:lstStyle/>
          <a:p>
            <a:pPr algn="ctr" indent="0" marL="0">
              <a:buNone/>
            </a:pPr>
            <a:r>
              <a:rPr lang="en-US" sz="1500" dirty="0">
                <a:solidFill>
                  <a:schemeClr val="bg2"/>
                </a:solidFill>
                <a:latin typeface="Rockwell Extra Bold" pitchFamily="34" charset="0"/>
                <a:ea typeface="Rockwell Extra Bold" pitchFamily="34" charset="-122"/>
                <a:cs typeface="Rockwell Extra Bold" pitchFamily="34" charset="-120"/>
              </a:rPr>
              <a:t>2 · Critique du ton</a:t>
            </a:r>
            <a:endParaRPr lang="en-US" sz="1500" dirty="0"/>
          </a:p>
        </p:txBody>
      </p:sp>
      <p:sp>
        <p:nvSpPr>
          <p:cNvPr id="21" name="Text 19"/>
          <p:cNvSpPr txBox="1"/>
          <p:nvPr/>
        </p:nvSpPr>
        <p:spPr>
          <a:xfrm>
            <a:off x="7589520" y="3959352"/>
            <a:ext cx="4023360" cy="621792"/>
          </a:xfrm>
          <a:prstGeom prst="rect">
            <a:avLst/>
          </a:prstGeom>
          <a:noFill/>
          <a:ln/>
        </p:spPr>
        <p:txBody>
          <a:bodyPr wrap="square" lIns="0" tIns="0" rIns="0" bIns="0" rtlCol="0" anchor="ctr"/>
          <a:lstStyle/>
          <a:p>
            <a:pPr indent="0" marL="0">
              <a:buNone/>
            </a:pPr>
            <a:r>
              <a:rPr lang="en-US" sz="1300" dirty="0">
                <a:solidFill>
                  <a:schemeClr val="tx1"/>
                </a:solidFill>
                <a:latin typeface="Arial" pitchFamily="34" charset="0"/>
                <a:ea typeface="Arial" pitchFamily="34" charset="-122"/>
                <a:cs typeface="Arial" pitchFamily="34" charset="-120"/>
              </a:rPr>
              <a:t>« Calme-toi! »</a:t>
            </a:r>
            <a:endParaRPr lang="en-US" sz="1300" dirty="0"/>
          </a:p>
        </p:txBody>
      </p:sp>
      <p:sp>
        <p:nvSpPr>
          <p:cNvPr id="22" name="Shape 20"/>
          <p:cNvSpPr/>
          <p:nvPr/>
        </p:nvSpPr>
        <p:spPr>
          <a:xfrm>
            <a:off x="6766560" y="4270248"/>
            <a:ext cx="731520" cy="0"/>
          </a:xfrm>
          <a:prstGeom prst="line">
            <a:avLst/>
          </a:prstGeom>
          <a:noFill/>
          <a:ln w="12700">
            <a:solidFill>
              <a:schemeClr val="tx2"/>
            </a:solidFill>
            <a:prstDash val="sysDot"/>
          </a:ln>
        </p:spPr>
      </p:sp>
      <p:sp>
        <p:nvSpPr>
          <p:cNvPr id="23" name="Shape 21"/>
          <p:cNvSpPr/>
          <p:nvPr/>
        </p:nvSpPr>
        <p:spPr>
          <a:xfrm>
            <a:off x="1005840" y="4617720"/>
            <a:ext cx="6035040" cy="621792"/>
          </a:xfrm>
          <a:prstGeom prst="rect">
            <a:avLst/>
          </a:prstGeom>
          <a:solidFill>
            <a:schemeClr val="tx1"/>
          </a:solidFill>
          <a:ln/>
        </p:spPr>
      </p:sp>
      <p:sp>
        <p:nvSpPr>
          <p:cNvPr id="24" name="Text 22"/>
          <p:cNvSpPr txBox="1"/>
          <p:nvPr/>
        </p:nvSpPr>
        <p:spPr>
          <a:xfrm>
            <a:off x="1005840" y="4617720"/>
            <a:ext cx="6035040" cy="621792"/>
          </a:xfrm>
          <a:prstGeom prst="rect">
            <a:avLst/>
          </a:prstGeom>
          <a:noFill/>
          <a:ln/>
        </p:spPr>
        <p:txBody>
          <a:bodyPr wrap="square" lIns="0" tIns="0" rIns="0" bIns="0" rtlCol="0" anchor="ctr"/>
          <a:lstStyle/>
          <a:p>
            <a:pPr algn="ctr" indent="0" marL="0">
              <a:buNone/>
            </a:pPr>
            <a:r>
              <a:rPr lang="en-US" sz="1500" dirty="0">
                <a:solidFill>
                  <a:schemeClr val="bg2"/>
                </a:solidFill>
                <a:latin typeface="Rockwell Extra Bold" pitchFamily="34" charset="0"/>
                <a:ea typeface="Rockwell Extra Bold" pitchFamily="34" charset="-122"/>
                <a:cs typeface="Rockwell Extra Bold" pitchFamily="34" charset="-120"/>
              </a:rPr>
              <a:t>1 · Ad hominem</a:t>
            </a:r>
            <a:endParaRPr lang="en-US" sz="1500" dirty="0"/>
          </a:p>
        </p:txBody>
      </p:sp>
      <p:sp>
        <p:nvSpPr>
          <p:cNvPr id="25" name="Text 23"/>
          <p:cNvSpPr txBox="1"/>
          <p:nvPr/>
        </p:nvSpPr>
        <p:spPr>
          <a:xfrm>
            <a:off x="7589520" y="4617720"/>
            <a:ext cx="4023360" cy="621792"/>
          </a:xfrm>
          <a:prstGeom prst="rect">
            <a:avLst/>
          </a:prstGeom>
          <a:noFill/>
          <a:ln/>
        </p:spPr>
        <p:txBody>
          <a:bodyPr wrap="square" lIns="0" tIns="0" rIns="0" bIns="0" rtlCol="0" anchor="ctr"/>
          <a:lstStyle/>
          <a:p>
            <a:pPr indent="0" marL="0">
              <a:buNone/>
            </a:pPr>
            <a:r>
              <a:rPr lang="en-US" sz="1300" dirty="0">
                <a:solidFill>
                  <a:schemeClr val="tx1"/>
                </a:solidFill>
                <a:latin typeface="Arial" pitchFamily="34" charset="0"/>
                <a:ea typeface="Arial" pitchFamily="34" charset="-122"/>
                <a:cs typeface="Arial" pitchFamily="34" charset="-120"/>
              </a:rPr>
              <a:t>« Tu dis ça parce que t'es de ta génération. »</a:t>
            </a:r>
            <a:endParaRPr lang="en-US" sz="1300" dirty="0"/>
          </a:p>
        </p:txBody>
      </p:sp>
      <p:sp>
        <p:nvSpPr>
          <p:cNvPr id="26" name="Shape 24"/>
          <p:cNvSpPr/>
          <p:nvPr/>
        </p:nvSpPr>
        <p:spPr>
          <a:xfrm>
            <a:off x="7132320" y="4928616"/>
            <a:ext cx="365760" cy="0"/>
          </a:xfrm>
          <a:prstGeom prst="line">
            <a:avLst/>
          </a:prstGeom>
          <a:noFill/>
          <a:ln w="12700">
            <a:solidFill>
              <a:schemeClr val="tx2"/>
            </a:solidFill>
            <a:prstDash val="sysDot"/>
          </a:ln>
        </p:spPr>
      </p:sp>
      <p:sp>
        <p:nvSpPr>
          <p:cNvPr id="27" name="Shape 25"/>
          <p:cNvSpPr/>
          <p:nvPr/>
        </p:nvSpPr>
        <p:spPr>
          <a:xfrm>
            <a:off x="640080" y="5276088"/>
            <a:ext cx="6766560" cy="621792"/>
          </a:xfrm>
          <a:prstGeom prst="rect">
            <a:avLst/>
          </a:prstGeom>
          <a:solidFill>
            <a:schemeClr val="tx1"/>
          </a:solidFill>
          <a:ln/>
        </p:spPr>
      </p:sp>
      <p:sp>
        <p:nvSpPr>
          <p:cNvPr id="28" name="Text 26"/>
          <p:cNvSpPr txBox="1"/>
          <p:nvPr/>
        </p:nvSpPr>
        <p:spPr>
          <a:xfrm>
            <a:off x="640080" y="5276088"/>
            <a:ext cx="6766560" cy="621792"/>
          </a:xfrm>
          <a:prstGeom prst="rect">
            <a:avLst/>
          </a:prstGeom>
          <a:noFill/>
          <a:ln/>
        </p:spPr>
        <p:txBody>
          <a:bodyPr wrap="square" lIns="0" tIns="0" rIns="0" bIns="0" rtlCol="0" anchor="ctr"/>
          <a:lstStyle/>
          <a:p>
            <a:pPr algn="ctr" indent="0" marL="0">
              <a:buNone/>
            </a:pPr>
            <a:r>
              <a:rPr lang="en-US" sz="1500" dirty="0">
                <a:solidFill>
                  <a:schemeClr val="bg2"/>
                </a:solidFill>
                <a:latin typeface="Rockwell Extra Bold" pitchFamily="34" charset="0"/>
                <a:ea typeface="Rockwell Extra Bold" pitchFamily="34" charset="-122"/>
                <a:cs typeface="Rockwell Extra Bold" pitchFamily="34" charset="-120"/>
              </a:rPr>
              <a:t>0 · Insulte</a:t>
            </a:r>
            <a:endParaRPr lang="en-US" sz="1500" dirty="0"/>
          </a:p>
        </p:txBody>
      </p:sp>
      <p:sp>
        <p:nvSpPr>
          <p:cNvPr id="29" name="Text 27"/>
          <p:cNvSpPr txBox="1"/>
          <p:nvPr/>
        </p:nvSpPr>
        <p:spPr>
          <a:xfrm>
            <a:off x="7589520" y="5276088"/>
            <a:ext cx="4023360" cy="621792"/>
          </a:xfrm>
          <a:prstGeom prst="rect">
            <a:avLst/>
          </a:prstGeom>
          <a:noFill/>
          <a:ln/>
        </p:spPr>
        <p:txBody>
          <a:bodyPr wrap="square" lIns="0" tIns="0" rIns="0" bIns="0" rtlCol="0" anchor="ctr"/>
          <a:lstStyle/>
          <a:p>
            <a:pPr indent="0" marL="0">
              <a:buNone/>
            </a:pPr>
            <a:r>
              <a:rPr lang="en-US" sz="1300" dirty="0">
                <a:solidFill>
                  <a:schemeClr val="tx1"/>
                </a:solidFill>
                <a:latin typeface="Arial" pitchFamily="34" charset="0"/>
                <a:ea typeface="Arial" pitchFamily="34" charset="-122"/>
                <a:cs typeface="Arial" pitchFamily="34" charset="-120"/>
              </a:rPr>
              <a:t>« T'es niaiseux. »</a:t>
            </a:r>
            <a:endParaRPr lang="en-US" sz="1300" dirty="0"/>
          </a:p>
        </p:txBody>
      </p:sp>
      <p:sp>
        <p:nvSpPr>
          <p:cNvPr id="30" name="Shape 28"/>
          <p:cNvSpPr/>
          <p:nvPr/>
        </p:nvSpPr>
        <p:spPr>
          <a:xfrm>
            <a:off x="7498080" y="5586984"/>
            <a:ext cx="0" cy="0"/>
          </a:xfrm>
          <a:prstGeom prst="line">
            <a:avLst/>
          </a:prstGeom>
          <a:noFill/>
          <a:ln w="12700">
            <a:solidFill>
              <a:schemeClr val="tx2"/>
            </a:solidFill>
            <a:prstDash val="sysDot"/>
          </a:ln>
        </p:spPr>
      </p:sp>
      <p:sp>
        <p:nvSpPr>
          <p:cNvPr id="31" name="Text 29"/>
          <p:cNvSpPr txBox="1"/>
          <p:nvPr/>
        </p:nvSpPr>
        <p:spPr>
          <a:xfrm>
            <a:off x="548640" y="1371600"/>
            <a:ext cx="1463040" cy="365760"/>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 agréable</a:t>
            </a:r>
            <a:endParaRPr lang="en-US" sz="1400" dirty="0"/>
          </a:p>
        </p:txBody>
      </p:sp>
      <p:sp>
        <p:nvSpPr>
          <p:cNvPr id="32" name="Text 30"/>
          <p:cNvSpPr txBox="1"/>
          <p:nvPr/>
        </p:nvSpPr>
        <p:spPr>
          <a:xfrm>
            <a:off x="548640" y="5943600"/>
            <a:ext cx="1463040" cy="36576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 toxique</a:t>
            </a:r>
            <a:endParaRPr lang="en-US" sz="14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1"/>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lIns="0" tIns="0" rIns="0" bIns="0" rtlCol="0" anchor="t"/>
          <a:lstStyle/>
          <a:p>
            <a:pPr algn="l" indent="0" marL="0">
              <a:buNone/>
            </a:pPr>
            <a:r>
              <a:rPr lang="en-US" sz="3600" dirty="0">
                <a:solidFill>
                  <a:schemeClr val="accent1"/>
                </a:solidFill>
              </a:rPr>
              <a:t>Gagner le droit de critiquer</a:t>
            </a:r>
            <a:endParaRPr lang="en-US" sz="3600" dirty="0"/>
          </a:p>
        </p:txBody>
      </p:sp>
      <p:sp>
        <p:nvSpPr>
          <p:cNvPr id="3" name="Text 1"/>
          <p:cNvSpPr txBox="1"/>
          <p:nvPr/>
        </p:nvSpPr>
        <p:spPr>
          <a:xfrm>
            <a:off x="548640" y="1280160"/>
            <a:ext cx="6400800" cy="365760"/>
          </a:xfrm>
          <a:prstGeom prst="rect">
            <a:avLst/>
          </a:prstGeom>
          <a:noFill/>
          <a:ln/>
        </p:spPr>
        <p:txBody>
          <a:bodyPr wrap="square" lIns="0" tIns="0" rIns="0" bIns="0" rtlCol="0" anchor="t"/>
          <a:lstStyle/>
          <a:p>
            <a:pPr indent="0" marL="0">
              <a:buNone/>
            </a:pPr>
            <a:r>
              <a:rPr lang="en-US" sz="1400" i="1" dirty="0">
                <a:solidFill>
                  <a:schemeClr val="tx2"/>
                </a:solidFill>
                <a:latin typeface="Arial" pitchFamily="34" charset="0"/>
                <a:ea typeface="Arial" pitchFamily="34" charset="-122"/>
                <a:cs typeface="Arial" pitchFamily="34" charset="-120"/>
              </a:rPr>
              <a:t>Les règles de Rapoport (popularisées par Daniel Dennett)</a:t>
            </a:r>
            <a:endParaRPr lang="en-US" sz="1400" dirty="0"/>
          </a:p>
        </p:txBody>
      </p:sp>
      <p:sp>
        <p:nvSpPr>
          <p:cNvPr id="4" name="Shape 2"/>
          <p:cNvSpPr/>
          <p:nvPr/>
        </p:nvSpPr>
        <p:spPr>
          <a:xfrm>
            <a:off x="548640" y="1783080"/>
            <a:ext cx="640080" cy="640080"/>
          </a:xfrm>
          <a:prstGeom prst="ellipse">
            <a:avLst/>
          </a:prstGeom>
          <a:solidFill>
            <a:schemeClr val="accent1"/>
          </a:solidFill>
          <a:ln w="19050">
            <a:solidFill>
              <a:schemeClr val="tx1"/>
            </a:solidFill>
            <a:prstDash val="solid"/>
          </a:ln>
        </p:spPr>
      </p:sp>
      <p:sp>
        <p:nvSpPr>
          <p:cNvPr id="5" name="Text 3"/>
          <p:cNvSpPr txBox="1"/>
          <p:nvPr/>
        </p:nvSpPr>
        <p:spPr>
          <a:xfrm>
            <a:off x="548640" y="1783080"/>
            <a:ext cx="640080" cy="640080"/>
          </a:xfrm>
          <a:prstGeom prst="rect">
            <a:avLst/>
          </a:prstGeom>
          <a:noFill/>
          <a:ln/>
        </p:spPr>
        <p:txBody>
          <a:bodyPr wrap="square" lIns="0" tIns="0" rIns="0" bIns="0" rtlCol="0" anchor="ctr"/>
          <a:lstStyle/>
          <a:p>
            <a:pPr algn="ctr" indent="0" marL="0">
              <a:buNone/>
            </a:pPr>
            <a:r>
              <a:rPr lang="en-US" sz="2400" dirty="0">
                <a:solidFill>
                  <a:schemeClr val="bg2"/>
                </a:solidFill>
                <a:latin typeface="Rockwell Extra Bold" pitchFamily="34" charset="0"/>
                <a:ea typeface="Rockwell Extra Bold" pitchFamily="34" charset="-122"/>
                <a:cs typeface="Rockwell Extra Bold" pitchFamily="34" charset="-120"/>
              </a:rPr>
              <a:t>1</a:t>
            </a:r>
            <a:endParaRPr lang="en-US" sz="2400" dirty="0"/>
          </a:p>
        </p:txBody>
      </p:sp>
      <p:sp>
        <p:nvSpPr>
          <p:cNvPr id="6" name="Text 4"/>
          <p:cNvSpPr txBox="1"/>
          <p:nvPr/>
        </p:nvSpPr>
        <p:spPr>
          <a:xfrm>
            <a:off x="1371600" y="1810512"/>
            <a:ext cx="5394960" cy="822960"/>
          </a:xfrm>
          <a:prstGeom prst="rect">
            <a:avLst/>
          </a:prstGeom>
          <a:noFill/>
          <a:ln/>
        </p:spPr>
        <p:txBody>
          <a:bodyPr wrap="square" lIns="0" tIns="0" rIns="0" bIns="0" rtlCol="0" anchor="ctr"/>
          <a:lstStyle/>
          <a:p>
            <a:pPr indent="0" marL="0">
              <a:buNone/>
            </a:pPr>
            <a:r>
              <a:rPr lang="en-US" sz="1600" dirty="0">
                <a:solidFill>
                  <a:schemeClr val="tx1"/>
                </a:solidFill>
                <a:latin typeface="Arial" pitchFamily="34" charset="0"/>
                <a:ea typeface="Arial" pitchFamily="34" charset="-122"/>
                <a:cs typeface="Arial" pitchFamily="34" charset="-120"/>
              </a:rPr>
              <a:t>Reformule l'idée de l'autre si bien qu'il dise : « J'aurais aimé le dire comme ça. »</a:t>
            </a:r>
            <a:endParaRPr lang="en-US" sz="1600" dirty="0"/>
          </a:p>
        </p:txBody>
      </p:sp>
      <p:sp>
        <p:nvSpPr>
          <p:cNvPr id="7" name="Shape 5"/>
          <p:cNvSpPr/>
          <p:nvPr/>
        </p:nvSpPr>
        <p:spPr>
          <a:xfrm>
            <a:off x="548640" y="2770632"/>
            <a:ext cx="640080" cy="640080"/>
          </a:xfrm>
          <a:prstGeom prst="ellipse">
            <a:avLst/>
          </a:prstGeom>
          <a:solidFill>
            <a:schemeClr val="accent1"/>
          </a:solidFill>
          <a:ln w="19050">
            <a:solidFill>
              <a:schemeClr val="tx1"/>
            </a:solidFill>
            <a:prstDash val="solid"/>
          </a:ln>
        </p:spPr>
      </p:sp>
      <p:sp>
        <p:nvSpPr>
          <p:cNvPr id="8" name="Text 6"/>
          <p:cNvSpPr txBox="1"/>
          <p:nvPr/>
        </p:nvSpPr>
        <p:spPr>
          <a:xfrm>
            <a:off x="548640" y="2770632"/>
            <a:ext cx="640080" cy="640080"/>
          </a:xfrm>
          <a:prstGeom prst="rect">
            <a:avLst/>
          </a:prstGeom>
          <a:noFill/>
          <a:ln/>
        </p:spPr>
        <p:txBody>
          <a:bodyPr wrap="square" lIns="0" tIns="0" rIns="0" bIns="0" rtlCol="0" anchor="ctr"/>
          <a:lstStyle/>
          <a:p>
            <a:pPr algn="ctr" indent="0" marL="0">
              <a:buNone/>
            </a:pPr>
            <a:r>
              <a:rPr lang="en-US" sz="2400" dirty="0">
                <a:solidFill>
                  <a:schemeClr val="bg2"/>
                </a:solidFill>
                <a:latin typeface="Rockwell Extra Bold" pitchFamily="34" charset="0"/>
                <a:ea typeface="Rockwell Extra Bold" pitchFamily="34" charset="-122"/>
                <a:cs typeface="Rockwell Extra Bold" pitchFamily="34" charset="-120"/>
              </a:rPr>
              <a:t>2</a:t>
            </a:r>
            <a:endParaRPr lang="en-US" sz="2400" dirty="0"/>
          </a:p>
        </p:txBody>
      </p:sp>
      <p:sp>
        <p:nvSpPr>
          <p:cNvPr id="9" name="Text 7"/>
          <p:cNvSpPr txBox="1"/>
          <p:nvPr/>
        </p:nvSpPr>
        <p:spPr>
          <a:xfrm>
            <a:off x="1371600" y="2798064"/>
            <a:ext cx="5394960" cy="822960"/>
          </a:xfrm>
          <a:prstGeom prst="rect">
            <a:avLst/>
          </a:prstGeom>
          <a:noFill/>
          <a:ln/>
        </p:spPr>
        <p:txBody>
          <a:bodyPr wrap="square" lIns="0" tIns="0" rIns="0" bIns="0" rtlCol="0" anchor="ctr"/>
          <a:lstStyle/>
          <a:p>
            <a:pPr indent="0" marL="0">
              <a:buNone/>
            </a:pPr>
            <a:r>
              <a:rPr lang="en-US" sz="1600" dirty="0">
                <a:solidFill>
                  <a:schemeClr val="tx1"/>
                </a:solidFill>
                <a:latin typeface="Arial" pitchFamily="34" charset="0"/>
                <a:ea typeface="Arial" pitchFamily="34" charset="-122"/>
                <a:cs typeface="Arial" pitchFamily="34" charset="-120"/>
              </a:rPr>
              <a:t>Nomme tes points d'accord, surtout les surprenants.</a:t>
            </a:r>
            <a:endParaRPr lang="en-US" sz="1600" dirty="0"/>
          </a:p>
        </p:txBody>
      </p:sp>
      <p:sp>
        <p:nvSpPr>
          <p:cNvPr id="10" name="Shape 8"/>
          <p:cNvSpPr/>
          <p:nvPr/>
        </p:nvSpPr>
        <p:spPr>
          <a:xfrm>
            <a:off x="548640" y="3758184"/>
            <a:ext cx="640080" cy="640080"/>
          </a:xfrm>
          <a:prstGeom prst="ellipse">
            <a:avLst/>
          </a:prstGeom>
          <a:solidFill>
            <a:schemeClr val="accent1"/>
          </a:solidFill>
          <a:ln w="19050">
            <a:solidFill>
              <a:schemeClr val="tx1"/>
            </a:solidFill>
            <a:prstDash val="solid"/>
          </a:ln>
        </p:spPr>
      </p:sp>
      <p:sp>
        <p:nvSpPr>
          <p:cNvPr id="11" name="Text 9"/>
          <p:cNvSpPr txBox="1"/>
          <p:nvPr/>
        </p:nvSpPr>
        <p:spPr>
          <a:xfrm>
            <a:off x="548640" y="3758184"/>
            <a:ext cx="640080" cy="640080"/>
          </a:xfrm>
          <a:prstGeom prst="rect">
            <a:avLst/>
          </a:prstGeom>
          <a:noFill/>
          <a:ln/>
        </p:spPr>
        <p:txBody>
          <a:bodyPr wrap="square" lIns="0" tIns="0" rIns="0" bIns="0" rtlCol="0" anchor="ctr"/>
          <a:lstStyle/>
          <a:p>
            <a:pPr algn="ctr" indent="0" marL="0">
              <a:buNone/>
            </a:pPr>
            <a:r>
              <a:rPr lang="en-US" sz="2400" dirty="0">
                <a:solidFill>
                  <a:schemeClr val="bg2"/>
                </a:solidFill>
                <a:latin typeface="Rockwell Extra Bold" pitchFamily="34" charset="0"/>
                <a:ea typeface="Rockwell Extra Bold" pitchFamily="34" charset="-122"/>
                <a:cs typeface="Rockwell Extra Bold" pitchFamily="34" charset="-120"/>
              </a:rPr>
              <a:t>3</a:t>
            </a:r>
            <a:endParaRPr lang="en-US" sz="2400" dirty="0"/>
          </a:p>
        </p:txBody>
      </p:sp>
      <p:sp>
        <p:nvSpPr>
          <p:cNvPr id="12" name="Text 10"/>
          <p:cNvSpPr txBox="1"/>
          <p:nvPr/>
        </p:nvSpPr>
        <p:spPr>
          <a:xfrm>
            <a:off x="1371600" y="3785616"/>
            <a:ext cx="5394960" cy="822960"/>
          </a:xfrm>
          <a:prstGeom prst="rect">
            <a:avLst/>
          </a:prstGeom>
          <a:noFill/>
          <a:ln/>
        </p:spPr>
        <p:txBody>
          <a:bodyPr wrap="square" lIns="0" tIns="0" rIns="0" bIns="0" rtlCol="0" anchor="ctr"/>
          <a:lstStyle/>
          <a:p>
            <a:pPr indent="0" marL="0">
              <a:buNone/>
            </a:pPr>
            <a:r>
              <a:rPr lang="en-US" sz="1600" dirty="0">
                <a:solidFill>
                  <a:schemeClr val="tx1"/>
                </a:solidFill>
                <a:latin typeface="Arial" pitchFamily="34" charset="0"/>
                <a:ea typeface="Arial" pitchFamily="34" charset="-122"/>
                <a:cs typeface="Arial" pitchFamily="34" charset="-120"/>
              </a:rPr>
              <a:t>Dis ce que tu as appris de cette personne.</a:t>
            </a:r>
            <a:endParaRPr lang="en-US" sz="1600" dirty="0"/>
          </a:p>
        </p:txBody>
      </p:sp>
      <p:sp>
        <p:nvSpPr>
          <p:cNvPr id="13" name="Shape 11"/>
          <p:cNvSpPr/>
          <p:nvPr/>
        </p:nvSpPr>
        <p:spPr>
          <a:xfrm>
            <a:off x="548640" y="4745736"/>
            <a:ext cx="640080" cy="640080"/>
          </a:xfrm>
          <a:prstGeom prst="ellipse">
            <a:avLst/>
          </a:prstGeom>
          <a:solidFill>
            <a:schemeClr val="accent2"/>
          </a:solidFill>
          <a:ln w="19050">
            <a:solidFill>
              <a:schemeClr val="tx1"/>
            </a:solidFill>
            <a:prstDash val="solid"/>
          </a:ln>
        </p:spPr>
      </p:sp>
      <p:sp>
        <p:nvSpPr>
          <p:cNvPr id="14" name="Text 12"/>
          <p:cNvSpPr txBox="1"/>
          <p:nvPr/>
        </p:nvSpPr>
        <p:spPr>
          <a:xfrm>
            <a:off x="548640" y="4745736"/>
            <a:ext cx="640080" cy="640080"/>
          </a:xfrm>
          <a:prstGeom prst="rect">
            <a:avLst/>
          </a:prstGeom>
          <a:noFill/>
          <a:ln/>
        </p:spPr>
        <p:txBody>
          <a:bodyPr wrap="square" lIns="0" tIns="0" rIns="0" bIns="0" rtlCol="0" anchor="ctr"/>
          <a:lstStyle/>
          <a:p>
            <a:pPr algn="ctr" indent="0" marL="0">
              <a:buNone/>
            </a:pPr>
            <a:r>
              <a:rPr lang="en-US" sz="2400" dirty="0">
                <a:solidFill>
                  <a:schemeClr val="tx1"/>
                </a:solidFill>
                <a:latin typeface="Rockwell Extra Bold" pitchFamily="34" charset="0"/>
                <a:ea typeface="Rockwell Extra Bold" pitchFamily="34" charset="-122"/>
                <a:cs typeface="Rockwell Extra Bold" pitchFamily="34" charset="-120"/>
              </a:rPr>
              <a:t>4</a:t>
            </a:r>
            <a:endParaRPr lang="en-US" sz="2400" dirty="0"/>
          </a:p>
        </p:txBody>
      </p:sp>
      <p:sp>
        <p:nvSpPr>
          <p:cNvPr id="15" name="Text 13"/>
          <p:cNvSpPr txBox="1"/>
          <p:nvPr/>
        </p:nvSpPr>
        <p:spPr>
          <a:xfrm>
            <a:off x="1371600" y="4773168"/>
            <a:ext cx="5394960" cy="822960"/>
          </a:xfrm>
          <a:prstGeom prst="rect">
            <a:avLst/>
          </a:prstGeom>
          <a:noFill/>
          <a:ln/>
        </p:spPr>
        <p:txBody>
          <a:bodyPr wrap="square" lIns="0" tIns="0" rIns="0" bIns="0" rtlCol="0" anchor="ctr"/>
          <a:lstStyle/>
          <a:p>
            <a:pPr indent="0" marL="0">
              <a:buNone/>
            </a:pPr>
            <a:r>
              <a:rPr lang="en-US" sz="1600" dirty="0">
                <a:solidFill>
                  <a:schemeClr val="tx1"/>
                </a:solidFill>
                <a:latin typeface="Arial" pitchFamily="34" charset="0"/>
                <a:ea typeface="Arial" pitchFamily="34" charset="-122"/>
                <a:cs typeface="Arial" pitchFamily="34" charset="-120"/>
              </a:rPr>
              <a:t>Seulement là, ta critique.</a:t>
            </a:r>
            <a:endParaRPr lang="en-US" sz="1600" dirty="0"/>
          </a:p>
        </p:txBody>
      </p:sp>
      <p:sp>
        <p:nvSpPr>
          <p:cNvPr id="16" name="Shape 14"/>
          <p:cNvSpPr/>
          <p:nvPr/>
        </p:nvSpPr>
        <p:spPr>
          <a:xfrm>
            <a:off x="7223760" y="1325880"/>
            <a:ext cx="4389120" cy="4526280"/>
          </a:xfrm>
          <a:prstGeom prst="rect">
            <a:avLst/>
          </a:prstGeom>
          <a:solidFill>
            <a:schemeClr val="tx1"/>
          </a:solidFill>
          <a:ln w="25400">
            <a:solidFill>
              <a:schemeClr val="tx1"/>
            </a:solidFill>
            <a:prstDash val="solid"/>
          </a:ln>
        </p:spPr>
      </p:sp>
      <p:sp>
        <p:nvSpPr>
          <p:cNvPr id="17" name="Text 15"/>
          <p:cNvSpPr txBox="1"/>
          <p:nvPr/>
        </p:nvSpPr>
        <p:spPr>
          <a:xfrm>
            <a:off x="7452360" y="1508760"/>
            <a:ext cx="3931920" cy="457200"/>
          </a:xfrm>
          <a:prstGeom prst="rect">
            <a:avLst/>
          </a:prstGeom>
          <a:noFill/>
          <a:ln/>
        </p:spPr>
        <p:txBody>
          <a:bodyPr wrap="square" lIns="0" tIns="0" rIns="0" bIns="0" rtlCol="0" anchor="t"/>
          <a:lstStyle/>
          <a:p>
            <a:pPr indent="0" marL="0">
              <a:buNone/>
            </a:pPr>
            <a:r>
              <a:rPr lang="en-US" sz="2000" dirty="0">
                <a:solidFill>
                  <a:schemeClr val="bg2"/>
                </a:solidFill>
                <a:latin typeface="Rockwell Extra Bold" pitchFamily="34" charset="0"/>
                <a:ea typeface="Rockwell Extra Bold" pitchFamily="34" charset="-122"/>
                <a:cs typeface="Rockwell Extra Bold" pitchFamily="34" charset="-120"/>
              </a:rPr>
              <a:t>Homme de paille</a:t>
            </a:r>
            <a:endParaRPr lang="en-US" sz="2000" dirty="0"/>
          </a:p>
        </p:txBody>
      </p:sp>
      <p:sp>
        <p:nvSpPr>
          <p:cNvPr id="18" name="Text 16"/>
          <p:cNvSpPr txBox="1"/>
          <p:nvPr/>
        </p:nvSpPr>
        <p:spPr>
          <a:xfrm>
            <a:off x="7452360" y="2011680"/>
            <a:ext cx="3931920" cy="731520"/>
          </a:xfrm>
          <a:prstGeom prst="rect">
            <a:avLst/>
          </a:prstGeom>
          <a:noFill/>
          <a:ln/>
        </p:spPr>
        <p:txBody>
          <a:bodyPr wrap="square" lIns="0" tIns="0" rIns="0" bIns="0" rtlCol="0" anchor="t"/>
          <a:lstStyle/>
          <a:p>
            <a:pPr indent="0" marL="0">
              <a:buNone/>
            </a:pPr>
            <a:r>
              <a:rPr lang="en-US" sz="1500" dirty="0">
                <a:solidFill>
                  <a:schemeClr val="bg2"/>
                </a:solidFill>
                <a:latin typeface="Arial" pitchFamily="34" charset="0"/>
                <a:ea typeface="Arial" pitchFamily="34" charset="-122"/>
                <a:cs typeface="Arial" pitchFamily="34" charset="-120"/>
              </a:rPr>
              <a:t>Affaiblir la thèse adverse pour mieux la frapper.</a:t>
            </a:r>
            <a:endParaRPr lang="en-US" sz="1500" dirty="0"/>
          </a:p>
        </p:txBody>
      </p:sp>
      <p:sp>
        <p:nvSpPr>
          <p:cNvPr id="19" name="Text 17"/>
          <p:cNvSpPr txBox="1"/>
          <p:nvPr/>
        </p:nvSpPr>
        <p:spPr>
          <a:xfrm>
            <a:off x="7452360" y="2743200"/>
            <a:ext cx="3931920" cy="548640"/>
          </a:xfrm>
          <a:prstGeom prst="rect">
            <a:avLst/>
          </a:prstGeom>
          <a:noFill/>
          <a:ln/>
        </p:spPr>
        <p:txBody>
          <a:bodyPr wrap="square" lIns="0" tIns="0" rIns="0" bIns="0" rtlCol="0" anchor="t"/>
          <a:lstStyle/>
          <a:p>
            <a:pPr algn="ctr" indent="0" marL="0">
              <a:buNone/>
            </a:pPr>
            <a:r>
              <a:rPr lang="en-US" sz="2800" dirty="0">
                <a:solidFill>
                  <a:schemeClr val="accent2"/>
                </a:solidFill>
                <a:latin typeface="Rockwell Extra Bold" pitchFamily="34" charset="0"/>
                <a:ea typeface="Rockwell Extra Bold" pitchFamily="34" charset="-122"/>
                <a:cs typeface="Rockwell Extra Bold" pitchFamily="34" charset="-120"/>
              </a:rPr>
              <a:t>↓</a:t>
            </a:r>
            <a:endParaRPr lang="en-US" sz="2800" dirty="0"/>
          </a:p>
        </p:txBody>
      </p:sp>
      <p:sp>
        <p:nvSpPr>
          <p:cNvPr id="20" name="Text 18"/>
          <p:cNvSpPr txBox="1"/>
          <p:nvPr/>
        </p:nvSpPr>
        <p:spPr>
          <a:xfrm>
            <a:off x="7452360" y="3383280"/>
            <a:ext cx="3931920" cy="457200"/>
          </a:xfrm>
          <a:prstGeom prst="rect">
            <a:avLst/>
          </a:prstGeom>
          <a:noFill/>
          <a:ln/>
        </p:spPr>
        <p:txBody>
          <a:bodyPr wrap="square" lIns="0" tIns="0" rIns="0" bIns="0" rtlCol="0" anchor="t"/>
          <a:lstStyle/>
          <a:p>
            <a:pPr indent="0" marL="0">
              <a:buNone/>
            </a:pPr>
            <a:r>
              <a:rPr lang="en-US" sz="2000" dirty="0">
                <a:solidFill>
                  <a:schemeClr val="accent2"/>
                </a:solidFill>
                <a:latin typeface="Rockwell Extra Bold" pitchFamily="34" charset="0"/>
                <a:ea typeface="Rockwell Extra Bold" pitchFamily="34" charset="-122"/>
                <a:cs typeface="Rockwell Extra Bold" pitchFamily="34" charset="-120"/>
              </a:rPr>
              <a:t>Homme d'acier</a:t>
            </a:r>
            <a:endParaRPr lang="en-US" sz="2000" dirty="0"/>
          </a:p>
        </p:txBody>
      </p:sp>
      <p:sp>
        <p:nvSpPr>
          <p:cNvPr id="21" name="Text 19"/>
          <p:cNvSpPr txBox="1"/>
          <p:nvPr/>
        </p:nvSpPr>
        <p:spPr>
          <a:xfrm>
            <a:off x="7452360" y="3886200"/>
            <a:ext cx="3931920" cy="1737360"/>
          </a:xfrm>
          <a:prstGeom prst="rect">
            <a:avLst/>
          </a:prstGeom>
          <a:noFill/>
          <a:ln/>
        </p:spPr>
        <p:txBody>
          <a:bodyPr wrap="square" lIns="0" tIns="0" rIns="0" bIns="0" rtlCol="0" anchor="t"/>
          <a:lstStyle/>
          <a:p>
            <a:pPr indent="0" marL="0">
              <a:buNone/>
            </a:pPr>
            <a:r>
              <a:rPr lang="en-US" sz="1500" dirty="0">
                <a:solidFill>
                  <a:schemeClr val="bg2"/>
                </a:solidFill>
                <a:latin typeface="Arial" pitchFamily="34" charset="0"/>
                <a:ea typeface="Arial" pitchFamily="34" charset="-122"/>
                <a:cs typeface="Arial" pitchFamily="34" charset="-120"/>
              </a:rPr>
              <a:t>Rendre la thèse adverse plus forte qu'elle ne l'était, puis l'affronter. Si tu gagnes, tu as vraiment gagné. Si tu perds, tu as appris.</a:t>
            </a:r>
            <a:endParaRPr lang="en-US" sz="15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1"/>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57200" y="274320"/>
            <a:ext cx="4572000" cy="2926080"/>
          </a:xfrm>
          <a:prstGeom prst="rect">
            <a:avLst/>
          </a:prstGeom>
          <a:noFill/>
          <a:ln/>
        </p:spPr>
        <p:txBody>
          <a:bodyPr wrap="square" lIns="0" tIns="0" rIns="0" bIns="0" rtlCol="0" anchor="t"/>
          <a:lstStyle/>
          <a:p>
            <a:pPr indent="0" marL="0">
              <a:buNone/>
            </a:pPr>
            <a:r>
              <a:rPr lang="en-US" sz="20000" dirty="0">
                <a:solidFill>
                  <a:schemeClr val="tx1"/>
                </a:solidFill>
                <a:latin typeface="Rockwell Extra Bold" pitchFamily="34" charset="0"/>
                <a:ea typeface="Rockwell Extra Bold" pitchFamily="34" charset="-122"/>
                <a:cs typeface="Rockwell Extra Bold" pitchFamily="34" charset="-120"/>
              </a:rPr>
              <a:t>2</a:t>
            </a:r>
            <a:endParaRPr lang="en-US" sz="20000" dirty="0"/>
          </a:p>
        </p:txBody>
      </p:sp>
      <p:sp>
        <p:nvSpPr>
          <p:cNvPr id="3" name="Text 0"/>
          <p:cNvSpPr/>
          <p:nvPr>
            <p:ph idx="100" type="title" hasCustomPrompt="1"/>
          </p:nvPr>
        </p:nvSpPr>
        <p:spPr>
          <a:xfrm>
            <a:off x="548640" y="3291840"/>
            <a:ext cx="7498080" cy="2194560"/>
          </a:xfrm>
          <a:prstGeom prst="rect">
            <a:avLst/>
          </a:prstGeom>
          <a:noFill/>
          <a:ln/>
        </p:spPr>
        <p:txBody>
          <a:bodyPr wrap="square" lIns="0" tIns="0" rIns="0" bIns="0" rtlCol="0" anchor="t"/>
          <a:lstStyle/>
          <a:p>
            <a:pPr algn="l" indent="0" marL="0">
              <a:buNone/>
            </a:pPr>
            <a:r>
              <a:rPr lang="en-US" sz="5400" dirty="0">
                <a:solidFill>
                  <a:schemeClr val="bg2"/>
                </a:solidFill>
              </a:rPr>
              <a:t>Le bestiaire du débat</a:t>
            </a:r>
            <a:endParaRPr lang="en-US" sz="5400" dirty="0"/>
          </a:p>
        </p:txBody>
      </p:sp>
      <p:sp>
        <p:nvSpPr>
          <p:cNvPr id="4" name="Text 0"/>
          <p:cNvSpPr/>
          <p:nvPr>
            <p:ph idx="101" type="body" hasCustomPrompt="1"/>
          </p:nvPr>
        </p:nvSpPr>
        <p:spPr>
          <a:xfrm>
            <a:off x="548640" y="5486400"/>
            <a:ext cx="7498080" cy="731520"/>
          </a:xfrm>
          <a:prstGeom prst="rect">
            <a:avLst/>
          </a:prstGeom>
          <a:noFill/>
          <a:ln/>
        </p:spPr>
        <p:txBody>
          <a:bodyPr wrap="square" lIns="0" tIns="0" rIns="0" bIns="0" rtlCol="0"/>
          <a:lstStyle/>
          <a:p>
            <a:pPr indent="0" marL="0">
              <a:buNone/>
            </a:pPr>
            <a:r>
              <a:rPr lang="en-US" sz="1800" dirty="0">
                <a:solidFill>
                  <a:schemeClr val="bg2"/>
                </a:solidFill>
              </a:rPr>
              <a:t>Reconnaître les débatteurs… et se reconnaître</a:t>
            </a:r>
            <a:endParaRPr lang="en-US" sz="1800" dirty="0"/>
          </a:p>
        </p:txBody>
      </p:sp>
      <p:pic>
        <p:nvPicPr>
          <p:cNvPr id="5" name="silhouette" descr="preencoded.png">    </p:cNvPr>
          <p:cNvPicPr>
            <a:picLocks noChangeAspect="1"/>
          </p:cNvPicPr>
          <p:nvPr/>
        </p:nvPicPr>
        <p:blipFill>
          <a:blip r:embed="rId1"/>
          <a:stretch>
            <a:fillRect/>
          </a:stretch>
        </p:blipFill>
        <p:spPr>
          <a:xfrm>
            <a:off x="8138160" y="914400"/>
            <a:ext cx="3566160" cy="4297680"/>
          </a:xfrm>
          <a:prstGeom prst="rect">
            <a:avLst/>
          </a:prstGeom>
        </p:spPr>
      </p:pic>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lIns="0" tIns="0" rIns="0" bIns="0" rtlCol="0" anchor="t"/>
          <a:lstStyle/>
          <a:p>
            <a:pPr algn="l" indent="0" marL="0">
              <a:buNone/>
            </a:pPr>
            <a:r>
              <a:rPr lang="en-US" sz="3600" dirty="0">
                <a:solidFill>
                  <a:schemeClr val="accent1"/>
                </a:solidFill>
              </a:rPr>
              <a:t>8 créatures à reconnaître</a:t>
            </a:r>
            <a:endParaRPr lang="en-US" sz="3600" dirty="0"/>
          </a:p>
        </p:txBody>
      </p:sp>
      <p:sp>
        <p:nvSpPr>
          <p:cNvPr id="3" name="Shape 1"/>
          <p:cNvSpPr/>
          <p:nvPr/>
        </p:nvSpPr>
        <p:spPr>
          <a:xfrm>
            <a:off x="548640" y="1325880"/>
            <a:ext cx="2651760" cy="2331720"/>
          </a:xfrm>
          <a:prstGeom prst="rect">
            <a:avLst/>
          </a:prstGeom>
          <a:solidFill>
            <a:schemeClr val="bg1"/>
          </a:solidFill>
          <a:ln w="25400">
            <a:solidFill>
              <a:schemeClr val="tx1"/>
            </a:solidFill>
            <a:prstDash val="solid"/>
          </a:ln>
        </p:spPr>
      </p:sp>
      <p:pic>
        <p:nvPicPr>
          <p:cNvPr id="4" name="Image 0" descr="preencoded.png">    </p:cNvPr>
          <p:cNvPicPr>
            <a:picLocks noChangeAspect="1"/>
          </p:cNvPicPr>
          <p:nvPr/>
        </p:nvPicPr>
        <p:blipFill>
          <a:blip r:embed="rId1"/>
          <a:stretch>
            <a:fillRect/>
          </a:stretch>
        </p:blipFill>
        <p:spPr>
          <a:xfrm>
            <a:off x="685800" y="1508760"/>
            <a:ext cx="960120" cy="1161288"/>
          </a:xfrm>
          <a:prstGeom prst="rect">
            <a:avLst/>
          </a:prstGeom>
        </p:spPr>
      </p:pic>
      <p:sp>
        <p:nvSpPr>
          <p:cNvPr id="5" name="Text 2"/>
          <p:cNvSpPr txBox="1"/>
          <p:nvPr/>
        </p:nvSpPr>
        <p:spPr>
          <a:xfrm>
            <a:off x="1691640" y="1600200"/>
            <a:ext cx="1417320" cy="914400"/>
          </a:xfrm>
          <a:prstGeom prst="rect">
            <a:avLst/>
          </a:prstGeom>
          <a:noFill/>
          <a:ln/>
        </p:spPr>
        <p:txBody>
          <a:bodyPr wrap="square" lIns="0" tIns="0" rIns="0" bIns="0" rtlCol="0" anchor="ctr"/>
          <a:lstStyle/>
          <a:p>
            <a:pPr indent="0" marL="0">
              <a:buNone/>
            </a:pPr>
            <a:r>
              <a:rPr lang="en-US" sz="1600" dirty="0">
                <a:solidFill>
                  <a:schemeClr val="accent1"/>
                </a:solidFill>
                <a:latin typeface="Rockwell Extra Bold" pitchFamily="34" charset="0"/>
                <a:ea typeface="Rockwell Extra Bold" pitchFamily="34" charset="-122"/>
                <a:cs typeface="Rockwell Extra Bold" pitchFamily="34" charset="-120"/>
              </a:rPr>
              <a:t>Le Bulldozer</a:t>
            </a:r>
            <a:endParaRPr lang="en-US" sz="1600" dirty="0"/>
          </a:p>
        </p:txBody>
      </p:sp>
      <p:sp>
        <p:nvSpPr>
          <p:cNvPr id="6" name="Text 3"/>
          <p:cNvSpPr txBox="1"/>
          <p:nvPr/>
        </p:nvSpPr>
        <p:spPr>
          <a:xfrm>
            <a:off x="685800" y="2788920"/>
            <a:ext cx="2377440" cy="777240"/>
          </a:xfrm>
          <a:prstGeom prst="rect">
            <a:avLst/>
          </a:prstGeom>
          <a:noFill/>
          <a:ln/>
        </p:spPr>
        <p:txBody>
          <a:bodyPr wrap="square" lIns="0" tIns="0" rIns="0" bIns="0" rtlCol="0" anchor="t"/>
          <a:lstStyle/>
          <a:p>
            <a:pPr indent="0" marL="0">
              <a:buNone/>
            </a:pPr>
            <a:r>
              <a:rPr lang="en-US" sz="1400" i="1" dirty="0">
                <a:solidFill>
                  <a:schemeClr val="tx1"/>
                </a:solidFill>
                <a:latin typeface="Arial" pitchFamily="34" charset="0"/>
                <a:ea typeface="Arial" pitchFamily="34" charset="-122"/>
                <a:cs typeface="Arial" pitchFamily="34" charset="-120"/>
              </a:rPr>
              <a:t>« Laisse-moi finir! » (il parle depuis 3 minutes)</a:t>
            </a:r>
            <a:endParaRPr lang="en-US" sz="1400" dirty="0"/>
          </a:p>
        </p:txBody>
      </p:sp>
      <p:sp>
        <p:nvSpPr>
          <p:cNvPr id="7" name="Shape 4"/>
          <p:cNvSpPr/>
          <p:nvPr/>
        </p:nvSpPr>
        <p:spPr>
          <a:xfrm>
            <a:off x="3355848" y="1325880"/>
            <a:ext cx="2651760" cy="2331720"/>
          </a:xfrm>
          <a:prstGeom prst="rect">
            <a:avLst/>
          </a:prstGeom>
          <a:solidFill>
            <a:schemeClr val="bg1"/>
          </a:solidFill>
          <a:ln w="25400">
            <a:solidFill>
              <a:schemeClr val="tx1"/>
            </a:solidFill>
            <a:prstDash val="solid"/>
          </a:ln>
        </p:spPr>
      </p:sp>
      <p:pic>
        <p:nvPicPr>
          <p:cNvPr id="8" name="Image 1" descr="preencoded.png">    </p:cNvPr>
          <p:cNvPicPr>
            <a:picLocks noChangeAspect="1"/>
          </p:cNvPicPr>
          <p:nvPr/>
        </p:nvPicPr>
        <p:blipFill>
          <a:blip r:embed="rId2"/>
          <a:stretch>
            <a:fillRect/>
          </a:stretch>
        </p:blipFill>
        <p:spPr>
          <a:xfrm>
            <a:off x="3493008" y="1508760"/>
            <a:ext cx="960120" cy="1161288"/>
          </a:xfrm>
          <a:prstGeom prst="rect">
            <a:avLst/>
          </a:prstGeom>
        </p:spPr>
      </p:pic>
      <p:sp>
        <p:nvSpPr>
          <p:cNvPr id="9" name="Text 5"/>
          <p:cNvSpPr txBox="1"/>
          <p:nvPr/>
        </p:nvSpPr>
        <p:spPr>
          <a:xfrm>
            <a:off x="4498848" y="1600200"/>
            <a:ext cx="1417320" cy="914400"/>
          </a:xfrm>
          <a:prstGeom prst="rect">
            <a:avLst/>
          </a:prstGeom>
          <a:noFill/>
          <a:ln/>
        </p:spPr>
        <p:txBody>
          <a:bodyPr wrap="square" lIns="0" tIns="0" rIns="0" bIns="0" rtlCol="0" anchor="ctr"/>
          <a:lstStyle/>
          <a:p>
            <a:pPr indent="0" marL="0">
              <a:buNone/>
            </a:pPr>
            <a:r>
              <a:rPr lang="en-US" sz="1600" dirty="0">
                <a:solidFill>
                  <a:schemeClr val="accent1"/>
                </a:solidFill>
                <a:latin typeface="Rockwell Extra Bold" pitchFamily="34" charset="0"/>
                <a:ea typeface="Rockwell Extra Bold" pitchFamily="34" charset="-122"/>
                <a:cs typeface="Rockwell Extra Bold" pitchFamily="34" charset="-120"/>
              </a:rPr>
              <a:t>Le Brouillard</a:t>
            </a:r>
            <a:endParaRPr lang="en-US" sz="1600" dirty="0"/>
          </a:p>
        </p:txBody>
      </p:sp>
      <p:sp>
        <p:nvSpPr>
          <p:cNvPr id="10" name="Text 6"/>
          <p:cNvSpPr txBox="1"/>
          <p:nvPr/>
        </p:nvSpPr>
        <p:spPr>
          <a:xfrm>
            <a:off x="3493008" y="2788920"/>
            <a:ext cx="2377440" cy="777240"/>
          </a:xfrm>
          <a:prstGeom prst="rect">
            <a:avLst/>
          </a:prstGeom>
          <a:noFill/>
          <a:ln/>
        </p:spPr>
        <p:txBody>
          <a:bodyPr wrap="square" lIns="0" tIns="0" rIns="0" bIns="0" rtlCol="0" anchor="t"/>
          <a:lstStyle/>
          <a:p>
            <a:pPr indent="0" marL="0">
              <a:buNone/>
            </a:pPr>
            <a:r>
              <a:rPr lang="en-US" sz="1400" i="1" dirty="0">
                <a:solidFill>
                  <a:schemeClr val="tx1"/>
                </a:solidFill>
                <a:latin typeface="Arial" pitchFamily="34" charset="0"/>
                <a:ea typeface="Arial" pitchFamily="34" charset="-122"/>
                <a:cs typeface="Arial" pitchFamily="34" charset="-120"/>
              </a:rPr>
              <a:t>« Oui, mais le vrai problème, c'est… »</a:t>
            </a:r>
            <a:endParaRPr lang="en-US" sz="1400" dirty="0"/>
          </a:p>
        </p:txBody>
      </p:sp>
      <p:sp>
        <p:nvSpPr>
          <p:cNvPr id="11" name="Shape 7"/>
          <p:cNvSpPr/>
          <p:nvPr/>
        </p:nvSpPr>
        <p:spPr>
          <a:xfrm>
            <a:off x="6163056" y="1325880"/>
            <a:ext cx="2651760" cy="2331720"/>
          </a:xfrm>
          <a:prstGeom prst="rect">
            <a:avLst/>
          </a:prstGeom>
          <a:solidFill>
            <a:schemeClr val="bg1"/>
          </a:solidFill>
          <a:ln w="25400">
            <a:solidFill>
              <a:schemeClr val="tx1"/>
            </a:solidFill>
            <a:prstDash val="solid"/>
          </a:ln>
        </p:spPr>
      </p:sp>
      <p:pic>
        <p:nvPicPr>
          <p:cNvPr id="12" name="Image 2" descr="preencoded.png">    </p:cNvPr>
          <p:cNvPicPr>
            <a:picLocks noChangeAspect="1"/>
          </p:cNvPicPr>
          <p:nvPr/>
        </p:nvPicPr>
        <p:blipFill>
          <a:blip r:embed="rId3"/>
          <a:stretch>
            <a:fillRect/>
          </a:stretch>
        </p:blipFill>
        <p:spPr>
          <a:xfrm>
            <a:off x="6300216" y="1508760"/>
            <a:ext cx="960120" cy="1161288"/>
          </a:xfrm>
          <a:prstGeom prst="rect">
            <a:avLst/>
          </a:prstGeom>
        </p:spPr>
      </p:pic>
      <p:sp>
        <p:nvSpPr>
          <p:cNvPr id="13" name="Text 8"/>
          <p:cNvSpPr txBox="1"/>
          <p:nvPr/>
        </p:nvSpPr>
        <p:spPr>
          <a:xfrm>
            <a:off x="7306056" y="1600200"/>
            <a:ext cx="1417320" cy="914400"/>
          </a:xfrm>
          <a:prstGeom prst="rect">
            <a:avLst/>
          </a:prstGeom>
          <a:noFill/>
          <a:ln/>
        </p:spPr>
        <p:txBody>
          <a:bodyPr wrap="square" lIns="0" tIns="0" rIns="0" bIns="0" rtlCol="0" anchor="ctr"/>
          <a:lstStyle/>
          <a:p>
            <a:pPr indent="0" marL="0">
              <a:buNone/>
            </a:pPr>
            <a:r>
              <a:rPr lang="en-US" sz="1600" dirty="0">
                <a:solidFill>
                  <a:schemeClr val="accent1"/>
                </a:solidFill>
                <a:latin typeface="Rockwell Extra Bold" pitchFamily="34" charset="0"/>
                <a:ea typeface="Rockwell Extra Bold" pitchFamily="34" charset="-122"/>
                <a:cs typeface="Rockwell Extra Bold" pitchFamily="34" charset="-120"/>
              </a:rPr>
              <a:t>Le Sniper</a:t>
            </a:r>
            <a:endParaRPr lang="en-US" sz="1600" dirty="0"/>
          </a:p>
        </p:txBody>
      </p:sp>
      <p:sp>
        <p:nvSpPr>
          <p:cNvPr id="14" name="Text 9"/>
          <p:cNvSpPr txBox="1"/>
          <p:nvPr/>
        </p:nvSpPr>
        <p:spPr>
          <a:xfrm>
            <a:off x="6300216" y="2788920"/>
            <a:ext cx="2377440" cy="777240"/>
          </a:xfrm>
          <a:prstGeom prst="rect">
            <a:avLst/>
          </a:prstGeom>
          <a:noFill/>
          <a:ln/>
        </p:spPr>
        <p:txBody>
          <a:bodyPr wrap="square" lIns="0" tIns="0" rIns="0" bIns="0" rtlCol="0" anchor="t"/>
          <a:lstStyle/>
          <a:p>
            <a:pPr indent="0" marL="0">
              <a:buNone/>
            </a:pPr>
            <a:r>
              <a:rPr lang="en-US" sz="1400" i="1" dirty="0">
                <a:solidFill>
                  <a:schemeClr val="tx1"/>
                </a:solidFill>
                <a:latin typeface="Arial" pitchFamily="34" charset="0"/>
                <a:ea typeface="Arial" pitchFamily="34" charset="-122"/>
                <a:cs typeface="Arial" pitchFamily="34" charset="-120"/>
              </a:rPr>
              <a:t>« Venant de toi, franchement… »</a:t>
            </a:r>
            <a:endParaRPr lang="en-US" sz="1400" dirty="0"/>
          </a:p>
        </p:txBody>
      </p:sp>
      <p:sp>
        <p:nvSpPr>
          <p:cNvPr id="15" name="Shape 10"/>
          <p:cNvSpPr/>
          <p:nvPr/>
        </p:nvSpPr>
        <p:spPr>
          <a:xfrm>
            <a:off x="8970264" y="1325880"/>
            <a:ext cx="2651760" cy="2331720"/>
          </a:xfrm>
          <a:prstGeom prst="rect">
            <a:avLst/>
          </a:prstGeom>
          <a:solidFill>
            <a:schemeClr val="bg1"/>
          </a:solidFill>
          <a:ln w="25400">
            <a:solidFill>
              <a:schemeClr val="tx1"/>
            </a:solidFill>
            <a:prstDash val="solid"/>
          </a:ln>
        </p:spPr>
      </p:sp>
      <p:pic>
        <p:nvPicPr>
          <p:cNvPr id="16" name="Image 3" descr="preencoded.png">    </p:cNvPr>
          <p:cNvPicPr>
            <a:picLocks noChangeAspect="1"/>
          </p:cNvPicPr>
          <p:nvPr/>
        </p:nvPicPr>
        <p:blipFill>
          <a:blip r:embed="rId4"/>
          <a:stretch>
            <a:fillRect/>
          </a:stretch>
        </p:blipFill>
        <p:spPr>
          <a:xfrm>
            <a:off x="9107424" y="1508760"/>
            <a:ext cx="960120" cy="1161288"/>
          </a:xfrm>
          <a:prstGeom prst="rect">
            <a:avLst/>
          </a:prstGeom>
        </p:spPr>
      </p:pic>
      <p:sp>
        <p:nvSpPr>
          <p:cNvPr id="17" name="Text 11"/>
          <p:cNvSpPr txBox="1"/>
          <p:nvPr/>
        </p:nvSpPr>
        <p:spPr>
          <a:xfrm>
            <a:off x="10113264" y="1600200"/>
            <a:ext cx="1417320" cy="914400"/>
          </a:xfrm>
          <a:prstGeom prst="rect">
            <a:avLst/>
          </a:prstGeom>
          <a:noFill/>
          <a:ln/>
        </p:spPr>
        <p:txBody>
          <a:bodyPr wrap="square" lIns="0" tIns="0" rIns="0" bIns="0" rtlCol="0" anchor="ctr"/>
          <a:lstStyle/>
          <a:p>
            <a:pPr indent="0" marL="0">
              <a:buNone/>
            </a:pPr>
            <a:r>
              <a:rPr lang="en-US" sz="1600" dirty="0">
                <a:solidFill>
                  <a:schemeClr val="accent1"/>
                </a:solidFill>
                <a:latin typeface="Rockwell Extra Bold" pitchFamily="34" charset="0"/>
                <a:ea typeface="Rockwell Extra Bold" pitchFamily="34" charset="-122"/>
                <a:cs typeface="Rockwell Extra Bold" pitchFamily="34" charset="-120"/>
              </a:rPr>
              <a:t>Le Professeur</a:t>
            </a:r>
            <a:endParaRPr lang="en-US" sz="1600" dirty="0"/>
          </a:p>
        </p:txBody>
      </p:sp>
      <p:sp>
        <p:nvSpPr>
          <p:cNvPr id="18" name="Text 12"/>
          <p:cNvSpPr txBox="1"/>
          <p:nvPr/>
        </p:nvSpPr>
        <p:spPr>
          <a:xfrm>
            <a:off x="9107424" y="2788920"/>
            <a:ext cx="2377440" cy="777240"/>
          </a:xfrm>
          <a:prstGeom prst="rect">
            <a:avLst/>
          </a:prstGeom>
          <a:noFill/>
          <a:ln/>
        </p:spPr>
        <p:txBody>
          <a:bodyPr wrap="square" lIns="0" tIns="0" rIns="0" bIns="0" rtlCol="0" anchor="t"/>
          <a:lstStyle/>
          <a:p>
            <a:pPr indent="0" marL="0">
              <a:buNone/>
            </a:pPr>
            <a:r>
              <a:rPr lang="en-US" sz="1400" i="1" dirty="0">
                <a:solidFill>
                  <a:schemeClr val="tx1"/>
                </a:solidFill>
                <a:latin typeface="Arial" pitchFamily="34" charset="0"/>
                <a:ea typeface="Arial" pitchFamily="34" charset="-122"/>
                <a:cs typeface="Arial" pitchFamily="34" charset="-120"/>
              </a:rPr>
              <a:t>« Les études montrent que… »</a:t>
            </a:r>
            <a:endParaRPr lang="en-US" sz="1400" dirty="0"/>
          </a:p>
        </p:txBody>
      </p:sp>
      <p:sp>
        <p:nvSpPr>
          <p:cNvPr id="19" name="Shape 13"/>
          <p:cNvSpPr/>
          <p:nvPr/>
        </p:nvSpPr>
        <p:spPr>
          <a:xfrm>
            <a:off x="548640" y="3840480"/>
            <a:ext cx="2651760" cy="2331720"/>
          </a:xfrm>
          <a:prstGeom prst="rect">
            <a:avLst/>
          </a:prstGeom>
          <a:solidFill>
            <a:schemeClr val="bg1"/>
          </a:solidFill>
          <a:ln w="25400">
            <a:solidFill>
              <a:schemeClr val="tx1"/>
            </a:solidFill>
            <a:prstDash val="solid"/>
          </a:ln>
        </p:spPr>
      </p:sp>
      <p:pic>
        <p:nvPicPr>
          <p:cNvPr id="20" name="Image 4" descr="preencoded.png">    </p:cNvPr>
          <p:cNvPicPr>
            <a:picLocks noChangeAspect="1"/>
          </p:cNvPicPr>
          <p:nvPr/>
        </p:nvPicPr>
        <p:blipFill>
          <a:blip r:embed="rId5"/>
          <a:stretch>
            <a:fillRect/>
          </a:stretch>
        </p:blipFill>
        <p:spPr>
          <a:xfrm>
            <a:off x="685800" y="4023360"/>
            <a:ext cx="960120" cy="1161288"/>
          </a:xfrm>
          <a:prstGeom prst="rect">
            <a:avLst/>
          </a:prstGeom>
        </p:spPr>
      </p:pic>
      <p:sp>
        <p:nvSpPr>
          <p:cNvPr id="21" name="Text 14"/>
          <p:cNvSpPr txBox="1"/>
          <p:nvPr/>
        </p:nvSpPr>
        <p:spPr>
          <a:xfrm>
            <a:off x="1691640" y="4114800"/>
            <a:ext cx="1417320" cy="914400"/>
          </a:xfrm>
          <a:prstGeom prst="rect">
            <a:avLst/>
          </a:prstGeom>
          <a:noFill/>
          <a:ln/>
        </p:spPr>
        <p:txBody>
          <a:bodyPr wrap="square" lIns="0" tIns="0" rIns="0" bIns="0" rtlCol="0" anchor="ctr"/>
          <a:lstStyle/>
          <a:p>
            <a:pPr indent="0" marL="0">
              <a:buNone/>
            </a:pPr>
            <a:r>
              <a:rPr lang="en-US" sz="1600" dirty="0">
                <a:solidFill>
                  <a:schemeClr val="accent1"/>
                </a:solidFill>
                <a:latin typeface="Rockwell Extra Bold" pitchFamily="34" charset="0"/>
                <a:ea typeface="Rockwell Extra Bold" pitchFamily="34" charset="-122"/>
                <a:cs typeface="Rockwell Extra Bold" pitchFamily="34" charset="-120"/>
              </a:rPr>
              <a:t>La Girouette</a:t>
            </a:r>
            <a:endParaRPr lang="en-US" sz="1600" dirty="0"/>
          </a:p>
        </p:txBody>
      </p:sp>
      <p:sp>
        <p:nvSpPr>
          <p:cNvPr id="22" name="Text 15"/>
          <p:cNvSpPr txBox="1"/>
          <p:nvPr/>
        </p:nvSpPr>
        <p:spPr>
          <a:xfrm>
            <a:off x="685800" y="5303520"/>
            <a:ext cx="2377440" cy="777240"/>
          </a:xfrm>
          <a:prstGeom prst="rect">
            <a:avLst/>
          </a:prstGeom>
          <a:noFill/>
          <a:ln/>
        </p:spPr>
        <p:txBody>
          <a:bodyPr wrap="square" lIns="0" tIns="0" rIns="0" bIns="0" rtlCol="0" anchor="t"/>
          <a:lstStyle/>
          <a:p>
            <a:pPr indent="0" marL="0">
              <a:buNone/>
            </a:pPr>
            <a:r>
              <a:rPr lang="en-US" sz="1400" i="1" dirty="0">
                <a:solidFill>
                  <a:schemeClr val="tx1"/>
                </a:solidFill>
                <a:latin typeface="Arial" pitchFamily="34" charset="0"/>
                <a:ea typeface="Arial" pitchFamily="34" charset="-122"/>
                <a:cs typeface="Arial" pitchFamily="34" charset="-120"/>
              </a:rPr>
              <a:t>« T'as raison… Toi aussi, t'as raison. »</a:t>
            </a:r>
            <a:endParaRPr lang="en-US" sz="1400" dirty="0"/>
          </a:p>
        </p:txBody>
      </p:sp>
      <p:sp>
        <p:nvSpPr>
          <p:cNvPr id="23" name="Shape 16"/>
          <p:cNvSpPr/>
          <p:nvPr/>
        </p:nvSpPr>
        <p:spPr>
          <a:xfrm>
            <a:off x="3355848" y="3840480"/>
            <a:ext cx="2651760" cy="2331720"/>
          </a:xfrm>
          <a:prstGeom prst="rect">
            <a:avLst/>
          </a:prstGeom>
          <a:solidFill>
            <a:schemeClr val="bg1"/>
          </a:solidFill>
          <a:ln w="25400">
            <a:solidFill>
              <a:schemeClr val="tx1"/>
            </a:solidFill>
            <a:prstDash val="solid"/>
          </a:ln>
        </p:spPr>
      </p:sp>
      <p:pic>
        <p:nvPicPr>
          <p:cNvPr id="24" name="Image 5" descr="preencoded.png">    </p:cNvPr>
          <p:cNvPicPr>
            <a:picLocks noChangeAspect="1"/>
          </p:cNvPicPr>
          <p:nvPr/>
        </p:nvPicPr>
        <p:blipFill>
          <a:blip r:embed="rId6"/>
          <a:stretch>
            <a:fillRect/>
          </a:stretch>
        </p:blipFill>
        <p:spPr>
          <a:xfrm>
            <a:off x="3493008" y="4023360"/>
            <a:ext cx="960120" cy="1161288"/>
          </a:xfrm>
          <a:prstGeom prst="rect">
            <a:avLst/>
          </a:prstGeom>
        </p:spPr>
      </p:pic>
      <p:sp>
        <p:nvSpPr>
          <p:cNvPr id="25" name="Text 17"/>
          <p:cNvSpPr txBox="1"/>
          <p:nvPr/>
        </p:nvSpPr>
        <p:spPr>
          <a:xfrm>
            <a:off x="4498848" y="4114800"/>
            <a:ext cx="1417320" cy="914400"/>
          </a:xfrm>
          <a:prstGeom prst="rect">
            <a:avLst/>
          </a:prstGeom>
          <a:noFill/>
          <a:ln/>
        </p:spPr>
        <p:txBody>
          <a:bodyPr wrap="square" lIns="0" tIns="0" rIns="0" bIns="0" rtlCol="0" anchor="ctr"/>
          <a:lstStyle/>
          <a:p>
            <a:pPr indent="0" marL="0">
              <a:buNone/>
            </a:pPr>
            <a:r>
              <a:rPr lang="en-US" sz="1600" dirty="0">
                <a:solidFill>
                  <a:schemeClr val="accent1"/>
                </a:solidFill>
                <a:latin typeface="Rockwell Extra Bold" pitchFamily="34" charset="0"/>
                <a:ea typeface="Rockwell Extra Bold" pitchFamily="34" charset="-122"/>
                <a:cs typeface="Rockwell Extra Bold" pitchFamily="34" charset="-120"/>
              </a:rPr>
              <a:t>La Tortue</a:t>
            </a:r>
            <a:endParaRPr lang="en-US" sz="1600" dirty="0"/>
          </a:p>
        </p:txBody>
      </p:sp>
      <p:sp>
        <p:nvSpPr>
          <p:cNvPr id="26" name="Text 18"/>
          <p:cNvSpPr txBox="1"/>
          <p:nvPr/>
        </p:nvSpPr>
        <p:spPr>
          <a:xfrm>
            <a:off x="3493008" y="5303520"/>
            <a:ext cx="2377440" cy="777240"/>
          </a:xfrm>
          <a:prstGeom prst="rect">
            <a:avLst/>
          </a:prstGeom>
          <a:noFill/>
          <a:ln/>
        </p:spPr>
        <p:txBody>
          <a:bodyPr wrap="square" lIns="0" tIns="0" rIns="0" bIns="0" rtlCol="0" anchor="t"/>
          <a:lstStyle/>
          <a:p>
            <a:pPr indent="0" marL="0">
              <a:buNone/>
            </a:pPr>
            <a:r>
              <a:rPr lang="en-US" sz="1400" i="1" dirty="0">
                <a:solidFill>
                  <a:schemeClr val="tx1"/>
                </a:solidFill>
                <a:latin typeface="Arial" pitchFamily="34" charset="0"/>
                <a:ea typeface="Arial" pitchFamily="34" charset="-122"/>
                <a:cs typeface="Arial" pitchFamily="34" charset="-120"/>
              </a:rPr>
              <a:t>« … » ou « Je sais pas » (alors qu'elle sait)</a:t>
            </a:r>
            <a:endParaRPr lang="en-US" sz="1400" dirty="0"/>
          </a:p>
        </p:txBody>
      </p:sp>
      <p:sp>
        <p:nvSpPr>
          <p:cNvPr id="27" name="Shape 19"/>
          <p:cNvSpPr/>
          <p:nvPr/>
        </p:nvSpPr>
        <p:spPr>
          <a:xfrm>
            <a:off x="6163056" y="3840480"/>
            <a:ext cx="2651760" cy="2331720"/>
          </a:xfrm>
          <a:prstGeom prst="rect">
            <a:avLst/>
          </a:prstGeom>
          <a:solidFill>
            <a:schemeClr val="bg1"/>
          </a:solidFill>
          <a:ln w="25400">
            <a:solidFill>
              <a:schemeClr val="tx1"/>
            </a:solidFill>
            <a:prstDash val="solid"/>
          </a:ln>
        </p:spPr>
      </p:sp>
      <p:pic>
        <p:nvPicPr>
          <p:cNvPr id="28" name="Image 6" descr="preencoded.png">    </p:cNvPr>
          <p:cNvPicPr>
            <a:picLocks noChangeAspect="1"/>
          </p:cNvPicPr>
          <p:nvPr/>
        </p:nvPicPr>
        <p:blipFill>
          <a:blip r:embed="rId7"/>
          <a:stretch>
            <a:fillRect/>
          </a:stretch>
        </p:blipFill>
        <p:spPr>
          <a:xfrm>
            <a:off x="6300216" y="4023360"/>
            <a:ext cx="960120" cy="1161288"/>
          </a:xfrm>
          <a:prstGeom prst="rect">
            <a:avLst/>
          </a:prstGeom>
        </p:spPr>
      </p:pic>
      <p:sp>
        <p:nvSpPr>
          <p:cNvPr id="29" name="Text 20"/>
          <p:cNvSpPr txBox="1"/>
          <p:nvPr/>
        </p:nvSpPr>
        <p:spPr>
          <a:xfrm>
            <a:off x="7306056" y="4114800"/>
            <a:ext cx="1417320" cy="914400"/>
          </a:xfrm>
          <a:prstGeom prst="rect">
            <a:avLst/>
          </a:prstGeom>
          <a:noFill/>
          <a:ln/>
        </p:spPr>
        <p:txBody>
          <a:bodyPr wrap="square" lIns="0" tIns="0" rIns="0" bIns="0" rtlCol="0" anchor="ctr"/>
          <a:lstStyle/>
          <a:p>
            <a:pPr indent="0" marL="0">
              <a:buNone/>
            </a:pPr>
            <a:r>
              <a:rPr lang="en-US" sz="1600" dirty="0">
                <a:solidFill>
                  <a:schemeClr val="accent1"/>
                </a:solidFill>
                <a:latin typeface="Rockwell Extra Bold" pitchFamily="34" charset="0"/>
                <a:ea typeface="Rockwell Extra Bold" pitchFamily="34" charset="-122"/>
                <a:cs typeface="Rockwell Extra Bold" pitchFamily="34" charset="-120"/>
              </a:rPr>
              <a:t>L'Avocat du diable</a:t>
            </a:r>
            <a:endParaRPr lang="en-US" sz="1600" dirty="0"/>
          </a:p>
        </p:txBody>
      </p:sp>
      <p:sp>
        <p:nvSpPr>
          <p:cNvPr id="30" name="Text 21"/>
          <p:cNvSpPr txBox="1"/>
          <p:nvPr/>
        </p:nvSpPr>
        <p:spPr>
          <a:xfrm>
            <a:off x="6300216" y="5303520"/>
            <a:ext cx="2377440" cy="777240"/>
          </a:xfrm>
          <a:prstGeom prst="rect">
            <a:avLst/>
          </a:prstGeom>
          <a:noFill/>
          <a:ln/>
        </p:spPr>
        <p:txBody>
          <a:bodyPr wrap="square" lIns="0" tIns="0" rIns="0" bIns="0" rtlCol="0" anchor="t"/>
          <a:lstStyle/>
          <a:p>
            <a:pPr indent="0" marL="0">
              <a:buNone/>
            </a:pPr>
            <a:r>
              <a:rPr lang="en-US" sz="1400" i="1" dirty="0">
                <a:solidFill>
                  <a:schemeClr val="tx1"/>
                </a:solidFill>
                <a:latin typeface="Arial" pitchFamily="34" charset="0"/>
                <a:ea typeface="Arial" pitchFamily="34" charset="-122"/>
                <a:cs typeface="Arial" pitchFamily="34" charset="-120"/>
              </a:rPr>
              <a:t>« Juste pour jouer l'avocat du diable… »</a:t>
            </a:r>
            <a:endParaRPr lang="en-US" sz="1400" dirty="0"/>
          </a:p>
        </p:txBody>
      </p:sp>
      <p:sp>
        <p:nvSpPr>
          <p:cNvPr id="31" name="Shape 22"/>
          <p:cNvSpPr/>
          <p:nvPr/>
        </p:nvSpPr>
        <p:spPr>
          <a:xfrm>
            <a:off x="8970264" y="3840480"/>
            <a:ext cx="2651760" cy="2331720"/>
          </a:xfrm>
          <a:prstGeom prst="rect">
            <a:avLst/>
          </a:prstGeom>
          <a:solidFill>
            <a:schemeClr val="accent2"/>
          </a:solidFill>
          <a:ln w="25400">
            <a:solidFill>
              <a:schemeClr val="tx1"/>
            </a:solidFill>
            <a:prstDash val="solid"/>
          </a:ln>
        </p:spPr>
      </p:sp>
      <p:pic>
        <p:nvPicPr>
          <p:cNvPr id="32" name="Image 7" descr="preencoded.png">    </p:cNvPr>
          <p:cNvPicPr>
            <a:picLocks noChangeAspect="1"/>
          </p:cNvPicPr>
          <p:nvPr/>
        </p:nvPicPr>
        <p:blipFill>
          <a:blip r:embed="rId8"/>
          <a:stretch>
            <a:fillRect/>
          </a:stretch>
        </p:blipFill>
        <p:spPr>
          <a:xfrm>
            <a:off x="9107424" y="4023360"/>
            <a:ext cx="960120" cy="1161288"/>
          </a:xfrm>
          <a:prstGeom prst="rect">
            <a:avLst/>
          </a:prstGeom>
        </p:spPr>
      </p:pic>
      <p:sp>
        <p:nvSpPr>
          <p:cNvPr id="33" name="Text 23"/>
          <p:cNvSpPr txBox="1"/>
          <p:nvPr/>
        </p:nvSpPr>
        <p:spPr>
          <a:xfrm>
            <a:off x="10113264" y="4114800"/>
            <a:ext cx="1417320" cy="914400"/>
          </a:xfrm>
          <a:prstGeom prst="rect">
            <a:avLst/>
          </a:prstGeom>
          <a:noFill/>
          <a:ln/>
        </p:spPr>
        <p:txBody>
          <a:bodyPr wrap="square" lIns="0" tIns="0" rIns="0" bIns="0" rtlCol="0" anchor="ctr"/>
          <a:lstStyle/>
          <a:p>
            <a:pPr indent="0" marL="0">
              <a:buNone/>
            </a:pPr>
            <a:r>
              <a:rPr lang="en-US" sz="1600" dirty="0">
                <a:solidFill>
                  <a:schemeClr val="accent1"/>
                </a:solidFill>
                <a:latin typeface="Rockwell Extra Bold" pitchFamily="34" charset="0"/>
                <a:ea typeface="Rockwell Extra Bold" pitchFamily="34" charset="-122"/>
                <a:cs typeface="Rockwell Extra Bold" pitchFamily="34" charset="-120"/>
              </a:rPr>
              <a:t>Le Bâtisseur</a:t>
            </a:r>
            <a:endParaRPr lang="en-US" sz="1600" dirty="0"/>
          </a:p>
        </p:txBody>
      </p:sp>
      <p:sp>
        <p:nvSpPr>
          <p:cNvPr id="34" name="Text 24"/>
          <p:cNvSpPr txBox="1"/>
          <p:nvPr/>
        </p:nvSpPr>
        <p:spPr>
          <a:xfrm>
            <a:off x="9107424" y="5303520"/>
            <a:ext cx="2377440" cy="777240"/>
          </a:xfrm>
          <a:prstGeom prst="rect">
            <a:avLst/>
          </a:prstGeom>
          <a:noFill/>
          <a:ln/>
        </p:spPr>
        <p:txBody>
          <a:bodyPr wrap="square" lIns="0" tIns="0" rIns="0" bIns="0" rtlCol="0" anchor="t"/>
          <a:lstStyle/>
          <a:p>
            <a:pPr indent="0" marL="0">
              <a:buNone/>
            </a:pPr>
            <a:r>
              <a:rPr lang="en-US" sz="1400" i="1" dirty="0">
                <a:solidFill>
                  <a:schemeClr val="tx1"/>
                </a:solidFill>
                <a:latin typeface="Arial" pitchFamily="34" charset="0"/>
                <a:ea typeface="Arial" pitchFamily="34" charset="-122"/>
                <a:cs typeface="Arial" pitchFamily="34" charset="-120"/>
              </a:rPr>
              <a:t>« Si je te comprends bien, tu dis que… »</a:t>
            </a:r>
            <a:endParaRPr lang="en-US" sz="14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1"/>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lIns="0" tIns="0" rIns="0" bIns="0" rtlCol="0" anchor="t"/>
          <a:lstStyle/>
          <a:p>
            <a:pPr algn="l" indent="0" marL="0">
              <a:buNone/>
            </a:pPr>
            <a:r>
              <a:rPr lang="en-US" sz="3600" dirty="0">
                <a:solidFill>
                  <a:schemeClr val="accent1"/>
                </a:solidFill>
              </a:rPr>
              <a:t>Le bal masqué du débat</a:t>
            </a:r>
            <a:endParaRPr lang="en-US" sz="3600" dirty="0"/>
          </a:p>
        </p:txBody>
      </p:sp>
      <p:sp>
        <p:nvSpPr>
          <p:cNvPr id="3" name="Shape 1"/>
          <p:cNvSpPr/>
          <p:nvPr/>
        </p:nvSpPr>
        <p:spPr>
          <a:xfrm>
            <a:off x="9966960" y="411480"/>
            <a:ext cx="1645920" cy="457200"/>
          </a:xfrm>
          <a:prstGeom prst="roundRect">
            <a:avLst>
              <a:gd name="adj" fmla="val 50000"/>
            </a:avLst>
          </a:prstGeom>
          <a:solidFill>
            <a:schemeClr val="tx1"/>
          </a:solidFill>
          <a:ln/>
        </p:spPr>
      </p:sp>
      <p:sp>
        <p:nvSpPr>
          <p:cNvPr id="4" name="Text 2"/>
          <p:cNvSpPr txBox="1"/>
          <p:nvPr/>
        </p:nvSpPr>
        <p:spPr>
          <a:xfrm>
            <a:off x="9966960" y="411480"/>
            <a:ext cx="1645920" cy="457200"/>
          </a:xfrm>
          <a:prstGeom prst="rect">
            <a:avLst/>
          </a:prstGeom>
          <a:noFill/>
          <a:ln/>
        </p:spPr>
        <p:txBody>
          <a:bodyPr wrap="square" lIns="0" tIns="0" rIns="0" bIns="0" rtlCol="0" anchor="ctr"/>
          <a:lstStyle/>
          <a:p>
            <a:pPr algn="ctr" indent="0" marL="0">
              <a:buNone/>
            </a:pPr>
            <a:r>
              <a:rPr lang="en-US" sz="1400" b="1" dirty="0">
                <a:solidFill>
                  <a:schemeClr val="bg2"/>
                </a:solidFill>
              </a:rPr>
              <a:t>⏱ 25 min</a:t>
            </a:r>
            <a:endParaRPr lang="en-US" sz="1400" dirty="0"/>
          </a:p>
        </p:txBody>
      </p:sp>
      <p:sp>
        <p:nvSpPr>
          <p:cNvPr id="5" name="Shape 3"/>
          <p:cNvSpPr/>
          <p:nvPr/>
        </p:nvSpPr>
        <p:spPr>
          <a:xfrm>
            <a:off x="548640" y="1371600"/>
            <a:ext cx="548640" cy="548640"/>
          </a:xfrm>
          <a:prstGeom prst="ellipse">
            <a:avLst/>
          </a:prstGeom>
          <a:solidFill>
            <a:schemeClr val="accent1"/>
          </a:solidFill>
          <a:ln w="19050">
            <a:solidFill>
              <a:schemeClr val="tx1"/>
            </a:solidFill>
            <a:prstDash val="solid"/>
          </a:ln>
        </p:spPr>
      </p:sp>
      <p:sp>
        <p:nvSpPr>
          <p:cNvPr id="6" name="Text 4"/>
          <p:cNvSpPr txBox="1"/>
          <p:nvPr/>
        </p:nvSpPr>
        <p:spPr>
          <a:xfrm>
            <a:off x="548640" y="1371600"/>
            <a:ext cx="548640" cy="548640"/>
          </a:xfrm>
          <a:prstGeom prst="rect">
            <a:avLst/>
          </a:prstGeom>
          <a:noFill/>
          <a:ln/>
        </p:spPr>
        <p:txBody>
          <a:bodyPr wrap="square" lIns="0" tIns="0" rIns="0" bIns="0" rtlCol="0" anchor="ctr"/>
          <a:lstStyle/>
          <a:p>
            <a:pPr algn="ctr" indent="0" marL="0">
              <a:buNone/>
            </a:pPr>
            <a:r>
              <a:rPr lang="en-US" sz="2000" dirty="0">
                <a:solidFill>
                  <a:schemeClr val="bg2"/>
                </a:solidFill>
                <a:latin typeface="Rockwell Extra Bold" pitchFamily="34" charset="0"/>
                <a:ea typeface="Rockwell Extra Bold" pitchFamily="34" charset="-122"/>
                <a:cs typeface="Rockwell Extra Bold" pitchFamily="34" charset="-120"/>
              </a:rPr>
              <a:t>1</a:t>
            </a:r>
            <a:endParaRPr lang="en-US" sz="2000" dirty="0"/>
          </a:p>
        </p:txBody>
      </p:sp>
      <p:sp>
        <p:nvSpPr>
          <p:cNvPr id="7" name="Text 5"/>
          <p:cNvSpPr txBox="1"/>
          <p:nvPr/>
        </p:nvSpPr>
        <p:spPr>
          <a:xfrm>
            <a:off x="1280160" y="1389888"/>
            <a:ext cx="2011680" cy="502920"/>
          </a:xfrm>
          <a:prstGeom prst="rect">
            <a:avLst/>
          </a:prstGeom>
          <a:noFill/>
          <a:ln/>
        </p:spPr>
        <p:txBody>
          <a:bodyPr wrap="square" lIns="0" tIns="0" rIns="0" bIns="0" rtlCol="0" anchor="ctr"/>
          <a:lstStyle/>
          <a:p>
            <a:pPr indent="0" marL="0">
              <a:buNone/>
            </a:pPr>
            <a:r>
              <a:rPr lang="en-US" sz="1700" dirty="0">
                <a:solidFill>
                  <a:schemeClr val="accent1"/>
                </a:solidFill>
                <a:latin typeface="Rockwell Extra Bold" pitchFamily="34" charset="0"/>
                <a:ea typeface="Rockwell Extra Bold" pitchFamily="34" charset="-122"/>
                <a:cs typeface="Rockwell Extra Bold" pitchFamily="34" charset="-120"/>
              </a:rPr>
              <a:t>Tirage</a:t>
            </a:r>
            <a:endParaRPr lang="en-US" sz="1700" dirty="0"/>
          </a:p>
        </p:txBody>
      </p:sp>
      <p:sp>
        <p:nvSpPr>
          <p:cNvPr id="8" name="Text 6"/>
          <p:cNvSpPr txBox="1"/>
          <p:nvPr/>
        </p:nvSpPr>
        <p:spPr>
          <a:xfrm>
            <a:off x="3291840" y="1335024"/>
            <a:ext cx="4572000" cy="868680"/>
          </a:xfrm>
          <a:prstGeom prst="rect">
            <a:avLst/>
          </a:prstGeom>
          <a:noFill/>
          <a:ln/>
        </p:spPr>
        <p:txBody>
          <a:bodyPr wrap="square" lIns="0" tIns="0" rIns="0" bIns="0" rtlCol="0" anchor="ctr"/>
          <a:lstStyle/>
          <a:p>
            <a:pPr indent="0" marL="0">
              <a:buNone/>
            </a:pPr>
            <a:r>
              <a:rPr lang="en-US" sz="1400" dirty="0">
                <a:solidFill>
                  <a:schemeClr val="tx1"/>
                </a:solidFill>
                <a:latin typeface="Arial" pitchFamily="34" charset="0"/>
                <a:ea typeface="Arial" pitchFamily="34" charset="-122"/>
                <a:cs typeface="Arial" pitchFamily="34" charset="-120"/>
              </a:rPr>
              <a:t>Groupes de 5 débatteurs. Chacun pioche en secret une carte-créature (la Tortue compte aussi!).</a:t>
            </a:r>
            <a:endParaRPr lang="en-US" sz="1400" dirty="0"/>
          </a:p>
        </p:txBody>
      </p:sp>
      <p:sp>
        <p:nvSpPr>
          <p:cNvPr id="9" name="Shape 7"/>
          <p:cNvSpPr/>
          <p:nvPr/>
        </p:nvSpPr>
        <p:spPr>
          <a:xfrm>
            <a:off x="548640" y="2304288"/>
            <a:ext cx="548640" cy="548640"/>
          </a:xfrm>
          <a:prstGeom prst="ellipse">
            <a:avLst/>
          </a:prstGeom>
          <a:solidFill>
            <a:schemeClr val="accent1"/>
          </a:solidFill>
          <a:ln w="19050">
            <a:solidFill>
              <a:schemeClr val="tx1"/>
            </a:solidFill>
            <a:prstDash val="solid"/>
          </a:ln>
        </p:spPr>
      </p:sp>
      <p:sp>
        <p:nvSpPr>
          <p:cNvPr id="10" name="Text 8"/>
          <p:cNvSpPr txBox="1"/>
          <p:nvPr/>
        </p:nvSpPr>
        <p:spPr>
          <a:xfrm>
            <a:off x="548640" y="2304288"/>
            <a:ext cx="548640" cy="548640"/>
          </a:xfrm>
          <a:prstGeom prst="rect">
            <a:avLst/>
          </a:prstGeom>
          <a:noFill/>
          <a:ln/>
        </p:spPr>
        <p:txBody>
          <a:bodyPr wrap="square" lIns="0" tIns="0" rIns="0" bIns="0" rtlCol="0" anchor="ctr"/>
          <a:lstStyle/>
          <a:p>
            <a:pPr algn="ctr" indent="0" marL="0">
              <a:buNone/>
            </a:pPr>
            <a:r>
              <a:rPr lang="en-US" sz="2000" dirty="0">
                <a:solidFill>
                  <a:schemeClr val="bg2"/>
                </a:solidFill>
                <a:latin typeface="Rockwell Extra Bold" pitchFamily="34" charset="0"/>
                <a:ea typeface="Rockwell Extra Bold" pitchFamily="34" charset="-122"/>
                <a:cs typeface="Rockwell Extra Bold" pitchFamily="34" charset="-120"/>
              </a:rPr>
              <a:t>2</a:t>
            </a:r>
            <a:endParaRPr lang="en-US" sz="2000" dirty="0"/>
          </a:p>
        </p:txBody>
      </p:sp>
      <p:sp>
        <p:nvSpPr>
          <p:cNvPr id="11" name="Text 9"/>
          <p:cNvSpPr txBox="1"/>
          <p:nvPr/>
        </p:nvSpPr>
        <p:spPr>
          <a:xfrm>
            <a:off x="1280160" y="2322576"/>
            <a:ext cx="2011680" cy="502920"/>
          </a:xfrm>
          <a:prstGeom prst="rect">
            <a:avLst/>
          </a:prstGeom>
          <a:noFill/>
          <a:ln/>
        </p:spPr>
        <p:txBody>
          <a:bodyPr wrap="square" lIns="0" tIns="0" rIns="0" bIns="0" rtlCol="0" anchor="ctr"/>
          <a:lstStyle/>
          <a:p>
            <a:pPr indent="0" marL="0">
              <a:buNone/>
            </a:pPr>
            <a:r>
              <a:rPr lang="en-US" sz="1700" dirty="0">
                <a:solidFill>
                  <a:schemeClr val="accent1"/>
                </a:solidFill>
                <a:latin typeface="Rockwell Extra Bold" pitchFamily="34" charset="0"/>
                <a:ea typeface="Rockwell Extra Bold" pitchFamily="34" charset="-122"/>
                <a:cs typeface="Rockwell Extra Bold" pitchFamily="34" charset="-120"/>
              </a:rPr>
              <a:t>Débat</a:t>
            </a:r>
            <a:endParaRPr lang="en-US" sz="1700" dirty="0"/>
          </a:p>
        </p:txBody>
      </p:sp>
      <p:sp>
        <p:nvSpPr>
          <p:cNvPr id="12" name="Text 10"/>
          <p:cNvSpPr txBox="1"/>
          <p:nvPr/>
        </p:nvSpPr>
        <p:spPr>
          <a:xfrm>
            <a:off x="3291840" y="2267712"/>
            <a:ext cx="4572000" cy="868680"/>
          </a:xfrm>
          <a:prstGeom prst="rect">
            <a:avLst/>
          </a:prstGeom>
          <a:noFill/>
          <a:ln/>
        </p:spPr>
        <p:txBody>
          <a:bodyPr wrap="square" lIns="0" tIns="0" rIns="0" bIns="0" rtlCol="0" anchor="ctr"/>
          <a:lstStyle/>
          <a:p>
            <a:pPr indent="0" marL="0">
              <a:buNone/>
            </a:pPr>
            <a:r>
              <a:rPr lang="en-US" sz="1400" dirty="0">
                <a:solidFill>
                  <a:schemeClr val="tx1"/>
                </a:solidFill>
                <a:latin typeface="Arial" pitchFamily="34" charset="0"/>
                <a:ea typeface="Arial" pitchFamily="34" charset="-122"/>
                <a:cs typeface="Arial" pitchFamily="34" charset="-120"/>
              </a:rPr>
              <a:t>6 minutes sur un vrai sujet de société. Chacun joue sa créature… sans la nommer.</a:t>
            </a:r>
            <a:endParaRPr lang="en-US" sz="1400" dirty="0"/>
          </a:p>
        </p:txBody>
      </p:sp>
      <p:sp>
        <p:nvSpPr>
          <p:cNvPr id="13" name="Shape 11"/>
          <p:cNvSpPr/>
          <p:nvPr/>
        </p:nvSpPr>
        <p:spPr>
          <a:xfrm>
            <a:off x="548640" y="3236976"/>
            <a:ext cx="548640" cy="548640"/>
          </a:xfrm>
          <a:prstGeom prst="ellipse">
            <a:avLst/>
          </a:prstGeom>
          <a:solidFill>
            <a:schemeClr val="accent1"/>
          </a:solidFill>
          <a:ln w="19050">
            <a:solidFill>
              <a:schemeClr val="tx1"/>
            </a:solidFill>
            <a:prstDash val="solid"/>
          </a:ln>
        </p:spPr>
      </p:sp>
      <p:sp>
        <p:nvSpPr>
          <p:cNvPr id="14" name="Text 12"/>
          <p:cNvSpPr txBox="1"/>
          <p:nvPr/>
        </p:nvSpPr>
        <p:spPr>
          <a:xfrm>
            <a:off x="548640" y="3236976"/>
            <a:ext cx="548640" cy="548640"/>
          </a:xfrm>
          <a:prstGeom prst="rect">
            <a:avLst/>
          </a:prstGeom>
          <a:noFill/>
          <a:ln/>
        </p:spPr>
        <p:txBody>
          <a:bodyPr wrap="square" lIns="0" tIns="0" rIns="0" bIns="0" rtlCol="0" anchor="ctr"/>
          <a:lstStyle/>
          <a:p>
            <a:pPr algn="ctr" indent="0" marL="0">
              <a:buNone/>
            </a:pPr>
            <a:r>
              <a:rPr lang="en-US" sz="2000" dirty="0">
                <a:solidFill>
                  <a:schemeClr val="bg2"/>
                </a:solidFill>
                <a:latin typeface="Rockwell Extra Bold" pitchFamily="34" charset="0"/>
                <a:ea typeface="Rockwell Extra Bold" pitchFamily="34" charset="-122"/>
                <a:cs typeface="Rockwell Extra Bold" pitchFamily="34" charset="-120"/>
              </a:rPr>
              <a:t>3</a:t>
            </a:r>
            <a:endParaRPr lang="en-US" sz="2000" dirty="0"/>
          </a:p>
        </p:txBody>
      </p:sp>
      <p:sp>
        <p:nvSpPr>
          <p:cNvPr id="15" name="Text 13"/>
          <p:cNvSpPr txBox="1"/>
          <p:nvPr/>
        </p:nvSpPr>
        <p:spPr>
          <a:xfrm>
            <a:off x="1280160" y="3255264"/>
            <a:ext cx="2011680" cy="502920"/>
          </a:xfrm>
          <a:prstGeom prst="rect">
            <a:avLst/>
          </a:prstGeom>
          <a:noFill/>
          <a:ln/>
        </p:spPr>
        <p:txBody>
          <a:bodyPr wrap="square" lIns="0" tIns="0" rIns="0" bIns="0" rtlCol="0" anchor="ctr"/>
          <a:lstStyle/>
          <a:p>
            <a:pPr indent="0" marL="0">
              <a:buNone/>
            </a:pPr>
            <a:r>
              <a:rPr lang="en-US" sz="1700" dirty="0">
                <a:solidFill>
                  <a:schemeClr val="accent1"/>
                </a:solidFill>
                <a:latin typeface="Rockwell Extra Bold" pitchFamily="34" charset="0"/>
                <a:ea typeface="Rockwell Extra Bold" pitchFamily="34" charset="-122"/>
                <a:cs typeface="Rockwell Extra Bold" pitchFamily="34" charset="-120"/>
              </a:rPr>
              <a:t>Observation</a:t>
            </a:r>
            <a:endParaRPr lang="en-US" sz="1700" dirty="0"/>
          </a:p>
        </p:txBody>
      </p:sp>
      <p:sp>
        <p:nvSpPr>
          <p:cNvPr id="16" name="Text 14"/>
          <p:cNvSpPr txBox="1"/>
          <p:nvPr/>
        </p:nvSpPr>
        <p:spPr>
          <a:xfrm>
            <a:off x="3291840" y="3200400"/>
            <a:ext cx="4572000" cy="868680"/>
          </a:xfrm>
          <a:prstGeom prst="rect">
            <a:avLst/>
          </a:prstGeom>
          <a:noFill/>
          <a:ln/>
        </p:spPr>
        <p:txBody>
          <a:bodyPr wrap="square" lIns="0" tIns="0" rIns="0" bIns="0" rtlCol="0" anchor="ctr"/>
          <a:lstStyle/>
          <a:p>
            <a:pPr indent="0" marL="0">
              <a:buNone/>
            </a:pPr>
            <a:r>
              <a:rPr lang="en-US" sz="1400" dirty="0">
                <a:solidFill>
                  <a:schemeClr val="tx1"/>
                </a:solidFill>
                <a:latin typeface="Arial" pitchFamily="34" charset="0"/>
                <a:ea typeface="Arial" pitchFamily="34" charset="-122"/>
                <a:cs typeface="Arial" pitchFamily="34" charset="-120"/>
              </a:rPr>
              <a:t>Les autres participants forment un cercle extérieur : ils cochent leur bingo des coups bas et devinent les créatures.</a:t>
            </a:r>
            <a:endParaRPr lang="en-US" sz="1400" dirty="0"/>
          </a:p>
        </p:txBody>
      </p:sp>
      <p:sp>
        <p:nvSpPr>
          <p:cNvPr id="17" name="Shape 15"/>
          <p:cNvSpPr/>
          <p:nvPr/>
        </p:nvSpPr>
        <p:spPr>
          <a:xfrm>
            <a:off x="548640" y="4169664"/>
            <a:ext cx="548640" cy="548640"/>
          </a:xfrm>
          <a:prstGeom prst="ellipse">
            <a:avLst/>
          </a:prstGeom>
          <a:solidFill>
            <a:schemeClr val="accent1"/>
          </a:solidFill>
          <a:ln w="19050">
            <a:solidFill>
              <a:schemeClr val="tx1"/>
            </a:solidFill>
            <a:prstDash val="solid"/>
          </a:ln>
        </p:spPr>
      </p:sp>
      <p:sp>
        <p:nvSpPr>
          <p:cNvPr id="18" name="Text 16"/>
          <p:cNvSpPr txBox="1"/>
          <p:nvPr/>
        </p:nvSpPr>
        <p:spPr>
          <a:xfrm>
            <a:off x="548640" y="4169664"/>
            <a:ext cx="548640" cy="548640"/>
          </a:xfrm>
          <a:prstGeom prst="rect">
            <a:avLst/>
          </a:prstGeom>
          <a:noFill/>
          <a:ln/>
        </p:spPr>
        <p:txBody>
          <a:bodyPr wrap="square" lIns="0" tIns="0" rIns="0" bIns="0" rtlCol="0" anchor="ctr"/>
          <a:lstStyle/>
          <a:p>
            <a:pPr algn="ctr" indent="0" marL="0">
              <a:buNone/>
            </a:pPr>
            <a:r>
              <a:rPr lang="en-US" sz="2000" dirty="0">
                <a:solidFill>
                  <a:schemeClr val="bg2"/>
                </a:solidFill>
                <a:latin typeface="Rockwell Extra Bold" pitchFamily="34" charset="0"/>
                <a:ea typeface="Rockwell Extra Bold" pitchFamily="34" charset="-122"/>
                <a:cs typeface="Rockwell Extra Bold" pitchFamily="34" charset="-120"/>
              </a:rPr>
              <a:t>4</a:t>
            </a:r>
            <a:endParaRPr lang="en-US" sz="2000" dirty="0"/>
          </a:p>
        </p:txBody>
      </p:sp>
      <p:sp>
        <p:nvSpPr>
          <p:cNvPr id="19" name="Text 17"/>
          <p:cNvSpPr txBox="1"/>
          <p:nvPr/>
        </p:nvSpPr>
        <p:spPr>
          <a:xfrm>
            <a:off x="1280160" y="4187952"/>
            <a:ext cx="2011680" cy="502920"/>
          </a:xfrm>
          <a:prstGeom prst="rect">
            <a:avLst/>
          </a:prstGeom>
          <a:noFill/>
          <a:ln/>
        </p:spPr>
        <p:txBody>
          <a:bodyPr wrap="square" lIns="0" tIns="0" rIns="0" bIns="0" rtlCol="0" anchor="ctr"/>
          <a:lstStyle/>
          <a:p>
            <a:pPr indent="0" marL="0">
              <a:buNone/>
            </a:pPr>
            <a:r>
              <a:rPr lang="en-US" sz="1700" dirty="0">
                <a:solidFill>
                  <a:schemeClr val="accent1"/>
                </a:solidFill>
                <a:latin typeface="Rockwell Extra Bold" pitchFamily="34" charset="0"/>
                <a:ea typeface="Rockwell Extra Bold" pitchFamily="34" charset="-122"/>
                <a:cs typeface="Rockwell Extra Bold" pitchFamily="34" charset="-120"/>
              </a:rPr>
              <a:t>Démasquage</a:t>
            </a:r>
            <a:endParaRPr lang="en-US" sz="1700" dirty="0"/>
          </a:p>
        </p:txBody>
      </p:sp>
      <p:sp>
        <p:nvSpPr>
          <p:cNvPr id="20" name="Text 18"/>
          <p:cNvSpPr txBox="1"/>
          <p:nvPr/>
        </p:nvSpPr>
        <p:spPr>
          <a:xfrm>
            <a:off x="3291840" y="4133088"/>
            <a:ext cx="4572000" cy="868680"/>
          </a:xfrm>
          <a:prstGeom prst="rect">
            <a:avLst/>
          </a:prstGeom>
          <a:noFill/>
          <a:ln/>
        </p:spPr>
        <p:txBody>
          <a:bodyPr wrap="square" lIns="0" tIns="0" rIns="0" bIns="0" rtlCol="0" anchor="ctr"/>
          <a:lstStyle/>
          <a:p>
            <a:pPr indent="0" marL="0">
              <a:buNone/>
            </a:pPr>
            <a:r>
              <a:rPr lang="en-US" sz="1400" dirty="0">
                <a:solidFill>
                  <a:schemeClr val="tx1"/>
                </a:solidFill>
                <a:latin typeface="Arial" pitchFamily="34" charset="0"/>
                <a:ea typeface="Arial" pitchFamily="34" charset="-122"/>
                <a:cs typeface="Arial" pitchFamily="34" charset="-120"/>
              </a:rPr>
              <a:t>Les observateurs nomment chaque créature et citent la phrase exacte qui l'a trahie.</a:t>
            </a:r>
            <a:endParaRPr lang="en-US" sz="1400" dirty="0"/>
          </a:p>
        </p:txBody>
      </p:sp>
      <p:sp>
        <p:nvSpPr>
          <p:cNvPr id="21" name="Shape 19"/>
          <p:cNvSpPr/>
          <p:nvPr/>
        </p:nvSpPr>
        <p:spPr>
          <a:xfrm>
            <a:off x="548640" y="5102352"/>
            <a:ext cx="548640" cy="548640"/>
          </a:xfrm>
          <a:prstGeom prst="ellipse">
            <a:avLst/>
          </a:prstGeom>
          <a:solidFill>
            <a:schemeClr val="accent2"/>
          </a:solidFill>
          <a:ln w="19050">
            <a:solidFill>
              <a:schemeClr val="tx1"/>
            </a:solidFill>
            <a:prstDash val="solid"/>
          </a:ln>
        </p:spPr>
      </p:sp>
      <p:sp>
        <p:nvSpPr>
          <p:cNvPr id="22" name="Text 20"/>
          <p:cNvSpPr txBox="1"/>
          <p:nvPr/>
        </p:nvSpPr>
        <p:spPr>
          <a:xfrm>
            <a:off x="548640" y="5102352"/>
            <a:ext cx="548640" cy="548640"/>
          </a:xfrm>
          <a:prstGeom prst="rect">
            <a:avLst/>
          </a:prstGeom>
          <a:noFill/>
          <a:ln/>
        </p:spPr>
        <p:txBody>
          <a:bodyPr wrap="square" lIns="0" tIns="0" rIns="0" bIns="0" rtlCol="0" anchor="ctr"/>
          <a:lstStyle/>
          <a:p>
            <a:pPr algn="ctr" indent="0" marL="0">
              <a:buNone/>
            </a:pPr>
            <a:r>
              <a:rPr lang="en-US" sz="2000" dirty="0">
                <a:solidFill>
                  <a:schemeClr val="tx1"/>
                </a:solidFill>
                <a:latin typeface="Rockwell Extra Bold" pitchFamily="34" charset="0"/>
                <a:ea typeface="Rockwell Extra Bold" pitchFamily="34" charset="-122"/>
                <a:cs typeface="Rockwell Extra Bold" pitchFamily="34" charset="-120"/>
              </a:rPr>
              <a:t>5</a:t>
            </a:r>
            <a:endParaRPr lang="en-US" sz="2000" dirty="0"/>
          </a:p>
        </p:txBody>
      </p:sp>
      <p:sp>
        <p:nvSpPr>
          <p:cNvPr id="23" name="Text 21"/>
          <p:cNvSpPr txBox="1"/>
          <p:nvPr/>
        </p:nvSpPr>
        <p:spPr>
          <a:xfrm>
            <a:off x="1280160" y="5120640"/>
            <a:ext cx="2011680" cy="502920"/>
          </a:xfrm>
          <a:prstGeom prst="rect">
            <a:avLst/>
          </a:prstGeom>
          <a:noFill/>
          <a:ln/>
        </p:spPr>
        <p:txBody>
          <a:bodyPr wrap="square" lIns="0" tIns="0" rIns="0" bIns="0" rtlCol="0" anchor="ctr"/>
          <a:lstStyle/>
          <a:p>
            <a:pPr indent="0" marL="0">
              <a:buNone/>
            </a:pPr>
            <a:r>
              <a:rPr lang="en-US" sz="1700" dirty="0">
                <a:solidFill>
                  <a:schemeClr val="accent1"/>
                </a:solidFill>
                <a:latin typeface="Rockwell Extra Bold" pitchFamily="34" charset="0"/>
                <a:ea typeface="Rockwell Extra Bold" pitchFamily="34" charset="-122"/>
                <a:cs typeface="Rockwell Extra Bold" pitchFamily="34" charset="-120"/>
              </a:rPr>
              <a:t>Rejouer</a:t>
            </a:r>
            <a:endParaRPr lang="en-US" sz="1700" dirty="0"/>
          </a:p>
        </p:txBody>
      </p:sp>
      <p:sp>
        <p:nvSpPr>
          <p:cNvPr id="24" name="Text 22"/>
          <p:cNvSpPr txBox="1"/>
          <p:nvPr/>
        </p:nvSpPr>
        <p:spPr>
          <a:xfrm>
            <a:off x="3291840" y="5065776"/>
            <a:ext cx="4572000" cy="868680"/>
          </a:xfrm>
          <a:prstGeom prst="rect">
            <a:avLst/>
          </a:prstGeom>
          <a:noFill/>
          <a:ln/>
        </p:spPr>
        <p:txBody>
          <a:bodyPr wrap="square" lIns="0" tIns="0" rIns="0" bIns="0" rtlCol="0" anchor="ctr"/>
          <a:lstStyle/>
          <a:p>
            <a:pPr indent="0" marL="0">
              <a:buNone/>
            </a:pPr>
            <a:r>
              <a:rPr lang="en-US" sz="1400" dirty="0">
                <a:solidFill>
                  <a:schemeClr val="tx1"/>
                </a:solidFill>
                <a:latin typeface="Arial" pitchFamily="34" charset="0"/>
                <a:ea typeface="Arial" pitchFamily="34" charset="-122"/>
                <a:cs typeface="Arial" pitchFamily="34" charset="-120"/>
              </a:rPr>
              <a:t>On rejoue 2 minutes : toutes les créatures deviennent des Bâtisseurs. Qu'est-ce qui a changé?</a:t>
            </a:r>
            <a:endParaRPr lang="en-US" sz="1400" dirty="0"/>
          </a:p>
        </p:txBody>
      </p:sp>
      <p:sp>
        <p:nvSpPr>
          <p:cNvPr id="25" name="Shape 23"/>
          <p:cNvSpPr/>
          <p:nvPr/>
        </p:nvSpPr>
        <p:spPr>
          <a:xfrm>
            <a:off x="8229600" y="1371600"/>
            <a:ext cx="3383280" cy="4526280"/>
          </a:xfrm>
          <a:prstGeom prst="rect">
            <a:avLst/>
          </a:prstGeom>
          <a:solidFill>
            <a:schemeClr val="tx1"/>
          </a:solidFill>
          <a:ln w="25400">
            <a:solidFill>
              <a:schemeClr val="tx1"/>
            </a:solidFill>
            <a:prstDash val="solid"/>
          </a:ln>
        </p:spPr>
      </p:sp>
      <p:sp>
        <p:nvSpPr>
          <p:cNvPr id="26" name="Text 24"/>
          <p:cNvSpPr txBox="1"/>
          <p:nvPr/>
        </p:nvSpPr>
        <p:spPr>
          <a:xfrm>
            <a:off x="8458200" y="1554480"/>
            <a:ext cx="3017520" cy="457200"/>
          </a:xfrm>
          <a:prstGeom prst="rect">
            <a:avLst/>
          </a:prstGeom>
          <a:noFill/>
          <a:ln/>
        </p:spPr>
        <p:txBody>
          <a:bodyPr wrap="square" lIns="0" tIns="0" rIns="0" bIns="0" rtlCol="0" anchor="t"/>
          <a:lstStyle/>
          <a:p>
            <a:pPr indent="0" marL="0">
              <a:buNone/>
            </a:pPr>
            <a:r>
              <a:rPr lang="en-US" sz="1800" dirty="0">
                <a:solidFill>
                  <a:schemeClr val="accent2"/>
                </a:solidFill>
                <a:latin typeface="Rockwell Extra Bold" pitchFamily="34" charset="0"/>
                <a:ea typeface="Rockwell Extra Bold" pitchFamily="34" charset="-122"/>
                <a:cs typeface="Rockwell Extra Bold" pitchFamily="34" charset="-120"/>
              </a:rPr>
              <a:t>Sujets testés</a:t>
            </a:r>
            <a:endParaRPr lang="en-US" sz="1800" dirty="0"/>
          </a:p>
        </p:txBody>
      </p:sp>
      <p:sp>
        <p:nvSpPr>
          <p:cNvPr id="27" name="Text 25"/>
          <p:cNvSpPr txBox="1"/>
          <p:nvPr/>
        </p:nvSpPr>
        <p:spPr>
          <a:xfrm>
            <a:off x="8458200" y="2103120"/>
            <a:ext cx="2971800" cy="35661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bg2"/>
                </a:solidFill>
                <a:latin typeface="Arial" pitchFamily="34" charset="0"/>
                <a:ea typeface="Arial" pitchFamily="34" charset="-122"/>
                <a:cs typeface="Arial" pitchFamily="34" charset="-120"/>
              </a:rPr>
              <a:t>La semaine de 4 jours au travail?</a:t>
            </a:r>
            <a:endParaRPr lang="en-US" sz="1500" dirty="0"/>
          </a:p>
          <a:p>
            <a:pPr marL="342900" indent="-342900">
              <a:spcAft>
                <a:spcPts val="1000"/>
              </a:spcAft>
              <a:buSzPct val="100000"/>
              <a:buChar char="•"/>
            </a:pPr>
            <a:r>
              <a:rPr lang="en-US" sz="1500" dirty="0">
                <a:solidFill>
                  <a:schemeClr val="bg2"/>
                </a:solidFill>
                <a:latin typeface="Arial" pitchFamily="34" charset="0"/>
                <a:ea typeface="Arial" pitchFamily="34" charset="-122"/>
                <a:cs typeface="Arial" pitchFamily="34" charset="-120"/>
              </a:rPr>
              <a:t>Bannir les cellulaires au restaurant?</a:t>
            </a:r>
            <a:endParaRPr lang="en-US" sz="1500" dirty="0"/>
          </a:p>
          <a:p>
            <a:pPr marL="342900" indent="-342900">
              <a:spcAft>
                <a:spcPts val="1000"/>
              </a:spcAft>
              <a:buSzPct val="100000"/>
              <a:buChar char="•"/>
            </a:pPr>
            <a:r>
              <a:rPr lang="en-US" sz="1500" dirty="0">
                <a:solidFill>
                  <a:schemeClr val="bg2"/>
                </a:solidFill>
                <a:latin typeface="Arial" pitchFamily="34" charset="0"/>
                <a:ea typeface="Arial" pitchFamily="34" charset="-122"/>
                <a:cs typeface="Arial" pitchFamily="34" charset="-120"/>
              </a:rPr>
              <a:t>Le pourboire devrait-il disparaître?</a:t>
            </a:r>
            <a:endParaRPr lang="en-US" sz="1500" dirty="0"/>
          </a:p>
          <a:p>
            <a:pPr marL="342900" indent="-342900">
              <a:spcAft>
                <a:spcPts val="1000"/>
              </a:spcAft>
              <a:buSzPct val="100000"/>
              <a:buChar char="•"/>
            </a:pPr>
            <a:r>
              <a:rPr lang="en-US" sz="1500" dirty="0">
                <a:solidFill>
                  <a:schemeClr val="bg2"/>
                </a:solidFill>
                <a:latin typeface="Arial" pitchFamily="34" charset="0"/>
                <a:ea typeface="Arial" pitchFamily="34" charset="-122"/>
                <a:cs typeface="Arial" pitchFamily="34" charset="-120"/>
              </a:rPr>
              <a:t>L'IA au travail : outil ou menace?</a:t>
            </a:r>
            <a:endParaRPr lang="en-US" sz="15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1"/>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lIns="0" tIns="0" rIns="0" bIns="0" rtlCol="0" anchor="t"/>
          <a:lstStyle/>
          <a:p>
            <a:pPr algn="l" indent="0" marL="0">
              <a:buNone/>
            </a:pPr>
            <a:r>
              <a:rPr lang="en-US" sz="3600" dirty="0">
                <a:solidFill>
                  <a:schemeClr val="accent1"/>
                </a:solidFill>
              </a:rPr>
              <a:t>Bingo des coups bas</a:t>
            </a:r>
            <a:endParaRPr lang="en-US" sz="3600" dirty="0"/>
          </a:p>
        </p:txBody>
      </p:sp>
      <p:sp>
        <p:nvSpPr>
          <p:cNvPr id="3" name="Shape 1"/>
          <p:cNvSpPr/>
          <p:nvPr/>
        </p:nvSpPr>
        <p:spPr>
          <a:xfrm>
            <a:off x="548640" y="1371600"/>
            <a:ext cx="1920240" cy="1417320"/>
          </a:xfrm>
          <a:prstGeom prst="rect">
            <a:avLst/>
          </a:prstGeom>
          <a:solidFill>
            <a:schemeClr val="bg1"/>
          </a:solidFill>
          <a:ln w="25400">
            <a:solidFill>
              <a:schemeClr val="tx1"/>
            </a:solidFill>
            <a:prstDash val="solid"/>
          </a:ln>
        </p:spPr>
      </p:sp>
      <p:sp>
        <p:nvSpPr>
          <p:cNvPr id="4" name="Text 2"/>
          <p:cNvSpPr txBox="1"/>
          <p:nvPr/>
        </p:nvSpPr>
        <p:spPr>
          <a:xfrm>
            <a:off x="640080" y="1463040"/>
            <a:ext cx="1737360" cy="731520"/>
          </a:xfrm>
          <a:prstGeom prst="rect">
            <a:avLst/>
          </a:prstGeom>
          <a:noFill/>
          <a:ln/>
        </p:spPr>
        <p:txBody>
          <a:bodyPr wrap="square" lIns="0" tIns="0" rIns="0" bIns="0" rtlCol="0" anchor="ctr"/>
          <a:lstStyle/>
          <a:p>
            <a:pPr algn="ctr" indent="0" marL="0">
              <a:buNone/>
            </a:pPr>
            <a:r>
              <a:rPr lang="en-US" sz="1500" dirty="0">
                <a:solidFill>
                  <a:schemeClr val="accent1"/>
                </a:solidFill>
                <a:latin typeface="Rockwell Extra Bold" pitchFamily="34" charset="0"/>
                <a:ea typeface="Rockwell Extra Bold" pitchFamily="34" charset="-122"/>
                <a:cs typeface="Rockwell Extra Bold" pitchFamily="34" charset="-120"/>
              </a:rPr>
              <a:t>L'élastique</a:t>
            </a:r>
            <a:endParaRPr lang="en-US" sz="1500" dirty="0"/>
          </a:p>
        </p:txBody>
      </p:sp>
      <p:sp>
        <p:nvSpPr>
          <p:cNvPr id="5" name="Text 3"/>
          <p:cNvSpPr txBox="1"/>
          <p:nvPr/>
        </p:nvSpPr>
        <p:spPr>
          <a:xfrm>
            <a:off x="640080" y="2286000"/>
            <a:ext cx="1737360" cy="365760"/>
          </a:xfrm>
          <a:prstGeom prst="rect">
            <a:avLst/>
          </a:prstGeom>
          <a:noFill/>
          <a:ln/>
        </p:spPr>
        <p:txBody>
          <a:bodyPr wrap="square" lIns="0" tIns="0" rIns="0" bIns="0" rtlCol="0" anchor="t"/>
          <a:lstStyle/>
          <a:p>
            <a:pPr algn="ctr" indent="0" marL="0">
              <a:buNone/>
            </a:pPr>
            <a:r>
              <a:rPr lang="en-US" sz="1200" dirty="0">
                <a:solidFill>
                  <a:schemeClr val="tx2"/>
                </a:solidFill>
                <a:latin typeface="Arial" pitchFamily="34" charset="0"/>
                <a:ea typeface="Arial" pitchFamily="34" charset="-122"/>
                <a:cs typeface="Arial" pitchFamily="34" charset="-120"/>
              </a:rPr>
              <a:t>Qui? ______</a:t>
            </a:r>
            <a:endParaRPr lang="en-US" sz="1200" dirty="0"/>
          </a:p>
        </p:txBody>
      </p:sp>
      <p:sp>
        <p:nvSpPr>
          <p:cNvPr id="6" name="Shape 4"/>
          <p:cNvSpPr/>
          <p:nvPr/>
        </p:nvSpPr>
        <p:spPr>
          <a:xfrm>
            <a:off x="2560320" y="1371600"/>
            <a:ext cx="1920240" cy="1417320"/>
          </a:xfrm>
          <a:prstGeom prst="rect">
            <a:avLst/>
          </a:prstGeom>
          <a:solidFill>
            <a:schemeClr val="bg1"/>
          </a:solidFill>
          <a:ln w="25400">
            <a:solidFill>
              <a:schemeClr val="tx1"/>
            </a:solidFill>
            <a:prstDash val="solid"/>
          </a:ln>
        </p:spPr>
      </p:sp>
      <p:sp>
        <p:nvSpPr>
          <p:cNvPr id="7" name="Text 5"/>
          <p:cNvSpPr txBox="1"/>
          <p:nvPr/>
        </p:nvSpPr>
        <p:spPr>
          <a:xfrm>
            <a:off x="2651760" y="1463040"/>
            <a:ext cx="1737360" cy="731520"/>
          </a:xfrm>
          <a:prstGeom prst="rect">
            <a:avLst/>
          </a:prstGeom>
          <a:noFill/>
          <a:ln/>
        </p:spPr>
        <p:txBody>
          <a:bodyPr wrap="square" lIns="0" tIns="0" rIns="0" bIns="0" rtlCol="0" anchor="ctr"/>
          <a:lstStyle/>
          <a:p>
            <a:pPr algn="ctr" indent="0" marL="0">
              <a:buNone/>
            </a:pPr>
            <a:r>
              <a:rPr lang="en-US" sz="1500" dirty="0">
                <a:solidFill>
                  <a:schemeClr val="accent1"/>
                </a:solidFill>
                <a:latin typeface="Rockwell Extra Bold" pitchFamily="34" charset="0"/>
                <a:ea typeface="Rockwell Extra Bold" pitchFamily="34" charset="-122"/>
                <a:cs typeface="Rockwell Extra Bold" pitchFamily="34" charset="-120"/>
              </a:rPr>
              <a:t>L'allumette</a:t>
            </a:r>
            <a:endParaRPr lang="en-US" sz="1500" dirty="0"/>
          </a:p>
        </p:txBody>
      </p:sp>
      <p:sp>
        <p:nvSpPr>
          <p:cNvPr id="8" name="Text 6"/>
          <p:cNvSpPr txBox="1"/>
          <p:nvPr/>
        </p:nvSpPr>
        <p:spPr>
          <a:xfrm>
            <a:off x="2651760" y="2286000"/>
            <a:ext cx="1737360" cy="365760"/>
          </a:xfrm>
          <a:prstGeom prst="rect">
            <a:avLst/>
          </a:prstGeom>
          <a:noFill/>
          <a:ln/>
        </p:spPr>
        <p:txBody>
          <a:bodyPr wrap="square" lIns="0" tIns="0" rIns="0" bIns="0" rtlCol="0" anchor="t"/>
          <a:lstStyle/>
          <a:p>
            <a:pPr algn="ctr" indent="0" marL="0">
              <a:buNone/>
            </a:pPr>
            <a:r>
              <a:rPr lang="en-US" sz="1200" dirty="0">
                <a:solidFill>
                  <a:schemeClr val="tx2"/>
                </a:solidFill>
                <a:latin typeface="Arial" pitchFamily="34" charset="0"/>
                <a:ea typeface="Arial" pitchFamily="34" charset="-122"/>
                <a:cs typeface="Arial" pitchFamily="34" charset="-120"/>
              </a:rPr>
              <a:t>Qui? ______</a:t>
            </a:r>
            <a:endParaRPr lang="en-US" sz="1200" dirty="0"/>
          </a:p>
        </p:txBody>
      </p:sp>
      <p:sp>
        <p:nvSpPr>
          <p:cNvPr id="9" name="Shape 7"/>
          <p:cNvSpPr/>
          <p:nvPr/>
        </p:nvSpPr>
        <p:spPr>
          <a:xfrm>
            <a:off x="4572000" y="1371600"/>
            <a:ext cx="1920240" cy="1417320"/>
          </a:xfrm>
          <a:prstGeom prst="rect">
            <a:avLst/>
          </a:prstGeom>
          <a:solidFill>
            <a:schemeClr val="bg1"/>
          </a:solidFill>
          <a:ln w="25400">
            <a:solidFill>
              <a:schemeClr val="tx1"/>
            </a:solidFill>
            <a:prstDash val="solid"/>
          </a:ln>
        </p:spPr>
      </p:sp>
      <p:sp>
        <p:nvSpPr>
          <p:cNvPr id="10" name="Text 8"/>
          <p:cNvSpPr txBox="1"/>
          <p:nvPr/>
        </p:nvSpPr>
        <p:spPr>
          <a:xfrm>
            <a:off x="4663440" y="1463040"/>
            <a:ext cx="1737360" cy="731520"/>
          </a:xfrm>
          <a:prstGeom prst="rect">
            <a:avLst/>
          </a:prstGeom>
          <a:noFill/>
          <a:ln/>
        </p:spPr>
        <p:txBody>
          <a:bodyPr wrap="square" lIns="0" tIns="0" rIns="0" bIns="0" rtlCol="0" anchor="ctr"/>
          <a:lstStyle/>
          <a:p>
            <a:pPr algn="ctr" indent="0" marL="0">
              <a:buNone/>
            </a:pPr>
            <a:r>
              <a:rPr lang="en-US" sz="1500" dirty="0">
                <a:solidFill>
                  <a:schemeClr val="accent1"/>
                </a:solidFill>
                <a:latin typeface="Rockwell Extra Bold" pitchFamily="34" charset="0"/>
                <a:ea typeface="Rockwell Extra Bold" pitchFamily="34" charset="-122"/>
                <a:cs typeface="Rockwell Extra Bold" pitchFamily="34" charset="-120"/>
              </a:rPr>
              <a:t>Le faux choix</a:t>
            </a:r>
            <a:endParaRPr lang="en-US" sz="1500" dirty="0"/>
          </a:p>
        </p:txBody>
      </p:sp>
      <p:sp>
        <p:nvSpPr>
          <p:cNvPr id="11" name="Text 9"/>
          <p:cNvSpPr txBox="1"/>
          <p:nvPr/>
        </p:nvSpPr>
        <p:spPr>
          <a:xfrm>
            <a:off x="4663440" y="2286000"/>
            <a:ext cx="1737360" cy="365760"/>
          </a:xfrm>
          <a:prstGeom prst="rect">
            <a:avLst/>
          </a:prstGeom>
          <a:noFill/>
          <a:ln/>
        </p:spPr>
        <p:txBody>
          <a:bodyPr wrap="square" lIns="0" tIns="0" rIns="0" bIns="0" rtlCol="0" anchor="t"/>
          <a:lstStyle/>
          <a:p>
            <a:pPr algn="ctr" indent="0" marL="0">
              <a:buNone/>
            </a:pPr>
            <a:r>
              <a:rPr lang="en-US" sz="1200" dirty="0">
                <a:solidFill>
                  <a:schemeClr val="tx2"/>
                </a:solidFill>
                <a:latin typeface="Arial" pitchFamily="34" charset="0"/>
                <a:ea typeface="Arial" pitchFamily="34" charset="-122"/>
                <a:cs typeface="Arial" pitchFamily="34" charset="-120"/>
              </a:rPr>
              <a:t>Qui? ______</a:t>
            </a:r>
            <a:endParaRPr lang="en-US" sz="1200" dirty="0"/>
          </a:p>
        </p:txBody>
      </p:sp>
      <p:sp>
        <p:nvSpPr>
          <p:cNvPr id="12" name="Shape 10"/>
          <p:cNvSpPr/>
          <p:nvPr/>
        </p:nvSpPr>
        <p:spPr>
          <a:xfrm>
            <a:off x="548640" y="2880360"/>
            <a:ext cx="1920240" cy="1417320"/>
          </a:xfrm>
          <a:prstGeom prst="rect">
            <a:avLst/>
          </a:prstGeom>
          <a:solidFill>
            <a:schemeClr val="bg1"/>
          </a:solidFill>
          <a:ln w="25400">
            <a:solidFill>
              <a:schemeClr val="tx1"/>
            </a:solidFill>
            <a:prstDash val="solid"/>
          </a:ln>
        </p:spPr>
      </p:sp>
      <p:sp>
        <p:nvSpPr>
          <p:cNvPr id="13" name="Text 11"/>
          <p:cNvSpPr txBox="1"/>
          <p:nvPr/>
        </p:nvSpPr>
        <p:spPr>
          <a:xfrm>
            <a:off x="640080" y="2971800"/>
            <a:ext cx="1737360" cy="731520"/>
          </a:xfrm>
          <a:prstGeom prst="rect">
            <a:avLst/>
          </a:prstGeom>
          <a:noFill/>
          <a:ln/>
        </p:spPr>
        <p:txBody>
          <a:bodyPr wrap="square" lIns="0" tIns="0" rIns="0" bIns="0" rtlCol="0" anchor="ctr"/>
          <a:lstStyle/>
          <a:p>
            <a:pPr algn="ctr" indent="0" marL="0">
              <a:buNone/>
            </a:pPr>
            <a:r>
              <a:rPr lang="en-US" sz="1500" dirty="0">
                <a:solidFill>
                  <a:schemeClr val="accent1"/>
                </a:solidFill>
                <a:latin typeface="Rockwell Extra Bold" pitchFamily="34" charset="0"/>
                <a:ea typeface="Rockwell Extra Bold" pitchFamily="34" charset="-122"/>
                <a:cs typeface="Rockwell Extra Bold" pitchFamily="34" charset="-120"/>
              </a:rPr>
              <a:t>Le coupe-fil</a:t>
            </a:r>
            <a:endParaRPr lang="en-US" sz="1500" dirty="0"/>
          </a:p>
        </p:txBody>
      </p:sp>
      <p:sp>
        <p:nvSpPr>
          <p:cNvPr id="14" name="Text 12"/>
          <p:cNvSpPr txBox="1"/>
          <p:nvPr/>
        </p:nvSpPr>
        <p:spPr>
          <a:xfrm>
            <a:off x="640080" y="3794760"/>
            <a:ext cx="1737360" cy="365760"/>
          </a:xfrm>
          <a:prstGeom prst="rect">
            <a:avLst/>
          </a:prstGeom>
          <a:noFill/>
          <a:ln/>
        </p:spPr>
        <p:txBody>
          <a:bodyPr wrap="square" lIns="0" tIns="0" rIns="0" bIns="0" rtlCol="0" anchor="t"/>
          <a:lstStyle/>
          <a:p>
            <a:pPr algn="ctr" indent="0" marL="0">
              <a:buNone/>
            </a:pPr>
            <a:r>
              <a:rPr lang="en-US" sz="1200" dirty="0">
                <a:solidFill>
                  <a:schemeClr val="tx2"/>
                </a:solidFill>
                <a:latin typeface="Arial" pitchFamily="34" charset="0"/>
                <a:ea typeface="Arial" pitchFamily="34" charset="-122"/>
                <a:cs typeface="Arial" pitchFamily="34" charset="-120"/>
              </a:rPr>
              <a:t>Qui? ______</a:t>
            </a:r>
            <a:endParaRPr lang="en-US" sz="1200" dirty="0"/>
          </a:p>
        </p:txBody>
      </p:sp>
      <p:sp>
        <p:nvSpPr>
          <p:cNvPr id="15" name="Shape 13"/>
          <p:cNvSpPr/>
          <p:nvPr/>
        </p:nvSpPr>
        <p:spPr>
          <a:xfrm>
            <a:off x="2560320" y="2880360"/>
            <a:ext cx="1920240" cy="1417320"/>
          </a:xfrm>
          <a:prstGeom prst="rect">
            <a:avLst/>
          </a:prstGeom>
          <a:solidFill>
            <a:schemeClr val="accent2"/>
          </a:solidFill>
          <a:ln w="25400">
            <a:solidFill>
              <a:schemeClr val="tx1"/>
            </a:solidFill>
            <a:prstDash val="solid"/>
          </a:ln>
        </p:spPr>
      </p:sp>
      <p:sp>
        <p:nvSpPr>
          <p:cNvPr id="16" name="Text 14"/>
          <p:cNvSpPr txBox="1"/>
          <p:nvPr/>
        </p:nvSpPr>
        <p:spPr>
          <a:xfrm>
            <a:off x="2651760" y="2971800"/>
            <a:ext cx="1737360" cy="731520"/>
          </a:xfrm>
          <a:prstGeom prst="rect">
            <a:avLst/>
          </a:prstGeom>
          <a:noFill/>
          <a:ln/>
        </p:spPr>
        <p:txBody>
          <a:bodyPr wrap="square" lIns="0" tIns="0" rIns="0" bIns="0" rtlCol="0" anchor="ctr"/>
          <a:lstStyle/>
          <a:p>
            <a:pPr algn="ctr" indent="0" marL="0">
              <a:buNone/>
            </a:pPr>
            <a:r>
              <a:rPr lang="en-US" sz="1500" dirty="0">
                <a:solidFill>
                  <a:schemeClr val="tx1"/>
                </a:solidFill>
                <a:latin typeface="Rockwell Extra Bold" pitchFamily="34" charset="0"/>
                <a:ea typeface="Rockwell Extra Bold" pitchFamily="34" charset="-122"/>
                <a:cs typeface="Rockwell Extra Bold" pitchFamily="34" charset="-120"/>
              </a:rPr>
              <a:t>★ Une reformulation</a:t>
            </a:r>
            <a:endParaRPr lang="en-US" sz="1500" dirty="0"/>
          </a:p>
        </p:txBody>
      </p:sp>
      <p:sp>
        <p:nvSpPr>
          <p:cNvPr id="17" name="Text 15"/>
          <p:cNvSpPr txBox="1"/>
          <p:nvPr/>
        </p:nvSpPr>
        <p:spPr>
          <a:xfrm>
            <a:off x="2651760" y="3794760"/>
            <a:ext cx="1737360" cy="365760"/>
          </a:xfrm>
          <a:prstGeom prst="rect">
            <a:avLst/>
          </a:prstGeom>
          <a:noFill/>
          <a:ln/>
        </p:spPr>
        <p:txBody>
          <a:bodyPr wrap="square" lIns="0" tIns="0" rIns="0" bIns="0" rtlCol="0" anchor="t"/>
          <a:lstStyle/>
          <a:p>
            <a:pPr algn="ctr" indent="0" marL="0">
              <a:buNone/>
            </a:pPr>
            <a:r>
              <a:rPr lang="en-US" sz="1200" dirty="0">
                <a:solidFill>
                  <a:schemeClr val="tx2"/>
                </a:solidFill>
                <a:latin typeface="Arial" pitchFamily="34" charset="0"/>
                <a:ea typeface="Arial" pitchFamily="34" charset="-122"/>
                <a:cs typeface="Arial" pitchFamily="34" charset="-120"/>
              </a:rPr>
              <a:t>Qui? ______</a:t>
            </a:r>
            <a:endParaRPr lang="en-US" sz="1200" dirty="0"/>
          </a:p>
        </p:txBody>
      </p:sp>
      <p:sp>
        <p:nvSpPr>
          <p:cNvPr id="18" name="Shape 16"/>
          <p:cNvSpPr/>
          <p:nvPr/>
        </p:nvSpPr>
        <p:spPr>
          <a:xfrm>
            <a:off x="4572000" y="2880360"/>
            <a:ext cx="1920240" cy="1417320"/>
          </a:xfrm>
          <a:prstGeom prst="rect">
            <a:avLst/>
          </a:prstGeom>
          <a:solidFill>
            <a:schemeClr val="bg1"/>
          </a:solidFill>
          <a:ln w="25400">
            <a:solidFill>
              <a:schemeClr val="tx1"/>
            </a:solidFill>
            <a:prstDash val="solid"/>
          </a:ln>
        </p:spPr>
      </p:sp>
      <p:sp>
        <p:nvSpPr>
          <p:cNvPr id="19" name="Text 17"/>
          <p:cNvSpPr txBox="1"/>
          <p:nvPr/>
        </p:nvSpPr>
        <p:spPr>
          <a:xfrm>
            <a:off x="4663440" y="2971800"/>
            <a:ext cx="1737360" cy="731520"/>
          </a:xfrm>
          <a:prstGeom prst="rect">
            <a:avLst/>
          </a:prstGeom>
          <a:noFill/>
          <a:ln/>
        </p:spPr>
        <p:txBody>
          <a:bodyPr wrap="square" lIns="0" tIns="0" rIns="0" bIns="0" rtlCol="0" anchor="ctr"/>
          <a:lstStyle/>
          <a:p>
            <a:pPr algn="ctr" indent="0" marL="0">
              <a:buNone/>
            </a:pPr>
            <a:r>
              <a:rPr lang="en-US" sz="1500" dirty="0">
                <a:solidFill>
                  <a:schemeClr val="accent1"/>
                </a:solidFill>
                <a:latin typeface="Rockwell Extra Bold" pitchFamily="34" charset="0"/>
                <a:ea typeface="Rockwell Extra Bold" pitchFamily="34" charset="-122"/>
                <a:cs typeface="Rockwell Extra Bold" pitchFamily="34" charset="-120"/>
              </a:rPr>
              <a:t>La diversion</a:t>
            </a:r>
            <a:endParaRPr lang="en-US" sz="1500" dirty="0"/>
          </a:p>
        </p:txBody>
      </p:sp>
      <p:sp>
        <p:nvSpPr>
          <p:cNvPr id="20" name="Text 18"/>
          <p:cNvSpPr txBox="1"/>
          <p:nvPr/>
        </p:nvSpPr>
        <p:spPr>
          <a:xfrm>
            <a:off x="4663440" y="3794760"/>
            <a:ext cx="1737360" cy="365760"/>
          </a:xfrm>
          <a:prstGeom prst="rect">
            <a:avLst/>
          </a:prstGeom>
          <a:noFill/>
          <a:ln/>
        </p:spPr>
        <p:txBody>
          <a:bodyPr wrap="square" lIns="0" tIns="0" rIns="0" bIns="0" rtlCol="0" anchor="t"/>
          <a:lstStyle/>
          <a:p>
            <a:pPr algn="ctr" indent="0" marL="0">
              <a:buNone/>
            </a:pPr>
            <a:r>
              <a:rPr lang="en-US" sz="1200" dirty="0">
                <a:solidFill>
                  <a:schemeClr val="tx2"/>
                </a:solidFill>
                <a:latin typeface="Arial" pitchFamily="34" charset="0"/>
                <a:ea typeface="Arial" pitchFamily="34" charset="-122"/>
                <a:cs typeface="Arial" pitchFamily="34" charset="-120"/>
              </a:rPr>
              <a:t>Qui? ______</a:t>
            </a:r>
            <a:endParaRPr lang="en-US" sz="1200" dirty="0"/>
          </a:p>
        </p:txBody>
      </p:sp>
      <p:sp>
        <p:nvSpPr>
          <p:cNvPr id="21" name="Shape 19"/>
          <p:cNvSpPr/>
          <p:nvPr/>
        </p:nvSpPr>
        <p:spPr>
          <a:xfrm>
            <a:off x="548640" y="4389120"/>
            <a:ext cx="1920240" cy="1417320"/>
          </a:xfrm>
          <a:prstGeom prst="rect">
            <a:avLst/>
          </a:prstGeom>
          <a:solidFill>
            <a:schemeClr val="bg1"/>
          </a:solidFill>
          <a:ln w="25400">
            <a:solidFill>
              <a:schemeClr val="tx1"/>
            </a:solidFill>
            <a:prstDash val="solid"/>
          </a:ln>
        </p:spPr>
      </p:sp>
      <p:sp>
        <p:nvSpPr>
          <p:cNvPr id="22" name="Text 20"/>
          <p:cNvSpPr txBox="1"/>
          <p:nvPr/>
        </p:nvSpPr>
        <p:spPr>
          <a:xfrm>
            <a:off x="640080" y="4480560"/>
            <a:ext cx="1737360" cy="731520"/>
          </a:xfrm>
          <a:prstGeom prst="rect">
            <a:avLst/>
          </a:prstGeom>
          <a:noFill/>
          <a:ln/>
        </p:spPr>
        <p:txBody>
          <a:bodyPr wrap="square" lIns="0" tIns="0" rIns="0" bIns="0" rtlCol="0" anchor="ctr"/>
          <a:lstStyle/>
          <a:p>
            <a:pPr algn="ctr" indent="0" marL="0">
              <a:buNone/>
            </a:pPr>
            <a:r>
              <a:rPr lang="en-US" sz="1500" dirty="0">
                <a:solidFill>
                  <a:schemeClr val="accent1"/>
                </a:solidFill>
                <a:latin typeface="Rockwell Extra Bold" pitchFamily="34" charset="0"/>
                <a:ea typeface="Rockwell Extra Bold" pitchFamily="34" charset="-122"/>
                <a:cs typeface="Rockwell Extra Bold" pitchFamily="34" charset="-120"/>
              </a:rPr>
              <a:t>Le galon</a:t>
            </a:r>
            <a:endParaRPr lang="en-US" sz="1500" dirty="0"/>
          </a:p>
        </p:txBody>
      </p:sp>
      <p:sp>
        <p:nvSpPr>
          <p:cNvPr id="23" name="Text 21"/>
          <p:cNvSpPr txBox="1"/>
          <p:nvPr/>
        </p:nvSpPr>
        <p:spPr>
          <a:xfrm>
            <a:off x="640080" y="5303520"/>
            <a:ext cx="1737360" cy="365760"/>
          </a:xfrm>
          <a:prstGeom prst="rect">
            <a:avLst/>
          </a:prstGeom>
          <a:noFill/>
          <a:ln/>
        </p:spPr>
        <p:txBody>
          <a:bodyPr wrap="square" lIns="0" tIns="0" rIns="0" bIns="0" rtlCol="0" anchor="t"/>
          <a:lstStyle/>
          <a:p>
            <a:pPr algn="ctr" indent="0" marL="0">
              <a:buNone/>
            </a:pPr>
            <a:r>
              <a:rPr lang="en-US" sz="1200" dirty="0">
                <a:solidFill>
                  <a:schemeClr val="tx2"/>
                </a:solidFill>
                <a:latin typeface="Arial" pitchFamily="34" charset="0"/>
                <a:ea typeface="Arial" pitchFamily="34" charset="-122"/>
                <a:cs typeface="Arial" pitchFamily="34" charset="-120"/>
              </a:rPr>
              <a:t>Qui? ______</a:t>
            </a:r>
            <a:endParaRPr lang="en-US" sz="1200" dirty="0"/>
          </a:p>
        </p:txBody>
      </p:sp>
      <p:sp>
        <p:nvSpPr>
          <p:cNvPr id="24" name="Shape 22"/>
          <p:cNvSpPr/>
          <p:nvPr/>
        </p:nvSpPr>
        <p:spPr>
          <a:xfrm>
            <a:off x="2560320" y="4389120"/>
            <a:ext cx="1920240" cy="1417320"/>
          </a:xfrm>
          <a:prstGeom prst="rect">
            <a:avLst/>
          </a:prstGeom>
          <a:solidFill>
            <a:schemeClr val="bg1"/>
          </a:solidFill>
          <a:ln w="25400">
            <a:solidFill>
              <a:schemeClr val="tx1"/>
            </a:solidFill>
            <a:prstDash val="solid"/>
          </a:ln>
        </p:spPr>
      </p:sp>
      <p:sp>
        <p:nvSpPr>
          <p:cNvPr id="25" name="Text 23"/>
          <p:cNvSpPr txBox="1"/>
          <p:nvPr/>
        </p:nvSpPr>
        <p:spPr>
          <a:xfrm>
            <a:off x="2651760" y="4480560"/>
            <a:ext cx="1737360" cy="731520"/>
          </a:xfrm>
          <a:prstGeom prst="rect">
            <a:avLst/>
          </a:prstGeom>
          <a:noFill/>
          <a:ln/>
        </p:spPr>
        <p:txBody>
          <a:bodyPr wrap="square" lIns="0" tIns="0" rIns="0" bIns="0" rtlCol="0" anchor="ctr"/>
          <a:lstStyle/>
          <a:p>
            <a:pPr algn="ctr" indent="0" marL="0">
              <a:buNone/>
            </a:pPr>
            <a:r>
              <a:rPr lang="en-US" sz="1500" dirty="0">
                <a:solidFill>
                  <a:schemeClr val="accent1"/>
                </a:solidFill>
                <a:latin typeface="Rockwell Extra Bold" pitchFamily="34" charset="0"/>
                <a:ea typeface="Rockwell Extra Bold" pitchFamily="34" charset="-122"/>
                <a:cs typeface="Rockwell Extra Bold" pitchFamily="34" charset="-120"/>
              </a:rPr>
              <a:t>L'étiquette</a:t>
            </a:r>
            <a:endParaRPr lang="en-US" sz="1500" dirty="0"/>
          </a:p>
        </p:txBody>
      </p:sp>
      <p:sp>
        <p:nvSpPr>
          <p:cNvPr id="26" name="Text 24"/>
          <p:cNvSpPr txBox="1"/>
          <p:nvPr/>
        </p:nvSpPr>
        <p:spPr>
          <a:xfrm>
            <a:off x="2651760" y="5303520"/>
            <a:ext cx="1737360" cy="365760"/>
          </a:xfrm>
          <a:prstGeom prst="rect">
            <a:avLst/>
          </a:prstGeom>
          <a:noFill/>
          <a:ln/>
        </p:spPr>
        <p:txBody>
          <a:bodyPr wrap="square" lIns="0" tIns="0" rIns="0" bIns="0" rtlCol="0" anchor="t"/>
          <a:lstStyle/>
          <a:p>
            <a:pPr algn="ctr" indent="0" marL="0">
              <a:buNone/>
            </a:pPr>
            <a:r>
              <a:rPr lang="en-US" sz="1200" dirty="0">
                <a:solidFill>
                  <a:schemeClr val="tx2"/>
                </a:solidFill>
                <a:latin typeface="Arial" pitchFamily="34" charset="0"/>
                <a:ea typeface="Arial" pitchFamily="34" charset="-122"/>
                <a:cs typeface="Arial" pitchFamily="34" charset="-120"/>
              </a:rPr>
              <a:t>Qui? ______</a:t>
            </a:r>
            <a:endParaRPr lang="en-US" sz="1200" dirty="0"/>
          </a:p>
        </p:txBody>
      </p:sp>
      <p:sp>
        <p:nvSpPr>
          <p:cNvPr id="27" name="Shape 25"/>
          <p:cNvSpPr/>
          <p:nvPr/>
        </p:nvSpPr>
        <p:spPr>
          <a:xfrm>
            <a:off x="4572000" y="4389120"/>
            <a:ext cx="1920240" cy="1417320"/>
          </a:xfrm>
          <a:prstGeom prst="rect">
            <a:avLst/>
          </a:prstGeom>
          <a:solidFill>
            <a:schemeClr val="bg1"/>
          </a:solidFill>
          <a:ln w="25400">
            <a:solidFill>
              <a:schemeClr val="tx1"/>
            </a:solidFill>
            <a:prstDash val="solid"/>
          </a:ln>
        </p:spPr>
      </p:sp>
      <p:sp>
        <p:nvSpPr>
          <p:cNvPr id="28" name="Text 26"/>
          <p:cNvSpPr txBox="1"/>
          <p:nvPr/>
        </p:nvSpPr>
        <p:spPr>
          <a:xfrm>
            <a:off x="4663440" y="4480560"/>
            <a:ext cx="1737360" cy="731520"/>
          </a:xfrm>
          <a:prstGeom prst="rect">
            <a:avLst/>
          </a:prstGeom>
          <a:noFill/>
          <a:ln/>
        </p:spPr>
        <p:txBody>
          <a:bodyPr wrap="square" lIns="0" tIns="0" rIns="0" bIns="0" rtlCol="0" anchor="ctr"/>
          <a:lstStyle/>
          <a:p>
            <a:pPr algn="ctr" indent="0" marL="0">
              <a:buNone/>
            </a:pPr>
            <a:r>
              <a:rPr lang="en-US" sz="1500" dirty="0">
                <a:solidFill>
                  <a:schemeClr val="accent1"/>
                </a:solidFill>
                <a:latin typeface="Rockwell Extra Bold" pitchFamily="34" charset="0"/>
                <a:ea typeface="Rockwell Extra Bold" pitchFamily="34" charset="-122"/>
                <a:cs typeface="Rockwell Extra Bold" pitchFamily="34" charset="-120"/>
              </a:rPr>
              <a:t>Le brouillard</a:t>
            </a:r>
            <a:endParaRPr lang="en-US" sz="1500" dirty="0"/>
          </a:p>
        </p:txBody>
      </p:sp>
      <p:sp>
        <p:nvSpPr>
          <p:cNvPr id="29" name="Text 27"/>
          <p:cNvSpPr txBox="1"/>
          <p:nvPr/>
        </p:nvSpPr>
        <p:spPr>
          <a:xfrm>
            <a:off x="4663440" y="5303520"/>
            <a:ext cx="1737360" cy="365760"/>
          </a:xfrm>
          <a:prstGeom prst="rect">
            <a:avLst/>
          </a:prstGeom>
          <a:noFill/>
          <a:ln/>
        </p:spPr>
        <p:txBody>
          <a:bodyPr wrap="square" lIns="0" tIns="0" rIns="0" bIns="0" rtlCol="0" anchor="t"/>
          <a:lstStyle/>
          <a:p>
            <a:pPr algn="ctr" indent="0" marL="0">
              <a:buNone/>
            </a:pPr>
            <a:r>
              <a:rPr lang="en-US" sz="1200" dirty="0">
                <a:solidFill>
                  <a:schemeClr val="tx2"/>
                </a:solidFill>
                <a:latin typeface="Arial" pitchFamily="34" charset="0"/>
                <a:ea typeface="Arial" pitchFamily="34" charset="-122"/>
                <a:cs typeface="Arial" pitchFamily="34" charset="-120"/>
              </a:rPr>
              <a:t>Qui? ______</a:t>
            </a:r>
            <a:endParaRPr lang="en-US" sz="1200" dirty="0"/>
          </a:p>
        </p:txBody>
      </p:sp>
      <p:sp>
        <p:nvSpPr>
          <p:cNvPr id="30" name="Text 28"/>
          <p:cNvSpPr txBox="1"/>
          <p:nvPr/>
        </p:nvSpPr>
        <p:spPr>
          <a:xfrm>
            <a:off x="6949440" y="1371600"/>
            <a:ext cx="4572000" cy="457200"/>
          </a:xfrm>
          <a:prstGeom prst="rect">
            <a:avLst/>
          </a:prstGeom>
          <a:noFill/>
          <a:ln/>
        </p:spPr>
        <p:txBody>
          <a:bodyPr wrap="square" lIns="0" tIns="0" rIns="0" bIns="0" rtlCol="0" anchor="t"/>
          <a:lstStyle/>
          <a:p>
            <a:pPr indent="0" marL="0">
              <a:buNone/>
            </a:pPr>
            <a:r>
              <a:rPr lang="en-US" sz="2000" dirty="0">
                <a:solidFill>
                  <a:schemeClr val="accent1"/>
                </a:solidFill>
                <a:latin typeface="Rockwell Extra Bold" pitchFamily="34" charset="0"/>
                <a:ea typeface="Rockwell Extra Bold" pitchFamily="34" charset="-122"/>
                <a:cs typeface="Rockwell Extra Bold" pitchFamily="34" charset="-120"/>
              </a:rPr>
              <a:t>Règles</a:t>
            </a:r>
            <a:endParaRPr lang="en-US" sz="2000" dirty="0"/>
          </a:p>
        </p:txBody>
      </p:sp>
      <p:sp>
        <p:nvSpPr>
          <p:cNvPr id="31" name="Text 29"/>
          <p:cNvSpPr txBox="1"/>
          <p:nvPr/>
        </p:nvSpPr>
        <p:spPr>
          <a:xfrm>
            <a:off x="6949440" y="1920240"/>
            <a:ext cx="4663440" cy="393192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chemeClr val="tx1"/>
                </a:solidFill>
                <a:latin typeface="Arial" pitchFamily="34" charset="0"/>
                <a:ea typeface="Arial" pitchFamily="34" charset="-122"/>
                <a:cs typeface="Arial" pitchFamily="34" charset="-120"/>
              </a:rPr>
              <a:t>Coche une case quand tu entends le coup. Note qui et la phrase exacte.</a:t>
            </a:r>
            <a:endParaRPr lang="en-US" sz="1600" dirty="0"/>
          </a:p>
          <a:p>
            <a:pPr marL="342900" indent="-342900">
              <a:spcAft>
                <a:spcPts val="1000"/>
              </a:spcAft>
              <a:buSzPct val="100000"/>
              <a:buChar char="•"/>
            </a:pPr>
            <a:r>
              <a:rPr lang="en-US" sz="1600" dirty="0">
                <a:solidFill>
                  <a:schemeClr val="tx1"/>
                </a:solidFill>
                <a:latin typeface="Arial" pitchFamily="34" charset="0"/>
                <a:ea typeface="Arial" pitchFamily="34" charset="-122"/>
                <a:cs typeface="Arial" pitchFamily="34" charset="-120"/>
              </a:rPr>
              <a:t>La case centrale est un bon coup : la reformulation loyale. Elle vaut double.</a:t>
            </a:r>
            <a:endParaRPr lang="en-US" sz="1600" dirty="0"/>
          </a:p>
          <a:p>
            <a:pPr marL="342900" indent="-342900">
              <a:spcAft>
                <a:spcPts val="1000"/>
              </a:spcAft>
              <a:buSzPct val="100000"/>
              <a:buChar char="•"/>
            </a:pPr>
            <a:r>
              <a:rPr lang="en-US" sz="1600" dirty="0">
                <a:solidFill>
                  <a:schemeClr val="tx1"/>
                </a:solidFill>
                <a:latin typeface="Arial" pitchFamily="34" charset="0"/>
                <a:ea typeface="Arial" pitchFamily="34" charset="-122"/>
                <a:cs typeface="Arial" pitchFamily="34" charset="-120"/>
              </a:rPr>
              <a:t>Ligne complète? Lève la main en silence : le débat continue.</a:t>
            </a:r>
            <a:endParaRPr lang="en-US" sz="1600" dirty="0"/>
          </a:p>
          <a:p>
            <a:pPr marL="342900" indent="-342900">
              <a:spcAft>
                <a:spcPts val="1000"/>
              </a:spcAft>
              <a:buSzPct val="100000"/>
              <a:buChar char="•"/>
            </a:pPr>
            <a:r>
              <a:rPr lang="en-US" sz="1600" dirty="0">
                <a:solidFill>
                  <a:schemeClr val="tx1"/>
                </a:solidFill>
                <a:latin typeface="Arial" pitchFamily="34" charset="0"/>
                <a:ea typeface="Arial" pitchFamily="34" charset="-122"/>
                <a:cs typeface="Arial" pitchFamily="34" charset="-120"/>
              </a:rPr>
              <a:t>Surprise : on termine en comptant les reformulations, pas les coups bas.</a:t>
            </a:r>
            <a:endParaRPr lang="en-US" sz="16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1"/>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lIns="0" tIns="0" rIns="0" bIns="0" rtlCol="0" anchor="t"/>
          <a:lstStyle/>
          <a:p>
            <a:pPr algn="l" indent="0" marL="0">
              <a:buNone/>
            </a:pPr>
            <a:r>
              <a:rPr lang="en-US" sz="3600" dirty="0">
                <a:solidFill>
                  <a:schemeClr val="accent1"/>
                </a:solidFill>
              </a:rPr>
              <a:t>Croquis-éclair</a:t>
            </a:r>
            <a:endParaRPr lang="en-US" sz="3600" dirty="0"/>
          </a:p>
        </p:txBody>
      </p:sp>
      <p:sp>
        <p:nvSpPr>
          <p:cNvPr id="3" name="Shape 1"/>
          <p:cNvSpPr/>
          <p:nvPr/>
        </p:nvSpPr>
        <p:spPr>
          <a:xfrm>
            <a:off x="9966960" y="411480"/>
            <a:ext cx="1645920" cy="457200"/>
          </a:xfrm>
          <a:prstGeom prst="roundRect">
            <a:avLst>
              <a:gd name="adj" fmla="val 50000"/>
            </a:avLst>
          </a:prstGeom>
          <a:solidFill>
            <a:schemeClr val="tx1"/>
          </a:solidFill>
          <a:ln/>
        </p:spPr>
      </p:sp>
      <p:sp>
        <p:nvSpPr>
          <p:cNvPr id="4" name="Text 2"/>
          <p:cNvSpPr txBox="1"/>
          <p:nvPr/>
        </p:nvSpPr>
        <p:spPr>
          <a:xfrm>
            <a:off x="9966960" y="411480"/>
            <a:ext cx="1645920" cy="457200"/>
          </a:xfrm>
          <a:prstGeom prst="rect">
            <a:avLst/>
          </a:prstGeom>
          <a:noFill/>
          <a:ln/>
        </p:spPr>
        <p:txBody>
          <a:bodyPr wrap="square" lIns="0" tIns="0" rIns="0" bIns="0" rtlCol="0" anchor="ctr"/>
          <a:lstStyle/>
          <a:p>
            <a:pPr algn="ctr" indent="0" marL="0">
              <a:buNone/>
            </a:pPr>
            <a:r>
              <a:rPr lang="en-US" sz="1400" b="1" dirty="0">
                <a:solidFill>
                  <a:schemeClr val="bg2"/>
                </a:solidFill>
              </a:rPr>
              <a:t>⏱ 8 min</a:t>
            </a:r>
            <a:endParaRPr lang="en-US" sz="1400" dirty="0"/>
          </a:p>
        </p:txBody>
      </p:sp>
      <p:sp>
        <p:nvSpPr>
          <p:cNvPr id="5" name="Shape 3"/>
          <p:cNvSpPr/>
          <p:nvPr/>
        </p:nvSpPr>
        <p:spPr>
          <a:xfrm>
            <a:off x="548640" y="1371600"/>
            <a:ext cx="3566160" cy="3291840"/>
          </a:xfrm>
          <a:prstGeom prst="rect">
            <a:avLst/>
          </a:prstGeom>
          <a:solidFill>
            <a:schemeClr val="bg1"/>
          </a:solidFill>
          <a:ln w="25400">
            <a:solidFill>
              <a:schemeClr val="tx1"/>
            </a:solidFill>
            <a:prstDash val="solid"/>
          </a:ln>
        </p:spPr>
      </p:sp>
      <p:sp>
        <p:nvSpPr>
          <p:cNvPr id="6" name="Shape 4"/>
          <p:cNvSpPr/>
          <p:nvPr/>
        </p:nvSpPr>
        <p:spPr>
          <a:xfrm>
            <a:off x="731520" y="1554480"/>
            <a:ext cx="594360" cy="594360"/>
          </a:xfrm>
          <a:prstGeom prst="ellipse">
            <a:avLst/>
          </a:prstGeom>
          <a:solidFill>
            <a:schemeClr val="accent1"/>
          </a:solidFill>
          <a:ln w="19050">
            <a:solidFill>
              <a:schemeClr val="tx1"/>
            </a:solidFill>
            <a:prstDash val="solid"/>
          </a:ln>
        </p:spPr>
      </p:sp>
      <p:sp>
        <p:nvSpPr>
          <p:cNvPr id="7" name="Text 5"/>
          <p:cNvSpPr txBox="1"/>
          <p:nvPr/>
        </p:nvSpPr>
        <p:spPr>
          <a:xfrm>
            <a:off x="731520" y="1554480"/>
            <a:ext cx="594360" cy="594360"/>
          </a:xfrm>
          <a:prstGeom prst="rect">
            <a:avLst/>
          </a:prstGeom>
          <a:noFill/>
          <a:ln/>
        </p:spPr>
        <p:txBody>
          <a:bodyPr wrap="square" lIns="0" tIns="0" rIns="0" bIns="0" rtlCol="0" anchor="ctr"/>
          <a:lstStyle/>
          <a:p>
            <a:pPr algn="ctr" indent="0" marL="0">
              <a:buNone/>
            </a:pPr>
            <a:r>
              <a:rPr lang="en-US" sz="2200" dirty="0">
                <a:solidFill>
                  <a:schemeClr val="bg2"/>
                </a:solidFill>
                <a:latin typeface="Rockwell Extra Bold" pitchFamily="34" charset="0"/>
                <a:ea typeface="Rockwell Extra Bold" pitchFamily="34" charset="-122"/>
                <a:cs typeface="Rockwell Extra Bold" pitchFamily="34" charset="-120"/>
              </a:rPr>
              <a:t>1</a:t>
            </a:r>
            <a:endParaRPr lang="en-US" sz="2200" dirty="0"/>
          </a:p>
        </p:txBody>
      </p:sp>
      <p:sp>
        <p:nvSpPr>
          <p:cNvPr id="8" name="Text 6"/>
          <p:cNvSpPr txBox="1"/>
          <p:nvPr/>
        </p:nvSpPr>
        <p:spPr>
          <a:xfrm>
            <a:off x="3108960" y="1600200"/>
            <a:ext cx="822960" cy="457200"/>
          </a:xfrm>
          <a:prstGeom prst="rect">
            <a:avLst/>
          </a:prstGeom>
          <a:noFill/>
          <a:ln/>
        </p:spPr>
        <p:txBody>
          <a:bodyPr wrap="square" lIns="0" tIns="0" rIns="0" bIns="0" rtlCol="0" anchor="t"/>
          <a:lstStyle/>
          <a:p>
            <a:pPr algn="r" indent="0" marL="0">
              <a:buNone/>
            </a:pPr>
            <a:r>
              <a:rPr lang="en-US" sz="1800" dirty="0">
                <a:solidFill>
                  <a:schemeClr val="tx2"/>
                </a:solidFill>
                <a:latin typeface="Rockwell Extra Bold" pitchFamily="34" charset="0"/>
                <a:ea typeface="Rockwell Extra Bold" pitchFamily="34" charset="-122"/>
                <a:cs typeface="Rockwell Extra Bold" pitchFamily="34" charset="-120"/>
              </a:rPr>
              <a:t>60 s</a:t>
            </a:r>
            <a:endParaRPr lang="en-US" sz="1800" dirty="0"/>
          </a:p>
        </p:txBody>
      </p:sp>
      <p:sp>
        <p:nvSpPr>
          <p:cNvPr id="9" name="Text 7"/>
          <p:cNvSpPr txBox="1"/>
          <p:nvPr/>
        </p:nvSpPr>
        <p:spPr>
          <a:xfrm>
            <a:off x="731520" y="4800600"/>
            <a:ext cx="3200400" cy="731520"/>
          </a:xfrm>
          <a:prstGeom prst="rect">
            <a:avLst/>
          </a:prstGeom>
          <a:noFill/>
          <a:ln/>
        </p:spPr>
        <p:txBody>
          <a:bodyPr wrap="square" lIns="0" tIns="0" rIns="0" bIns="0" rtlCol="0" anchor="t"/>
          <a:lstStyle/>
          <a:p>
            <a:pPr indent="0" marL="0">
              <a:buNone/>
            </a:pPr>
            <a:r>
              <a:rPr lang="en-US" sz="1800" dirty="0">
                <a:solidFill>
                  <a:schemeClr val="accent1"/>
                </a:solidFill>
                <a:latin typeface="Rockwell Extra Bold" pitchFamily="34" charset="0"/>
                <a:ea typeface="Rockwell Extra Bold" pitchFamily="34" charset="-122"/>
                <a:cs typeface="Rockwell Extra Bold" pitchFamily="34" charset="-120"/>
              </a:rPr>
              <a:t>Ta créature quand tu es à bout</a:t>
            </a:r>
            <a:endParaRPr lang="en-US" sz="1800" dirty="0"/>
          </a:p>
        </p:txBody>
      </p:sp>
      <p:sp>
        <p:nvSpPr>
          <p:cNvPr id="10" name="Shape 8"/>
          <p:cNvSpPr/>
          <p:nvPr/>
        </p:nvSpPr>
        <p:spPr>
          <a:xfrm>
            <a:off x="4279392" y="1371600"/>
            <a:ext cx="3566160" cy="3291840"/>
          </a:xfrm>
          <a:prstGeom prst="rect">
            <a:avLst/>
          </a:prstGeom>
          <a:solidFill>
            <a:schemeClr val="bg1"/>
          </a:solidFill>
          <a:ln w="25400">
            <a:solidFill>
              <a:schemeClr val="tx1"/>
            </a:solidFill>
            <a:prstDash val="solid"/>
          </a:ln>
        </p:spPr>
      </p:sp>
      <p:sp>
        <p:nvSpPr>
          <p:cNvPr id="11" name="Shape 9"/>
          <p:cNvSpPr/>
          <p:nvPr/>
        </p:nvSpPr>
        <p:spPr>
          <a:xfrm>
            <a:off x="4462272" y="1554480"/>
            <a:ext cx="594360" cy="594360"/>
          </a:xfrm>
          <a:prstGeom prst="ellipse">
            <a:avLst/>
          </a:prstGeom>
          <a:solidFill>
            <a:schemeClr val="accent1"/>
          </a:solidFill>
          <a:ln w="19050">
            <a:solidFill>
              <a:schemeClr val="tx1"/>
            </a:solidFill>
            <a:prstDash val="solid"/>
          </a:ln>
        </p:spPr>
      </p:sp>
      <p:sp>
        <p:nvSpPr>
          <p:cNvPr id="12" name="Text 10"/>
          <p:cNvSpPr txBox="1"/>
          <p:nvPr/>
        </p:nvSpPr>
        <p:spPr>
          <a:xfrm>
            <a:off x="4462272" y="1554480"/>
            <a:ext cx="594360" cy="594360"/>
          </a:xfrm>
          <a:prstGeom prst="rect">
            <a:avLst/>
          </a:prstGeom>
          <a:noFill/>
          <a:ln/>
        </p:spPr>
        <p:txBody>
          <a:bodyPr wrap="square" lIns="0" tIns="0" rIns="0" bIns="0" rtlCol="0" anchor="ctr"/>
          <a:lstStyle/>
          <a:p>
            <a:pPr algn="ctr" indent="0" marL="0">
              <a:buNone/>
            </a:pPr>
            <a:r>
              <a:rPr lang="en-US" sz="2200" dirty="0">
                <a:solidFill>
                  <a:schemeClr val="bg2"/>
                </a:solidFill>
                <a:latin typeface="Rockwell Extra Bold" pitchFamily="34" charset="0"/>
                <a:ea typeface="Rockwell Extra Bold" pitchFamily="34" charset="-122"/>
                <a:cs typeface="Rockwell Extra Bold" pitchFamily="34" charset="-120"/>
              </a:rPr>
              <a:t>2</a:t>
            </a:r>
            <a:endParaRPr lang="en-US" sz="2200" dirty="0"/>
          </a:p>
        </p:txBody>
      </p:sp>
      <p:sp>
        <p:nvSpPr>
          <p:cNvPr id="13" name="Text 11"/>
          <p:cNvSpPr txBox="1"/>
          <p:nvPr/>
        </p:nvSpPr>
        <p:spPr>
          <a:xfrm>
            <a:off x="6839712" y="1600200"/>
            <a:ext cx="822960" cy="457200"/>
          </a:xfrm>
          <a:prstGeom prst="rect">
            <a:avLst/>
          </a:prstGeom>
          <a:noFill/>
          <a:ln/>
        </p:spPr>
        <p:txBody>
          <a:bodyPr wrap="square" lIns="0" tIns="0" rIns="0" bIns="0" rtlCol="0" anchor="t"/>
          <a:lstStyle/>
          <a:p>
            <a:pPr algn="r" indent="0" marL="0">
              <a:buNone/>
            </a:pPr>
            <a:r>
              <a:rPr lang="en-US" sz="1800" dirty="0">
                <a:solidFill>
                  <a:schemeClr val="tx2"/>
                </a:solidFill>
                <a:latin typeface="Rockwell Extra Bold" pitchFamily="34" charset="0"/>
                <a:ea typeface="Rockwell Extra Bold" pitchFamily="34" charset="-122"/>
                <a:cs typeface="Rockwell Extra Bold" pitchFamily="34" charset="-120"/>
              </a:rPr>
              <a:t>60 s</a:t>
            </a:r>
            <a:endParaRPr lang="en-US" sz="1800" dirty="0"/>
          </a:p>
        </p:txBody>
      </p:sp>
      <p:sp>
        <p:nvSpPr>
          <p:cNvPr id="14" name="Text 12"/>
          <p:cNvSpPr txBox="1"/>
          <p:nvPr/>
        </p:nvSpPr>
        <p:spPr>
          <a:xfrm>
            <a:off x="4462272" y="4800600"/>
            <a:ext cx="3200400" cy="731520"/>
          </a:xfrm>
          <a:prstGeom prst="rect">
            <a:avLst/>
          </a:prstGeom>
          <a:noFill/>
          <a:ln/>
        </p:spPr>
        <p:txBody>
          <a:bodyPr wrap="square" lIns="0" tIns="0" rIns="0" bIns="0" rtlCol="0" anchor="t"/>
          <a:lstStyle/>
          <a:p>
            <a:pPr indent="0" marL="0">
              <a:buNone/>
            </a:pPr>
            <a:r>
              <a:rPr lang="en-US" sz="1800" dirty="0">
                <a:solidFill>
                  <a:schemeClr val="accent1"/>
                </a:solidFill>
                <a:latin typeface="Rockwell Extra Bold" pitchFamily="34" charset="0"/>
                <a:ea typeface="Rockwell Extra Bold" pitchFamily="34" charset="-122"/>
                <a:cs typeface="Rockwell Extra Bold" pitchFamily="34" charset="-120"/>
              </a:rPr>
              <a:t>Un coup bas : le groupe devine lequel</a:t>
            </a:r>
            <a:endParaRPr lang="en-US" sz="1800" dirty="0"/>
          </a:p>
        </p:txBody>
      </p:sp>
      <p:sp>
        <p:nvSpPr>
          <p:cNvPr id="15" name="Shape 13"/>
          <p:cNvSpPr/>
          <p:nvPr/>
        </p:nvSpPr>
        <p:spPr>
          <a:xfrm>
            <a:off x="8010144" y="1371600"/>
            <a:ext cx="3566160" cy="3291840"/>
          </a:xfrm>
          <a:prstGeom prst="rect">
            <a:avLst/>
          </a:prstGeom>
          <a:solidFill>
            <a:schemeClr val="bg1"/>
          </a:solidFill>
          <a:ln w="25400">
            <a:solidFill>
              <a:schemeClr val="tx1"/>
            </a:solidFill>
            <a:prstDash val="solid"/>
          </a:ln>
        </p:spPr>
      </p:sp>
      <p:sp>
        <p:nvSpPr>
          <p:cNvPr id="16" name="Shape 14"/>
          <p:cNvSpPr/>
          <p:nvPr/>
        </p:nvSpPr>
        <p:spPr>
          <a:xfrm>
            <a:off x="8193024" y="1554480"/>
            <a:ext cx="594360" cy="594360"/>
          </a:xfrm>
          <a:prstGeom prst="ellipse">
            <a:avLst/>
          </a:prstGeom>
          <a:solidFill>
            <a:schemeClr val="accent2"/>
          </a:solidFill>
          <a:ln w="19050">
            <a:solidFill>
              <a:schemeClr val="tx1"/>
            </a:solidFill>
            <a:prstDash val="solid"/>
          </a:ln>
        </p:spPr>
      </p:sp>
      <p:sp>
        <p:nvSpPr>
          <p:cNvPr id="17" name="Text 15"/>
          <p:cNvSpPr txBox="1"/>
          <p:nvPr/>
        </p:nvSpPr>
        <p:spPr>
          <a:xfrm>
            <a:off x="8193024" y="1554480"/>
            <a:ext cx="594360" cy="594360"/>
          </a:xfrm>
          <a:prstGeom prst="rect">
            <a:avLst/>
          </a:prstGeom>
          <a:noFill/>
          <a:ln/>
        </p:spPr>
        <p:txBody>
          <a:bodyPr wrap="square" lIns="0" tIns="0" rIns="0" bIns="0" rtlCol="0" anchor="ctr"/>
          <a:lstStyle/>
          <a:p>
            <a:pPr algn="ctr" indent="0" marL="0">
              <a:buNone/>
            </a:pPr>
            <a:r>
              <a:rPr lang="en-US" sz="2200" dirty="0">
                <a:solidFill>
                  <a:schemeClr val="tx1"/>
                </a:solidFill>
                <a:latin typeface="Rockwell Extra Bold" pitchFamily="34" charset="0"/>
                <a:ea typeface="Rockwell Extra Bold" pitchFamily="34" charset="-122"/>
                <a:cs typeface="Rockwell Extra Bold" pitchFamily="34" charset="-120"/>
              </a:rPr>
              <a:t>3</a:t>
            </a:r>
            <a:endParaRPr lang="en-US" sz="2200" dirty="0"/>
          </a:p>
        </p:txBody>
      </p:sp>
      <p:sp>
        <p:nvSpPr>
          <p:cNvPr id="18" name="Text 16"/>
          <p:cNvSpPr txBox="1"/>
          <p:nvPr/>
        </p:nvSpPr>
        <p:spPr>
          <a:xfrm>
            <a:off x="10570464" y="1600200"/>
            <a:ext cx="822960" cy="457200"/>
          </a:xfrm>
          <a:prstGeom prst="rect">
            <a:avLst/>
          </a:prstGeom>
          <a:noFill/>
          <a:ln/>
        </p:spPr>
        <p:txBody>
          <a:bodyPr wrap="square" lIns="0" tIns="0" rIns="0" bIns="0" rtlCol="0" anchor="t"/>
          <a:lstStyle/>
          <a:p>
            <a:pPr algn="r" indent="0" marL="0">
              <a:buNone/>
            </a:pPr>
            <a:r>
              <a:rPr lang="en-US" sz="1800" dirty="0">
                <a:solidFill>
                  <a:schemeClr val="tx2"/>
                </a:solidFill>
                <a:latin typeface="Rockwell Extra Bold" pitchFamily="34" charset="0"/>
                <a:ea typeface="Rockwell Extra Bold" pitchFamily="34" charset="-122"/>
                <a:cs typeface="Rockwell Extra Bold" pitchFamily="34" charset="-120"/>
              </a:rPr>
              <a:t>60 s</a:t>
            </a:r>
            <a:endParaRPr lang="en-US" sz="1800" dirty="0"/>
          </a:p>
        </p:txBody>
      </p:sp>
      <p:sp>
        <p:nvSpPr>
          <p:cNvPr id="19" name="Text 17"/>
          <p:cNvSpPr txBox="1"/>
          <p:nvPr/>
        </p:nvSpPr>
        <p:spPr>
          <a:xfrm>
            <a:off x="8193024" y="4800600"/>
            <a:ext cx="3200400" cy="731520"/>
          </a:xfrm>
          <a:prstGeom prst="rect">
            <a:avLst/>
          </a:prstGeom>
          <a:noFill/>
          <a:ln/>
        </p:spPr>
        <p:txBody>
          <a:bodyPr wrap="square" lIns="0" tIns="0" rIns="0" bIns="0" rtlCol="0" anchor="t"/>
          <a:lstStyle/>
          <a:p>
            <a:pPr indent="0" marL="0">
              <a:buNone/>
            </a:pPr>
            <a:r>
              <a:rPr lang="en-US" sz="1800" dirty="0">
                <a:solidFill>
                  <a:schemeClr val="accent1"/>
                </a:solidFill>
                <a:latin typeface="Rockwell Extra Bold" pitchFamily="34" charset="0"/>
                <a:ea typeface="Rockwell Extra Bold" pitchFamily="34" charset="-122"/>
                <a:cs typeface="Rockwell Extra Bold" pitchFamily="34" charset="-120"/>
              </a:rPr>
              <a:t>Sa parade</a:t>
            </a:r>
            <a:endParaRPr lang="en-US" sz="1800" dirty="0"/>
          </a:p>
        </p:txBody>
      </p:sp>
      <p:pic>
        <p:nvPicPr>
          <p:cNvPr id="20" name="Image 0" descr="preencoded.png">    </p:cNvPr>
          <p:cNvPicPr>
            <a:picLocks noChangeAspect="1"/>
          </p:cNvPicPr>
          <p:nvPr/>
        </p:nvPicPr>
        <p:blipFill>
          <a:blip r:embed="rId1"/>
          <a:stretch>
            <a:fillRect/>
          </a:stretch>
        </p:blipFill>
        <p:spPr>
          <a:xfrm>
            <a:off x="1554480" y="2377440"/>
            <a:ext cx="1463040" cy="1783080"/>
          </a:xfrm>
          <a:prstGeom prst="rect">
            <a:avLst/>
          </a:prstGeom>
        </p:spPr>
      </p:pic>
      <p:pic>
        <p:nvPicPr>
          <p:cNvPr id="21" name="Image 1" descr="preencoded.png">    </p:cNvPr>
          <p:cNvPicPr>
            <a:picLocks noChangeAspect="1"/>
          </p:cNvPicPr>
          <p:nvPr/>
        </p:nvPicPr>
        <p:blipFill>
          <a:blip r:embed="rId2"/>
          <a:stretch>
            <a:fillRect/>
          </a:stretch>
        </p:blipFill>
        <p:spPr>
          <a:xfrm>
            <a:off x="5303520" y="2377440"/>
            <a:ext cx="1463040" cy="1783080"/>
          </a:xfrm>
          <a:prstGeom prst="rect">
            <a:avLst/>
          </a:prstGeom>
        </p:spPr>
      </p:pic>
      <p:pic>
        <p:nvPicPr>
          <p:cNvPr id="22" name="Image 2" descr="preencoded.png">    </p:cNvPr>
          <p:cNvPicPr>
            <a:picLocks noChangeAspect="1"/>
          </p:cNvPicPr>
          <p:nvPr/>
        </p:nvPicPr>
        <p:blipFill>
          <a:blip r:embed="rId3"/>
          <a:stretch>
            <a:fillRect/>
          </a:stretch>
        </p:blipFill>
        <p:spPr>
          <a:xfrm>
            <a:off x="9052560" y="2377440"/>
            <a:ext cx="1463040" cy="1783080"/>
          </a:xfrm>
          <a:prstGeom prst="rect">
            <a:avLst/>
          </a:prstGeom>
        </p:spPr>
      </p:pic>
      <p:sp>
        <p:nvSpPr>
          <p:cNvPr id="23" name="Text 18"/>
          <p:cNvSpPr txBox="1"/>
          <p:nvPr/>
        </p:nvSpPr>
        <p:spPr>
          <a:xfrm>
            <a:off x="548640" y="5715000"/>
            <a:ext cx="11064240" cy="457200"/>
          </a:xfrm>
          <a:prstGeom prst="rect">
            <a:avLst/>
          </a:prstGeom>
          <a:noFill/>
          <a:ln/>
        </p:spPr>
        <p:txBody>
          <a:bodyPr wrap="square" lIns="0" tIns="0" rIns="0" bIns="0" rtlCol="0" anchor="t"/>
          <a:lstStyle/>
          <a:p>
            <a:pPr indent="0" marL="0">
              <a:buNone/>
            </a:pPr>
            <a:r>
              <a:rPr lang="en-US" sz="1600" i="1" dirty="0">
                <a:solidFill>
                  <a:schemeClr val="tx2"/>
                </a:solidFill>
                <a:latin typeface="Arial" pitchFamily="34" charset="0"/>
                <a:ea typeface="Arial" pitchFamily="34" charset="-122"/>
                <a:cs typeface="Arial" pitchFamily="34" charset="-120"/>
              </a:rPr>
              <a:t>Bonshommes allumettes bienvenus. Aucun talent requis.</a:t>
            </a:r>
            <a:endParaRPr lang="en-US" sz="16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1"/>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457200" y="274320"/>
            <a:ext cx="4572000" cy="2926080"/>
          </a:xfrm>
          <a:prstGeom prst="rect">
            <a:avLst/>
          </a:prstGeom>
          <a:noFill/>
          <a:ln/>
        </p:spPr>
        <p:txBody>
          <a:bodyPr wrap="square" lIns="0" tIns="0" rIns="0" bIns="0" rtlCol="0" anchor="t"/>
          <a:lstStyle/>
          <a:p>
            <a:pPr indent="0" marL="0">
              <a:buNone/>
            </a:pPr>
            <a:r>
              <a:rPr lang="en-US" sz="20000" dirty="0">
                <a:solidFill>
                  <a:schemeClr val="tx1"/>
                </a:solidFill>
                <a:latin typeface="Rockwell Extra Bold" pitchFamily="34" charset="0"/>
                <a:ea typeface="Rockwell Extra Bold" pitchFamily="34" charset="-122"/>
                <a:cs typeface="Rockwell Extra Bold" pitchFamily="34" charset="-120"/>
              </a:rPr>
              <a:t>3</a:t>
            </a:r>
            <a:endParaRPr lang="en-US" sz="20000" dirty="0"/>
          </a:p>
        </p:txBody>
      </p:sp>
      <p:sp>
        <p:nvSpPr>
          <p:cNvPr id="3" name="Text 0"/>
          <p:cNvSpPr/>
          <p:nvPr>
            <p:ph idx="100" type="title" hasCustomPrompt="1"/>
          </p:nvPr>
        </p:nvSpPr>
        <p:spPr>
          <a:xfrm>
            <a:off x="548640" y="3291840"/>
            <a:ext cx="7498080" cy="2194560"/>
          </a:xfrm>
          <a:prstGeom prst="rect">
            <a:avLst/>
          </a:prstGeom>
          <a:noFill/>
          <a:ln/>
        </p:spPr>
        <p:txBody>
          <a:bodyPr wrap="square" lIns="0" tIns="0" rIns="0" bIns="0" rtlCol="0" anchor="t"/>
          <a:lstStyle/>
          <a:p>
            <a:pPr algn="l" indent="0" marL="0">
              <a:buNone/>
            </a:pPr>
            <a:r>
              <a:rPr lang="en-US" sz="5400" dirty="0">
                <a:solidFill>
                  <a:schemeClr val="bg2"/>
                </a:solidFill>
              </a:rPr>
              <a:t>Ateliers d'écriture</a:t>
            </a:r>
            <a:endParaRPr lang="en-US" sz="5400" dirty="0"/>
          </a:p>
        </p:txBody>
      </p:sp>
      <p:sp>
        <p:nvSpPr>
          <p:cNvPr id="4" name="Text 0"/>
          <p:cNvSpPr/>
          <p:nvPr>
            <p:ph idx="101" type="body" hasCustomPrompt="1"/>
          </p:nvPr>
        </p:nvSpPr>
        <p:spPr>
          <a:xfrm>
            <a:off x="548640" y="5486400"/>
            <a:ext cx="7498080" cy="731520"/>
          </a:xfrm>
          <a:prstGeom prst="rect">
            <a:avLst/>
          </a:prstGeom>
          <a:noFill/>
          <a:ln/>
        </p:spPr>
        <p:txBody>
          <a:bodyPr wrap="square" lIns="0" tIns="0" rIns="0" bIns="0" rtlCol="0"/>
          <a:lstStyle/>
          <a:p>
            <a:pPr indent="0" marL="0">
              <a:buNone/>
            </a:pPr>
            <a:r>
              <a:rPr lang="en-US" sz="1800" dirty="0">
                <a:solidFill>
                  <a:schemeClr val="bg2"/>
                </a:solidFill>
              </a:rPr>
              <a:t>L'agréabilité se travaille aussi au crayon</a:t>
            </a:r>
            <a:endParaRPr lang="en-US" sz="1800" dirty="0"/>
          </a:p>
        </p:txBody>
      </p:sp>
      <p:pic>
        <p:nvPicPr>
          <p:cNvPr id="5" name="silhouette" descr="preencoded.png">    </p:cNvPr>
          <p:cNvPicPr>
            <a:picLocks noChangeAspect="1"/>
          </p:cNvPicPr>
          <p:nvPr/>
        </p:nvPicPr>
        <p:blipFill>
          <a:blip r:embed="rId1"/>
          <a:stretch>
            <a:fillRect/>
          </a:stretch>
        </p:blipFill>
        <p:spPr>
          <a:xfrm>
            <a:off x="8138160" y="914400"/>
            <a:ext cx="3566160" cy="4297680"/>
          </a:xfrm>
          <a:prstGeom prst="rect">
            <a:avLst/>
          </a:prstGeom>
        </p:spPr>
      </p:pic>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Arial"/>
                <a:ea typeface="Arial"/>
                <a:cs typeface="Aria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lIns="0" tIns="0" rIns="0" bIns="0" rtlCol="0" anchor="t"/>
          <a:lstStyle/>
          <a:p>
            <a:pPr algn="l" indent="0" marL="0">
              <a:buNone/>
            </a:pPr>
            <a:r>
              <a:rPr lang="en-US" sz="3600" dirty="0">
                <a:solidFill>
                  <a:schemeClr val="accent1"/>
                </a:solidFill>
              </a:rPr>
              <a:t>Atelier 1 · L'ascenseur</a:t>
            </a:r>
            <a:endParaRPr lang="en-US" sz="3600" dirty="0"/>
          </a:p>
        </p:txBody>
      </p:sp>
      <p:sp>
        <p:nvSpPr>
          <p:cNvPr id="3" name="Shape 1"/>
          <p:cNvSpPr/>
          <p:nvPr/>
        </p:nvSpPr>
        <p:spPr>
          <a:xfrm>
            <a:off x="9966960" y="411480"/>
            <a:ext cx="1645920" cy="457200"/>
          </a:xfrm>
          <a:prstGeom prst="roundRect">
            <a:avLst>
              <a:gd name="adj" fmla="val 50000"/>
            </a:avLst>
          </a:prstGeom>
          <a:solidFill>
            <a:schemeClr val="tx1"/>
          </a:solidFill>
          <a:ln/>
        </p:spPr>
      </p:sp>
      <p:sp>
        <p:nvSpPr>
          <p:cNvPr id="4" name="Text 2"/>
          <p:cNvSpPr txBox="1"/>
          <p:nvPr/>
        </p:nvSpPr>
        <p:spPr>
          <a:xfrm>
            <a:off x="9966960" y="411480"/>
            <a:ext cx="1645920" cy="457200"/>
          </a:xfrm>
          <a:prstGeom prst="rect">
            <a:avLst/>
          </a:prstGeom>
          <a:noFill/>
          <a:ln/>
        </p:spPr>
        <p:txBody>
          <a:bodyPr wrap="square" lIns="0" tIns="0" rIns="0" bIns="0" rtlCol="0" anchor="ctr"/>
          <a:lstStyle/>
          <a:p>
            <a:pPr algn="ctr" indent="0" marL="0">
              <a:buNone/>
            </a:pPr>
            <a:r>
              <a:rPr lang="en-US" sz="1400" b="1" dirty="0">
                <a:solidFill>
                  <a:schemeClr val="bg2"/>
                </a:solidFill>
              </a:rPr>
              <a:t>⏱ 15 min</a:t>
            </a:r>
            <a:endParaRPr lang="en-US" sz="1400" dirty="0"/>
          </a:p>
        </p:txBody>
      </p:sp>
      <p:sp>
        <p:nvSpPr>
          <p:cNvPr id="5" name="Text 3"/>
          <p:cNvSpPr txBox="1"/>
          <p:nvPr/>
        </p:nvSpPr>
        <p:spPr>
          <a:xfrm>
            <a:off x="548640" y="1280160"/>
            <a:ext cx="10972800" cy="457200"/>
          </a:xfrm>
          <a:prstGeom prst="rect">
            <a:avLst/>
          </a:prstGeom>
          <a:noFill/>
          <a:ln/>
        </p:spPr>
        <p:txBody>
          <a:bodyPr wrap="square" lIns="0" tIns="0" rIns="0" bIns="0" rtlCol="0" anchor="t"/>
          <a:lstStyle/>
          <a:p>
            <a:pPr indent="0" marL="0">
              <a:buNone/>
            </a:pPr>
            <a:r>
              <a:rPr lang="en-US" sz="1700" dirty="0">
                <a:solidFill>
                  <a:schemeClr val="tx1"/>
                </a:solidFill>
                <a:latin typeface="Arial" pitchFamily="34" charset="0"/>
                <a:ea typeface="Arial" pitchFamily="34" charset="-122"/>
                <a:cs typeface="Arial" pitchFamily="34" charset="-120"/>
              </a:rPr>
              <a:t>Prends une réplique toxique et fais-la monter dans la pyramide, un étage à la fois.</a:t>
            </a:r>
            <a:endParaRPr lang="en-US" sz="1700" dirty="0"/>
          </a:p>
        </p:txBody>
      </p:sp>
      <p:sp>
        <p:nvSpPr>
          <p:cNvPr id="6" name="Shape 4"/>
          <p:cNvSpPr/>
          <p:nvPr/>
        </p:nvSpPr>
        <p:spPr>
          <a:xfrm>
            <a:off x="548640" y="4983480"/>
            <a:ext cx="6949440" cy="914400"/>
          </a:xfrm>
          <a:prstGeom prst="rect">
            <a:avLst/>
          </a:prstGeom>
          <a:solidFill>
            <a:schemeClr val="tx1"/>
          </a:solidFill>
          <a:ln/>
        </p:spPr>
      </p:sp>
      <p:sp>
        <p:nvSpPr>
          <p:cNvPr id="7" name="Text 5"/>
          <p:cNvSpPr txBox="1"/>
          <p:nvPr/>
        </p:nvSpPr>
        <p:spPr>
          <a:xfrm>
            <a:off x="685800" y="4983480"/>
            <a:ext cx="640080" cy="914400"/>
          </a:xfrm>
          <a:prstGeom prst="rect">
            <a:avLst/>
          </a:prstGeom>
          <a:noFill/>
          <a:ln/>
        </p:spPr>
        <p:txBody>
          <a:bodyPr wrap="square" lIns="0" tIns="0" rIns="0" bIns="0" rtlCol="0" anchor="ctr"/>
          <a:lstStyle/>
          <a:p>
            <a:pPr indent="0" marL="0">
              <a:buNone/>
            </a:pPr>
            <a:r>
              <a:rPr lang="en-US" sz="3000" dirty="0">
                <a:solidFill>
                  <a:schemeClr val="bg2"/>
                </a:solidFill>
                <a:latin typeface="Rockwell Extra Bold" pitchFamily="34" charset="0"/>
                <a:ea typeface="Rockwell Extra Bold" pitchFamily="34" charset="-122"/>
                <a:cs typeface="Rockwell Extra Bold" pitchFamily="34" charset="-120"/>
              </a:rPr>
              <a:t>0</a:t>
            </a:r>
            <a:endParaRPr lang="en-US" sz="3000" dirty="0"/>
          </a:p>
        </p:txBody>
      </p:sp>
      <p:sp>
        <p:nvSpPr>
          <p:cNvPr id="8" name="Text 6"/>
          <p:cNvSpPr txBox="1"/>
          <p:nvPr/>
        </p:nvSpPr>
        <p:spPr>
          <a:xfrm>
            <a:off x="1371600" y="5029200"/>
            <a:ext cx="5989320" cy="822960"/>
          </a:xfrm>
          <a:prstGeom prst="rect">
            <a:avLst/>
          </a:prstGeom>
          <a:noFill/>
          <a:ln/>
        </p:spPr>
        <p:txBody>
          <a:bodyPr wrap="square" lIns="0" tIns="0" rIns="0" bIns="0" rtlCol="0" anchor="ctr"/>
          <a:lstStyle/>
          <a:p>
            <a:pPr indent="0" marL="0">
              <a:buNone/>
            </a:pPr>
            <a:r>
              <a:rPr lang="en-US" sz="1500" dirty="0">
                <a:solidFill>
                  <a:schemeClr val="bg2"/>
                </a:solidFill>
                <a:latin typeface="Arial" pitchFamily="34" charset="0"/>
                <a:ea typeface="Arial" pitchFamily="34" charset="-122"/>
                <a:cs typeface="Arial" pitchFamily="34" charset="-120"/>
              </a:rPr>
              <a:t>« T'es vraiment déconnecté si tu penses que le télétravail marche. »</a:t>
            </a:r>
            <a:endParaRPr lang="en-US" sz="1500" dirty="0"/>
          </a:p>
        </p:txBody>
      </p:sp>
      <p:sp>
        <p:nvSpPr>
          <p:cNvPr id="9" name="Shape 7"/>
          <p:cNvSpPr/>
          <p:nvPr/>
        </p:nvSpPr>
        <p:spPr>
          <a:xfrm>
            <a:off x="548640" y="3931920"/>
            <a:ext cx="7315200" cy="914400"/>
          </a:xfrm>
          <a:prstGeom prst="rect">
            <a:avLst/>
          </a:prstGeom>
          <a:solidFill>
            <a:schemeClr val="accent2"/>
          </a:solidFill>
          <a:ln/>
        </p:spPr>
      </p:sp>
      <p:sp>
        <p:nvSpPr>
          <p:cNvPr id="10" name="Text 8"/>
          <p:cNvSpPr txBox="1"/>
          <p:nvPr/>
        </p:nvSpPr>
        <p:spPr>
          <a:xfrm>
            <a:off x="685800" y="3931920"/>
            <a:ext cx="640080" cy="914400"/>
          </a:xfrm>
          <a:prstGeom prst="rect">
            <a:avLst/>
          </a:prstGeom>
          <a:noFill/>
          <a:ln/>
        </p:spPr>
        <p:txBody>
          <a:bodyPr wrap="square" lIns="0" tIns="0" rIns="0" bIns="0" rtlCol="0" anchor="ctr"/>
          <a:lstStyle/>
          <a:p>
            <a:pPr indent="0" marL="0">
              <a:buNone/>
            </a:pPr>
            <a:r>
              <a:rPr lang="en-US" sz="3000" dirty="0">
                <a:solidFill>
                  <a:schemeClr val="tx1"/>
                </a:solidFill>
                <a:latin typeface="Rockwell Extra Bold" pitchFamily="34" charset="0"/>
                <a:ea typeface="Rockwell Extra Bold" pitchFamily="34" charset="-122"/>
                <a:cs typeface="Rockwell Extra Bold" pitchFamily="34" charset="-120"/>
              </a:rPr>
              <a:t>3</a:t>
            </a:r>
            <a:endParaRPr lang="en-US" sz="3000" dirty="0"/>
          </a:p>
        </p:txBody>
      </p:sp>
      <p:sp>
        <p:nvSpPr>
          <p:cNvPr id="11" name="Text 9"/>
          <p:cNvSpPr txBox="1"/>
          <p:nvPr/>
        </p:nvSpPr>
        <p:spPr>
          <a:xfrm>
            <a:off x="1371600" y="3977640"/>
            <a:ext cx="6355080" cy="822960"/>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 Non, le télétravail ne marche pas. »</a:t>
            </a:r>
            <a:endParaRPr lang="en-US" sz="1500" dirty="0"/>
          </a:p>
        </p:txBody>
      </p:sp>
      <p:sp>
        <p:nvSpPr>
          <p:cNvPr id="12" name="Shape 10"/>
          <p:cNvSpPr/>
          <p:nvPr/>
        </p:nvSpPr>
        <p:spPr>
          <a:xfrm>
            <a:off x="548640" y="2880360"/>
            <a:ext cx="7680960" cy="914400"/>
          </a:xfrm>
          <a:prstGeom prst="rect">
            <a:avLst/>
          </a:prstGeom>
          <a:solidFill>
            <a:schemeClr val="accent1"/>
          </a:solidFill>
          <a:ln/>
        </p:spPr>
      </p:sp>
      <p:sp>
        <p:nvSpPr>
          <p:cNvPr id="13" name="Text 11"/>
          <p:cNvSpPr txBox="1"/>
          <p:nvPr/>
        </p:nvSpPr>
        <p:spPr>
          <a:xfrm>
            <a:off x="685800" y="2880360"/>
            <a:ext cx="640080" cy="914400"/>
          </a:xfrm>
          <a:prstGeom prst="rect">
            <a:avLst/>
          </a:prstGeom>
          <a:noFill/>
          <a:ln/>
        </p:spPr>
        <p:txBody>
          <a:bodyPr wrap="square" lIns="0" tIns="0" rIns="0" bIns="0" rtlCol="0" anchor="ctr"/>
          <a:lstStyle/>
          <a:p>
            <a:pPr indent="0" marL="0">
              <a:buNone/>
            </a:pPr>
            <a:r>
              <a:rPr lang="en-US" sz="3000" dirty="0">
                <a:solidFill>
                  <a:schemeClr val="bg2"/>
                </a:solidFill>
                <a:latin typeface="Rockwell Extra Bold" pitchFamily="34" charset="0"/>
                <a:ea typeface="Rockwell Extra Bold" pitchFamily="34" charset="-122"/>
                <a:cs typeface="Rockwell Extra Bold" pitchFamily="34" charset="-120"/>
              </a:rPr>
              <a:t>4</a:t>
            </a:r>
            <a:endParaRPr lang="en-US" sz="3000" dirty="0"/>
          </a:p>
        </p:txBody>
      </p:sp>
      <p:sp>
        <p:nvSpPr>
          <p:cNvPr id="14" name="Text 12"/>
          <p:cNvSpPr txBox="1"/>
          <p:nvPr/>
        </p:nvSpPr>
        <p:spPr>
          <a:xfrm>
            <a:off x="1371600" y="2926080"/>
            <a:ext cx="6720840" cy="822960"/>
          </a:xfrm>
          <a:prstGeom prst="rect">
            <a:avLst/>
          </a:prstGeom>
          <a:noFill/>
          <a:ln/>
        </p:spPr>
        <p:txBody>
          <a:bodyPr wrap="square" lIns="0" tIns="0" rIns="0" bIns="0" rtlCol="0" anchor="ctr"/>
          <a:lstStyle/>
          <a:p>
            <a:pPr indent="0" marL="0">
              <a:buNone/>
            </a:pPr>
            <a:r>
              <a:rPr lang="en-US" sz="1500" dirty="0">
                <a:solidFill>
                  <a:schemeClr val="bg2"/>
                </a:solidFill>
                <a:latin typeface="Arial" pitchFamily="34" charset="0"/>
                <a:ea typeface="Arial" pitchFamily="34" charset="-122"/>
                <a:cs typeface="Arial" pitchFamily="34" charset="-120"/>
              </a:rPr>
              <a:t>« Le télétravail isole les nouveaux employés : ils apprennent moins vite sans collègues autour. »</a:t>
            </a:r>
            <a:endParaRPr lang="en-US" sz="1500" dirty="0"/>
          </a:p>
        </p:txBody>
      </p:sp>
      <p:sp>
        <p:nvSpPr>
          <p:cNvPr id="15" name="Shape 13"/>
          <p:cNvSpPr/>
          <p:nvPr/>
        </p:nvSpPr>
        <p:spPr>
          <a:xfrm>
            <a:off x="548640" y="1828800"/>
            <a:ext cx="8046720" cy="914400"/>
          </a:xfrm>
          <a:prstGeom prst="rect">
            <a:avLst/>
          </a:prstGeom>
          <a:solidFill>
            <a:schemeClr val="accent1"/>
          </a:solidFill>
          <a:ln/>
        </p:spPr>
      </p:sp>
      <p:sp>
        <p:nvSpPr>
          <p:cNvPr id="16" name="Text 14"/>
          <p:cNvSpPr txBox="1"/>
          <p:nvPr/>
        </p:nvSpPr>
        <p:spPr>
          <a:xfrm>
            <a:off x="685800" y="1828800"/>
            <a:ext cx="640080" cy="914400"/>
          </a:xfrm>
          <a:prstGeom prst="rect">
            <a:avLst/>
          </a:prstGeom>
          <a:noFill/>
          <a:ln/>
        </p:spPr>
        <p:txBody>
          <a:bodyPr wrap="square" lIns="0" tIns="0" rIns="0" bIns="0" rtlCol="0" anchor="ctr"/>
          <a:lstStyle/>
          <a:p>
            <a:pPr indent="0" marL="0">
              <a:buNone/>
            </a:pPr>
            <a:r>
              <a:rPr lang="en-US" sz="3000" dirty="0">
                <a:solidFill>
                  <a:schemeClr val="bg2"/>
                </a:solidFill>
                <a:latin typeface="Rockwell Extra Bold" pitchFamily="34" charset="0"/>
                <a:ea typeface="Rockwell Extra Bold" pitchFamily="34" charset="-122"/>
                <a:cs typeface="Rockwell Extra Bold" pitchFamily="34" charset="-120"/>
              </a:rPr>
              <a:t>6</a:t>
            </a:r>
            <a:endParaRPr lang="en-US" sz="3000" dirty="0"/>
          </a:p>
        </p:txBody>
      </p:sp>
      <p:sp>
        <p:nvSpPr>
          <p:cNvPr id="17" name="Text 15"/>
          <p:cNvSpPr txBox="1"/>
          <p:nvPr/>
        </p:nvSpPr>
        <p:spPr>
          <a:xfrm>
            <a:off x="1371600" y="1874520"/>
            <a:ext cx="7086600" cy="822960"/>
          </a:xfrm>
          <a:prstGeom prst="rect">
            <a:avLst/>
          </a:prstGeom>
          <a:noFill/>
          <a:ln/>
        </p:spPr>
        <p:txBody>
          <a:bodyPr wrap="square" lIns="0" tIns="0" rIns="0" bIns="0" rtlCol="0" anchor="ctr"/>
          <a:lstStyle/>
          <a:p>
            <a:pPr indent="0" marL="0">
              <a:buNone/>
            </a:pPr>
            <a:r>
              <a:rPr lang="en-US" sz="1300" dirty="0">
                <a:solidFill>
                  <a:schemeClr val="bg2"/>
                </a:solidFill>
                <a:latin typeface="Arial" pitchFamily="34" charset="0"/>
                <a:ea typeface="Arial" pitchFamily="34" charset="-122"/>
                <a:cs typeface="Arial" pitchFamily="34" charset="-120"/>
              </a:rPr>
              <a:t>« Tu dis que le télétravail rend plus productif. C'est vrai pour le travail concentré. Mais si on gardait deux jours sur place pour l'accueil et la collaboration, ton argument tiendrait-il encore? »</a:t>
            </a:r>
            <a:endParaRPr lang="en-US" sz="1300" dirty="0"/>
          </a:p>
        </p:txBody>
      </p:sp>
      <p:sp>
        <p:nvSpPr>
          <p:cNvPr id="18" name="Shape 16"/>
          <p:cNvSpPr/>
          <p:nvPr/>
        </p:nvSpPr>
        <p:spPr>
          <a:xfrm>
            <a:off x="8595360" y="1965960"/>
            <a:ext cx="3017520" cy="3931920"/>
          </a:xfrm>
          <a:prstGeom prst="rect">
            <a:avLst/>
          </a:prstGeom>
          <a:solidFill>
            <a:schemeClr val="bg1"/>
          </a:solidFill>
          <a:ln w="25400">
            <a:solidFill>
              <a:schemeClr val="tx1"/>
            </a:solidFill>
            <a:prstDash val="solid"/>
          </a:ln>
        </p:spPr>
      </p:sp>
      <p:sp>
        <p:nvSpPr>
          <p:cNvPr id="19" name="Text 17"/>
          <p:cNvSpPr txBox="1"/>
          <p:nvPr/>
        </p:nvSpPr>
        <p:spPr>
          <a:xfrm>
            <a:off x="8778240" y="2103120"/>
            <a:ext cx="2743200" cy="457200"/>
          </a:xfrm>
          <a:prstGeom prst="rect">
            <a:avLst/>
          </a:prstGeom>
          <a:noFill/>
          <a:ln/>
        </p:spPr>
        <p:txBody>
          <a:bodyPr wrap="square" lIns="0" tIns="0" rIns="0" bIns="0" rtlCol="0" anchor="t"/>
          <a:lstStyle/>
          <a:p>
            <a:pPr indent="0" marL="0">
              <a:buNone/>
            </a:pPr>
            <a:r>
              <a:rPr lang="en-US" sz="1800" dirty="0">
                <a:solidFill>
                  <a:schemeClr val="accent1"/>
                </a:solidFill>
                <a:latin typeface="Rockwell Extra Bold" pitchFamily="34" charset="0"/>
                <a:ea typeface="Rockwell Extra Bold" pitchFamily="34" charset="-122"/>
                <a:cs typeface="Rockwell Extra Bold" pitchFamily="34" charset="-120"/>
              </a:rPr>
              <a:t>Consigne</a:t>
            </a:r>
            <a:endParaRPr lang="en-US" sz="1800" dirty="0"/>
          </a:p>
        </p:txBody>
      </p:sp>
      <p:sp>
        <p:nvSpPr>
          <p:cNvPr id="20" name="Text 18"/>
          <p:cNvSpPr txBox="1"/>
          <p:nvPr/>
        </p:nvSpPr>
        <p:spPr>
          <a:xfrm>
            <a:off x="8778240" y="2606040"/>
            <a:ext cx="2697480" cy="3200400"/>
          </a:xfrm>
          <a:prstGeom prst="rect">
            <a:avLst/>
          </a:prstGeom>
          <a:noFill/>
          <a:ln/>
        </p:spPr>
        <p:txBody>
          <a:bodyPr wrap="square" lIns="0" tIns="0" rIns="0" bIns="0" rtlCol="0" anchor="t"/>
          <a:lstStyle/>
          <a:p>
            <a:pPr indent="0" marL="0">
              <a:buNone/>
            </a:pPr>
            <a:r>
              <a:rPr lang="en-US" sz="1500" dirty="0">
                <a:solidFill>
                  <a:schemeClr val="tx1"/>
                </a:solidFill>
                <a:latin typeface="Arial" pitchFamily="34" charset="0"/>
                <a:ea typeface="Arial" pitchFamily="34" charset="-122"/>
                <a:cs typeface="Arial" pitchFamily="34" charset="-120"/>
              </a:rPr>
              <a:t>En équipe de 2, choisissez une réplique entendue en ligne, au travail ou en famille. Réécrivez-la aux étages 3, 4 et 6. Lisez l'étage 0 et l'étage 6 à voix haute.</a:t>
            </a:r>
            <a:endParaRPr lang="en-US" sz="15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1"/>
                </a:solidFill>
                <a:latin typeface="Arial"/>
                <a:ea typeface="Arial"/>
                <a:cs typeface="Aria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lIns="0" tIns="0" rIns="0" bIns="0" rtlCol="0" anchor="t"/>
          <a:lstStyle/>
          <a:p>
            <a:pPr algn="l" indent="0" marL="0">
              <a:buNone/>
            </a:pPr>
            <a:r>
              <a:rPr lang="en-US" sz="3600" dirty="0">
                <a:solidFill>
                  <a:schemeClr val="accent1"/>
                </a:solidFill>
              </a:rPr>
              <a:t>Atelier 2 · L'homme d'acier signé</a:t>
            </a:r>
            <a:endParaRPr lang="en-US" sz="3600" dirty="0"/>
          </a:p>
        </p:txBody>
      </p:sp>
      <p:sp>
        <p:nvSpPr>
          <p:cNvPr id="3" name="Shape 1"/>
          <p:cNvSpPr/>
          <p:nvPr/>
        </p:nvSpPr>
        <p:spPr>
          <a:xfrm>
            <a:off x="9966960" y="411480"/>
            <a:ext cx="1645920" cy="457200"/>
          </a:xfrm>
          <a:prstGeom prst="roundRect">
            <a:avLst>
              <a:gd name="adj" fmla="val 50000"/>
            </a:avLst>
          </a:prstGeom>
          <a:solidFill>
            <a:schemeClr val="tx1"/>
          </a:solidFill>
          <a:ln/>
        </p:spPr>
      </p:sp>
      <p:sp>
        <p:nvSpPr>
          <p:cNvPr id="4" name="Text 2"/>
          <p:cNvSpPr txBox="1"/>
          <p:nvPr/>
        </p:nvSpPr>
        <p:spPr>
          <a:xfrm>
            <a:off x="9966960" y="411480"/>
            <a:ext cx="1645920" cy="457200"/>
          </a:xfrm>
          <a:prstGeom prst="rect">
            <a:avLst/>
          </a:prstGeom>
          <a:noFill/>
          <a:ln/>
        </p:spPr>
        <p:txBody>
          <a:bodyPr wrap="square" lIns="0" tIns="0" rIns="0" bIns="0" rtlCol="0" anchor="ctr"/>
          <a:lstStyle/>
          <a:p>
            <a:pPr algn="ctr" indent="0" marL="0">
              <a:buNone/>
            </a:pPr>
            <a:r>
              <a:rPr lang="en-US" sz="1400" b="1" dirty="0">
                <a:solidFill>
                  <a:schemeClr val="bg2"/>
                </a:solidFill>
              </a:rPr>
              <a:t>⏱ 15 min</a:t>
            </a:r>
            <a:endParaRPr lang="en-US" sz="1400" dirty="0"/>
          </a:p>
        </p:txBody>
      </p:sp>
      <p:sp>
        <p:nvSpPr>
          <p:cNvPr id="5" name="Shape 3"/>
          <p:cNvSpPr/>
          <p:nvPr/>
        </p:nvSpPr>
        <p:spPr>
          <a:xfrm>
            <a:off x="548640" y="1417320"/>
            <a:ext cx="2651760" cy="3291840"/>
          </a:xfrm>
          <a:prstGeom prst="rect">
            <a:avLst/>
          </a:prstGeom>
          <a:solidFill>
            <a:schemeClr val="bg1"/>
          </a:solidFill>
          <a:ln w="25400">
            <a:solidFill>
              <a:schemeClr val="tx1"/>
            </a:solidFill>
            <a:prstDash val="solid"/>
          </a:ln>
        </p:spPr>
      </p:sp>
      <p:sp>
        <p:nvSpPr>
          <p:cNvPr id="6" name="Shape 4"/>
          <p:cNvSpPr/>
          <p:nvPr/>
        </p:nvSpPr>
        <p:spPr>
          <a:xfrm>
            <a:off x="731520" y="1600200"/>
            <a:ext cx="548640" cy="548640"/>
          </a:xfrm>
          <a:prstGeom prst="ellipse">
            <a:avLst/>
          </a:prstGeom>
          <a:solidFill>
            <a:schemeClr val="accent1"/>
          </a:solidFill>
          <a:ln w="19050">
            <a:solidFill>
              <a:schemeClr val="tx1"/>
            </a:solidFill>
            <a:prstDash val="solid"/>
          </a:ln>
        </p:spPr>
      </p:sp>
      <p:sp>
        <p:nvSpPr>
          <p:cNvPr id="7" name="Text 5"/>
          <p:cNvSpPr txBox="1"/>
          <p:nvPr/>
        </p:nvSpPr>
        <p:spPr>
          <a:xfrm>
            <a:off x="731520" y="1600200"/>
            <a:ext cx="548640" cy="548640"/>
          </a:xfrm>
          <a:prstGeom prst="rect">
            <a:avLst/>
          </a:prstGeom>
          <a:noFill/>
          <a:ln/>
        </p:spPr>
        <p:txBody>
          <a:bodyPr wrap="square" lIns="0" tIns="0" rIns="0" bIns="0" rtlCol="0" anchor="ctr"/>
          <a:lstStyle/>
          <a:p>
            <a:pPr algn="ctr" indent="0" marL="0">
              <a:buNone/>
            </a:pPr>
            <a:r>
              <a:rPr lang="en-US" sz="2000" dirty="0">
                <a:solidFill>
                  <a:schemeClr val="bg2"/>
                </a:solidFill>
                <a:latin typeface="Rockwell Extra Bold" pitchFamily="34" charset="0"/>
                <a:ea typeface="Rockwell Extra Bold" pitchFamily="34" charset="-122"/>
                <a:cs typeface="Rockwell Extra Bold" pitchFamily="34" charset="-120"/>
              </a:rPr>
              <a:t>1</a:t>
            </a:r>
            <a:endParaRPr lang="en-US" sz="2000" dirty="0"/>
          </a:p>
        </p:txBody>
      </p:sp>
      <p:sp>
        <p:nvSpPr>
          <p:cNvPr id="8" name="Text 6"/>
          <p:cNvSpPr txBox="1"/>
          <p:nvPr/>
        </p:nvSpPr>
        <p:spPr>
          <a:xfrm>
            <a:off x="1417320" y="1645920"/>
            <a:ext cx="1691640" cy="457200"/>
          </a:xfrm>
          <a:prstGeom prst="rect">
            <a:avLst/>
          </a:prstGeom>
          <a:noFill/>
          <a:ln/>
        </p:spPr>
        <p:txBody>
          <a:bodyPr wrap="square" lIns="0" tIns="0" rIns="0" bIns="0" rtlCol="0" anchor="t"/>
          <a:lstStyle/>
          <a:p>
            <a:pPr indent="0" marL="0">
              <a:buNone/>
            </a:pPr>
            <a:r>
              <a:rPr lang="en-US" sz="2000" dirty="0">
                <a:solidFill>
                  <a:schemeClr val="accent1"/>
                </a:solidFill>
                <a:latin typeface="Rockwell Extra Bold" pitchFamily="34" charset="0"/>
                <a:ea typeface="Rockwell Extra Bold" pitchFamily="34" charset="-122"/>
                <a:cs typeface="Rockwell Extra Bold" pitchFamily="34" charset="-120"/>
              </a:rPr>
              <a:t>Écoute</a:t>
            </a:r>
            <a:endParaRPr lang="en-US" sz="2000" dirty="0"/>
          </a:p>
        </p:txBody>
      </p:sp>
      <p:sp>
        <p:nvSpPr>
          <p:cNvPr id="9" name="Text 7"/>
          <p:cNvSpPr txBox="1"/>
          <p:nvPr/>
        </p:nvSpPr>
        <p:spPr>
          <a:xfrm>
            <a:off x="731520" y="2377440"/>
            <a:ext cx="2286000" cy="2194560"/>
          </a:xfrm>
          <a:prstGeom prst="rect">
            <a:avLst/>
          </a:prstGeom>
          <a:noFill/>
          <a:ln/>
        </p:spPr>
        <p:txBody>
          <a:bodyPr wrap="square" lIns="0" tIns="0" rIns="0" bIns="0" rtlCol="0" anchor="t"/>
          <a:lstStyle/>
          <a:p>
            <a:pPr indent="0" marL="0">
              <a:buNone/>
            </a:pPr>
            <a:r>
              <a:rPr lang="en-US" sz="1500" dirty="0">
                <a:solidFill>
                  <a:schemeClr val="tx1"/>
                </a:solidFill>
                <a:latin typeface="Arial" pitchFamily="34" charset="0"/>
                <a:ea typeface="Arial" pitchFamily="34" charset="-122"/>
                <a:cs typeface="Arial" pitchFamily="34" charset="-120"/>
              </a:rPr>
              <a:t>A défend sa position pendant 2 minutes. B ne parle pas, il prend des notes.</a:t>
            </a:r>
            <a:endParaRPr lang="en-US" sz="1500" dirty="0"/>
          </a:p>
        </p:txBody>
      </p:sp>
      <p:sp>
        <p:nvSpPr>
          <p:cNvPr id="10" name="Shape 8"/>
          <p:cNvSpPr/>
          <p:nvPr/>
        </p:nvSpPr>
        <p:spPr>
          <a:xfrm>
            <a:off x="3355848" y="1417320"/>
            <a:ext cx="2651760" cy="3291840"/>
          </a:xfrm>
          <a:prstGeom prst="rect">
            <a:avLst/>
          </a:prstGeom>
          <a:solidFill>
            <a:schemeClr val="bg1"/>
          </a:solidFill>
          <a:ln w="25400">
            <a:solidFill>
              <a:schemeClr val="tx1"/>
            </a:solidFill>
            <a:prstDash val="solid"/>
          </a:ln>
        </p:spPr>
      </p:sp>
      <p:sp>
        <p:nvSpPr>
          <p:cNvPr id="11" name="Shape 9"/>
          <p:cNvSpPr/>
          <p:nvPr/>
        </p:nvSpPr>
        <p:spPr>
          <a:xfrm>
            <a:off x="3538728" y="1600200"/>
            <a:ext cx="548640" cy="548640"/>
          </a:xfrm>
          <a:prstGeom prst="ellipse">
            <a:avLst/>
          </a:prstGeom>
          <a:solidFill>
            <a:schemeClr val="accent1"/>
          </a:solidFill>
          <a:ln w="19050">
            <a:solidFill>
              <a:schemeClr val="tx1"/>
            </a:solidFill>
            <a:prstDash val="solid"/>
          </a:ln>
        </p:spPr>
      </p:sp>
      <p:sp>
        <p:nvSpPr>
          <p:cNvPr id="12" name="Text 10"/>
          <p:cNvSpPr txBox="1"/>
          <p:nvPr/>
        </p:nvSpPr>
        <p:spPr>
          <a:xfrm>
            <a:off x="3538728" y="1600200"/>
            <a:ext cx="548640" cy="548640"/>
          </a:xfrm>
          <a:prstGeom prst="rect">
            <a:avLst/>
          </a:prstGeom>
          <a:noFill/>
          <a:ln/>
        </p:spPr>
        <p:txBody>
          <a:bodyPr wrap="square" lIns="0" tIns="0" rIns="0" bIns="0" rtlCol="0" anchor="ctr"/>
          <a:lstStyle/>
          <a:p>
            <a:pPr algn="ctr" indent="0" marL="0">
              <a:buNone/>
            </a:pPr>
            <a:r>
              <a:rPr lang="en-US" sz="2000" dirty="0">
                <a:solidFill>
                  <a:schemeClr val="bg2"/>
                </a:solidFill>
                <a:latin typeface="Rockwell Extra Bold" pitchFamily="34" charset="0"/>
                <a:ea typeface="Rockwell Extra Bold" pitchFamily="34" charset="-122"/>
                <a:cs typeface="Rockwell Extra Bold" pitchFamily="34" charset="-120"/>
              </a:rPr>
              <a:t>2</a:t>
            </a:r>
            <a:endParaRPr lang="en-US" sz="2000" dirty="0"/>
          </a:p>
        </p:txBody>
      </p:sp>
      <p:sp>
        <p:nvSpPr>
          <p:cNvPr id="13" name="Text 11"/>
          <p:cNvSpPr txBox="1"/>
          <p:nvPr/>
        </p:nvSpPr>
        <p:spPr>
          <a:xfrm>
            <a:off x="4224528" y="1645920"/>
            <a:ext cx="1691640" cy="457200"/>
          </a:xfrm>
          <a:prstGeom prst="rect">
            <a:avLst/>
          </a:prstGeom>
          <a:noFill/>
          <a:ln/>
        </p:spPr>
        <p:txBody>
          <a:bodyPr wrap="square" lIns="0" tIns="0" rIns="0" bIns="0" rtlCol="0" anchor="t"/>
          <a:lstStyle/>
          <a:p>
            <a:pPr indent="0" marL="0">
              <a:buNone/>
            </a:pPr>
            <a:r>
              <a:rPr lang="en-US" sz="2000" dirty="0">
                <a:solidFill>
                  <a:schemeClr val="accent1"/>
                </a:solidFill>
                <a:latin typeface="Rockwell Extra Bold" pitchFamily="34" charset="0"/>
                <a:ea typeface="Rockwell Extra Bold" pitchFamily="34" charset="-122"/>
                <a:cs typeface="Rockwell Extra Bold" pitchFamily="34" charset="-120"/>
              </a:rPr>
              <a:t>Écris</a:t>
            </a:r>
            <a:endParaRPr lang="en-US" sz="2000" dirty="0"/>
          </a:p>
        </p:txBody>
      </p:sp>
      <p:sp>
        <p:nvSpPr>
          <p:cNvPr id="14" name="Text 12"/>
          <p:cNvSpPr txBox="1"/>
          <p:nvPr/>
        </p:nvSpPr>
        <p:spPr>
          <a:xfrm>
            <a:off x="3538728" y="2377440"/>
            <a:ext cx="2286000" cy="2194560"/>
          </a:xfrm>
          <a:prstGeom prst="rect">
            <a:avLst/>
          </a:prstGeom>
          <a:noFill/>
          <a:ln/>
        </p:spPr>
        <p:txBody>
          <a:bodyPr wrap="square" lIns="0" tIns="0" rIns="0" bIns="0" rtlCol="0" anchor="t"/>
          <a:lstStyle/>
          <a:p>
            <a:pPr indent="0" marL="0">
              <a:buNone/>
            </a:pPr>
            <a:r>
              <a:rPr lang="en-US" sz="1500" dirty="0">
                <a:solidFill>
                  <a:schemeClr val="tx1"/>
                </a:solidFill>
                <a:latin typeface="Arial" pitchFamily="34" charset="0"/>
                <a:ea typeface="Arial" pitchFamily="34" charset="-122"/>
                <a:cs typeface="Arial" pitchFamily="34" charset="-120"/>
              </a:rPr>
              <a:t>B rédige en 50 mots la meilleure version possible de l'argument de A. Meilleure que l'original, si possible.</a:t>
            </a:r>
            <a:endParaRPr lang="en-US" sz="1500" dirty="0"/>
          </a:p>
        </p:txBody>
      </p:sp>
      <p:sp>
        <p:nvSpPr>
          <p:cNvPr id="15" name="Shape 13"/>
          <p:cNvSpPr/>
          <p:nvPr/>
        </p:nvSpPr>
        <p:spPr>
          <a:xfrm>
            <a:off x="6163056" y="1417320"/>
            <a:ext cx="2651760" cy="3291840"/>
          </a:xfrm>
          <a:prstGeom prst="rect">
            <a:avLst/>
          </a:prstGeom>
          <a:solidFill>
            <a:schemeClr val="accent2"/>
          </a:solidFill>
          <a:ln w="25400">
            <a:solidFill>
              <a:schemeClr val="tx1"/>
            </a:solidFill>
            <a:prstDash val="solid"/>
          </a:ln>
        </p:spPr>
      </p:sp>
      <p:sp>
        <p:nvSpPr>
          <p:cNvPr id="16" name="Shape 14"/>
          <p:cNvSpPr/>
          <p:nvPr/>
        </p:nvSpPr>
        <p:spPr>
          <a:xfrm>
            <a:off x="6345936" y="1600200"/>
            <a:ext cx="548640" cy="548640"/>
          </a:xfrm>
          <a:prstGeom prst="ellipse">
            <a:avLst/>
          </a:prstGeom>
          <a:solidFill>
            <a:schemeClr val="accent1"/>
          </a:solidFill>
          <a:ln w="19050">
            <a:solidFill>
              <a:schemeClr val="tx1"/>
            </a:solidFill>
            <a:prstDash val="solid"/>
          </a:ln>
        </p:spPr>
      </p:sp>
      <p:sp>
        <p:nvSpPr>
          <p:cNvPr id="17" name="Text 15"/>
          <p:cNvSpPr txBox="1"/>
          <p:nvPr/>
        </p:nvSpPr>
        <p:spPr>
          <a:xfrm>
            <a:off x="6345936" y="1600200"/>
            <a:ext cx="548640" cy="548640"/>
          </a:xfrm>
          <a:prstGeom prst="rect">
            <a:avLst/>
          </a:prstGeom>
          <a:noFill/>
          <a:ln/>
        </p:spPr>
        <p:txBody>
          <a:bodyPr wrap="square" lIns="0" tIns="0" rIns="0" bIns="0" rtlCol="0" anchor="ctr"/>
          <a:lstStyle/>
          <a:p>
            <a:pPr algn="ctr" indent="0" marL="0">
              <a:buNone/>
            </a:pPr>
            <a:r>
              <a:rPr lang="en-US" sz="2000" dirty="0">
                <a:solidFill>
                  <a:schemeClr val="bg2"/>
                </a:solidFill>
                <a:latin typeface="Rockwell Extra Bold" pitchFamily="34" charset="0"/>
                <a:ea typeface="Rockwell Extra Bold" pitchFamily="34" charset="-122"/>
                <a:cs typeface="Rockwell Extra Bold" pitchFamily="34" charset="-120"/>
              </a:rPr>
              <a:t>3</a:t>
            </a:r>
            <a:endParaRPr lang="en-US" sz="2000" dirty="0"/>
          </a:p>
        </p:txBody>
      </p:sp>
      <p:sp>
        <p:nvSpPr>
          <p:cNvPr id="18" name="Text 16"/>
          <p:cNvSpPr txBox="1"/>
          <p:nvPr/>
        </p:nvSpPr>
        <p:spPr>
          <a:xfrm>
            <a:off x="7031736" y="1645920"/>
            <a:ext cx="1691640" cy="457200"/>
          </a:xfrm>
          <a:prstGeom prst="rect">
            <a:avLst/>
          </a:prstGeom>
          <a:noFill/>
          <a:ln/>
        </p:spPr>
        <p:txBody>
          <a:bodyPr wrap="square" lIns="0" tIns="0" rIns="0" bIns="0" rtlCol="0" anchor="t"/>
          <a:lstStyle/>
          <a:p>
            <a:pPr indent="0" marL="0">
              <a:buNone/>
            </a:pPr>
            <a:r>
              <a:rPr lang="en-US" sz="2000" dirty="0">
                <a:solidFill>
                  <a:schemeClr val="accent1"/>
                </a:solidFill>
                <a:latin typeface="Rockwell Extra Bold" pitchFamily="34" charset="0"/>
                <a:ea typeface="Rockwell Extra Bold" pitchFamily="34" charset="-122"/>
                <a:cs typeface="Rockwell Extra Bold" pitchFamily="34" charset="-120"/>
              </a:rPr>
              <a:t>Signe</a:t>
            </a:r>
            <a:endParaRPr lang="en-US" sz="2000" dirty="0"/>
          </a:p>
        </p:txBody>
      </p:sp>
      <p:sp>
        <p:nvSpPr>
          <p:cNvPr id="19" name="Text 17"/>
          <p:cNvSpPr txBox="1"/>
          <p:nvPr/>
        </p:nvSpPr>
        <p:spPr>
          <a:xfrm>
            <a:off x="6345936" y="2377440"/>
            <a:ext cx="2286000" cy="2194560"/>
          </a:xfrm>
          <a:prstGeom prst="rect">
            <a:avLst/>
          </a:prstGeom>
          <a:noFill/>
          <a:ln/>
        </p:spPr>
        <p:txBody>
          <a:bodyPr wrap="square" lIns="0" tIns="0" rIns="0" bIns="0" rtlCol="0" anchor="t"/>
          <a:lstStyle/>
          <a:p>
            <a:pPr indent="0" marL="0">
              <a:buNone/>
            </a:pPr>
            <a:r>
              <a:rPr lang="en-US" sz="1500" dirty="0">
                <a:solidFill>
                  <a:schemeClr val="tx1"/>
                </a:solidFill>
                <a:latin typeface="Arial" pitchFamily="34" charset="0"/>
                <a:ea typeface="Arial" pitchFamily="34" charset="-122"/>
                <a:cs typeface="Arial" pitchFamily="34" charset="-120"/>
              </a:rPr>
              <a:t>A lit. S'il peut signer « Oui, c'est exactement ce que je pense », B a gagné. Sinon, B réécrit.</a:t>
            </a:r>
            <a:endParaRPr lang="en-US" sz="1500" dirty="0"/>
          </a:p>
        </p:txBody>
      </p:sp>
      <p:sp>
        <p:nvSpPr>
          <p:cNvPr id="20" name="Shape 18"/>
          <p:cNvSpPr/>
          <p:nvPr/>
        </p:nvSpPr>
        <p:spPr>
          <a:xfrm>
            <a:off x="8970264" y="1417320"/>
            <a:ext cx="2651760" cy="3291840"/>
          </a:xfrm>
          <a:prstGeom prst="rect">
            <a:avLst/>
          </a:prstGeom>
          <a:solidFill>
            <a:schemeClr val="bg1"/>
          </a:solidFill>
          <a:ln w="25400">
            <a:solidFill>
              <a:schemeClr val="tx1"/>
            </a:solidFill>
            <a:prstDash val="solid"/>
          </a:ln>
        </p:spPr>
      </p:sp>
      <p:sp>
        <p:nvSpPr>
          <p:cNvPr id="21" name="Shape 19"/>
          <p:cNvSpPr/>
          <p:nvPr/>
        </p:nvSpPr>
        <p:spPr>
          <a:xfrm>
            <a:off x="9153144" y="1600200"/>
            <a:ext cx="548640" cy="548640"/>
          </a:xfrm>
          <a:prstGeom prst="ellipse">
            <a:avLst/>
          </a:prstGeom>
          <a:solidFill>
            <a:schemeClr val="accent1"/>
          </a:solidFill>
          <a:ln w="19050">
            <a:solidFill>
              <a:schemeClr val="tx1"/>
            </a:solidFill>
            <a:prstDash val="solid"/>
          </a:ln>
        </p:spPr>
      </p:sp>
      <p:sp>
        <p:nvSpPr>
          <p:cNvPr id="22" name="Text 20"/>
          <p:cNvSpPr txBox="1"/>
          <p:nvPr/>
        </p:nvSpPr>
        <p:spPr>
          <a:xfrm>
            <a:off x="9153144" y="1600200"/>
            <a:ext cx="548640" cy="548640"/>
          </a:xfrm>
          <a:prstGeom prst="rect">
            <a:avLst/>
          </a:prstGeom>
          <a:noFill/>
          <a:ln/>
        </p:spPr>
        <p:txBody>
          <a:bodyPr wrap="square" lIns="0" tIns="0" rIns="0" bIns="0" rtlCol="0" anchor="ctr"/>
          <a:lstStyle/>
          <a:p>
            <a:pPr algn="ctr" indent="0" marL="0">
              <a:buNone/>
            </a:pPr>
            <a:r>
              <a:rPr lang="en-US" sz="2000" dirty="0">
                <a:solidFill>
                  <a:schemeClr val="bg2"/>
                </a:solidFill>
                <a:latin typeface="Rockwell Extra Bold" pitchFamily="34" charset="0"/>
                <a:ea typeface="Rockwell Extra Bold" pitchFamily="34" charset="-122"/>
                <a:cs typeface="Rockwell Extra Bold" pitchFamily="34" charset="-120"/>
              </a:rPr>
              <a:t>4</a:t>
            </a:r>
            <a:endParaRPr lang="en-US" sz="2000" dirty="0"/>
          </a:p>
        </p:txBody>
      </p:sp>
      <p:sp>
        <p:nvSpPr>
          <p:cNvPr id="23" name="Text 21"/>
          <p:cNvSpPr txBox="1"/>
          <p:nvPr/>
        </p:nvSpPr>
        <p:spPr>
          <a:xfrm>
            <a:off x="9838944" y="1645920"/>
            <a:ext cx="1691640" cy="457200"/>
          </a:xfrm>
          <a:prstGeom prst="rect">
            <a:avLst/>
          </a:prstGeom>
          <a:noFill/>
          <a:ln/>
        </p:spPr>
        <p:txBody>
          <a:bodyPr wrap="square" lIns="0" tIns="0" rIns="0" bIns="0" rtlCol="0" anchor="t"/>
          <a:lstStyle/>
          <a:p>
            <a:pPr indent="0" marL="0">
              <a:buNone/>
            </a:pPr>
            <a:r>
              <a:rPr lang="en-US" sz="2000" dirty="0">
                <a:solidFill>
                  <a:schemeClr val="accent1"/>
                </a:solidFill>
                <a:latin typeface="Rockwell Extra Bold" pitchFamily="34" charset="0"/>
                <a:ea typeface="Rockwell Extra Bold" pitchFamily="34" charset="-122"/>
                <a:cs typeface="Rockwell Extra Bold" pitchFamily="34" charset="-120"/>
              </a:rPr>
              <a:t>Inverse</a:t>
            </a:r>
            <a:endParaRPr lang="en-US" sz="2000" dirty="0"/>
          </a:p>
        </p:txBody>
      </p:sp>
      <p:sp>
        <p:nvSpPr>
          <p:cNvPr id="24" name="Text 22"/>
          <p:cNvSpPr txBox="1"/>
          <p:nvPr/>
        </p:nvSpPr>
        <p:spPr>
          <a:xfrm>
            <a:off x="9153144" y="2377440"/>
            <a:ext cx="2286000" cy="2194560"/>
          </a:xfrm>
          <a:prstGeom prst="rect">
            <a:avLst/>
          </a:prstGeom>
          <a:noFill/>
          <a:ln/>
        </p:spPr>
        <p:txBody>
          <a:bodyPr wrap="square" lIns="0" tIns="0" rIns="0" bIns="0" rtlCol="0" anchor="t"/>
          <a:lstStyle/>
          <a:p>
            <a:pPr indent="0" marL="0">
              <a:buNone/>
            </a:pPr>
            <a:r>
              <a:rPr lang="en-US" sz="1500" dirty="0">
                <a:solidFill>
                  <a:schemeClr val="tx1"/>
                </a:solidFill>
                <a:latin typeface="Arial" pitchFamily="34" charset="0"/>
                <a:ea typeface="Arial" pitchFamily="34" charset="-122"/>
                <a:cs typeface="Arial" pitchFamily="34" charset="-120"/>
              </a:rPr>
              <a:t>On échange les rôles. Ensuite seulement, chacun a droit à une critique.</a:t>
            </a:r>
            <a:endParaRPr lang="en-US" sz="1500" dirty="0"/>
          </a:p>
        </p:txBody>
      </p:sp>
      <p:sp>
        <p:nvSpPr>
          <p:cNvPr id="25" name="Shape 23"/>
          <p:cNvSpPr/>
          <p:nvPr/>
        </p:nvSpPr>
        <p:spPr>
          <a:xfrm>
            <a:off x="548640" y="4937760"/>
            <a:ext cx="11064240" cy="1051560"/>
          </a:xfrm>
          <a:prstGeom prst="rect">
            <a:avLst/>
          </a:prstGeom>
          <a:solidFill>
            <a:schemeClr val="tx1"/>
          </a:solidFill>
          <a:ln w="25400">
            <a:solidFill>
              <a:schemeClr val="tx1"/>
            </a:solidFill>
            <a:prstDash val="solid"/>
          </a:ln>
        </p:spPr>
      </p:sp>
      <p:sp>
        <p:nvSpPr>
          <p:cNvPr id="26" name="Text 24"/>
          <p:cNvSpPr txBox="1"/>
          <p:nvPr/>
        </p:nvSpPr>
        <p:spPr>
          <a:xfrm>
            <a:off x="822960" y="4937760"/>
            <a:ext cx="10607040" cy="1051560"/>
          </a:xfrm>
          <a:prstGeom prst="rect">
            <a:avLst/>
          </a:prstGeom>
          <a:noFill/>
          <a:ln/>
        </p:spPr>
        <p:txBody>
          <a:bodyPr wrap="square" lIns="0" tIns="0" rIns="0" bIns="0" rtlCol="0" anchor="ctr"/>
          <a:lstStyle/>
          <a:p>
            <a:pPr indent="0" marL="0">
              <a:buNone/>
            </a:pPr>
            <a:r>
              <a:rPr lang="en-US" sz="1700" dirty="0">
                <a:solidFill>
                  <a:schemeClr val="bg2"/>
                </a:solidFill>
                <a:latin typeface="Courier New" pitchFamily="34" charset="0"/>
                <a:ea typeface="Courier New" pitchFamily="34" charset="-122"/>
                <a:cs typeface="Courier New" pitchFamily="34" charset="-120"/>
              </a:rPr>
              <a:t>Signature : ________________________   « Tu as mieux dit ma pensée que moi. »</a:t>
            </a:r>
            <a:endParaRPr lang="en-US" sz="17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1"/>
                </a:solidFill>
                <a:latin typeface="Arial"/>
                <a:ea typeface="Arial"/>
                <a:cs typeface="Aria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lIns="0" tIns="0" rIns="0" bIns="0" rtlCol="0" anchor="t"/>
          <a:lstStyle/>
          <a:p>
            <a:pPr algn="l" indent="0" marL="0">
              <a:buNone/>
            </a:pPr>
            <a:r>
              <a:rPr lang="en-US" sz="3600" dirty="0">
                <a:solidFill>
                  <a:schemeClr val="accent1"/>
                </a:solidFill>
              </a:rPr>
              <a:t>Atelier 3 · Le 39ᵉ stratagème</a:t>
            </a:r>
            <a:endParaRPr lang="en-US" sz="3600" dirty="0"/>
          </a:p>
        </p:txBody>
      </p:sp>
      <p:sp>
        <p:nvSpPr>
          <p:cNvPr id="3" name="Shape 1"/>
          <p:cNvSpPr/>
          <p:nvPr/>
        </p:nvSpPr>
        <p:spPr>
          <a:xfrm>
            <a:off x="9966960" y="411480"/>
            <a:ext cx="1645920" cy="457200"/>
          </a:xfrm>
          <a:prstGeom prst="roundRect">
            <a:avLst>
              <a:gd name="adj" fmla="val 50000"/>
            </a:avLst>
          </a:prstGeom>
          <a:solidFill>
            <a:schemeClr val="tx1"/>
          </a:solidFill>
          <a:ln/>
        </p:spPr>
      </p:sp>
      <p:sp>
        <p:nvSpPr>
          <p:cNvPr id="4" name="Text 2"/>
          <p:cNvSpPr txBox="1"/>
          <p:nvPr/>
        </p:nvSpPr>
        <p:spPr>
          <a:xfrm>
            <a:off x="9966960" y="411480"/>
            <a:ext cx="1645920" cy="457200"/>
          </a:xfrm>
          <a:prstGeom prst="rect">
            <a:avLst/>
          </a:prstGeom>
          <a:noFill/>
          <a:ln/>
        </p:spPr>
        <p:txBody>
          <a:bodyPr wrap="square" lIns="0" tIns="0" rIns="0" bIns="0" rtlCol="0" anchor="ctr"/>
          <a:lstStyle/>
          <a:p>
            <a:pPr algn="ctr" indent="0" marL="0">
              <a:buNone/>
            </a:pPr>
            <a:r>
              <a:rPr lang="en-US" sz="1400" b="1" dirty="0">
                <a:solidFill>
                  <a:schemeClr val="bg2"/>
                </a:solidFill>
              </a:rPr>
              <a:t>⏱ 15 min</a:t>
            </a:r>
            <a:endParaRPr lang="en-US" sz="1400" dirty="0"/>
          </a:p>
        </p:txBody>
      </p:sp>
      <p:sp>
        <p:nvSpPr>
          <p:cNvPr id="5" name="Text 3"/>
          <p:cNvSpPr txBox="1"/>
          <p:nvPr/>
        </p:nvSpPr>
        <p:spPr>
          <a:xfrm>
            <a:off x="457200" y="1188720"/>
            <a:ext cx="4023360" cy="2926080"/>
          </a:xfrm>
          <a:prstGeom prst="rect">
            <a:avLst/>
          </a:prstGeom>
          <a:noFill/>
          <a:ln/>
        </p:spPr>
        <p:txBody>
          <a:bodyPr wrap="square" lIns="0" tIns="0" rIns="0" bIns="0" rtlCol="0" anchor="t"/>
          <a:lstStyle/>
          <a:p>
            <a:pPr indent="0" marL="0">
              <a:buNone/>
            </a:pPr>
            <a:r>
              <a:rPr lang="en-US" sz="20000" dirty="0">
                <a:solidFill>
                  <a:schemeClr val="accent1"/>
                </a:solidFill>
                <a:latin typeface="Rockwell Extra Bold" pitchFamily="34" charset="0"/>
                <a:ea typeface="Rockwell Extra Bold" pitchFamily="34" charset="-122"/>
                <a:cs typeface="Rockwell Extra Bold" pitchFamily="34" charset="-120"/>
              </a:rPr>
              <a:t>39</a:t>
            </a:r>
            <a:endParaRPr lang="en-US" sz="20000" dirty="0"/>
          </a:p>
        </p:txBody>
      </p:sp>
      <p:sp>
        <p:nvSpPr>
          <p:cNvPr id="6" name="Text 4"/>
          <p:cNvSpPr txBox="1"/>
          <p:nvPr/>
        </p:nvSpPr>
        <p:spPr>
          <a:xfrm>
            <a:off x="548640" y="4114800"/>
            <a:ext cx="4023360" cy="1645920"/>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Schopenhauer s'est arrêté à 38 coups bas. Invente le 39ᵉ : un coup loyal qui fait gagner tout le monde.</a:t>
            </a:r>
            <a:endParaRPr lang="en-US" sz="1700" dirty="0"/>
          </a:p>
        </p:txBody>
      </p:sp>
      <p:sp>
        <p:nvSpPr>
          <p:cNvPr id="7" name="Shape 5"/>
          <p:cNvSpPr/>
          <p:nvPr/>
        </p:nvSpPr>
        <p:spPr>
          <a:xfrm>
            <a:off x="5029200" y="1371600"/>
            <a:ext cx="6583680" cy="4526280"/>
          </a:xfrm>
          <a:prstGeom prst="rect">
            <a:avLst/>
          </a:prstGeom>
          <a:solidFill>
            <a:schemeClr val="bg1"/>
          </a:solidFill>
          <a:ln w="25400">
            <a:solidFill>
              <a:schemeClr val="tx1"/>
            </a:solidFill>
            <a:prstDash val="solid"/>
          </a:ln>
        </p:spPr>
      </p:sp>
      <p:sp>
        <p:nvSpPr>
          <p:cNvPr id="8" name="Text 6"/>
          <p:cNvSpPr txBox="1"/>
          <p:nvPr/>
        </p:nvSpPr>
        <p:spPr>
          <a:xfrm>
            <a:off x="5303520" y="1554480"/>
            <a:ext cx="6035040" cy="457200"/>
          </a:xfrm>
          <a:prstGeom prst="rect">
            <a:avLst/>
          </a:prstGeom>
          <a:noFill/>
          <a:ln/>
        </p:spPr>
        <p:txBody>
          <a:bodyPr wrap="square" lIns="0" tIns="0" rIns="0" bIns="0" rtlCol="0" anchor="t"/>
          <a:lstStyle/>
          <a:p>
            <a:pPr indent="0" marL="0">
              <a:buNone/>
            </a:pPr>
            <a:r>
              <a:rPr lang="en-US" sz="1900" dirty="0">
                <a:solidFill>
                  <a:schemeClr val="accent1"/>
                </a:solidFill>
                <a:latin typeface="Rockwell Extra Bold" pitchFamily="34" charset="0"/>
                <a:ea typeface="Rockwell Extra Bold" pitchFamily="34" charset="-122"/>
                <a:cs typeface="Rockwell Extra Bold" pitchFamily="34" charset="-120"/>
              </a:rPr>
              <a:t>Gabarit de la fiche</a:t>
            </a:r>
            <a:endParaRPr lang="en-US" sz="1900" dirty="0"/>
          </a:p>
        </p:txBody>
      </p:sp>
      <p:sp>
        <p:nvSpPr>
          <p:cNvPr id="9" name="Text 7"/>
          <p:cNvSpPr txBox="1"/>
          <p:nvPr/>
        </p:nvSpPr>
        <p:spPr>
          <a:xfrm>
            <a:off x="5303520" y="2148840"/>
            <a:ext cx="6035040" cy="365760"/>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Nom du stratagème</a:t>
            </a:r>
            <a:endParaRPr lang="en-US" sz="1600" dirty="0"/>
          </a:p>
        </p:txBody>
      </p:sp>
      <p:sp>
        <p:nvSpPr>
          <p:cNvPr id="10" name="Text 8"/>
          <p:cNvSpPr txBox="1"/>
          <p:nvPr/>
        </p:nvSpPr>
        <p:spPr>
          <a:xfrm>
            <a:off x="5303520" y="2478024"/>
            <a:ext cx="6035040" cy="320040"/>
          </a:xfrm>
          <a:prstGeom prst="rect">
            <a:avLst/>
          </a:prstGeom>
          <a:noFill/>
          <a:ln/>
        </p:spPr>
        <p:txBody>
          <a:bodyPr wrap="square" lIns="0" tIns="0" rIns="0" bIns="0" rtlCol="0" anchor="t"/>
          <a:lstStyle/>
          <a:p>
            <a:pPr indent="0" marL="0">
              <a:buNone/>
            </a:pPr>
            <a:r>
              <a:rPr lang="en-US" sz="1300" i="1" dirty="0">
                <a:solidFill>
                  <a:schemeClr val="tx2"/>
                </a:solidFill>
                <a:latin typeface="Arial" pitchFamily="34" charset="0"/>
                <a:ea typeface="Arial" pitchFamily="34" charset="-122"/>
                <a:cs typeface="Arial" pitchFamily="34" charset="-120"/>
              </a:rPr>
              <a:t>un surnom mémorable (ex. « Le parapluie »)</a:t>
            </a:r>
            <a:endParaRPr lang="en-US" sz="1300" dirty="0"/>
          </a:p>
        </p:txBody>
      </p:sp>
      <p:sp>
        <p:nvSpPr>
          <p:cNvPr id="11" name="Shape 9"/>
          <p:cNvSpPr/>
          <p:nvPr/>
        </p:nvSpPr>
        <p:spPr>
          <a:xfrm>
            <a:off x="5303520" y="2898648"/>
            <a:ext cx="6035040" cy="0"/>
          </a:xfrm>
          <a:prstGeom prst="line">
            <a:avLst/>
          </a:prstGeom>
          <a:noFill/>
          <a:ln w="12700">
            <a:solidFill>
              <a:schemeClr val="tx1"/>
            </a:solidFill>
            <a:prstDash val="solid"/>
          </a:ln>
        </p:spPr>
      </p:sp>
      <p:sp>
        <p:nvSpPr>
          <p:cNvPr id="12" name="Text 10"/>
          <p:cNvSpPr txBox="1"/>
          <p:nvPr/>
        </p:nvSpPr>
        <p:spPr>
          <a:xfrm>
            <a:off x="5303520" y="3035808"/>
            <a:ext cx="6035040" cy="365760"/>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Quand l'utiliser</a:t>
            </a:r>
            <a:endParaRPr lang="en-US" sz="1600" dirty="0"/>
          </a:p>
        </p:txBody>
      </p:sp>
      <p:sp>
        <p:nvSpPr>
          <p:cNvPr id="13" name="Text 11"/>
          <p:cNvSpPr txBox="1"/>
          <p:nvPr/>
        </p:nvSpPr>
        <p:spPr>
          <a:xfrm>
            <a:off x="5303520" y="3364992"/>
            <a:ext cx="6035040" cy="320040"/>
          </a:xfrm>
          <a:prstGeom prst="rect">
            <a:avLst/>
          </a:prstGeom>
          <a:noFill/>
          <a:ln/>
        </p:spPr>
        <p:txBody>
          <a:bodyPr wrap="square" lIns="0" tIns="0" rIns="0" bIns="0" rtlCol="0" anchor="t"/>
          <a:lstStyle/>
          <a:p>
            <a:pPr indent="0" marL="0">
              <a:buNone/>
            </a:pPr>
            <a:r>
              <a:rPr lang="en-US" sz="1300" i="1" dirty="0">
                <a:solidFill>
                  <a:schemeClr val="tx2"/>
                </a:solidFill>
                <a:latin typeface="Arial" pitchFamily="34" charset="0"/>
                <a:ea typeface="Arial" pitchFamily="34" charset="-122"/>
                <a:cs typeface="Arial" pitchFamily="34" charset="-120"/>
              </a:rPr>
              <a:t>la situation de débat où il sert</a:t>
            </a:r>
            <a:endParaRPr lang="en-US" sz="1300" dirty="0"/>
          </a:p>
        </p:txBody>
      </p:sp>
      <p:sp>
        <p:nvSpPr>
          <p:cNvPr id="14" name="Shape 12"/>
          <p:cNvSpPr/>
          <p:nvPr/>
        </p:nvSpPr>
        <p:spPr>
          <a:xfrm>
            <a:off x="5303520" y="3785616"/>
            <a:ext cx="6035040" cy="0"/>
          </a:xfrm>
          <a:prstGeom prst="line">
            <a:avLst/>
          </a:prstGeom>
          <a:noFill/>
          <a:ln w="12700">
            <a:solidFill>
              <a:schemeClr val="tx1"/>
            </a:solidFill>
            <a:prstDash val="solid"/>
          </a:ln>
        </p:spPr>
      </p:sp>
      <p:sp>
        <p:nvSpPr>
          <p:cNvPr id="15" name="Text 13"/>
          <p:cNvSpPr txBox="1"/>
          <p:nvPr/>
        </p:nvSpPr>
        <p:spPr>
          <a:xfrm>
            <a:off x="5303520" y="3922776"/>
            <a:ext cx="6035040" cy="365760"/>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Comment faire</a:t>
            </a:r>
            <a:endParaRPr lang="en-US" sz="1600" dirty="0"/>
          </a:p>
        </p:txBody>
      </p:sp>
      <p:sp>
        <p:nvSpPr>
          <p:cNvPr id="16" name="Text 14"/>
          <p:cNvSpPr txBox="1"/>
          <p:nvPr/>
        </p:nvSpPr>
        <p:spPr>
          <a:xfrm>
            <a:off x="5303520" y="4251960"/>
            <a:ext cx="6035040" cy="320040"/>
          </a:xfrm>
          <a:prstGeom prst="rect">
            <a:avLst/>
          </a:prstGeom>
          <a:noFill/>
          <a:ln/>
        </p:spPr>
        <p:txBody>
          <a:bodyPr wrap="square" lIns="0" tIns="0" rIns="0" bIns="0" rtlCol="0" anchor="t"/>
          <a:lstStyle/>
          <a:p>
            <a:pPr indent="0" marL="0">
              <a:buNone/>
            </a:pPr>
            <a:r>
              <a:rPr lang="en-US" sz="1300" i="1" dirty="0">
                <a:solidFill>
                  <a:schemeClr val="tx2"/>
                </a:solidFill>
                <a:latin typeface="Arial" pitchFamily="34" charset="0"/>
                <a:ea typeface="Arial" pitchFamily="34" charset="-122"/>
                <a:cs typeface="Arial" pitchFamily="34" charset="-120"/>
              </a:rPr>
              <a:t>la phrase ou le geste exact</a:t>
            </a:r>
            <a:endParaRPr lang="en-US" sz="1300" dirty="0"/>
          </a:p>
        </p:txBody>
      </p:sp>
      <p:sp>
        <p:nvSpPr>
          <p:cNvPr id="17" name="Shape 15"/>
          <p:cNvSpPr/>
          <p:nvPr/>
        </p:nvSpPr>
        <p:spPr>
          <a:xfrm>
            <a:off x="5303520" y="4672584"/>
            <a:ext cx="6035040" cy="0"/>
          </a:xfrm>
          <a:prstGeom prst="line">
            <a:avLst/>
          </a:prstGeom>
          <a:noFill/>
          <a:ln w="12700">
            <a:solidFill>
              <a:schemeClr val="tx1"/>
            </a:solidFill>
            <a:prstDash val="solid"/>
          </a:ln>
        </p:spPr>
      </p:sp>
      <p:sp>
        <p:nvSpPr>
          <p:cNvPr id="18" name="Text 16"/>
          <p:cNvSpPr txBox="1"/>
          <p:nvPr/>
        </p:nvSpPr>
        <p:spPr>
          <a:xfrm>
            <a:off x="5303520" y="4809744"/>
            <a:ext cx="6035040" cy="365760"/>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Ce qu'il désamorce</a:t>
            </a:r>
            <a:endParaRPr lang="en-US" sz="1600" dirty="0"/>
          </a:p>
        </p:txBody>
      </p:sp>
      <p:sp>
        <p:nvSpPr>
          <p:cNvPr id="19" name="Text 17"/>
          <p:cNvSpPr txBox="1"/>
          <p:nvPr/>
        </p:nvSpPr>
        <p:spPr>
          <a:xfrm>
            <a:off x="5303520" y="5138928"/>
            <a:ext cx="6035040" cy="320040"/>
          </a:xfrm>
          <a:prstGeom prst="rect">
            <a:avLst/>
          </a:prstGeom>
          <a:noFill/>
          <a:ln/>
        </p:spPr>
        <p:txBody>
          <a:bodyPr wrap="square" lIns="0" tIns="0" rIns="0" bIns="0" rtlCol="0" anchor="t"/>
          <a:lstStyle/>
          <a:p>
            <a:pPr indent="0" marL="0">
              <a:buNone/>
            </a:pPr>
            <a:r>
              <a:rPr lang="en-US" sz="1300" i="1" dirty="0">
                <a:solidFill>
                  <a:schemeClr val="tx2"/>
                </a:solidFill>
                <a:latin typeface="Arial" pitchFamily="34" charset="0"/>
                <a:ea typeface="Arial" pitchFamily="34" charset="-122"/>
                <a:cs typeface="Arial" pitchFamily="34" charset="-120"/>
              </a:rPr>
              <a:t>le coup bas (numéro) qu'il neutralise</a:t>
            </a:r>
            <a:endParaRPr lang="en-US" sz="1300" dirty="0"/>
          </a:p>
        </p:txBody>
      </p:sp>
      <p:sp>
        <p:nvSpPr>
          <p:cNvPr id="20" name="Shape 18"/>
          <p:cNvSpPr/>
          <p:nvPr/>
        </p:nvSpPr>
        <p:spPr>
          <a:xfrm>
            <a:off x="5303520" y="5559552"/>
            <a:ext cx="6035040" cy="0"/>
          </a:xfrm>
          <a:prstGeom prst="line">
            <a:avLst/>
          </a:prstGeom>
          <a:noFill/>
          <a:ln w="12700">
            <a:solidFill>
              <a:schemeClr val="tx1"/>
            </a:solidFill>
            <a:prstDash val="solid"/>
          </a:ln>
        </p:spPr>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1"/>
                </a:solidFill>
                <a:latin typeface="Arial"/>
                <a:ea typeface="Arial"/>
                <a:cs typeface="Aria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457200" y="274320"/>
            <a:ext cx="4572000" cy="2926080"/>
          </a:xfrm>
          <a:prstGeom prst="rect">
            <a:avLst/>
          </a:prstGeom>
          <a:noFill/>
          <a:ln/>
        </p:spPr>
        <p:txBody>
          <a:bodyPr wrap="square" lIns="0" tIns="0" rIns="0" bIns="0" rtlCol="0" anchor="t"/>
          <a:lstStyle/>
          <a:p>
            <a:pPr indent="0" marL="0">
              <a:buNone/>
            </a:pPr>
            <a:r>
              <a:rPr lang="en-US" sz="20000" dirty="0">
                <a:solidFill>
                  <a:schemeClr val="tx1"/>
                </a:solidFill>
                <a:latin typeface="Rockwell Extra Bold" pitchFamily="34" charset="0"/>
                <a:ea typeface="Rockwell Extra Bold" pitchFamily="34" charset="-122"/>
                <a:cs typeface="Rockwell Extra Bold" pitchFamily="34" charset="-120"/>
              </a:rPr>
              <a:t>4</a:t>
            </a:r>
            <a:endParaRPr lang="en-US" sz="20000" dirty="0"/>
          </a:p>
        </p:txBody>
      </p:sp>
      <p:sp>
        <p:nvSpPr>
          <p:cNvPr id="3" name="Text 0"/>
          <p:cNvSpPr/>
          <p:nvPr>
            <p:ph idx="100" type="title" hasCustomPrompt="1"/>
          </p:nvPr>
        </p:nvSpPr>
        <p:spPr>
          <a:xfrm>
            <a:off x="548640" y="3291840"/>
            <a:ext cx="7498080" cy="2194560"/>
          </a:xfrm>
          <a:prstGeom prst="rect">
            <a:avLst/>
          </a:prstGeom>
          <a:noFill/>
          <a:ln/>
        </p:spPr>
        <p:txBody>
          <a:bodyPr wrap="square" lIns="0" tIns="0" rIns="0" bIns="0" rtlCol="0" anchor="t"/>
          <a:lstStyle/>
          <a:p>
            <a:pPr algn="l" indent="0" marL="0">
              <a:buNone/>
            </a:pPr>
            <a:r>
              <a:rPr lang="en-US" sz="5400" dirty="0">
                <a:solidFill>
                  <a:schemeClr val="bg2"/>
                </a:solidFill>
              </a:rPr>
              <a:t>L'arène agréable</a:t>
            </a:r>
            <a:endParaRPr lang="en-US" sz="5400" dirty="0"/>
          </a:p>
        </p:txBody>
      </p:sp>
      <p:sp>
        <p:nvSpPr>
          <p:cNvPr id="4" name="Text 0"/>
          <p:cNvSpPr/>
          <p:nvPr>
            <p:ph idx="101" type="body" hasCustomPrompt="1"/>
          </p:nvPr>
        </p:nvSpPr>
        <p:spPr>
          <a:xfrm>
            <a:off x="548640" y="5486400"/>
            <a:ext cx="7498080" cy="731520"/>
          </a:xfrm>
          <a:prstGeom prst="rect">
            <a:avLst/>
          </a:prstGeom>
          <a:noFill/>
          <a:ln/>
        </p:spPr>
        <p:txBody>
          <a:bodyPr wrap="square" lIns="0" tIns="0" rIns="0" bIns="0" rtlCol="0"/>
          <a:lstStyle/>
          <a:p>
            <a:pPr indent="0" marL="0">
              <a:buNone/>
            </a:pPr>
            <a:r>
              <a:rPr lang="en-US" sz="1800" dirty="0">
                <a:solidFill>
                  <a:schemeClr val="bg2"/>
                </a:solidFill>
              </a:rPr>
              <a:t>Un vrai débat, avec un prix inattendu</a:t>
            </a:r>
            <a:endParaRPr lang="en-US" sz="1800" dirty="0"/>
          </a:p>
        </p:txBody>
      </p:sp>
      <p:pic>
        <p:nvPicPr>
          <p:cNvPr id="5" name="silhouette" descr="preencoded.png">    </p:cNvPr>
          <p:cNvPicPr>
            <a:picLocks noChangeAspect="1"/>
          </p:cNvPicPr>
          <p:nvPr/>
        </p:nvPicPr>
        <p:blipFill>
          <a:blip r:embed="rId1"/>
          <a:stretch>
            <a:fillRect/>
          </a:stretch>
        </p:blipFill>
        <p:spPr>
          <a:xfrm>
            <a:off x="8138160" y="914400"/>
            <a:ext cx="3566160" cy="4297680"/>
          </a:xfrm>
          <a:prstGeom prst="rect">
            <a:avLst/>
          </a:prstGeom>
        </p:spPr>
      </p:pic>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Arial"/>
                <a:ea typeface="Arial"/>
                <a:cs typeface="Aria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lIns="0" tIns="0" rIns="0" bIns="0" rtlCol="0" anchor="t"/>
          <a:lstStyle/>
          <a:p>
            <a:pPr algn="l" indent="0" marL="0">
              <a:buNone/>
            </a:pPr>
            <a:r>
              <a:rPr lang="en-US" sz="3600" dirty="0">
                <a:solidFill>
                  <a:schemeClr val="accent1"/>
                </a:solidFill>
              </a:rPr>
              <a:t>L'aquarium à jetons</a:t>
            </a:r>
            <a:endParaRPr lang="en-US" sz="3600" dirty="0"/>
          </a:p>
        </p:txBody>
      </p:sp>
      <p:sp>
        <p:nvSpPr>
          <p:cNvPr id="3" name="Shape 1"/>
          <p:cNvSpPr/>
          <p:nvPr/>
        </p:nvSpPr>
        <p:spPr>
          <a:xfrm>
            <a:off x="9966960" y="411480"/>
            <a:ext cx="1645920" cy="457200"/>
          </a:xfrm>
          <a:prstGeom prst="roundRect">
            <a:avLst>
              <a:gd name="adj" fmla="val 50000"/>
            </a:avLst>
          </a:prstGeom>
          <a:solidFill>
            <a:schemeClr val="tx1"/>
          </a:solidFill>
          <a:ln/>
        </p:spPr>
      </p:sp>
      <p:sp>
        <p:nvSpPr>
          <p:cNvPr id="4" name="Text 2"/>
          <p:cNvSpPr txBox="1"/>
          <p:nvPr/>
        </p:nvSpPr>
        <p:spPr>
          <a:xfrm>
            <a:off x="9966960" y="411480"/>
            <a:ext cx="1645920" cy="457200"/>
          </a:xfrm>
          <a:prstGeom prst="rect">
            <a:avLst/>
          </a:prstGeom>
          <a:noFill/>
          <a:ln/>
        </p:spPr>
        <p:txBody>
          <a:bodyPr wrap="square" lIns="0" tIns="0" rIns="0" bIns="0" rtlCol="0" anchor="ctr"/>
          <a:lstStyle/>
          <a:p>
            <a:pPr algn="ctr" indent="0" marL="0">
              <a:buNone/>
            </a:pPr>
            <a:r>
              <a:rPr lang="en-US" sz="1400" b="1" dirty="0">
                <a:solidFill>
                  <a:schemeClr val="bg2"/>
                </a:solidFill>
              </a:rPr>
              <a:t>⏱ 25 min</a:t>
            </a:r>
            <a:endParaRPr lang="en-US" sz="1400" dirty="0"/>
          </a:p>
        </p:txBody>
      </p:sp>
      <p:sp>
        <p:nvSpPr>
          <p:cNvPr id="5" name="Shape 3"/>
          <p:cNvSpPr/>
          <p:nvPr/>
        </p:nvSpPr>
        <p:spPr>
          <a:xfrm>
            <a:off x="548640" y="1371600"/>
            <a:ext cx="6949440" cy="1325880"/>
          </a:xfrm>
          <a:prstGeom prst="rect">
            <a:avLst/>
          </a:prstGeom>
          <a:solidFill>
            <a:schemeClr val="bg1"/>
          </a:solidFill>
          <a:ln w="25400">
            <a:solidFill>
              <a:schemeClr val="tx1"/>
            </a:solidFill>
            <a:prstDash val="solid"/>
          </a:ln>
        </p:spPr>
      </p:sp>
      <p:sp>
        <p:nvSpPr>
          <p:cNvPr id="6" name="Shape 4"/>
          <p:cNvSpPr/>
          <p:nvPr/>
        </p:nvSpPr>
        <p:spPr>
          <a:xfrm>
            <a:off x="731520" y="1737360"/>
            <a:ext cx="594360" cy="594360"/>
          </a:xfrm>
          <a:prstGeom prst="ellipse">
            <a:avLst/>
          </a:prstGeom>
          <a:solidFill>
            <a:schemeClr val="accent1"/>
          </a:solidFill>
          <a:ln w="19050">
            <a:solidFill>
              <a:schemeClr val="tx1"/>
            </a:solidFill>
            <a:prstDash val="solid"/>
          </a:ln>
        </p:spPr>
      </p:sp>
      <p:sp>
        <p:nvSpPr>
          <p:cNvPr id="7" name="Text 5"/>
          <p:cNvSpPr txBox="1"/>
          <p:nvPr/>
        </p:nvSpPr>
        <p:spPr>
          <a:xfrm>
            <a:off x="731520" y="1737360"/>
            <a:ext cx="594360" cy="594360"/>
          </a:xfrm>
          <a:prstGeom prst="rect">
            <a:avLst/>
          </a:prstGeom>
          <a:noFill/>
          <a:ln/>
        </p:spPr>
        <p:txBody>
          <a:bodyPr wrap="square" lIns="0" tIns="0" rIns="0" bIns="0" rtlCol="0" anchor="ctr"/>
          <a:lstStyle/>
          <a:p>
            <a:pPr algn="ctr" indent="0" marL="0">
              <a:buNone/>
            </a:pPr>
            <a:r>
              <a:rPr lang="en-US" sz="2200" dirty="0">
                <a:solidFill>
                  <a:schemeClr val="bg2"/>
                </a:solidFill>
                <a:latin typeface="Rockwell Extra Bold" pitchFamily="34" charset="0"/>
                <a:ea typeface="Rockwell Extra Bold" pitchFamily="34" charset="-122"/>
                <a:cs typeface="Rockwell Extra Bold" pitchFamily="34" charset="-120"/>
              </a:rPr>
              <a:t>1</a:t>
            </a:r>
            <a:endParaRPr lang="en-US" sz="2200" dirty="0"/>
          </a:p>
        </p:txBody>
      </p:sp>
      <p:sp>
        <p:nvSpPr>
          <p:cNvPr id="8" name="Text 6"/>
          <p:cNvSpPr txBox="1"/>
          <p:nvPr/>
        </p:nvSpPr>
        <p:spPr>
          <a:xfrm>
            <a:off x="1554480" y="1481328"/>
            <a:ext cx="5760720" cy="411480"/>
          </a:xfrm>
          <a:prstGeom prst="rect">
            <a:avLst/>
          </a:prstGeom>
          <a:noFill/>
          <a:ln/>
        </p:spPr>
        <p:txBody>
          <a:bodyPr wrap="square" lIns="0" tIns="0" rIns="0" bIns="0" rtlCol="0" anchor="t"/>
          <a:lstStyle/>
          <a:p>
            <a:pPr indent="0" marL="0">
              <a:buNone/>
            </a:pPr>
            <a:r>
              <a:rPr lang="en-US" sz="1700" dirty="0">
                <a:solidFill>
                  <a:schemeClr val="accent1"/>
                </a:solidFill>
                <a:latin typeface="Rockwell Extra Bold" pitchFamily="34" charset="0"/>
                <a:ea typeface="Rockwell Extra Bold" pitchFamily="34" charset="-122"/>
                <a:cs typeface="Rockwell Extra Bold" pitchFamily="34" charset="-120"/>
              </a:rPr>
              <a:t>Le ticket d'entrée</a:t>
            </a:r>
            <a:endParaRPr lang="en-US" sz="1700" dirty="0"/>
          </a:p>
        </p:txBody>
      </p:sp>
      <p:sp>
        <p:nvSpPr>
          <p:cNvPr id="9" name="Text 7"/>
          <p:cNvSpPr txBox="1"/>
          <p:nvPr/>
        </p:nvSpPr>
        <p:spPr>
          <a:xfrm>
            <a:off x="1554480" y="1874520"/>
            <a:ext cx="5760720" cy="77724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Pour parler, tu dois d'abord reformuler la personne précédente. Elle dit « oui » ou « presque ». Seul le « oui » ouvre ton micro.</a:t>
            </a:r>
            <a:endParaRPr lang="en-US" sz="1400" dirty="0"/>
          </a:p>
        </p:txBody>
      </p:sp>
      <p:sp>
        <p:nvSpPr>
          <p:cNvPr id="10" name="Shape 8"/>
          <p:cNvSpPr/>
          <p:nvPr/>
        </p:nvSpPr>
        <p:spPr>
          <a:xfrm>
            <a:off x="548640" y="2880360"/>
            <a:ext cx="6949440" cy="1325880"/>
          </a:xfrm>
          <a:prstGeom prst="rect">
            <a:avLst/>
          </a:prstGeom>
          <a:solidFill>
            <a:schemeClr val="bg1"/>
          </a:solidFill>
          <a:ln w="25400">
            <a:solidFill>
              <a:schemeClr val="tx1"/>
            </a:solidFill>
            <a:prstDash val="solid"/>
          </a:ln>
        </p:spPr>
      </p:sp>
      <p:sp>
        <p:nvSpPr>
          <p:cNvPr id="11" name="Shape 9"/>
          <p:cNvSpPr/>
          <p:nvPr/>
        </p:nvSpPr>
        <p:spPr>
          <a:xfrm>
            <a:off x="731520" y="3246120"/>
            <a:ext cx="594360" cy="594360"/>
          </a:xfrm>
          <a:prstGeom prst="ellipse">
            <a:avLst/>
          </a:prstGeom>
          <a:solidFill>
            <a:schemeClr val="accent1"/>
          </a:solidFill>
          <a:ln w="19050">
            <a:solidFill>
              <a:schemeClr val="tx1"/>
            </a:solidFill>
            <a:prstDash val="solid"/>
          </a:ln>
        </p:spPr>
      </p:sp>
      <p:sp>
        <p:nvSpPr>
          <p:cNvPr id="12" name="Text 10"/>
          <p:cNvSpPr txBox="1"/>
          <p:nvPr/>
        </p:nvSpPr>
        <p:spPr>
          <a:xfrm>
            <a:off x="731520" y="3246120"/>
            <a:ext cx="594360" cy="594360"/>
          </a:xfrm>
          <a:prstGeom prst="rect">
            <a:avLst/>
          </a:prstGeom>
          <a:noFill/>
          <a:ln/>
        </p:spPr>
        <p:txBody>
          <a:bodyPr wrap="square" lIns="0" tIns="0" rIns="0" bIns="0" rtlCol="0" anchor="ctr"/>
          <a:lstStyle/>
          <a:p>
            <a:pPr algn="ctr" indent="0" marL="0">
              <a:buNone/>
            </a:pPr>
            <a:r>
              <a:rPr lang="en-US" sz="2200" dirty="0">
                <a:solidFill>
                  <a:schemeClr val="bg2"/>
                </a:solidFill>
                <a:latin typeface="Rockwell Extra Bold" pitchFamily="34" charset="0"/>
                <a:ea typeface="Rockwell Extra Bold" pitchFamily="34" charset="-122"/>
                <a:cs typeface="Rockwell Extra Bold" pitchFamily="34" charset="-120"/>
              </a:rPr>
              <a:t>2</a:t>
            </a:r>
            <a:endParaRPr lang="en-US" sz="2200" dirty="0"/>
          </a:p>
        </p:txBody>
      </p:sp>
      <p:sp>
        <p:nvSpPr>
          <p:cNvPr id="13" name="Text 11"/>
          <p:cNvSpPr txBox="1"/>
          <p:nvPr/>
        </p:nvSpPr>
        <p:spPr>
          <a:xfrm>
            <a:off x="1554480" y="2990088"/>
            <a:ext cx="5760720" cy="411480"/>
          </a:xfrm>
          <a:prstGeom prst="rect">
            <a:avLst/>
          </a:prstGeom>
          <a:noFill/>
          <a:ln/>
        </p:spPr>
        <p:txBody>
          <a:bodyPr wrap="square" lIns="0" tIns="0" rIns="0" bIns="0" rtlCol="0" anchor="t"/>
          <a:lstStyle/>
          <a:p>
            <a:pPr indent="0" marL="0">
              <a:buNone/>
            </a:pPr>
            <a:r>
              <a:rPr lang="en-US" sz="1700" dirty="0">
                <a:solidFill>
                  <a:schemeClr val="accent1"/>
                </a:solidFill>
                <a:latin typeface="Rockwell Extra Bold" pitchFamily="34" charset="0"/>
                <a:ea typeface="Rockwell Extra Bold" pitchFamily="34" charset="-122"/>
                <a:cs typeface="Rockwell Extra Bold" pitchFamily="34" charset="-120"/>
              </a:rPr>
              <a:t>Les jetons</a:t>
            </a:r>
            <a:endParaRPr lang="en-US" sz="1700" dirty="0"/>
          </a:p>
        </p:txBody>
      </p:sp>
      <p:sp>
        <p:nvSpPr>
          <p:cNvPr id="14" name="Text 12"/>
          <p:cNvSpPr txBox="1"/>
          <p:nvPr/>
        </p:nvSpPr>
        <p:spPr>
          <a:xfrm>
            <a:off x="1554480" y="3383280"/>
            <a:ext cx="5760720" cy="77724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3 jetons par personne. Chaque intervention coûte un jeton. Les Bulldozers apprennent à choisir, les Tortues doivent dépenser les leurs.</a:t>
            </a:r>
            <a:endParaRPr lang="en-US" sz="1400" dirty="0"/>
          </a:p>
        </p:txBody>
      </p:sp>
      <p:sp>
        <p:nvSpPr>
          <p:cNvPr id="15" name="Shape 13"/>
          <p:cNvSpPr/>
          <p:nvPr/>
        </p:nvSpPr>
        <p:spPr>
          <a:xfrm>
            <a:off x="548640" y="4389120"/>
            <a:ext cx="6949440" cy="1325880"/>
          </a:xfrm>
          <a:prstGeom prst="rect">
            <a:avLst/>
          </a:prstGeom>
          <a:solidFill>
            <a:schemeClr val="bg1"/>
          </a:solidFill>
          <a:ln w="25400">
            <a:solidFill>
              <a:schemeClr val="tx1"/>
            </a:solidFill>
            <a:prstDash val="solid"/>
          </a:ln>
        </p:spPr>
      </p:sp>
      <p:sp>
        <p:nvSpPr>
          <p:cNvPr id="16" name="Shape 14"/>
          <p:cNvSpPr/>
          <p:nvPr/>
        </p:nvSpPr>
        <p:spPr>
          <a:xfrm>
            <a:off x="731520" y="4754880"/>
            <a:ext cx="594360" cy="594360"/>
          </a:xfrm>
          <a:prstGeom prst="ellipse">
            <a:avLst/>
          </a:prstGeom>
          <a:solidFill>
            <a:schemeClr val="accent1"/>
          </a:solidFill>
          <a:ln w="19050">
            <a:solidFill>
              <a:schemeClr val="tx1"/>
            </a:solidFill>
            <a:prstDash val="solid"/>
          </a:ln>
        </p:spPr>
      </p:sp>
      <p:sp>
        <p:nvSpPr>
          <p:cNvPr id="17" name="Text 15"/>
          <p:cNvSpPr txBox="1"/>
          <p:nvPr/>
        </p:nvSpPr>
        <p:spPr>
          <a:xfrm>
            <a:off x="731520" y="4754880"/>
            <a:ext cx="594360" cy="594360"/>
          </a:xfrm>
          <a:prstGeom prst="rect">
            <a:avLst/>
          </a:prstGeom>
          <a:noFill/>
          <a:ln/>
        </p:spPr>
        <p:txBody>
          <a:bodyPr wrap="square" lIns="0" tIns="0" rIns="0" bIns="0" rtlCol="0" anchor="ctr"/>
          <a:lstStyle/>
          <a:p>
            <a:pPr algn="ctr" indent="0" marL="0">
              <a:buNone/>
            </a:pPr>
            <a:r>
              <a:rPr lang="en-US" sz="2200" dirty="0">
                <a:solidFill>
                  <a:schemeClr val="bg2"/>
                </a:solidFill>
                <a:latin typeface="Rockwell Extra Bold" pitchFamily="34" charset="0"/>
                <a:ea typeface="Rockwell Extra Bold" pitchFamily="34" charset="-122"/>
                <a:cs typeface="Rockwell Extra Bold" pitchFamily="34" charset="-120"/>
              </a:rPr>
              <a:t>3</a:t>
            </a:r>
            <a:endParaRPr lang="en-US" sz="2200" dirty="0"/>
          </a:p>
        </p:txBody>
      </p:sp>
      <p:sp>
        <p:nvSpPr>
          <p:cNvPr id="18" name="Text 16"/>
          <p:cNvSpPr txBox="1"/>
          <p:nvPr/>
        </p:nvSpPr>
        <p:spPr>
          <a:xfrm>
            <a:off x="1554480" y="4498848"/>
            <a:ext cx="5760720" cy="411480"/>
          </a:xfrm>
          <a:prstGeom prst="rect">
            <a:avLst/>
          </a:prstGeom>
          <a:noFill/>
          <a:ln/>
        </p:spPr>
        <p:txBody>
          <a:bodyPr wrap="square" lIns="0" tIns="0" rIns="0" bIns="0" rtlCol="0" anchor="t"/>
          <a:lstStyle/>
          <a:p>
            <a:pPr indent="0" marL="0">
              <a:buNone/>
            </a:pPr>
            <a:r>
              <a:rPr lang="en-US" sz="1700" dirty="0">
                <a:solidFill>
                  <a:schemeClr val="accent1"/>
                </a:solidFill>
                <a:latin typeface="Rockwell Extra Bold" pitchFamily="34" charset="0"/>
                <a:ea typeface="Rockwell Extra Bold" pitchFamily="34" charset="-122"/>
                <a:cs typeface="Rockwell Extra Bold" pitchFamily="34" charset="-120"/>
              </a:rPr>
              <a:t>La chaise vide</a:t>
            </a:r>
            <a:endParaRPr lang="en-US" sz="1700" dirty="0"/>
          </a:p>
        </p:txBody>
      </p:sp>
      <p:sp>
        <p:nvSpPr>
          <p:cNvPr id="19" name="Text 17"/>
          <p:cNvSpPr txBox="1"/>
          <p:nvPr/>
        </p:nvSpPr>
        <p:spPr>
          <a:xfrm>
            <a:off x="1554480" y="4892040"/>
            <a:ext cx="5760720" cy="77724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Une chaise libre dans le cercle : un observateur peut venir y faire une seule intervention, puis repartir.</a:t>
            </a:r>
            <a:endParaRPr lang="en-US" sz="1400" dirty="0"/>
          </a:p>
        </p:txBody>
      </p:sp>
      <p:sp>
        <p:nvSpPr>
          <p:cNvPr id="20" name="Shape 18"/>
          <p:cNvSpPr/>
          <p:nvPr/>
        </p:nvSpPr>
        <p:spPr>
          <a:xfrm>
            <a:off x="7863840" y="1371600"/>
            <a:ext cx="3749040" cy="4343400"/>
          </a:xfrm>
          <a:prstGeom prst="rect">
            <a:avLst/>
          </a:prstGeom>
          <a:solidFill>
            <a:schemeClr val="accent2"/>
          </a:solidFill>
          <a:ln w="25400">
            <a:solidFill>
              <a:schemeClr val="tx1"/>
            </a:solidFill>
            <a:prstDash val="solid"/>
          </a:ln>
        </p:spPr>
      </p:sp>
      <p:sp>
        <p:nvSpPr>
          <p:cNvPr id="21" name="Text 19"/>
          <p:cNvSpPr txBox="1"/>
          <p:nvPr/>
        </p:nvSpPr>
        <p:spPr>
          <a:xfrm>
            <a:off x="8092440" y="1554480"/>
            <a:ext cx="3291840" cy="457200"/>
          </a:xfrm>
          <a:prstGeom prst="rect">
            <a:avLst/>
          </a:prstGeom>
          <a:noFill/>
          <a:ln/>
        </p:spPr>
        <p:txBody>
          <a:bodyPr wrap="square" lIns="0" tIns="0" rIns="0" bIns="0" rtlCol="0" anchor="t"/>
          <a:lstStyle/>
          <a:p>
            <a:pPr indent="0" marL="0">
              <a:buNone/>
            </a:pPr>
            <a:r>
              <a:rPr lang="en-US" sz="2000" dirty="0">
                <a:solidFill>
                  <a:schemeClr val="accent1"/>
                </a:solidFill>
                <a:latin typeface="Rockwell Extra Bold" pitchFamily="34" charset="0"/>
                <a:ea typeface="Rockwell Extra Bold" pitchFamily="34" charset="-122"/>
                <a:cs typeface="Rockwell Extra Bold" pitchFamily="34" charset="-120"/>
              </a:rPr>
              <a:t>Le prix surprise</a:t>
            </a:r>
            <a:endParaRPr lang="en-US" sz="2000" dirty="0"/>
          </a:p>
        </p:txBody>
      </p:sp>
      <p:sp>
        <p:nvSpPr>
          <p:cNvPr id="22" name="Text 20"/>
          <p:cNvSpPr txBox="1"/>
          <p:nvPr/>
        </p:nvSpPr>
        <p:spPr>
          <a:xfrm>
            <a:off x="8092440" y="2103120"/>
            <a:ext cx="3291840" cy="731520"/>
          </a:xfrm>
          <a:prstGeom prst="rect">
            <a:avLst/>
          </a:prstGeom>
          <a:noFill/>
          <a:ln/>
        </p:spPr>
        <p:txBody>
          <a:bodyPr wrap="square" lIns="0" tIns="0" rIns="0" bIns="0" rtlCol="0" anchor="t"/>
          <a:lstStyle/>
          <a:p>
            <a:pPr indent="0" marL="0">
              <a:buNone/>
            </a:pPr>
            <a:r>
              <a:rPr lang="en-US" sz="1500" dirty="0">
                <a:solidFill>
                  <a:schemeClr val="tx1"/>
                </a:solidFill>
                <a:latin typeface="Arial" pitchFamily="34" charset="0"/>
                <a:ea typeface="Arial" pitchFamily="34" charset="-122"/>
                <a:cs typeface="Arial" pitchFamily="34" charset="-120"/>
              </a:rPr>
              <a:t>Aucun vainqueur au contenu. Le jury remet deux prix :</a:t>
            </a:r>
            <a:endParaRPr lang="en-US" sz="1500" dirty="0"/>
          </a:p>
        </p:txBody>
      </p:sp>
      <p:sp>
        <p:nvSpPr>
          <p:cNvPr id="23" name="Text 21"/>
          <p:cNvSpPr txBox="1"/>
          <p:nvPr/>
        </p:nvSpPr>
        <p:spPr>
          <a:xfrm>
            <a:off x="8092440" y="2926080"/>
            <a:ext cx="3291840" cy="2651760"/>
          </a:xfrm>
          <a:prstGeom prst="rect">
            <a:avLst/>
          </a:prstGeom>
          <a:noFill/>
          <a:ln/>
        </p:spPr>
        <p:txBody>
          <a:bodyPr wrap="square" lIns="0" tIns="0" rIns="0" bIns="0" rtlCol="0" anchor="t"/>
          <a:lstStyle/>
          <a:p>
            <a:pPr indent="0" marL="0">
              <a:buNone/>
            </a:pPr>
            <a:r>
              <a:rPr lang="en-US" sz="1500" b="1" dirty="0">
                <a:solidFill>
                  <a:schemeClr val="tx1"/>
                </a:solidFill>
                <a:latin typeface="Arial" pitchFamily="34" charset="0"/>
                <a:ea typeface="Arial" pitchFamily="34" charset="-122"/>
                <a:cs typeface="Arial" pitchFamily="34" charset="-120"/>
              </a:rPr>
              <a:t>L'homme d'acier d'or</a:t>
            </a:r>
            <a:endParaRPr lang="en-US" sz="1500" dirty="0"/>
          </a:p>
          <a:p>
            <a:pPr indent="0" marL="0">
              <a:buNone/>
            </a:pPr>
            <a:r>
              <a:rPr lang="en-US" sz="1500" dirty="0">
                <a:solidFill>
                  <a:schemeClr val="tx1"/>
                </a:solidFill>
                <a:latin typeface="Arial" pitchFamily="34" charset="0"/>
                <a:ea typeface="Arial" pitchFamily="34" charset="-122"/>
                <a:cs typeface="Arial" pitchFamily="34" charset="-120"/>
              </a:rPr>
              <a:t>à la meilleure reformulation de l'adversaire</a:t>
            </a:r>
            <a:endParaRPr lang="en-US" sz="1500" dirty="0"/>
          </a:p>
          <a:p>
            <a:pPr indent="0" marL="0">
              <a:buNone/>
            </a:pPr>
            <a:r>
              <a:rPr lang="en-US" sz="1500" dirty="0">
                <a:solidFill>
                  <a:schemeClr val="tx1"/>
                </a:solidFill>
                <a:latin typeface="Arial" pitchFamily="34" charset="0"/>
                <a:ea typeface="Arial" pitchFamily="34" charset="-122"/>
                <a:cs typeface="Arial" pitchFamily="34" charset="-120"/>
              </a:rPr>
              <a:t> </a:t>
            </a:r>
            <a:endParaRPr lang="en-US" sz="1500" dirty="0"/>
          </a:p>
          <a:p>
            <a:pPr indent="0" marL="0">
              <a:buNone/>
            </a:pPr>
            <a:r>
              <a:rPr lang="en-US" sz="1500" b="1" dirty="0">
                <a:solidFill>
                  <a:schemeClr val="tx1"/>
                </a:solidFill>
                <a:latin typeface="Arial" pitchFamily="34" charset="0"/>
                <a:ea typeface="Arial" pitchFamily="34" charset="-122"/>
                <a:cs typeface="Arial" pitchFamily="34" charset="-120"/>
              </a:rPr>
              <a:t>La girouette courageuse</a:t>
            </a:r>
            <a:endParaRPr lang="en-US" sz="1500" dirty="0"/>
          </a:p>
          <a:p>
            <a:pPr indent="0" marL="0">
              <a:buNone/>
            </a:pPr>
            <a:r>
              <a:rPr lang="en-US" sz="1500" dirty="0">
                <a:solidFill>
                  <a:schemeClr val="tx1"/>
                </a:solidFill>
                <a:latin typeface="Arial" pitchFamily="34" charset="0"/>
                <a:ea typeface="Arial" pitchFamily="34" charset="-122"/>
                <a:cs typeface="Arial" pitchFamily="34" charset="-120"/>
              </a:rPr>
              <a:t>à la personne qui a changé d'avis, et l'a dit</a:t>
            </a:r>
            <a:endParaRPr lang="en-US" sz="15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1"/>
                </a:solidFill>
                <a:latin typeface="Arial"/>
                <a:ea typeface="Arial"/>
                <a:cs typeface="Aria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lIns="0" tIns="0" rIns="0" bIns="0" rtlCol="0" anchor="t"/>
          <a:lstStyle/>
          <a:p>
            <a:pPr algn="l" indent="0" marL="0">
              <a:buNone/>
            </a:pPr>
            <a:r>
              <a:rPr lang="en-US" sz="3600" dirty="0">
                <a:solidFill>
                  <a:schemeClr val="accent1"/>
                </a:solidFill>
              </a:rPr>
              <a:t>La boîte à phrases qui désamorcent</a:t>
            </a:r>
            <a:endParaRPr lang="en-US" sz="3600" dirty="0"/>
          </a:p>
        </p:txBody>
      </p:sp>
      <p:sp>
        <p:nvSpPr>
          <p:cNvPr id="3" name="Shape 1"/>
          <p:cNvSpPr/>
          <p:nvPr/>
        </p:nvSpPr>
        <p:spPr>
          <a:xfrm>
            <a:off x="548640" y="1371600"/>
            <a:ext cx="5440680" cy="1005840"/>
          </a:xfrm>
          <a:prstGeom prst="rect">
            <a:avLst/>
          </a:prstGeom>
          <a:solidFill>
            <a:schemeClr val="bg1"/>
          </a:solidFill>
          <a:ln w="19050">
            <a:solidFill>
              <a:schemeClr val="tx1"/>
            </a:solidFill>
            <a:prstDash val="solid"/>
          </a:ln>
        </p:spPr>
      </p:sp>
      <p:sp>
        <p:nvSpPr>
          <p:cNvPr id="4" name="Text 2"/>
          <p:cNvSpPr txBox="1"/>
          <p:nvPr/>
        </p:nvSpPr>
        <p:spPr>
          <a:xfrm>
            <a:off x="731520" y="1463040"/>
            <a:ext cx="1737360" cy="822960"/>
          </a:xfrm>
          <a:prstGeom prst="rect">
            <a:avLst/>
          </a:prstGeom>
          <a:noFill/>
          <a:ln/>
        </p:spPr>
        <p:txBody>
          <a:bodyPr wrap="square" lIns="0" tIns="0" rIns="0" bIns="0" rtlCol="0" anchor="ctr"/>
          <a:lstStyle/>
          <a:p>
            <a:pPr indent="0" marL="0">
              <a:buNone/>
            </a:pPr>
            <a:r>
              <a:rPr lang="en-US" sz="1500" dirty="0">
                <a:solidFill>
                  <a:schemeClr val="accent1"/>
                </a:solidFill>
                <a:latin typeface="Rockwell Extra Bold" pitchFamily="34" charset="0"/>
                <a:ea typeface="Rockwell Extra Bold" pitchFamily="34" charset="-122"/>
                <a:cs typeface="Rockwell Extra Bold" pitchFamily="34" charset="-120"/>
              </a:rPr>
              <a:t>Comprendre</a:t>
            </a:r>
            <a:endParaRPr lang="en-US" sz="1500" dirty="0"/>
          </a:p>
        </p:txBody>
      </p:sp>
      <p:sp>
        <p:nvSpPr>
          <p:cNvPr id="5" name="Text 3"/>
          <p:cNvSpPr txBox="1"/>
          <p:nvPr/>
        </p:nvSpPr>
        <p:spPr>
          <a:xfrm>
            <a:off x="2468880" y="1463040"/>
            <a:ext cx="3383280" cy="822960"/>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 Si je te comprends bien, tu dis que… c'est ça? »</a:t>
            </a:r>
            <a:endParaRPr lang="en-US" sz="1500" dirty="0"/>
          </a:p>
        </p:txBody>
      </p:sp>
      <p:sp>
        <p:nvSpPr>
          <p:cNvPr id="6" name="Shape 4"/>
          <p:cNvSpPr/>
          <p:nvPr/>
        </p:nvSpPr>
        <p:spPr>
          <a:xfrm>
            <a:off x="6126480" y="1371600"/>
            <a:ext cx="5440680" cy="1005840"/>
          </a:xfrm>
          <a:prstGeom prst="rect">
            <a:avLst/>
          </a:prstGeom>
          <a:solidFill>
            <a:schemeClr val="bg1"/>
          </a:solidFill>
          <a:ln w="19050">
            <a:solidFill>
              <a:schemeClr val="tx1"/>
            </a:solidFill>
            <a:prstDash val="solid"/>
          </a:ln>
        </p:spPr>
      </p:sp>
      <p:sp>
        <p:nvSpPr>
          <p:cNvPr id="7" name="Text 5"/>
          <p:cNvSpPr txBox="1"/>
          <p:nvPr/>
        </p:nvSpPr>
        <p:spPr>
          <a:xfrm>
            <a:off x="6309360" y="1463040"/>
            <a:ext cx="1737360" cy="822960"/>
          </a:xfrm>
          <a:prstGeom prst="rect">
            <a:avLst/>
          </a:prstGeom>
          <a:noFill/>
          <a:ln/>
        </p:spPr>
        <p:txBody>
          <a:bodyPr wrap="square" lIns="0" tIns="0" rIns="0" bIns="0" rtlCol="0" anchor="ctr"/>
          <a:lstStyle/>
          <a:p>
            <a:pPr indent="0" marL="0">
              <a:buNone/>
            </a:pPr>
            <a:r>
              <a:rPr lang="en-US" sz="1500" dirty="0">
                <a:solidFill>
                  <a:schemeClr val="accent1"/>
                </a:solidFill>
                <a:latin typeface="Rockwell Extra Bold" pitchFamily="34" charset="0"/>
                <a:ea typeface="Rockwell Extra Bold" pitchFamily="34" charset="-122"/>
                <a:cs typeface="Rockwell Extra Bold" pitchFamily="34" charset="-120"/>
              </a:rPr>
              <a:t>Ouvrir</a:t>
            </a:r>
            <a:endParaRPr lang="en-US" sz="1500" dirty="0"/>
          </a:p>
        </p:txBody>
      </p:sp>
      <p:sp>
        <p:nvSpPr>
          <p:cNvPr id="8" name="Text 6"/>
          <p:cNvSpPr txBox="1"/>
          <p:nvPr/>
        </p:nvSpPr>
        <p:spPr>
          <a:xfrm>
            <a:off x="8046720" y="1463040"/>
            <a:ext cx="3383280" cy="822960"/>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 Qu'est-ce qui pourrait te faire changer d'idée? »</a:t>
            </a:r>
            <a:endParaRPr lang="en-US" sz="1500" dirty="0"/>
          </a:p>
        </p:txBody>
      </p:sp>
      <p:sp>
        <p:nvSpPr>
          <p:cNvPr id="9" name="Shape 7"/>
          <p:cNvSpPr/>
          <p:nvPr/>
        </p:nvSpPr>
        <p:spPr>
          <a:xfrm>
            <a:off x="548640" y="2514600"/>
            <a:ext cx="5440680" cy="1005840"/>
          </a:xfrm>
          <a:prstGeom prst="rect">
            <a:avLst/>
          </a:prstGeom>
          <a:solidFill>
            <a:schemeClr val="bg1"/>
          </a:solidFill>
          <a:ln w="19050">
            <a:solidFill>
              <a:schemeClr val="tx1"/>
            </a:solidFill>
            <a:prstDash val="solid"/>
          </a:ln>
        </p:spPr>
      </p:sp>
      <p:sp>
        <p:nvSpPr>
          <p:cNvPr id="10" name="Text 8"/>
          <p:cNvSpPr txBox="1"/>
          <p:nvPr/>
        </p:nvSpPr>
        <p:spPr>
          <a:xfrm>
            <a:off x="731520" y="2606040"/>
            <a:ext cx="1737360" cy="822960"/>
          </a:xfrm>
          <a:prstGeom prst="rect">
            <a:avLst/>
          </a:prstGeom>
          <a:noFill/>
          <a:ln/>
        </p:spPr>
        <p:txBody>
          <a:bodyPr wrap="square" lIns="0" tIns="0" rIns="0" bIns="0" rtlCol="0" anchor="ctr"/>
          <a:lstStyle/>
          <a:p>
            <a:pPr indent="0" marL="0">
              <a:buNone/>
            </a:pPr>
            <a:r>
              <a:rPr lang="en-US" sz="1500" dirty="0">
                <a:solidFill>
                  <a:schemeClr val="accent1"/>
                </a:solidFill>
                <a:latin typeface="Rockwell Extra Bold" pitchFamily="34" charset="0"/>
                <a:ea typeface="Rockwell Extra Bold" pitchFamily="34" charset="-122"/>
                <a:cs typeface="Rockwell Extra Bold" pitchFamily="34" charset="-120"/>
              </a:rPr>
              <a:t>Cartographier</a:t>
            </a:r>
            <a:endParaRPr lang="en-US" sz="1500" dirty="0"/>
          </a:p>
        </p:txBody>
      </p:sp>
      <p:sp>
        <p:nvSpPr>
          <p:cNvPr id="11" name="Text 9"/>
          <p:cNvSpPr txBox="1"/>
          <p:nvPr/>
        </p:nvSpPr>
        <p:spPr>
          <a:xfrm>
            <a:off x="2468880" y="2606040"/>
            <a:ext cx="3383280" cy="822960"/>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 On est d'accord sur ___. On diffère sur ___. »</a:t>
            </a:r>
            <a:endParaRPr lang="en-US" sz="1500" dirty="0"/>
          </a:p>
        </p:txBody>
      </p:sp>
      <p:sp>
        <p:nvSpPr>
          <p:cNvPr id="12" name="Shape 10"/>
          <p:cNvSpPr/>
          <p:nvPr/>
        </p:nvSpPr>
        <p:spPr>
          <a:xfrm>
            <a:off x="6126480" y="2514600"/>
            <a:ext cx="5440680" cy="1005840"/>
          </a:xfrm>
          <a:prstGeom prst="rect">
            <a:avLst/>
          </a:prstGeom>
          <a:solidFill>
            <a:schemeClr val="bg1"/>
          </a:solidFill>
          <a:ln w="19050">
            <a:solidFill>
              <a:schemeClr val="tx1"/>
            </a:solidFill>
            <a:prstDash val="solid"/>
          </a:ln>
        </p:spPr>
      </p:sp>
      <p:sp>
        <p:nvSpPr>
          <p:cNvPr id="13" name="Text 11"/>
          <p:cNvSpPr txBox="1"/>
          <p:nvPr/>
        </p:nvSpPr>
        <p:spPr>
          <a:xfrm>
            <a:off x="6309360" y="2606040"/>
            <a:ext cx="1737360" cy="822960"/>
          </a:xfrm>
          <a:prstGeom prst="rect">
            <a:avLst/>
          </a:prstGeom>
          <a:noFill/>
          <a:ln/>
        </p:spPr>
        <p:txBody>
          <a:bodyPr wrap="square" lIns="0" tIns="0" rIns="0" bIns="0" rtlCol="0" anchor="ctr"/>
          <a:lstStyle/>
          <a:p>
            <a:pPr indent="0" marL="0">
              <a:buNone/>
            </a:pPr>
            <a:r>
              <a:rPr lang="en-US" sz="1500" dirty="0">
                <a:solidFill>
                  <a:schemeClr val="accent1"/>
                </a:solidFill>
                <a:latin typeface="Rockwell Extra Bold" pitchFamily="34" charset="0"/>
                <a:ea typeface="Rockwell Extra Bold" pitchFamily="34" charset="-122"/>
                <a:cs typeface="Rockwell Extra Bold" pitchFamily="34" charset="-120"/>
              </a:rPr>
              <a:t>Reconnaître</a:t>
            </a:r>
            <a:endParaRPr lang="en-US" sz="1500" dirty="0"/>
          </a:p>
        </p:txBody>
      </p:sp>
      <p:sp>
        <p:nvSpPr>
          <p:cNvPr id="14" name="Text 12"/>
          <p:cNvSpPr txBox="1"/>
          <p:nvPr/>
        </p:nvSpPr>
        <p:spPr>
          <a:xfrm>
            <a:off x="8046720" y="2606040"/>
            <a:ext cx="3383280" cy="822960"/>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 Bon point. Je n'y avais pas pensé. »</a:t>
            </a:r>
            <a:endParaRPr lang="en-US" sz="1500" dirty="0"/>
          </a:p>
        </p:txBody>
      </p:sp>
      <p:sp>
        <p:nvSpPr>
          <p:cNvPr id="15" name="Shape 13"/>
          <p:cNvSpPr/>
          <p:nvPr/>
        </p:nvSpPr>
        <p:spPr>
          <a:xfrm>
            <a:off x="548640" y="3657600"/>
            <a:ext cx="5440680" cy="1005840"/>
          </a:xfrm>
          <a:prstGeom prst="rect">
            <a:avLst/>
          </a:prstGeom>
          <a:solidFill>
            <a:schemeClr val="bg1"/>
          </a:solidFill>
          <a:ln w="19050">
            <a:solidFill>
              <a:schemeClr val="tx1"/>
            </a:solidFill>
            <a:prstDash val="solid"/>
          </a:ln>
        </p:spPr>
      </p:sp>
      <p:sp>
        <p:nvSpPr>
          <p:cNvPr id="16" name="Text 14"/>
          <p:cNvSpPr txBox="1"/>
          <p:nvPr/>
        </p:nvSpPr>
        <p:spPr>
          <a:xfrm>
            <a:off x="731520" y="3749040"/>
            <a:ext cx="1737360" cy="822960"/>
          </a:xfrm>
          <a:prstGeom prst="rect">
            <a:avLst/>
          </a:prstGeom>
          <a:noFill/>
          <a:ln/>
        </p:spPr>
        <p:txBody>
          <a:bodyPr wrap="square" lIns="0" tIns="0" rIns="0" bIns="0" rtlCol="0" anchor="ctr"/>
          <a:lstStyle/>
          <a:p>
            <a:pPr indent="0" marL="0">
              <a:buNone/>
            </a:pPr>
            <a:r>
              <a:rPr lang="en-US" sz="1500" dirty="0">
                <a:solidFill>
                  <a:schemeClr val="accent1"/>
                </a:solidFill>
                <a:latin typeface="Rockwell Extra Bold" pitchFamily="34" charset="0"/>
                <a:ea typeface="Rockwell Extra Bold" pitchFamily="34" charset="-122"/>
                <a:cs typeface="Rockwell Extra Bold" pitchFamily="34" charset="-120"/>
              </a:rPr>
              <a:t>S'opposer</a:t>
            </a:r>
            <a:endParaRPr lang="en-US" sz="1500" dirty="0"/>
          </a:p>
        </p:txBody>
      </p:sp>
      <p:sp>
        <p:nvSpPr>
          <p:cNvPr id="17" name="Text 15"/>
          <p:cNvSpPr txBox="1"/>
          <p:nvPr/>
        </p:nvSpPr>
        <p:spPr>
          <a:xfrm>
            <a:off x="2468880" y="3749040"/>
            <a:ext cx="3383280" cy="822960"/>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 Je vois ça autrement. Je t'explique? »</a:t>
            </a:r>
            <a:endParaRPr lang="en-US" sz="1500" dirty="0"/>
          </a:p>
        </p:txBody>
      </p:sp>
      <p:sp>
        <p:nvSpPr>
          <p:cNvPr id="18" name="Shape 16"/>
          <p:cNvSpPr/>
          <p:nvPr/>
        </p:nvSpPr>
        <p:spPr>
          <a:xfrm>
            <a:off x="6126480" y="3657600"/>
            <a:ext cx="5440680" cy="1005840"/>
          </a:xfrm>
          <a:prstGeom prst="rect">
            <a:avLst/>
          </a:prstGeom>
          <a:solidFill>
            <a:schemeClr val="bg1"/>
          </a:solidFill>
          <a:ln w="19050">
            <a:solidFill>
              <a:schemeClr val="tx1"/>
            </a:solidFill>
            <a:prstDash val="solid"/>
          </a:ln>
        </p:spPr>
      </p:sp>
      <p:sp>
        <p:nvSpPr>
          <p:cNvPr id="19" name="Text 17"/>
          <p:cNvSpPr txBox="1"/>
          <p:nvPr/>
        </p:nvSpPr>
        <p:spPr>
          <a:xfrm>
            <a:off x="6309360" y="3749040"/>
            <a:ext cx="1737360" cy="822960"/>
          </a:xfrm>
          <a:prstGeom prst="rect">
            <a:avLst/>
          </a:prstGeom>
          <a:noFill/>
          <a:ln/>
        </p:spPr>
        <p:txBody>
          <a:bodyPr wrap="square" lIns="0" tIns="0" rIns="0" bIns="0" rtlCol="0" anchor="ctr"/>
          <a:lstStyle/>
          <a:p>
            <a:pPr indent="0" marL="0">
              <a:buNone/>
            </a:pPr>
            <a:r>
              <a:rPr lang="en-US" sz="1500" dirty="0">
                <a:solidFill>
                  <a:schemeClr val="accent1"/>
                </a:solidFill>
                <a:latin typeface="Rockwell Extra Bold" pitchFamily="34" charset="0"/>
                <a:ea typeface="Rockwell Extra Bold" pitchFamily="34" charset="-122"/>
                <a:cs typeface="Rockwell Extra Bold" pitchFamily="34" charset="-120"/>
              </a:rPr>
              <a:t>Sonder</a:t>
            </a:r>
            <a:endParaRPr lang="en-US" sz="1500" dirty="0"/>
          </a:p>
        </p:txBody>
      </p:sp>
      <p:sp>
        <p:nvSpPr>
          <p:cNvPr id="20" name="Text 18"/>
          <p:cNvSpPr txBox="1"/>
          <p:nvPr/>
        </p:nvSpPr>
        <p:spPr>
          <a:xfrm>
            <a:off x="8046720" y="3749040"/>
            <a:ext cx="3383280" cy="822960"/>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 Sur quoi tu t'appuies? Ça m'intéresse. »</a:t>
            </a:r>
            <a:endParaRPr lang="en-US" sz="1500" dirty="0"/>
          </a:p>
        </p:txBody>
      </p:sp>
      <p:sp>
        <p:nvSpPr>
          <p:cNvPr id="21" name="Shape 19"/>
          <p:cNvSpPr/>
          <p:nvPr/>
        </p:nvSpPr>
        <p:spPr>
          <a:xfrm>
            <a:off x="548640" y="4800600"/>
            <a:ext cx="5440680" cy="1005840"/>
          </a:xfrm>
          <a:prstGeom prst="rect">
            <a:avLst/>
          </a:prstGeom>
          <a:solidFill>
            <a:schemeClr val="bg1"/>
          </a:solidFill>
          <a:ln w="19050">
            <a:solidFill>
              <a:schemeClr val="tx1"/>
            </a:solidFill>
            <a:prstDash val="solid"/>
          </a:ln>
        </p:spPr>
      </p:sp>
      <p:sp>
        <p:nvSpPr>
          <p:cNvPr id="22" name="Text 20"/>
          <p:cNvSpPr txBox="1"/>
          <p:nvPr/>
        </p:nvSpPr>
        <p:spPr>
          <a:xfrm>
            <a:off x="731520" y="4892040"/>
            <a:ext cx="1737360" cy="822960"/>
          </a:xfrm>
          <a:prstGeom prst="rect">
            <a:avLst/>
          </a:prstGeom>
          <a:noFill/>
          <a:ln/>
        </p:spPr>
        <p:txBody>
          <a:bodyPr wrap="square" lIns="0" tIns="0" rIns="0" bIns="0" rtlCol="0" anchor="ctr"/>
          <a:lstStyle/>
          <a:p>
            <a:pPr indent="0" marL="0">
              <a:buNone/>
            </a:pPr>
            <a:r>
              <a:rPr lang="en-US" sz="1500" dirty="0">
                <a:solidFill>
                  <a:schemeClr val="accent1"/>
                </a:solidFill>
                <a:latin typeface="Rockwell Extra Bold" pitchFamily="34" charset="0"/>
                <a:ea typeface="Rockwell Extra Bold" pitchFamily="34" charset="-122"/>
                <a:cs typeface="Rockwell Extra Bold" pitchFamily="34" charset="-120"/>
              </a:rPr>
              <a:t>Ralentir</a:t>
            </a:r>
            <a:endParaRPr lang="en-US" sz="1500" dirty="0"/>
          </a:p>
        </p:txBody>
      </p:sp>
      <p:sp>
        <p:nvSpPr>
          <p:cNvPr id="23" name="Text 21"/>
          <p:cNvSpPr txBox="1"/>
          <p:nvPr/>
        </p:nvSpPr>
        <p:spPr>
          <a:xfrm>
            <a:off x="2468880" y="4892040"/>
            <a:ext cx="3383280" cy="822960"/>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 Je sens que ça monte. On prend 10 secondes? »</a:t>
            </a:r>
            <a:endParaRPr lang="en-US" sz="1500" dirty="0"/>
          </a:p>
        </p:txBody>
      </p:sp>
      <p:sp>
        <p:nvSpPr>
          <p:cNvPr id="24" name="Shape 22"/>
          <p:cNvSpPr/>
          <p:nvPr/>
        </p:nvSpPr>
        <p:spPr>
          <a:xfrm>
            <a:off x="6126480" y="4800600"/>
            <a:ext cx="5440680" cy="1005840"/>
          </a:xfrm>
          <a:prstGeom prst="rect">
            <a:avLst/>
          </a:prstGeom>
          <a:solidFill>
            <a:schemeClr val="accent2"/>
          </a:solidFill>
          <a:ln w="19050">
            <a:solidFill>
              <a:schemeClr val="tx1"/>
            </a:solidFill>
            <a:prstDash val="solid"/>
          </a:ln>
        </p:spPr>
      </p:sp>
      <p:sp>
        <p:nvSpPr>
          <p:cNvPr id="25" name="Text 23"/>
          <p:cNvSpPr txBox="1"/>
          <p:nvPr/>
        </p:nvSpPr>
        <p:spPr>
          <a:xfrm>
            <a:off x="6309360" y="4892040"/>
            <a:ext cx="1737360" cy="822960"/>
          </a:xfrm>
          <a:prstGeom prst="rect">
            <a:avLst/>
          </a:prstGeom>
          <a:noFill/>
          <a:ln/>
        </p:spPr>
        <p:txBody>
          <a:bodyPr wrap="square" lIns="0" tIns="0" rIns="0" bIns="0" rtlCol="0" anchor="ctr"/>
          <a:lstStyle/>
          <a:p>
            <a:pPr indent="0" marL="0">
              <a:buNone/>
            </a:pPr>
            <a:r>
              <a:rPr lang="en-US" sz="1500" dirty="0">
                <a:solidFill>
                  <a:schemeClr val="accent1"/>
                </a:solidFill>
                <a:latin typeface="Rockwell Extra Bold" pitchFamily="34" charset="0"/>
                <a:ea typeface="Rockwell Extra Bold" pitchFamily="34" charset="-122"/>
                <a:cs typeface="Rockwell Extra Bold" pitchFamily="34" charset="-120"/>
              </a:rPr>
              <a:t>Céder</a:t>
            </a:r>
            <a:endParaRPr lang="en-US" sz="1500" dirty="0"/>
          </a:p>
        </p:txBody>
      </p:sp>
      <p:sp>
        <p:nvSpPr>
          <p:cNvPr id="26" name="Text 24"/>
          <p:cNvSpPr txBox="1"/>
          <p:nvPr/>
        </p:nvSpPr>
        <p:spPr>
          <a:xfrm>
            <a:off x="8046720" y="4892040"/>
            <a:ext cx="3383280" cy="822960"/>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 Je pense que j'avais tort sur ce bout-là. »</a:t>
            </a:r>
            <a:endParaRPr lang="en-US" sz="15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1"/>
                </a:solidFill>
                <a:latin typeface="Arial"/>
                <a:ea typeface="Arial"/>
                <a:cs typeface="Aria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457200" y="274320"/>
            <a:ext cx="4572000" cy="2926080"/>
          </a:xfrm>
          <a:prstGeom prst="rect">
            <a:avLst/>
          </a:prstGeom>
          <a:noFill/>
          <a:ln/>
        </p:spPr>
        <p:txBody>
          <a:bodyPr wrap="square" lIns="0" tIns="0" rIns="0" bIns="0" rtlCol="0" anchor="t"/>
          <a:lstStyle/>
          <a:p>
            <a:pPr indent="0" marL="0">
              <a:buNone/>
            </a:pPr>
            <a:r>
              <a:rPr lang="en-US" sz="20000" dirty="0">
                <a:solidFill>
                  <a:schemeClr val="tx1"/>
                </a:solidFill>
                <a:latin typeface="Rockwell Extra Bold" pitchFamily="34" charset="0"/>
                <a:ea typeface="Rockwell Extra Bold" pitchFamily="34" charset="-122"/>
                <a:cs typeface="Rockwell Extra Bold" pitchFamily="34" charset="-120"/>
              </a:rPr>
              <a:t>5</a:t>
            </a:r>
            <a:endParaRPr lang="en-US" sz="20000" dirty="0"/>
          </a:p>
        </p:txBody>
      </p:sp>
      <p:sp>
        <p:nvSpPr>
          <p:cNvPr id="3" name="Text 0"/>
          <p:cNvSpPr/>
          <p:nvPr>
            <p:ph idx="100" type="title" hasCustomPrompt="1"/>
          </p:nvPr>
        </p:nvSpPr>
        <p:spPr>
          <a:xfrm>
            <a:off x="548640" y="3291840"/>
            <a:ext cx="7498080" cy="2194560"/>
          </a:xfrm>
          <a:prstGeom prst="rect">
            <a:avLst/>
          </a:prstGeom>
          <a:noFill/>
          <a:ln/>
        </p:spPr>
        <p:txBody>
          <a:bodyPr wrap="square" lIns="0" tIns="0" rIns="0" bIns="0" rtlCol="0" anchor="t"/>
          <a:lstStyle/>
          <a:p>
            <a:pPr algn="l" indent="0" marL="0">
              <a:buNone/>
            </a:pPr>
            <a:r>
              <a:rPr lang="en-US" sz="5400" dirty="0">
                <a:solidFill>
                  <a:schemeClr val="bg2"/>
                </a:solidFill>
              </a:rPr>
              <a:t>Repartir avec</a:t>
            </a:r>
            <a:endParaRPr lang="en-US" sz="5400" dirty="0"/>
          </a:p>
        </p:txBody>
      </p:sp>
      <p:sp>
        <p:nvSpPr>
          <p:cNvPr id="4" name="Text 0"/>
          <p:cNvSpPr/>
          <p:nvPr>
            <p:ph idx="101" type="body" hasCustomPrompt="1"/>
          </p:nvPr>
        </p:nvSpPr>
        <p:spPr>
          <a:xfrm>
            <a:off x="548640" y="5486400"/>
            <a:ext cx="7498080" cy="731520"/>
          </a:xfrm>
          <a:prstGeom prst="rect">
            <a:avLst/>
          </a:prstGeom>
          <a:noFill/>
          <a:ln/>
        </p:spPr>
        <p:txBody>
          <a:bodyPr wrap="square" lIns="0" tIns="0" rIns="0" bIns="0" rtlCol="0"/>
          <a:lstStyle/>
          <a:p>
            <a:pPr indent="0" marL="0">
              <a:buNone/>
            </a:pPr>
            <a:r>
              <a:rPr lang="en-US" sz="1800" dirty="0">
                <a:solidFill>
                  <a:schemeClr val="bg2"/>
                </a:solidFill>
              </a:rPr>
              <a:t>Un objet à garder, une relation à mettre à jour</a:t>
            </a:r>
            <a:endParaRPr lang="en-US" sz="1800" dirty="0"/>
          </a:p>
        </p:txBody>
      </p:sp>
      <p:pic>
        <p:nvPicPr>
          <p:cNvPr id="5" name="silhouette" descr="preencoded.png">    </p:cNvPr>
          <p:cNvPicPr>
            <a:picLocks noChangeAspect="1"/>
          </p:cNvPicPr>
          <p:nvPr/>
        </p:nvPicPr>
        <p:blipFill>
          <a:blip r:embed="rId1"/>
          <a:stretch>
            <a:fillRect/>
          </a:stretch>
        </p:blipFill>
        <p:spPr>
          <a:xfrm>
            <a:off x="8138160" y="914400"/>
            <a:ext cx="3566160" cy="4297680"/>
          </a:xfrm>
          <a:prstGeom prst="rect">
            <a:avLst/>
          </a:prstGeom>
        </p:spPr>
      </p:pic>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Arial"/>
                <a:ea typeface="Arial"/>
                <a:cs typeface="Aria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lIns="0" tIns="0" rIns="0" bIns="0" rtlCol="0" anchor="t"/>
          <a:lstStyle/>
          <a:p>
            <a:pPr algn="l" indent="0" marL="0">
              <a:buNone/>
            </a:pPr>
            <a:r>
              <a:rPr lang="en-US" sz="3600" dirty="0">
                <a:solidFill>
                  <a:schemeClr val="accent1"/>
                </a:solidFill>
              </a:rPr>
              <a:t>Le talisman</a:t>
            </a:r>
            <a:endParaRPr lang="en-US" sz="3600" dirty="0"/>
          </a:p>
        </p:txBody>
      </p:sp>
      <p:sp>
        <p:nvSpPr>
          <p:cNvPr id="3" name="Shape 1"/>
          <p:cNvSpPr/>
          <p:nvPr/>
        </p:nvSpPr>
        <p:spPr>
          <a:xfrm>
            <a:off x="9966960" y="411480"/>
            <a:ext cx="1645920" cy="457200"/>
          </a:xfrm>
          <a:prstGeom prst="roundRect">
            <a:avLst>
              <a:gd name="adj" fmla="val 50000"/>
            </a:avLst>
          </a:prstGeom>
          <a:solidFill>
            <a:schemeClr val="tx1"/>
          </a:solidFill>
          <a:ln/>
        </p:spPr>
      </p:sp>
      <p:sp>
        <p:nvSpPr>
          <p:cNvPr id="4" name="Text 2"/>
          <p:cNvSpPr txBox="1"/>
          <p:nvPr/>
        </p:nvSpPr>
        <p:spPr>
          <a:xfrm>
            <a:off x="9966960" y="411480"/>
            <a:ext cx="1645920" cy="457200"/>
          </a:xfrm>
          <a:prstGeom prst="rect">
            <a:avLst/>
          </a:prstGeom>
          <a:noFill/>
          <a:ln/>
        </p:spPr>
        <p:txBody>
          <a:bodyPr wrap="square" lIns="0" tIns="0" rIns="0" bIns="0" rtlCol="0" anchor="ctr"/>
          <a:lstStyle/>
          <a:p>
            <a:pPr algn="ctr" indent="0" marL="0">
              <a:buNone/>
            </a:pPr>
            <a:r>
              <a:rPr lang="en-US" sz="1400" b="1" dirty="0">
                <a:solidFill>
                  <a:schemeClr val="bg2"/>
                </a:solidFill>
              </a:rPr>
              <a:t>⏱ 15 min</a:t>
            </a:r>
            <a:endParaRPr lang="en-US" sz="1400" dirty="0"/>
          </a:p>
        </p:txBody>
      </p:sp>
      <p:sp>
        <p:nvSpPr>
          <p:cNvPr id="5" name="Shape 3"/>
          <p:cNvSpPr/>
          <p:nvPr/>
        </p:nvSpPr>
        <p:spPr>
          <a:xfrm>
            <a:off x="822960" y="1371600"/>
            <a:ext cx="4206240" cy="4206240"/>
          </a:xfrm>
          <a:prstGeom prst="ellipse">
            <a:avLst/>
          </a:prstGeom>
          <a:solidFill>
            <a:schemeClr val="bg1"/>
          </a:solidFill>
          <a:ln w="38100">
            <a:solidFill>
              <a:schemeClr val="tx1"/>
            </a:solidFill>
            <a:prstDash val="dash"/>
          </a:ln>
        </p:spPr>
      </p:sp>
      <p:sp>
        <p:nvSpPr>
          <p:cNvPr id="6" name="Shape 4"/>
          <p:cNvSpPr/>
          <p:nvPr/>
        </p:nvSpPr>
        <p:spPr>
          <a:xfrm>
            <a:off x="1737360" y="1828800"/>
            <a:ext cx="2377440" cy="1828800"/>
          </a:xfrm>
          <a:prstGeom prst="ellipse">
            <a:avLst/>
          </a:prstGeom>
          <a:solidFill>
            <a:schemeClr val="bg1"/>
          </a:solidFill>
          <a:ln w="12700">
            <a:solidFill>
              <a:schemeClr val="tx2"/>
            </a:solidFill>
            <a:prstDash val="sysDot"/>
          </a:ln>
        </p:spPr>
      </p:sp>
      <p:pic>
        <p:nvPicPr>
          <p:cNvPr id="7" name="Image 0" descr="preencoded.png">    </p:cNvPr>
          <p:cNvPicPr>
            <a:picLocks noChangeAspect="1"/>
          </p:cNvPicPr>
          <p:nvPr/>
        </p:nvPicPr>
        <p:blipFill>
          <a:blip r:embed="rId1"/>
          <a:stretch>
            <a:fillRect/>
          </a:stretch>
        </p:blipFill>
        <p:spPr>
          <a:xfrm>
            <a:off x="2423160" y="1920240"/>
            <a:ext cx="1005840" cy="1234440"/>
          </a:xfrm>
          <a:prstGeom prst="rect">
            <a:avLst/>
          </a:prstGeom>
        </p:spPr>
      </p:pic>
      <p:sp>
        <p:nvSpPr>
          <p:cNvPr id="8" name="Shape 5"/>
          <p:cNvSpPr/>
          <p:nvPr/>
        </p:nvSpPr>
        <p:spPr>
          <a:xfrm>
            <a:off x="1463040" y="4343400"/>
            <a:ext cx="2926080" cy="0"/>
          </a:xfrm>
          <a:prstGeom prst="line">
            <a:avLst/>
          </a:prstGeom>
          <a:noFill/>
          <a:ln w="19050">
            <a:solidFill>
              <a:schemeClr val="tx1"/>
            </a:solidFill>
            <a:prstDash val="solid"/>
          </a:ln>
        </p:spPr>
      </p:sp>
      <p:sp>
        <p:nvSpPr>
          <p:cNvPr id="9" name="Text 6"/>
          <p:cNvSpPr txBox="1"/>
          <p:nvPr/>
        </p:nvSpPr>
        <p:spPr>
          <a:xfrm>
            <a:off x="1280160" y="3886200"/>
            <a:ext cx="3291840" cy="411480"/>
          </a:xfrm>
          <a:prstGeom prst="rect">
            <a:avLst/>
          </a:prstGeom>
          <a:noFill/>
          <a:ln/>
        </p:spPr>
        <p:txBody>
          <a:bodyPr wrap="square" lIns="0" tIns="0" rIns="0" bIns="0" rtlCol="0" anchor="t"/>
          <a:lstStyle/>
          <a:p>
            <a:pPr algn="ctr" indent="0" marL="0">
              <a:buNone/>
            </a:pPr>
            <a:r>
              <a:rPr lang="en-US" sz="1500" i="1" dirty="0">
                <a:solidFill>
                  <a:schemeClr val="tx1"/>
                </a:solidFill>
                <a:latin typeface="Arial" pitchFamily="34" charset="0"/>
                <a:ea typeface="Arial" pitchFamily="34" charset="-122"/>
                <a:cs typeface="Arial" pitchFamily="34" charset="-120"/>
              </a:rPr>
              <a:t>« Je t'écoute jusqu'au bout. »</a:t>
            </a:r>
            <a:endParaRPr lang="en-US" sz="1500" dirty="0"/>
          </a:p>
        </p:txBody>
      </p:sp>
      <p:sp>
        <p:nvSpPr>
          <p:cNvPr id="10" name="Shape 7"/>
          <p:cNvSpPr/>
          <p:nvPr/>
        </p:nvSpPr>
        <p:spPr>
          <a:xfrm>
            <a:off x="5669280" y="1371600"/>
            <a:ext cx="548640" cy="548640"/>
          </a:xfrm>
          <a:prstGeom prst="ellipse">
            <a:avLst/>
          </a:prstGeom>
          <a:solidFill>
            <a:schemeClr val="accent1"/>
          </a:solidFill>
          <a:ln w="19050">
            <a:solidFill>
              <a:schemeClr val="tx1"/>
            </a:solidFill>
            <a:prstDash val="solid"/>
          </a:ln>
        </p:spPr>
      </p:sp>
      <p:sp>
        <p:nvSpPr>
          <p:cNvPr id="11" name="Text 8"/>
          <p:cNvSpPr txBox="1"/>
          <p:nvPr/>
        </p:nvSpPr>
        <p:spPr>
          <a:xfrm>
            <a:off x="5669280" y="1371600"/>
            <a:ext cx="548640" cy="548640"/>
          </a:xfrm>
          <a:prstGeom prst="rect">
            <a:avLst/>
          </a:prstGeom>
          <a:noFill/>
          <a:ln/>
        </p:spPr>
        <p:txBody>
          <a:bodyPr wrap="square" lIns="0" tIns="0" rIns="0" bIns="0" rtlCol="0" anchor="ctr"/>
          <a:lstStyle/>
          <a:p>
            <a:pPr algn="ctr" indent="0" marL="0">
              <a:buNone/>
            </a:pPr>
            <a:r>
              <a:rPr lang="en-US" sz="2000" dirty="0">
                <a:solidFill>
                  <a:schemeClr val="bg2"/>
                </a:solidFill>
                <a:latin typeface="Rockwell Extra Bold" pitchFamily="34" charset="0"/>
                <a:ea typeface="Rockwell Extra Bold" pitchFamily="34" charset="-122"/>
                <a:cs typeface="Rockwell Extra Bold" pitchFamily="34" charset="-120"/>
              </a:rPr>
              <a:t>1</a:t>
            </a:r>
            <a:endParaRPr lang="en-US" sz="2000" dirty="0"/>
          </a:p>
        </p:txBody>
      </p:sp>
      <p:sp>
        <p:nvSpPr>
          <p:cNvPr id="12" name="Text 9"/>
          <p:cNvSpPr txBox="1"/>
          <p:nvPr/>
        </p:nvSpPr>
        <p:spPr>
          <a:xfrm>
            <a:off x="6400800" y="1353312"/>
            <a:ext cx="5212080" cy="411480"/>
          </a:xfrm>
          <a:prstGeom prst="rect">
            <a:avLst/>
          </a:prstGeom>
          <a:noFill/>
          <a:ln/>
        </p:spPr>
        <p:txBody>
          <a:bodyPr wrap="square" lIns="0" tIns="0" rIns="0" bIns="0" rtlCol="0" anchor="t"/>
          <a:lstStyle/>
          <a:p>
            <a:pPr indent="0" marL="0">
              <a:buNone/>
            </a:pPr>
            <a:r>
              <a:rPr lang="en-US" sz="1800" dirty="0">
                <a:solidFill>
                  <a:schemeClr val="accent1"/>
                </a:solidFill>
                <a:latin typeface="Rockwell Extra Bold" pitchFamily="34" charset="0"/>
                <a:ea typeface="Rockwell Extra Bold" pitchFamily="34" charset="-122"/>
                <a:cs typeface="Rockwell Extra Bold" pitchFamily="34" charset="-120"/>
              </a:rPr>
              <a:t>Choisis ta phrase-bouclier</a:t>
            </a:r>
            <a:endParaRPr lang="en-US" sz="1800" dirty="0"/>
          </a:p>
        </p:txBody>
      </p:sp>
      <p:sp>
        <p:nvSpPr>
          <p:cNvPr id="13" name="Text 10"/>
          <p:cNvSpPr txBox="1"/>
          <p:nvPr/>
        </p:nvSpPr>
        <p:spPr>
          <a:xfrm>
            <a:off x="6400800" y="1755648"/>
            <a:ext cx="5212080" cy="548640"/>
          </a:xfrm>
          <a:prstGeom prst="rect">
            <a:avLst/>
          </a:prstGeom>
          <a:noFill/>
          <a:ln/>
        </p:spPr>
        <p:txBody>
          <a:bodyPr wrap="square" lIns="0" tIns="0" rIns="0" bIns="0" rtlCol="0" anchor="t"/>
          <a:lstStyle/>
          <a:p>
            <a:pPr indent="0" marL="0">
              <a:buNone/>
            </a:pPr>
            <a:r>
              <a:rPr lang="en-US" sz="1500" dirty="0">
                <a:solidFill>
                  <a:schemeClr val="tx1"/>
                </a:solidFill>
                <a:latin typeface="Arial" pitchFamily="34" charset="0"/>
                <a:ea typeface="Arial" pitchFamily="34" charset="-122"/>
                <a:cs typeface="Arial" pitchFamily="34" charset="-120"/>
              </a:rPr>
              <a:t>Celle qui te protège de ta créature sous stress.</a:t>
            </a:r>
            <a:endParaRPr lang="en-US" sz="1500" dirty="0"/>
          </a:p>
        </p:txBody>
      </p:sp>
      <p:sp>
        <p:nvSpPr>
          <p:cNvPr id="14" name="Shape 11"/>
          <p:cNvSpPr/>
          <p:nvPr/>
        </p:nvSpPr>
        <p:spPr>
          <a:xfrm>
            <a:off x="5669280" y="2441448"/>
            <a:ext cx="548640" cy="548640"/>
          </a:xfrm>
          <a:prstGeom prst="ellipse">
            <a:avLst/>
          </a:prstGeom>
          <a:solidFill>
            <a:schemeClr val="accent1"/>
          </a:solidFill>
          <a:ln w="19050">
            <a:solidFill>
              <a:schemeClr val="tx1"/>
            </a:solidFill>
            <a:prstDash val="solid"/>
          </a:ln>
        </p:spPr>
      </p:sp>
      <p:sp>
        <p:nvSpPr>
          <p:cNvPr id="15" name="Text 12"/>
          <p:cNvSpPr txBox="1"/>
          <p:nvPr/>
        </p:nvSpPr>
        <p:spPr>
          <a:xfrm>
            <a:off x="5669280" y="2441448"/>
            <a:ext cx="548640" cy="548640"/>
          </a:xfrm>
          <a:prstGeom prst="rect">
            <a:avLst/>
          </a:prstGeom>
          <a:noFill/>
          <a:ln/>
        </p:spPr>
        <p:txBody>
          <a:bodyPr wrap="square" lIns="0" tIns="0" rIns="0" bIns="0" rtlCol="0" anchor="ctr"/>
          <a:lstStyle/>
          <a:p>
            <a:pPr algn="ctr" indent="0" marL="0">
              <a:buNone/>
            </a:pPr>
            <a:r>
              <a:rPr lang="en-US" sz="2000" dirty="0">
                <a:solidFill>
                  <a:schemeClr val="bg2"/>
                </a:solidFill>
                <a:latin typeface="Rockwell Extra Bold" pitchFamily="34" charset="0"/>
                <a:ea typeface="Rockwell Extra Bold" pitchFamily="34" charset="-122"/>
                <a:cs typeface="Rockwell Extra Bold" pitchFamily="34" charset="-120"/>
              </a:rPr>
              <a:t>2</a:t>
            </a:r>
            <a:endParaRPr lang="en-US" sz="2000" dirty="0"/>
          </a:p>
        </p:txBody>
      </p:sp>
      <p:sp>
        <p:nvSpPr>
          <p:cNvPr id="16" name="Text 13"/>
          <p:cNvSpPr txBox="1"/>
          <p:nvPr/>
        </p:nvSpPr>
        <p:spPr>
          <a:xfrm>
            <a:off x="6400800" y="2423160"/>
            <a:ext cx="5212080" cy="411480"/>
          </a:xfrm>
          <a:prstGeom prst="rect">
            <a:avLst/>
          </a:prstGeom>
          <a:noFill/>
          <a:ln/>
        </p:spPr>
        <p:txBody>
          <a:bodyPr wrap="square" lIns="0" tIns="0" rIns="0" bIns="0" rtlCol="0" anchor="t"/>
          <a:lstStyle/>
          <a:p>
            <a:pPr indent="0" marL="0">
              <a:buNone/>
            </a:pPr>
            <a:r>
              <a:rPr lang="en-US" sz="1800" dirty="0">
                <a:solidFill>
                  <a:schemeClr val="accent1"/>
                </a:solidFill>
                <a:latin typeface="Rockwell Extra Bold" pitchFamily="34" charset="0"/>
                <a:ea typeface="Rockwell Extra Bold" pitchFamily="34" charset="-122"/>
                <a:cs typeface="Rockwell Extra Bold" pitchFamily="34" charset="-120"/>
              </a:rPr>
              <a:t>Dessine un symbole</a:t>
            </a:r>
            <a:endParaRPr lang="en-US" sz="1800" dirty="0"/>
          </a:p>
        </p:txBody>
      </p:sp>
      <p:sp>
        <p:nvSpPr>
          <p:cNvPr id="17" name="Text 14"/>
          <p:cNvSpPr txBox="1"/>
          <p:nvPr/>
        </p:nvSpPr>
        <p:spPr>
          <a:xfrm>
            <a:off x="6400800" y="2825496"/>
            <a:ext cx="5212080" cy="548640"/>
          </a:xfrm>
          <a:prstGeom prst="rect">
            <a:avLst/>
          </a:prstGeom>
          <a:noFill/>
          <a:ln/>
        </p:spPr>
        <p:txBody>
          <a:bodyPr wrap="square" lIns="0" tIns="0" rIns="0" bIns="0" rtlCol="0" anchor="t"/>
          <a:lstStyle/>
          <a:p>
            <a:pPr indent="0" marL="0">
              <a:buNone/>
            </a:pPr>
            <a:r>
              <a:rPr lang="en-US" sz="1500" dirty="0">
                <a:solidFill>
                  <a:schemeClr val="tx1"/>
                </a:solidFill>
                <a:latin typeface="Arial" pitchFamily="34" charset="0"/>
                <a:ea typeface="Arial" pitchFamily="34" charset="-122"/>
                <a:cs typeface="Arial" pitchFamily="34" charset="-120"/>
              </a:rPr>
              <a:t>60 secondes. Simple, à toi.</a:t>
            </a:r>
            <a:endParaRPr lang="en-US" sz="1500" dirty="0"/>
          </a:p>
        </p:txBody>
      </p:sp>
      <p:sp>
        <p:nvSpPr>
          <p:cNvPr id="18" name="Shape 15"/>
          <p:cNvSpPr/>
          <p:nvPr/>
        </p:nvSpPr>
        <p:spPr>
          <a:xfrm>
            <a:off x="5669280" y="3511296"/>
            <a:ext cx="548640" cy="548640"/>
          </a:xfrm>
          <a:prstGeom prst="ellipse">
            <a:avLst/>
          </a:prstGeom>
          <a:solidFill>
            <a:schemeClr val="accent1"/>
          </a:solidFill>
          <a:ln w="19050">
            <a:solidFill>
              <a:schemeClr val="tx1"/>
            </a:solidFill>
            <a:prstDash val="solid"/>
          </a:ln>
        </p:spPr>
      </p:sp>
      <p:sp>
        <p:nvSpPr>
          <p:cNvPr id="19" name="Text 16"/>
          <p:cNvSpPr txBox="1"/>
          <p:nvPr/>
        </p:nvSpPr>
        <p:spPr>
          <a:xfrm>
            <a:off x="5669280" y="3511296"/>
            <a:ext cx="548640" cy="548640"/>
          </a:xfrm>
          <a:prstGeom prst="rect">
            <a:avLst/>
          </a:prstGeom>
          <a:noFill/>
          <a:ln/>
        </p:spPr>
        <p:txBody>
          <a:bodyPr wrap="square" lIns="0" tIns="0" rIns="0" bIns="0" rtlCol="0" anchor="ctr"/>
          <a:lstStyle/>
          <a:p>
            <a:pPr algn="ctr" indent="0" marL="0">
              <a:buNone/>
            </a:pPr>
            <a:r>
              <a:rPr lang="en-US" sz="2000" dirty="0">
                <a:solidFill>
                  <a:schemeClr val="bg2"/>
                </a:solidFill>
                <a:latin typeface="Rockwell Extra Bold" pitchFamily="34" charset="0"/>
                <a:ea typeface="Rockwell Extra Bold" pitchFamily="34" charset="-122"/>
                <a:cs typeface="Rockwell Extra Bold" pitchFamily="34" charset="-120"/>
              </a:rPr>
              <a:t>3</a:t>
            </a:r>
            <a:endParaRPr lang="en-US" sz="2000" dirty="0"/>
          </a:p>
        </p:txBody>
      </p:sp>
      <p:sp>
        <p:nvSpPr>
          <p:cNvPr id="20" name="Text 17"/>
          <p:cNvSpPr txBox="1"/>
          <p:nvPr/>
        </p:nvSpPr>
        <p:spPr>
          <a:xfrm>
            <a:off x="6400800" y="3493008"/>
            <a:ext cx="5212080" cy="411480"/>
          </a:xfrm>
          <a:prstGeom prst="rect">
            <a:avLst/>
          </a:prstGeom>
          <a:noFill/>
          <a:ln/>
        </p:spPr>
        <p:txBody>
          <a:bodyPr wrap="square" lIns="0" tIns="0" rIns="0" bIns="0" rtlCol="0" anchor="t"/>
          <a:lstStyle/>
          <a:p>
            <a:pPr indent="0" marL="0">
              <a:buNone/>
            </a:pPr>
            <a:r>
              <a:rPr lang="en-US" sz="1800" dirty="0">
                <a:solidFill>
                  <a:schemeClr val="accent1"/>
                </a:solidFill>
                <a:latin typeface="Rockwell Extra Bold" pitchFamily="34" charset="0"/>
                <a:ea typeface="Rockwell Extra Bold" pitchFamily="34" charset="-122"/>
                <a:cs typeface="Rockwell Extra Bold" pitchFamily="34" charset="-120"/>
              </a:rPr>
              <a:t>Découpe, garde-le sur toi</a:t>
            </a:r>
            <a:endParaRPr lang="en-US" sz="1800" dirty="0"/>
          </a:p>
        </p:txBody>
      </p:sp>
      <p:sp>
        <p:nvSpPr>
          <p:cNvPr id="21" name="Text 18"/>
          <p:cNvSpPr txBox="1"/>
          <p:nvPr/>
        </p:nvSpPr>
        <p:spPr>
          <a:xfrm>
            <a:off x="6400800" y="3895344"/>
            <a:ext cx="5212080" cy="548640"/>
          </a:xfrm>
          <a:prstGeom prst="rect">
            <a:avLst/>
          </a:prstGeom>
          <a:noFill/>
          <a:ln/>
        </p:spPr>
        <p:txBody>
          <a:bodyPr wrap="square" lIns="0" tIns="0" rIns="0" bIns="0" rtlCol="0" anchor="t"/>
          <a:lstStyle/>
          <a:p>
            <a:pPr indent="0" marL="0">
              <a:buNone/>
            </a:pPr>
            <a:r>
              <a:rPr lang="en-US" sz="1500" dirty="0">
                <a:solidFill>
                  <a:schemeClr val="tx1"/>
                </a:solidFill>
                <a:latin typeface="Arial" pitchFamily="34" charset="0"/>
                <a:ea typeface="Arial" pitchFamily="34" charset="-122"/>
                <a:cs typeface="Arial" pitchFamily="34" charset="-120"/>
              </a:rPr>
              <a:t>Portefeuille, étui de téléphone, ficelle.</a:t>
            </a:r>
            <a:endParaRPr lang="en-US" sz="1500" dirty="0"/>
          </a:p>
        </p:txBody>
      </p:sp>
      <p:sp>
        <p:nvSpPr>
          <p:cNvPr id="22" name="Shape 19"/>
          <p:cNvSpPr/>
          <p:nvPr/>
        </p:nvSpPr>
        <p:spPr>
          <a:xfrm>
            <a:off x="5669280" y="4581144"/>
            <a:ext cx="548640" cy="548640"/>
          </a:xfrm>
          <a:prstGeom prst="ellipse">
            <a:avLst/>
          </a:prstGeom>
          <a:solidFill>
            <a:schemeClr val="accent2"/>
          </a:solidFill>
          <a:ln w="19050">
            <a:solidFill>
              <a:schemeClr val="tx1"/>
            </a:solidFill>
            <a:prstDash val="solid"/>
          </a:ln>
        </p:spPr>
      </p:sp>
      <p:sp>
        <p:nvSpPr>
          <p:cNvPr id="23" name="Text 20"/>
          <p:cNvSpPr txBox="1"/>
          <p:nvPr/>
        </p:nvSpPr>
        <p:spPr>
          <a:xfrm>
            <a:off x="5669280" y="4581144"/>
            <a:ext cx="548640" cy="548640"/>
          </a:xfrm>
          <a:prstGeom prst="rect">
            <a:avLst/>
          </a:prstGeom>
          <a:noFill/>
          <a:ln/>
        </p:spPr>
        <p:txBody>
          <a:bodyPr wrap="square" lIns="0" tIns="0" rIns="0" bIns="0" rtlCol="0" anchor="ctr"/>
          <a:lstStyle/>
          <a:p>
            <a:pPr algn="ctr" indent="0" marL="0">
              <a:buNone/>
            </a:pPr>
            <a:r>
              <a:rPr lang="en-US" sz="2000" dirty="0">
                <a:solidFill>
                  <a:schemeClr val="tx1"/>
                </a:solidFill>
                <a:latin typeface="Rockwell Extra Bold" pitchFamily="34" charset="0"/>
                <a:ea typeface="Rockwell Extra Bold" pitchFamily="34" charset="-122"/>
                <a:cs typeface="Rockwell Extra Bold" pitchFamily="34" charset="-120"/>
              </a:rPr>
              <a:t>4</a:t>
            </a:r>
            <a:endParaRPr lang="en-US" sz="2000" dirty="0"/>
          </a:p>
        </p:txBody>
      </p:sp>
      <p:sp>
        <p:nvSpPr>
          <p:cNvPr id="24" name="Text 21"/>
          <p:cNvSpPr txBox="1"/>
          <p:nvPr/>
        </p:nvSpPr>
        <p:spPr>
          <a:xfrm>
            <a:off x="6400800" y="4562856"/>
            <a:ext cx="5212080" cy="411480"/>
          </a:xfrm>
          <a:prstGeom prst="rect">
            <a:avLst/>
          </a:prstGeom>
          <a:noFill/>
          <a:ln/>
        </p:spPr>
        <p:txBody>
          <a:bodyPr wrap="square" lIns="0" tIns="0" rIns="0" bIns="0" rtlCol="0" anchor="t"/>
          <a:lstStyle/>
          <a:p>
            <a:pPr indent="0" marL="0">
              <a:buNone/>
            </a:pPr>
            <a:r>
              <a:rPr lang="en-US" sz="1800" dirty="0">
                <a:solidFill>
                  <a:schemeClr val="accent1"/>
                </a:solidFill>
                <a:latin typeface="Rockwell Extra Bold" pitchFamily="34" charset="0"/>
                <a:ea typeface="Rockwell Extra Bold" pitchFamily="34" charset="-122"/>
                <a:cs typeface="Rockwell Extra Bold" pitchFamily="34" charset="-120"/>
              </a:rPr>
              <a:t>Variante : offre-le</a:t>
            </a:r>
            <a:endParaRPr lang="en-US" sz="1800" dirty="0"/>
          </a:p>
        </p:txBody>
      </p:sp>
      <p:sp>
        <p:nvSpPr>
          <p:cNvPr id="25" name="Text 22"/>
          <p:cNvSpPr txBox="1"/>
          <p:nvPr/>
        </p:nvSpPr>
        <p:spPr>
          <a:xfrm>
            <a:off x="6400800" y="4965192"/>
            <a:ext cx="5212080" cy="548640"/>
          </a:xfrm>
          <a:prstGeom prst="rect">
            <a:avLst/>
          </a:prstGeom>
          <a:noFill/>
          <a:ln/>
        </p:spPr>
        <p:txBody>
          <a:bodyPr wrap="square" lIns="0" tIns="0" rIns="0" bIns="0" rtlCol="0" anchor="t"/>
          <a:lstStyle/>
          <a:p>
            <a:pPr indent="0" marL="0">
              <a:buNone/>
            </a:pPr>
            <a:r>
              <a:rPr lang="en-US" sz="1500" dirty="0">
                <a:solidFill>
                  <a:schemeClr val="tx1"/>
                </a:solidFill>
                <a:latin typeface="Arial" pitchFamily="34" charset="0"/>
                <a:ea typeface="Arial" pitchFamily="34" charset="-122"/>
                <a:cs typeface="Arial" pitchFamily="34" charset="-120"/>
              </a:rPr>
              <a:t>Fais-en un pour ton partenaire, avec la phrase que tu l'as vu bien utiliser.</a:t>
            </a:r>
            <a:endParaRPr lang="en-US" sz="15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1"/>
                </a:solidFill>
                <a:latin typeface="Arial"/>
                <a:ea typeface="Arial"/>
                <a:cs typeface="Aria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lIns="0" tIns="0" rIns="0" bIns="0" rtlCol="0" anchor="t"/>
          <a:lstStyle/>
          <a:p>
            <a:pPr algn="l" indent="0" marL="0">
              <a:buNone/>
            </a:pPr>
            <a:r>
              <a:rPr lang="en-US" sz="3600" dirty="0">
                <a:solidFill>
                  <a:schemeClr val="accent2"/>
                </a:solidFill>
              </a:rPr>
              <a:t>Mise à jour relationnelle</a:t>
            </a:r>
            <a:endParaRPr lang="en-US" sz="3600" dirty="0"/>
          </a:p>
        </p:txBody>
      </p:sp>
      <p:sp>
        <p:nvSpPr>
          <p:cNvPr id="3" name="Shape 1"/>
          <p:cNvSpPr/>
          <p:nvPr/>
        </p:nvSpPr>
        <p:spPr>
          <a:xfrm>
            <a:off x="9966960" y="411480"/>
            <a:ext cx="1645920" cy="457200"/>
          </a:xfrm>
          <a:prstGeom prst="roundRect">
            <a:avLst>
              <a:gd name="adj" fmla="val 50000"/>
            </a:avLst>
          </a:prstGeom>
          <a:solidFill>
            <a:schemeClr val="accent2"/>
          </a:solidFill>
          <a:ln/>
        </p:spPr>
      </p:sp>
      <p:sp>
        <p:nvSpPr>
          <p:cNvPr id="4" name="Text 2"/>
          <p:cNvSpPr txBox="1"/>
          <p:nvPr/>
        </p:nvSpPr>
        <p:spPr>
          <a:xfrm>
            <a:off x="9966960" y="411480"/>
            <a:ext cx="1645920" cy="457200"/>
          </a:xfrm>
          <a:prstGeom prst="rect">
            <a:avLst/>
          </a:prstGeom>
          <a:noFill/>
          <a:ln/>
        </p:spPr>
        <p:txBody>
          <a:bodyPr wrap="square" lIns="0" tIns="0" rIns="0" bIns="0" rtlCol="0" anchor="ctr"/>
          <a:lstStyle/>
          <a:p>
            <a:pPr algn="ctr" indent="0" marL="0">
              <a:buNone/>
            </a:pPr>
            <a:r>
              <a:rPr lang="en-US" sz="1400" b="1" dirty="0">
                <a:solidFill>
                  <a:schemeClr val="tx1"/>
                </a:solidFill>
              </a:rPr>
              <a:t>⏱ 15 min</a:t>
            </a:r>
            <a:endParaRPr lang="en-US" sz="1400" dirty="0"/>
          </a:p>
        </p:txBody>
      </p:sp>
      <p:sp>
        <p:nvSpPr>
          <p:cNvPr id="5" name="Shape 3"/>
          <p:cNvSpPr/>
          <p:nvPr/>
        </p:nvSpPr>
        <p:spPr>
          <a:xfrm>
            <a:off x="548640" y="1371600"/>
            <a:ext cx="5486400" cy="4480560"/>
          </a:xfrm>
          <a:prstGeom prst="rect">
            <a:avLst/>
          </a:prstGeom>
          <a:solidFill>
            <a:schemeClr val="bg1"/>
          </a:solidFill>
          <a:ln w="25400">
            <a:solidFill>
              <a:schemeClr val="bg2"/>
            </a:solidFill>
            <a:prstDash val="solid"/>
          </a:ln>
        </p:spPr>
      </p:sp>
      <p:sp>
        <p:nvSpPr>
          <p:cNvPr id="6" name="Shape 4"/>
          <p:cNvSpPr/>
          <p:nvPr/>
        </p:nvSpPr>
        <p:spPr>
          <a:xfrm>
            <a:off x="548640" y="1371600"/>
            <a:ext cx="5486400" cy="411480"/>
          </a:xfrm>
          <a:prstGeom prst="rect">
            <a:avLst/>
          </a:prstGeom>
          <a:solidFill>
            <a:schemeClr val="accent2"/>
          </a:solidFill>
          <a:ln/>
        </p:spPr>
      </p:sp>
      <p:sp>
        <p:nvSpPr>
          <p:cNvPr id="7" name="Text 5"/>
          <p:cNvSpPr txBox="1"/>
          <p:nvPr/>
        </p:nvSpPr>
        <p:spPr>
          <a:xfrm>
            <a:off x="731520" y="1371600"/>
            <a:ext cx="5120640" cy="411480"/>
          </a:xfrm>
          <a:prstGeom prst="rect">
            <a:avLst/>
          </a:prstGeom>
          <a:noFill/>
          <a:ln/>
        </p:spPr>
        <p:txBody>
          <a:bodyPr wrap="square" lIns="0" tIns="0" rIns="0" bIns="0" rtlCol="0" anchor="ctr"/>
          <a:lstStyle/>
          <a:p>
            <a:pPr indent="0" marL="0">
              <a:buNone/>
            </a:pPr>
            <a:r>
              <a:rPr lang="en-US" sz="1400" b="1" dirty="0">
                <a:solidFill>
                  <a:schemeClr val="tx1"/>
                </a:solidFill>
                <a:latin typeface="Courier New" pitchFamily="34" charset="0"/>
                <a:ea typeface="Courier New" pitchFamily="34" charset="-122"/>
                <a:cs typeface="Courier New" pitchFamily="34" charset="-120"/>
              </a:rPr>
              <a:t>● ● ●   notes_de_version.txt</a:t>
            </a:r>
            <a:endParaRPr lang="en-US" sz="1400" dirty="0"/>
          </a:p>
        </p:txBody>
      </p:sp>
      <p:sp>
        <p:nvSpPr>
          <p:cNvPr id="8" name="Text 6"/>
          <p:cNvSpPr txBox="1"/>
          <p:nvPr/>
        </p:nvSpPr>
        <p:spPr>
          <a:xfrm>
            <a:off x="822960" y="1920240"/>
            <a:ext cx="4937760" cy="457200"/>
          </a:xfrm>
          <a:prstGeom prst="rect">
            <a:avLst/>
          </a:prstGeom>
          <a:noFill/>
          <a:ln/>
        </p:spPr>
        <p:txBody>
          <a:bodyPr wrap="square" lIns="0" tIns="0" rIns="0" bIns="0" rtlCol="0" anchor="t"/>
          <a:lstStyle/>
          <a:p>
            <a:pPr indent="0" marL="0">
              <a:buNone/>
            </a:pPr>
            <a:r>
              <a:rPr lang="en-US" sz="2200" dirty="0">
                <a:solidFill>
                  <a:schemeClr val="accent1"/>
                </a:solidFill>
                <a:latin typeface="Rockwell Extra Bold" pitchFamily="34" charset="0"/>
                <a:ea typeface="Rockwell Extra Bold" pitchFamily="34" charset="-122"/>
                <a:cs typeface="Rockwell Extra Bold" pitchFamily="34" charset="-120"/>
              </a:rPr>
              <a:t>Relation v2.0</a:t>
            </a:r>
            <a:endParaRPr lang="en-US" sz="2200" dirty="0"/>
          </a:p>
        </p:txBody>
      </p:sp>
      <p:sp>
        <p:nvSpPr>
          <p:cNvPr id="9" name="Text 7"/>
          <p:cNvSpPr txBox="1"/>
          <p:nvPr/>
        </p:nvSpPr>
        <p:spPr>
          <a:xfrm>
            <a:off x="822960" y="2514600"/>
            <a:ext cx="4937760" cy="365760"/>
          </a:xfrm>
          <a:prstGeom prst="rect">
            <a:avLst/>
          </a:prstGeom>
          <a:noFill/>
          <a:ln/>
        </p:spPr>
        <p:txBody>
          <a:bodyPr wrap="square" lIns="0" tIns="0" rIns="0" bIns="0" rtlCol="0" anchor="t"/>
          <a:lstStyle/>
          <a:p>
            <a:pPr indent="0" marL="0">
              <a:buNone/>
            </a:pPr>
            <a:r>
              <a:rPr lang="en-US" sz="1500" b="1" dirty="0">
                <a:solidFill>
                  <a:schemeClr val="tx1"/>
                </a:solidFill>
                <a:latin typeface="Arial" pitchFamily="34" charset="0"/>
                <a:ea typeface="Arial" pitchFamily="34" charset="-122"/>
                <a:cs typeface="Arial" pitchFamily="34" charset="-120"/>
              </a:rPr>
              <a:t>À :</a:t>
            </a:r>
            <a:endParaRPr lang="en-US" sz="1500" dirty="0"/>
          </a:p>
        </p:txBody>
      </p:sp>
      <p:sp>
        <p:nvSpPr>
          <p:cNvPr id="10" name="Shape 8"/>
          <p:cNvSpPr/>
          <p:nvPr/>
        </p:nvSpPr>
        <p:spPr>
          <a:xfrm>
            <a:off x="822960" y="2971800"/>
            <a:ext cx="4937760" cy="0"/>
          </a:xfrm>
          <a:prstGeom prst="line">
            <a:avLst/>
          </a:prstGeom>
          <a:noFill/>
          <a:ln w="12700">
            <a:solidFill>
              <a:schemeClr val="tx1"/>
            </a:solidFill>
            <a:prstDash val="solid"/>
          </a:ln>
        </p:spPr>
      </p:sp>
      <p:sp>
        <p:nvSpPr>
          <p:cNvPr id="11" name="Text 9"/>
          <p:cNvSpPr txBox="1"/>
          <p:nvPr/>
        </p:nvSpPr>
        <p:spPr>
          <a:xfrm>
            <a:off x="822960" y="3136392"/>
            <a:ext cx="4937760" cy="365760"/>
          </a:xfrm>
          <a:prstGeom prst="rect">
            <a:avLst/>
          </a:prstGeom>
          <a:noFill/>
          <a:ln/>
        </p:spPr>
        <p:txBody>
          <a:bodyPr wrap="square" lIns="0" tIns="0" rIns="0" bIns="0" rtlCol="0" anchor="t"/>
          <a:lstStyle/>
          <a:p>
            <a:pPr indent="0" marL="0">
              <a:buNone/>
            </a:pPr>
            <a:r>
              <a:rPr lang="en-US" sz="1500" b="1" dirty="0">
                <a:solidFill>
                  <a:schemeClr val="tx1"/>
                </a:solidFill>
                <a:latin typeface="Arial" pitchFamily="34" charset="0"/>
                <a:ea typeface="Arial" pitchFamily="34" charset="-122"/>
                <a:cs typeface="Arial" pitchFamily="34" charset="-120"/>
              </a:rPr>
              <a:t>Correctif : j'arrête de…</a:t>
            </a:r>
            <a:endParaRPr lang="en-US" sz="1500" dirty="0"/>
          </a:p>
        </p:txBody>
      </p:sp>
      <p:sp>
        <p:nvSpPr>
          <p:cNvPr id="12" name="Shape 10"/>
          <p:cNvSpPr/>
          <p:nvPr/>
        </p:nvSpPr>
        <p:spPr>
          <a:xfrm>
            <a:off x="822960" y="3593592"/>
            <a:ext cx="4937760" cy="0"/>
          </a:xfrm>
          <a:prstGeom prst="line">
            <a:avLst/>
          </a:prstGeom>
          <a:noFill/>
          <a:ln w="12700">
            <a:solidFill>
              <a:schemeClr val="tx1"/>
            </a:solidFill>
            <a:prstDash val="solid"/>
          </a:ln>
        </p:spPr>
      </p:sp>
      <p:sp>
        <p:nvSpPr>
          <p:cNvPr id="13" name="Text 11"/>
          <p:cNvSpPr txBox="1"/>
          <p:nvPr/>
        </p:nvSpPr>
        <p:spPr>
          <a:xfrm>
            <a:off x="822960" y="3758184"/>
            <a:ext cx="4937760" cy="365760"/>
          </a:xfrm>
          <a:prstGeom prst="rect">
            <a:avLst/>
          </a:prstGeom>
          <a:noFill/>
          <a:ln/>
        </p:spPr>
        <p:txBody>
          <a:bodyPr wrap="square" lIns="0" tIns="0" rIns="0" bIns="0" rtlCol="0" anchor="t"/>
          <a:lstStyle/>
          <a:p>
            <a:pPr indent="0" marL="0">
              <a:buNone/>
            </a:pPr>
            <a:r>
              <a:rPr lang="en-US" sz="1500" b="1" dirty="0">
                <a:solidFill>
                  <a:schemeClr val="tx1"/>
                </a:solidFill>
                <a:latin typeface="Arial" pitchFamily="34" charset="0"/>
                <a:ea typeface="Arial" pitchFamily="34" charset="-122"/>
                <a:cs typeface="Arial" pitchFamily="34" charset="-120"/>
              </a:rPr>
              <a:t>Nouveauté : je vais essayer…</a:t>
            </a:r>
            <a:endParaRPr lang="en-US" sz="1500" dirty="0"/>
          </a:p>
        </p:txBody>
      </p:sp>
      <p:sp>
        <p:nvSpPr>
          <p:cNvPr id="14" name="Shape 12"/>
          <p:cNvSpPr/>
          <p:nvPr/>
        </p:nvSpPr>
        <p:spPr>
          <a:xfrm>
            <a:off x="822960" y="4215384"/>
            <a:ext cx="4937760" cy="0"/>
          </a:xfrm>
          <a:prstGeom prst="line">
            <a:avLst/>
          </a:prstGeom>
          <a:noFill/>
          <a:ln w="12700">
            <a:solidFill>
              <a:schemeClr val="tx1"/>
            </a:solidFill>
            <a:prstDash val="solid"/>
          </a:ln>
        </p:spPr>
      </p:sp>
      <p:sp>
        <p:nvSpPr>
          <p:cNvPr id="15" name="Text 13"/>
          <p:cNvSpPr txBox="1"/>
          <p:nvPr/>
        </p:nvSpPr>
        <p:spPr>
          <a:xfrm>
            <a:off x="822960" y="4379976"/>
            <a:ext cx="4937760" cy="365760"/>
          </a:xfrm>
          <a:prstGeom prst="rect">
            <a:avLst/>
          </a:prstGeom>
          <a:noFill/>
          <a:ln/>
        </p:spPr>
        <p:txBody>
          <a:bodyPr wrap="square" lIns="0" tIns="0" rIns="0" bIns="0" rtlCol="0" anchor="t"/>
          <a:lstStyle/>
          <a:p>
            <a:pPr indent="0" marL="0">
              <a:buNone/>
            </a:pPr>
            <a:r>
              <a:rPr lang="en-US" sz="1500" b="1" dirty="0">
                <a:solidFill>
                  <a:schemeClr val="tx1"/>
                </a:solidFill>
                <a:latin typeface="Arial" pitchFamily="34" charset="0"/>
                <a:ea typeface="Arial" pitchFamily="34" charset="-122"/>
                <a:cs typeface="Arial" pitchFamily="34" charset="-120"/>
              </a:rPr>
              <a:t>Bogue connu :</a:t>
            </a:r>
            <a:endParaRPr lang="en-US" sz="1500" dirty="0"/>
          </a:p>
        </p:txBody>
      </p:sp>
      <p:sp>
        <p:nvSpPr>
          <p:cNvPr id="16" name="Shape 14"/>
          <p:cNvSpPr/>
          <p:nvPr/>
        </p:nvSpPr>
        <p:spPr>
          <a:xfrm>
            <a:off x="822960" y="4837176"/>
            <a:ext cx="4937760" cy="0"/>
          </a:xfrm>
          <a:prstGeom prst="line">
            <a:avLst/>
          </a:prstGeom>
          <a:noFill/>
          <a:ln w="12700">
            <a:solidFill>
              <a:schemeClr val="tx1"/>
            </a:solidFill>
            <a:prstDash val="solid"/>
          </a:ln>
        </p:spPr>
      </p:sp>
      <p:sp>
        <p:nvSpPr>
          <p:cNvPr id="17" name="Text 15"/>
          <p:cNvSpPr txBox="1"/>
          <p:nvPr/>
        </p:nvSpPr>
        <p:spPr>
          <a:xfrm>
            <a:off x="822960" y="5001768"/>
            <a:ext cx="4937760" cy="365760"/>
          </a:xfrm>
          <a:prstGeom prst="rect">
            <a:avLst/>
          </a:prstGeom>
          <a:noFill/>
          <a:ln/>
        </p:spPr>
        <p:txBody>
          <a:bodyPr wrap="square" lIns="0" tIns="0" rIns="0" bIns="0" rtlCol="0" anchor="t"/>
          <a:lstStyle/>
          <a:p>
            <a:pPr indent="0" marL="0">
              <a:buNone/>
            </a:pPr>
            <a:r>
              <a:rPr lang="en-US" sz="1500" b="1" dirty="0">
                <a:solidFill>
                  <a:schemeClr val="accent1"/>
                </a:solidFill>
                <a:latin typeface="Arial" pitchFamily="34" charset="0"/>
                <a:ea typeface="Arial" pitchFamily="34" charset="-122"/>
                <a:cs typeface="Arial" pitchFamily="34" charset="-120"/>
              </a:rPr>
              <a:t>Mise à jour demandée : je te demande…</a:t>
            </a:r>
            <a:endParaRPr lang="en-US" sz="1500" dirty="0"/>
          </a:p>
        </p:txBody>
      </p:sp>
      <p:sp>
        <p:nvSpPr>
          <p:cNvPr id="18" name="Shape 16"/>
          <p:cNvSpPr/>
          <p:nvPr/>
        </p:nvSpPr>
        <p:spPr>
          <a:xfrm>
            <a:off x="822960" y="5458968"/>
            <a:ext cx="4937760" cy="0"/>
          </a:xfrm>
          <a:prstGeom prst="line">
            <a:avLst/>
          </a:prstGeom>
          <a:noFill/>
          <a:ln w="12700">
            <a:solidFill>
              <a:schemeClr val="tx1"/>
            </a:solidFill>
            <a:prstDash val="solid"/>
          </a:ln>
        </p:spPr>
      </p:sp>
      <p:sp>
        <p:nvSpPr>
          <p:cNvPr id="19" name="Shape 17"/>
          <p:cNvSpPr/>
          <p:nvPr/>
        </p:nvSpPr>
        <p:spPr>
          <a:xfrm>
            <a:off x="6492240" y="1463040"/>
            <a:ext cx="548640" cy="548640"/>
          </a:xfrm>
          <a:prstGeom prst="ellipse">
            <a:avLst/>
          </a:prstGeom>
          <a:solidFill>
            <a:schemeClr val="accent1"/>
          </a:solidFill>
          <a:ln w="19050">
            <a:solidFill>
              <a:schemeClr val="tx1"/>
            </a:solidFill>
            <a:prstDash val="solid"/>
          </a:ln>
        </p:spPr>
      </p:sp>
      <p:sp>
        <p:nvSpPr>
          <p:cNvPr id="20" name="Text 18"/>
          <p:cNvSpPr txBox="1"/>
          <p:nvPr/>
        </p:nvSpPr>
        <p:spPr>
          <a:xfrm>
            <a:off x="6492240" y="1463040"/>
            <a:ext cx="548640" cy="548640"/>
          </a:xfrm>
          <a:prstGeom prst="rect">
            <a:avLst/>
          </a:prstGeom>
          <a:noFill/>
          <a:ln/>
        </p:spPr>
        <p:txBody>
          <a:bodyPr wrap="square" lIns="0" tIns="0" rIns="0" bIns="0" rtlCol="0" anchor="ctr"/>
          <a:lstStyle/>
          <a:p>
            <a:pPr algn="ctr" indent="0" marL="0">
              <a:buNone/>
            </a:pPr>
            <a:r>
              <a:rPr lang="en-US" sz="2000" dirty="0">
                <a:solidFill>
                  <a:schemeClr val="bg2"/>
                </a:solidFill>
                <a:latin typeface="Rockwell Extra Bold" pitchFamily="34" charset="0"/>
                <a:ea typeface="Rockwell Extra Bold" pitchFamily="34" charset="-122"/>
                <a:cs typeface="Rockwell Extra Bold" pitchFamily="34" charset="-120"/>
              </a:rPr>
              <a:t>1</a:t>
            </a:r>
            <a:endParaRPr lang="en-US" sz="2000" dirty="0"/>
          </a:p>
        </p:txBody>
      </p:sp>
      <p:sp>
        <p:nvSpPr>
          <p:cNvPr id="21" name="Text 19"/>
          <p:cNvSpPr txBox="1"/>
          <p:nvPr/>
        </p:nvSpPr>
        <p:spPr>
          <a:xfrm>
            <a:off x="7223760" y="1417320"/>
            <a:ext cx="4389120" cy="822960"/>
          </a:xfrm>
          <a:prstGeom prst="rect">
            <a:avLst/>
          </a:prstGeom>
          <a:noFill/>
          <a:ln/>
        </p:spPr>
        <p:txBody>
          <a:bodyPr wrap="square" lIns="0" tIns="0" rIns="0" bIns="0" rtlCol="0" anchor="ctr"/>
          <a:lstStyle/>
          <a:p>
            <a:pPr indent="0" marL="0">
              <a:buNone/>
            </a:pPr>
            <a:r>
              <a:rPr lang="en-US" sz="1700" dirty="0">
                <a:solidFill>
                  <a:schemeClr val="bg2"/>
                </a:solidFill>
                <a:latin typeface="Arial" pitchFamily="34" charset="0"/>
                <a:ea typeface="Arial" pitchFamily="34" charset="-122"/>
                <a:cs typeface="Arial" pitchFamily="34" charset="-120"/>
              </a:rPr>
              <a:t>Pense à une personne avec qui un débat a mal tourné.</a:t>
            </a:r>
            <a:endParaRPr lang="en-US" sz="1700" dirty="0"/>
          </a:p>
        </p:txBody>
      </p:sp>
      <p:sp>
        <p:nvSpPr>
          <p:cNvPr id="22" name="Shape 20"/>
          <p:cNvSpPr/>
          <p:nvPr/>
        </p:nvSpPr>
        <p:spPr>
          <a:xfrm>
            <a:off x="6492240" y="2514600"/>
            <a:ext cx="548640" cy="548640"/>
          </a:xfrm>
          <a:prstGeom prst="ellipse">
            <a:avLst/>
          </a:prstGeom>
          <a:solidFill>
            <a:schemeClr val="accent1"/>
          </a:solidFill>
          <a:ln w="19050">
            <a:solidFill>
              <a:schemeClr val="tx1"/>
            </a:solidFill>
            <a:prstDash val="solid"/>
          </a:ln>
        </p:spPr>
      </p:sp>
      <p:sp>
        <p:nvSpPr>
          <p:cNvPr id="23" name="Text 21"/>
          <p:cNvSpPr txBox="1"/>
          <p:nvPr/>
        </p:nvSpPr>
        <p:spPr>
          <a:xfrm>
            <a:off x="6492240" y="2514600"/>
            <a:ext cx="548640" cy="548640"/>
          </a:xfrm>
          <a:prstGeom prst="rect">
            <a:avLst/>
          </a:prstGeom>
          <a:noFill/>
          <a:ln/>
        </p:spPr>
        <p:txBody>
          <a:bodyPr wrap="square" lIns="0" tIns="0" rIns="0" bIns="0" rtlCol="0" anchor="ctr"/>
          <a:lstStyle/>
          <a:p>
            <a:pPr algn="ctr" indent="0" marL="0">
              <a:buNone/>
            </a:pPr>
            <a:r>
              <a:rPr lang="en-US" sz="2000" dirty="0">
                <a:solidFill>
                  <a:schemeClr val="bg2"/>
                </a:solidFill>
                <a:latin typeface="Rockwell Extra Bold" pitchFamily="34" charset="0"/>
                <a:ea typeface="Rockwell Extra Bold" pitchFamily="34" charset="-122"/>
                <a:cs typeface="Rockwell Extra Bold" pitchFamily="34" charset="-120"/>
              </a:rPr>
              <a:t>2</a:t>
            </a:r>
            <a:endParaRPr lang="en-US" sz="2000" dirty="0"/>
          </a:p>
        </p:txBody>
      </p:sp>
      <p:sp>
        <p:nvSpPr>
          <p:cNvPr id="24" name="Text 22"/>
          <p:cNvSpPr txBox="1"/>
          <p:nvPr/>
        </p:nvSpPr>
        <p:spPr>
          <a:xfrm>
            <a:off x="7223760" y="2468880"/>
            <a:ext cx="4389120" cy="822960"/>
          </a:xfrm>
          <a:prstGeom prst="rect">
            <a:avLst/>
          </a:prstGeom>
          <a:noFill/>
          <a:ln/>
        </p:spPr>
        <p:txBody>
          <a:bodyPr wrap="square" lIns="0" tIns="0" rIns="0" bIns="0" rtlCol="0" anchor="ctr"/>
          <a:lstStyle/>
          <a:p>
            <a:pPr indent="0" marL="0">
              <a:buNone/>
            </a:pPr>
            <a:r>
              <a:rPr lang="en-US" sz="1700" dirty="0">
                <a:solidFill>
                  <a:schemeClr val="bg2"/>
                </a:solidFill>
                <a:latin typeface="Arial" pitchFamily="34" charset="0"/>
                <a:ea typeface="Arial" pitchFamily="34" charset="-122"/>
                <a:cs typeface="Arial" pitchFamily="34" charset="-120"/>
              </a:rPr>
              <a:t>Écris-lui tes notes de version (zine p. 8).</a:t>
            </a:r>
            <a:endParaRPr lang="en-US" sz="1700" dirty="0"/>
          </a:p>
        </p:txBody>
      </p:sp>
      <p:sp>
        <p:nvSpPr>
          <p:cNvPr id="25" name="Shape 23"/>
          <p:cNvSpPr/>
          <p:nvPr/>
        </p:nvSpPr>
        <p:spPr>
          <a:xfrm>
            <a:off x="6492240" y="3566160"/>
            <a:ext cx="548640" cy="548640"/>
          </a:xfrm>
          <a:prstGeom prst="ellipse">
            <a:avLst/>
          </a:prstGeom>
          <a:solidFill>
            <a:schemeClr val="accent2"/>
          </a:solidFill>
          <a:ln w="19050">
            <a:solidFill>
              <a:schemeClr val="tx1"/>
            </a:solidFill>
            <a:prstDash val="solid"/>
          </a:ln>
        </p:spPr>
      </p:sp>
      <p:sp>
        <p:nvSpPr>
          <p:cNvPr id="26" name="Text 24"/>
          <p:cNvSpPr txBox="1"/>
          <p:nvPr/>
        </p:nvSpPr>
        <p:spPr>
          <a:xfrm>
            <a:off x="6492240" y="3566160"/>
            <a:ext cx="548640" cy="548640"/>
          </a:xfrm>
          <a:prstGeom prst="rect">
            <a:avLst/>
          </a:prstGeom>
          <a:noFill/>
          <a:ln/>
        </p:spPr>
        <p:txBody>
          <a:bodyPr wrap="square" lIns="0" tIns="0" rIns="0" bIns="0" rtlCol="0" anchor="ctr"/>
          <a:lstStyle/>
          <a:p>
            <a:pPr algn="ctr" indent="0" marL="0">
              <a:buNone/>
            </a:pPr>
            <a:r>
              <a:rPr lang="en-US" sz="2000" dirty="0">
                <a:solidFill>
                  <a:schemeClr val="tx1"/>
                </a:solidFill>
                <a:latin typeface="Rockwell Extra Bold" pitchFamily="34" charset="0"/>
                <a:ea typeface="Rockwell Extra Bold" pitchFamily="34" charset="-122"/>
                <a:cs typeface="Rockwell Extra Bold" pitchFamily="34" charset="-120"/>
              </a:rPr>
              <a:t>3</a:t>
            </a:r>
            <a:endParaRPr lang="en-US" sz="2000" dirty="0"/>
          </a:p>
        </p:txBody>
      </p:sp>
      <p:sp>
        <p:nvSpPr>
          <p:cNvPr id="27" name="Text 25"/>
          <p:cNvSpPr txBox="1"/>
          <p:nvPr/>
        </p:nvSpPr>
        <p:spPr>
          <a:xfrm>
            <a:off x="7223760" y="3520440"/>
            <a:ext cx="4389120" cy="822960"/>
          </a:xfrm>
          <a:prstGeom prst="rect">
            <a:avLst/>
          </a:prstGeom>
          <a:noFill/>
          <a:ln/>
        </p:spPr>
        <p:txBody>
          <a:bodyPr wrap="square" lIns="0" tIns="0" rIns="0" bIns="0" rtlCol="0" anchor="ctr"/>
          <a:lstStyle/>
          <a:p>
            <a:pPr indent="0" marL="0">
              <a:buNone/>
            </a:pPr>
            <a:r>
              <a:rPr lang="en-US" sz="1700" dirty="0">
                <a:solidFill>
                  <a:schemeClr val="bg2"/>
                </a:solidFill>
                <a:latin typeface="Arial" pitchFamily="34" charset="0"/>
                <a:ea typeface="Arial" pitchFamily="34" charset="-122"/>
                <a:cs typeface="Arial" pitchFamily="34" charset="-120"/>
              </a:rPr>
              <a:t>Ajoute ta demande : ce que tu aimerais qu'elle mette à jour, elle aussi.</a:t>
            </a:r>
            <a:endParaRPr lang="en-US" sz="1700" dirty="0"/>
          </a:p>
        </p:txBody>
      </p:sp>
      <p:sp>
        <p:nvSpPr>
          <p:cNvPr id="28" name="Shape 26"/>
          <p:cNvSpPr/>
          <p:nvPr/>
        </p:nvSpPr>
        <p:spPr>
          <a:xfrm>
            <a:off x="6492240" y="4617720"/>
            <a:ext cx="548640" cy="548640"/>
          </a:xfrm>
          <a:prstGeom prst="ellipse">
            <a:avLst/>
          </a:prstGeom>
          <a:solidFill>
            <a:schemeClr val="accent1"/>
          </a:solidFill>
          <a:ln w="19050">
            <a:solidFill>
              <a:schemeClr val="tx1"/>
            </a:solidFill>
            <a:prstDash val="solid"/>
          </a:ln>
        </p:spPr>
      </p:sp>
      <p:sp>
        <p:nvSpPr>
          <p:cNvPr id="29" name="Text 27"/>
          <p:cNvSpPr txBox="1"/>
          <p:nvPr/>
        </p:nvSpPr>
        <p:spPr>
          <a:xfrm>
            <a:off x="6492240" y="4617720"/>
            <a:ext cx="548640" cy="548640"/>
          </a:xfrm>
          <a:prstGeom prst="rect">
            <a:avLst/>
          </a:prstGeom>
          <a:noFill/>
          <a:ln/>
        </p:spPr>
        <p:txBody>
          <a:bodyPr wrap="square" lIns="0" tIns="0" rIns="0" bIns="0" rtlCol="0" anchor="ctr"/>
          <a:lstStyle/>
          <a:p>
            <a:pPr algn="ctr" indent="0" marL="0">
              <a:buNone/>
            </a:pPr>
            <a:r>
              <a:rPr lang="en-US" sz="2000" dirty="0">
                <a:solidFill>
                  <a:schemeClr val="bg2"/>
                </a:solidFill>
                <a:latin typeface="Rockwell Extra Bold" pitchFamily="34" charset="0"/>
                <a:ea typeface="Rockwell Extra Bold" pitchFamily="34" charset="-122"/>
                <a:cs typeface="Rockwell Extra Bold" pitchFamily="34" charset="-120"/>
              </a:rPr>
              <a:t>4</a:t>
            </a:r>
            <a:endParaRPr lang="en-US" sz="2000" dirty="0"/>
          </a:p>
        </p:txBody>
      </p:sp>
      <p:sp>
        <p:nvSpPr>
          <p:cNvPr id="30" name="Text 28"/>
          <p:cNvSpPr txBox="1"/>
          <p:nvPr/>
        </p:nvSpPr>
        <p:spPr>
          <a:xfrm>
            <a:off x="7223760" y="4572000"/>
            <a:ext cx="4389120" cy="822960"/>
          </a:xfrm>
          <a:prstGeom prst="rect">
            <a:avLst/>
          </a:prstGeom>
          <a:noFill/>
          <a:ln/>
        </p:spPr>
        <p:txBody>
          <a:bodyPr wrap="square" lIns="0" tIns="0" rIns="0" bIns="0" rtlCol="0" anchor="ctr"/>
          <a:lstStyle/>
          <a:p>
            <a:pPr indent="0" marL="0">
              <a:buNone/>
            </a:pPr>
            <a:r>
              <a:rPr lang="en-US" sz="1700" dirty="0">
                <a:solidFill>
                  <a:schemeClr val="bg2"/>
                </a:solidFill>
                <a:latin typeface="Arial" pitchFamily="34" charset="0"/>
                <a:ea typeface="Arial" pitchFamily="34" charset="-122"/>
                <a:cs typeface="Arial" pitchFamily="34" charset="-120"/>
              </a:rPr>
              <a:t>Tu décides : l'envoyer, en parler, ou la garder.</a:t>
            </a:r>
            <a:endParaRPr lang="en-US" sz="17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latin typeface="Arial"/>
                <a:ea typeface="Arial"/>
                <a:cs typeface="Aria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lIns="0" tIns="0" rIns="0" bIns="0" rtlCol="0" anchor="t"/>
          <a:lstStyle/>
          <a:p>
            <a:pPr algn="l" indent="0" marL="0">
              <a:buNone/>
            </a:pPr>
            <a:r>
              <a:rPr lang="en-US" sz="3600" dirty="0">
                <a:solidFill>
                  <a:schemeClr val="accent1"/>
                </a:solidFill>
              </a:rPr>
              <a:t>Billet de sortie 3 · 2 · 1</a:t>
            </a:r>
            <a:endParaRPr lang="en-US" sz="3600" dirty="0"/>
          </a:p>
        </p:txBody>
      </p:sp>
      <p:sp>
        <p:nvSpPr>
          <p:cNvPr id="3" name="Shape 1"/>
          <p:cNvSpPr/>
          <p:nvPr/>
        </p:nvSpPr>
        <p:spPr>
          <a:xfrm>
            <a:off x="9966960" y="411480"/>
            <a:ext cx="1645920" cy="457200"/>
          </a:xfrm>
          <a:prstGeom prst="roundRect">
            <a:avLst>
              <a:gd name="adj" fmla="val 50000"/>
            </a:avLst>
          </a:prstGeom>
          <a:solidFill>
            <a:schemeClr val="tx1"/>
          </a:solidFill>
          <a:ln/>
        </p:spPr>
      </p:sp>
      <p:sp>
        <p:nvSpPr>
          <p:cNvPr id="4" name="Text 2"/>
          <p:cNvSpPr txBox="1"/>
          <p:nvPr/>
        </p:nvSpPr>
        <p:spPr>
          <a:xfrm>
            <a:off x="9966960" y="411480"/>
            <a:ext cx="1645920" cy="457200"/>
          </a:xfrm>
          <a:prstGeom prst="rect">
            <a:avLst/>
          </a:prstGeom>
          <a:noFill/>
          <a:ln/>
        </p:spPr>
        <p:txBody>
          <a:bodyPr wrap="square" lIns="0" tIns="0" rIns="0" bIns="0" rtlCol="0" anchor="ctr"/>
          <a:lstStyle/>
          <a:p>
            <a:pPr algn="ctr" indent="0" marL="0">
              <a:buNone/>
            </a:pPr>
            <a:r>
              <a:rPr lang="en-US" sz="1400" b="1" dirty="0">
                <a:solidFill>
                  <a:schemeClr val="bg2"/>
                </a:solidFill>
              </a:rPr>
              <a:t>⏱ 7 min</a:t>
            </a:r>
            <a:endParaRPr lang="en-US" sz="1400" dirty="0"/>
          </a:p>
        </p:txBody>
      </p:sp>
      <p:sp>
        <p:nvSpPr>
          <p:cNvPr id="5" name="Shape 3"/>
          <p:cNvSpPr/>
          <p:nvPr/>
        </p:nvSpPr>
        <p:spPr>
          <a:xfrm>
            <a:off x="548640" y="1463040"/>
            <a:ext cx="3566160" cy="3931920"/>
          </a:xfrm>
          <a:prstGeom prst="rect">
            <a:avLst/>
          </a:prstGeom>
          <a:solidFill>
            <a:schemeClr val="accent1"/>
          </a:solidFill>
          <a:ln w="25400">
            <a:solidFill>
              <a:schemeClr val="tx1"/>
            </a:solidFill>
            <a:prstDash val="solid"/>
          </a:ln>
        </p:spPr>
      </p:sp>
      <p:sp>
        <p:nvSpPr>
          <p:cNvPr id="6" name="Text 4"/>
          <p:cNvSpPr txBox="1"/>
          <p:nvPr/>
        </p:nvSpPr>
        <p:spPr>
          <a:xfrm>
            <a:off x="822960" y="1600200"/>
            <a:ext cx="3017520" cy="1920240"/>
          </a:xfrm>
          <a:prstGeom prst="rect">
            <a:avLst/>
          </a:prstGeom>
          <a:noFill/>
          <a:ln/>
        </p:spPr>
        <p:txBody>
          <a:bodyPr wrap="square" lIns="0" tIns="0" rIns="0" bIns="0" rtlCol="0" anchor="t"/>
          <a:lstStyle/>
          <a:p>
            <a:pPr indent="0" marL="0">
              <a:buNone/>
            </a:pPr>
            <a:r>
              <a:rPr lang="en-US" sz="13000" dirty="0">
                <a:solidFill>
                  <a:schemeClr val="bg2"/>
                </a:solidFill>
                <a:latin typeface="Rockwell Extra Bold" pitchFamily="34" charset="0"/>
                <a:ea typeface="Rockwell Extra Bold" pitchFamily="34" charset="-122"/>
                <a:cs typeface="Rockwell Extra Bold" pitchFamily="34" charset="-120"/>
              </a:rPr>
              <a:t>3</a:t>
            </a:r>
            <a:endParaRPr lang="en-US" sz="13000" dirty="0"/>
          </a:p>
        </p:txBody>
      </p:sp>
      <p:sp>
        <p:nvSpPr>
          <p:cNvPr id="7" name="Text 5"/>
          <p:cNvSpPr txBox="1"/>
          <p:nvPr/>
        </p:nvSpPr>
        <p:spPr>
          <a:xfrm>
            <a:off x="822960" y="3657600"/>
            <a:ext cx="3017520" cy="1463040"/>
          </a:xfrm>
          <a:prstGeom prst="rect">
            <a:avLst/>
          </a:prstGeom>
          <a:noFill/>
          <a:ln/>
        </p:spPr>
        <p:txBody>
          <a:bodyPr wrap="square" lIns="0" tIns="0" rIns="0" bIns="0" rtlCol="0" anchor="t"/>
          <a:lstStyle/>
          <a:p>
            <a:pPr indent="0" marL="0">
              <a:buNone/>
            </a:pPr>
            <a:r>
              <a:rPr lang="en-US" sz="1900" b="1" dirty="0">
                <a:solidFill>
                  <a:schemeClr val="bg2"/>
                </a:solidFill>
                <a:latin typeface="Arial" pitchFamily="34" charset="0"/>
                <a:ea typeface="Arial" pitchFamily="34" charset="-122"/>
                <a:cs typeface="Arial" pitchFamily="34" charset="-120"/>
              </a:rPr>
              <a:t>coups bas que je reconnaîtrai maintenant</a:t>
            </a:r>
            <a:endParaRPr lang="en-US" sz="1900" dirty="0"/>
          </a:p>
        </p:txBody>
      </p:sp>
      <p:sp>
        <p:nvSpPr>
          <p:cNvPr id="8" name="Shape 6"/>
          <p:cNvSpPr/>
          <p:nvPr/>
        </p:nvSpPr>
        <p:spPr>
          <a:xfrm>
            <a:off x="4279392" y="1463040"/>
            <a:ext cx="3566160" cy="3931920"/>
          </a:xfrm>
          <a:prstGeom prst="rect">
            <a:avLst/>
          </a:prstGeom>
          <a:solidFill>
            <a:schemeClr val="accent2"/>
          </a:solidFill>
          <a:ln w="25400">
            <a:solidFill>
              <a:schemeClr val="tx1"/>
            </a:solidFill>
            <a:prstDash val="solid"/>
          </a:ln>
        </p:spPr>
      </p:sp>
      <p:sp>
        <p:nvSpPr>
          <p:cNvPr id="9" name="Text 7"/>
          <p:cNvSpPr txBox="1"/>
          <p:nvPr/>
        </p:nvSpPr>
        <p:spPr>
          <a:xfrm>
            <a:off x="4553712" y="1600200"/>
            <a:ext cx="3017520" cy="1920240"/>
          </a:xfrm>
          <a:prstGeom prst="rect">
            <a:avLst/>
          </a:prstGeom>
          <a:noFill/>
          <a:ln/>
        </p:spPr>
        <p:txBody>
          <a:bodyPr wrap="square" lIns="0" tIns="0" rIns="0" bIns="0" rtlCol="0" anchor="t"/>
          <a:lstStyle/>
          <a:p>
            <a:pPr indent="0" marL="0">
              <a:buNone/>
            </a:pPr>
            <a:r>
              <a:rPr lang="en-US" sz="13000" dirty="0">
                <a:solidFill>
                  <a:schemeClr val="tx1"/>
                </a:solidFill>
                <a:latin typeface="Rockwell Extra Bold" pitchFamily="34" charset="0"/>
                <a:ea typeface="Rockwell Extra Bold" pitchFamily="34" charset="-122"/>
                <a:cs typeface="Rockwell Extra Bold" pitchFamily="34" charset="-120"/>
              </a:rPr>
              <a:t>2</a:t>
            </a:r>
            <a:endParaRPr lang="en-US" sz="13000" dirty="0"/>
          </a:p>
        </p:txBody>
      </p:sp>
      <p:sp>
        <p:nvSpPr>
          <p:cNvPr id="10" name="Text 8"/>
          <p:cNvSpPr txBox="1"/>
          <p:nvPr/>
        </p:nvSpPr>
        <p:spPr>
          <a:xfrm>
            <a:off x="4553712" y="3657600"/>
            <a:ext cx="3017520" cy="1463040"/>
          </a:xfrm>
          <a:prstGeom prst="rect">
            <a:avLst/>
          </a:prstGeom>
          <a:noFill/>
          <a:ln/>
        </p:spPr>
        <p:txBody>
          <a:bodyPr wrap="square" lIns="0" tIns="0" rIns="0" bIns="0" rtlCol="0" anchor="t"/>
          <a:lstStyle/>
          <a:p>
            <a:pPr indent="0" marL="0">
              <a:buNone/>
            </a:pPr>
            <a:r>
              <a:rPr lang="en-US" sz="1900" b="1" dirty="0">
                <a:solidFill>
                  <a:schemeClr val="tx1"/>
                </a:solidFill>
                <a:latin typeface="Arial" pitchFamily="34" charset="0"/>
                <a:ea typeface="Arial" pitchFamily="34" charset="-122"/>
                <a:cs typeface="Arial" pitchFamily="34" charset="-120"/>
              </a:rPr>
              <a:t>phrases de la boîte que je vais essayer cette semaine</a:t>
            </a:r>
            <a:endParaRPr lang="en-US" sz="1900" dirty="0"/>
          </a:p>
        </p:txBody>
      </p:sp>
      <p:sp>
        <p:nvSpPr>
          <p:cNvPr id="11" name="Shape 9"/>
          <p:cNvSpPr/>
          <p:nvPr/>
        </p:nvSpPr>
        <p:spPr>
          <a:xfrm>
            <a:off x="8010144" y="1463040"/>
            <a:ext cx="3566160" cy="3931920"/>
          </a:xfrm>
          <a:prstGeom prst="rect">
            <a:avLst/>
          </a:prstGeom>
          <a:solidFill>
            <a:schemeClr val="tx1"/>
          </a:solidFill>
          <a:ln w="25400">
            <a:solidFill>
              <a:schemeClr val="tx1"/>
            </a:solidFill>
            <a:prstDash val="solid"/>
          </a:ln>
        </p:spPr>
      </p:sp>
      <p:sp>
        <p:nvSpPr>
          <p:cNvPr id="12" name="Text 10"/>
          <p:cNvSpPr txBox="1"/>
          <p:nvPr/>
        </p:nvSpPr>
        <p:spPr>
          <a:xfrm>
            <a:off x="8284464" y="1600200"/>
            <a:ext cx="3017520" cy="1920240"/>
          </a:xfrm>
          <a:prstGeom prst="rect">
            <a:avLst/>
          </a:prstGeom>
          <a:noFill/>
          <a:ln/>
        </p:spPr>
        <p:txBody>
          <a:bodyPr wrap="square" lIns="0" tIns="0" rIns="0" bIns="0" rtlCol="0" anchor="t"/>
          <a:lstStyle/>
          <a:p>
            <a:pPr indent="0" marL="0">
              <a:buNone/>
            </a:pPr>
            <a:r>
              <a:rPr lang="en-US" sz="13000" dirty="0">
                <a:solidFill>
                  <a:schemeClr val="bg2"/>
                </a:solidFill>
                <a:latin typeface="Rockwell Extra Bold" pitchFamily="34" charset="0"/>
                <a:ea typeface="Rockwell Extra Bold" pitchFamily="34" charset="-122"/>
                <a:cs typeface="Rockwell Extra Bold" pitchFamily="34" charset="-120"/>
              </a:rPr>
              <a:t>1</a:t>
            </a:r>
            <a:endParaRPr lang="en-US" sz="13000" dirty="0"/>
          </a:p>
        </p:txBody>
      </p:sp>
      <p:sp>
        <p:nvSpPr>
          <p:cNvPr id="13" name="Text 11"/>
          <p:cNvSpPr txBox="1"/>
          <p:nvPr/>
        </p:nvSpPr>
        <p:spPr>
          <a:xfrm>
            <a:off x="8284464" y="3657600"/>
            <a:ext cx="3017520" cy="1463040"/>
          </a:xfrm>
          <a:prstGeom prst="rect">
            <a:avLst/>
          </a:prstGeom>
          <a:noFill/>
          <a:ln/>
        </p:spPr>
        <p:txBody>
          <a:bodyPr wrap="square" lIns="0" tIns="0" rIns="0" bIns="0" rtlCol="0" anchor="t"/>
          <a:lstStyle/>
          <a:p>
            <a:pPr indent="0" marL="0">
              <a:buNone/>
            </a:pPr>
            <a:r>
              <a:rPr lang="en-US" sz="1900" b="1" dirty="0">
                <a:solidFill>
                  <a:schemeClr val="bg2"/>
                </a:solidFill>
                <a:latin typeface="Arial" pitchFamily="34" charset="0"/>
                <a:ea typeface="Arial" pitchFamily="34" charset="-122"/>
                <a:cs typeface="Arial" pitchFamily="34" charset="-120"/>
              </a:rPr>
              <a:t>créature que je veux arrêter d'être</a:t>
            </a:r>
            <a:endParaRPr lang="en-US" sz="1900" dirty="0"/>
          </a:p>
        </p:txBody>
      </p:sp>
      <p:sp>
        <p:nvSpPr>
          <p:cNvPr id="14" name="Text 12"/>
          <p:cNvSpPr txBox="1"/>
          <p:nvPr/>
        </p:nvSpPr>
        <p:spPr>
          <a:xfrm>
            <a:off x="548640" y="5577840"/>
            <a:ext cx="11064240" cy="548640"/>
          </a:xfrm>
          <a:prstGeom prst="rect">
            <a:avLst/>
          </a:prstGeom>
          <a:noFill/>
          <a:ln/>
        </p:spPr>
        <p:txBody>
          <a:bodyPr wrap="square" lIns="0" tIns="0" rIns="0" bIns="0" rtlCol="0" anchor="t"/>
          <a:lstStyle/>
          <a:p>
            <a:pPr indent="0" marL="0">
              <a:buNone/>
            </a:pPr>
            <a:r>
              <a:rPr lang="en-US" sz="1500" i="1" dirty="0">
                <a:solidFill>
                  <a:schemeClr val="tx2"/>
                </a:solidFill>
                <a:latin typeface="Arial" pitchFamily="34" charset="0"/>
                <a:ea typeface="Arial" pitchFamily="34" charset="-122"/>
                <a:cs typeface="Arial" pitchFamily="34" charset="-120"/>
              </a:rPr>
              <a:t>Puis : choisis un papillon du mur des cicatrices et écris au verso ce qui aurait pu sauver l'amitié.</a:t>
            </a:r>
            <a:endParaRPr lang="en-US" sz="15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1"/>
                </a:solidFill>
                <a:latin typeface="Arial"/>
                <a:ea typeface="Arial"/>
                <a:cs typeface="Aria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103120"/>
            <a:ext cx="7680960" cy="3840480"/>
          </a:xfrm>
          <a:prstGeom prst="rect">
            <a:avLst/>
          </a:prstGeom>
          <a:noFill/>
          <a:ln/>
        </p:spPr>
        <p:txBody>
          <a:bodyPr wrap="square" lIns="0" tIns="0" rIns="0" bIns="0" rtlCol="0" anchor="t"/>
          <a:lstStyle/>
          <a:p>
            <a:pPr algn="l" indent="0" marL="0">
              <a:lnSpc>
                <a:spcPct val="85000"/>
              </a:lnSpc>
              <a:buNone/>
            </a:pPr>
            <a:r>
              <a:rPr lang="en-US" sz="6600" dirty="0">
                <a:solidFill>
                  <a:schemeClr val="accent1"/>
                </a:solidFill>
              </a:rPr>
              <a:t>Dur sur</a:t>
            </a:r>
            <a:endParaRPr lang="en-US" sz="6600" dirty="0"/>
          </a:p>
          <a:p>
            <a:pPr algn="l" indent="0" marL="0">
              <a:lnSpc>
                <a:spcPct val="85000"/>
              </a:lnSpc>
              <a:buNone/>
            </a:pPr>
            <a:r>
              <a:rPr lang="en-US" sz="6600" dirty="0">
                <a:solidFill>
                  <a:schemeClr val="accent1"/>
                </a:solidFill>
              </a:rPr>
              <a:t>les idées.</a:t>
            </a:r>
            <a:endParaRPr lang="en-US" sz="6600" dirty="0"/>
          </a:p>
          <a:p>
            <a:pPr algn="l" indent="0" marL="0">
              <a:lnSpc>
                <a:spcPct val="85000"/>
              </a:lnSpc>
              <a:buNone/>
            </a:pPr>
            <a:r>
              <a:rPr lang="en-US" sz="6600" dirty="0">
                <a:solidFill>
                  <a:schemeClr val="accent1"/>
                </a:solidFill>
              </a:rPr>
              <a:t>Doux avec</a:t>
            </a:r>
            <a:endParaRPr lang="en-US" sz="6600" dirty="0"/>
          </a:p>
          <a:p>
            <a:pPr algn="l" indent="0" marL="0">
              <a:lnSpc>
                <a:spcPct val="85000"/>
              </a:lnSpc>
              <a:buNone/>
            </a:pPr>
            <a:r>
              <a:rPr lang="en-US" sz="6600" dirty="0">
                <a:solidFill>
                  <a:schemeClr val="accent1"/>
                </a:solidFill>
              </a:rPr>
              <a:t>les gens.</a:t>
            </a:r>
            <a:endParaRPr lang="en-US" sz="6600" dirty="0"/>
          </a:p>
        </p:txBody>
      </p:sp>
      <p:pic>
        <p:nvPicPr>
          <p:cNvPr id="3" name="Image 0" descr="preencoded.png">    </p:cNvPr>
          <p:cNvPicPr>
            <a:picLocks noChangeAspect="1"/>
          </p:cNvPicPr>
          <p:nvPr/>
        </p:nvPicPr>
        <p:blipFill>
          <a:blip r:embed="rId1"/>
          <a:stretch>
            <a:fillRect/>
          </a:stretch>
        </p:blipFill>
        <p:spPr>
          <a:xfrm rot="-360000">
            <a:off x="7863840" y="457200"/>
            <a:ext cx="1920240" cy="2331720"/>
          </a:xfrm>
          <a:prstGeom prst="rect">
            <a:avLst/>
          </a:prstGeom>
        </p:spPr>
      </p:pic>
      <p:pic>
        <p:nvPicPr>
          <p:cNvPr id="4" name="Image 1" descr="preencoded.png">    </p:cNvPr>
          <p:cNvPicPr>
            <a:picLocks noChangeAspect="1"/>
          </p:cNvPicPr>
          <p:nvPr/>
        </p:nvPicPr>
        <p:blipFill>
          <a:blip r:embed="rId2"/>
          <a:stretch>
            <a:fillRect/>
          </a:stretch>
        </p:blipFill>
        <p:spPr>
          <a:xfrm rot="360000">
            <a:off x="9692640" y="1005840"/>
            <a:ext cx="1920240" cy="2331720"/>
          </a:xfrm>
          <a:prstGeom prst="rect">
            <a:avLst/>
          </a:prstGeom>
        </p:spPr>
      </p:pic>
      <p:sp>
        <p:nvSpPr>
          <p:cNvPr id="5" name="Text 1"/>
          <p:cNvSpPr txBox="1"/>
          <p:nvPr/>
        </p:nvSpPr>
        <p:spPr>
          <a:xfrm>
            <a:off x="548640" y="548640"/>
            <a:ext cx="6949440" cy="100584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Le but n'est pas d'avoir raison contre quelqu'un, c'est d'avoir un peu plus raison ensemble.</a:t>
            </a:r>
            <a:endParaRPr lang="en-US" sz="1800" dirty="0"/>
          </a:p>
        </p:txBody>
      </p:sp>
      <p:sp>
        <p:nvSpPr>
          <p:cNvPr id="6" name="Text 2"/>
          <p:cNvSpPr txBox="1"/>
          <p:nvPr/>
        </p:nvSpPr>
        <p:spPr>
          <a:xfrm>
            <a:off x="7863840" y="3566160"/>
            <a:ext cx="3840480" cy="2651760"/>
          </a:xfrm>
          <a:prstGeom prst="rect">
            <a:avLst/>
          </a:prstGeom>
          <a:noFill/>
          <a:ln/>
        </p:spPr>
        <p:txBody>
          <a:bodyPr wrap="square" lIns="0" tIns="0" rIns="0" bIns="0" rtlCol="0" anchor="t"/>
          <a:lstStyle/>
          <a:p>
            <a:pPr indent="0" marL="0">
              <a:buNone/>
            </a:pPr>
            <a:r>
              <a:rPr lang="en-US" sz="1100" dirty="0">
                <a:solidFill>
                  <a:schemeClr val="tx2"/>
                </a:solidFill>
                <a:latin typeface="Arial" pitchFamily="34" charset="0"/>
                <a:ea typeface="Arial" pitchFamily="34" charset="-122"/>
                <a:cs typeface="Arial" pitchFamily="34" charset="-120"/>
              </a:rPr>
              <a:t>Sources : A. Schopenhauer, L'Art d'avoir toujours raison · P. Graham, How to Disagree (2008) · D. Dennett, Intuition Pumps (2013) · R. Fisher et W. Ury, Getting to Yes</a:t>
            </a:r>
            <a:endParaRPr lang="en-US" sz="1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lIns="0" tIns="0" rIns="0" bIns="0" rtlCol="0" anchor="t"/>
          <a:lstStyle/>
          <a:p>
            <a:pPr algn="l" indent="0" marL="0">
              <a:buNone/>
            </a:pPr>
            <a:r>
              <a:rPr lang="en-US" sz="3600" dirty="0">
                <a:solidFill>
                  <a:schemeClr val="accent1"/>
                </a:solidFill>
              </a:rPr>
              <a:t>Fiches d'identité · 1/4</a:t>
            </a:r>
            <a:endParaRPr lang="en-US" sz="3600" dirty="0"/>
          </a:p>
        </p:txBody>
      </p:sp>
      <p:sp>
        <p:nvSpPr>
          <p:cNvPr id="3" name="Shape 1"/>
          <p:cNvSpPr/>
          <p:nvPr/>
        </p:nvSpPr>
        <p:spPr>
          <a:xfrm>
            <a:off x="548640" y="1280160"/>
            <a:ext cx="5440680" cy="4937760"/>
          </a:xfrm>
          <a:prstGeom prst="rect">
            <a:avLst/>
          </a:prstGeom>
          <a:solidFill>
            <a:schemeClr val="bg1"/>
          </a:solidFill>
          <a:ln w="25400">
            <a:solidFill>
              <a:schemeClr val="tx1"/>
            </a:solidFill>
            <a:prstDash val="solid"/>
          </a:ln>
        </p:spPr>
      </p:sp>
      <p:pic>
        <p:nvPicPr>
          <p:cNvPr id="4" name="Image 0" descr="preencoded.png">    </p:cNvPr>
          <p:cNvPicPr>
            <a:picLocks noChangeAspect="1"/>
          </p:cNvPicPr>
          <p:nvPr/>
        </p:nvPicPr>
        <p:blipFill>
          <a:blip r:embed="rId1"/>
          <a:stretch>
            <a:fillRect/>
          </a:stretch>
        </p:blipFill>
        <p:spPr>
          <a:xfrm>
            <a:off x="685800" y="1389888"/>
            <a:ext cx="868680" cy="1051560"/>
          </a:xfrm>
          <a:prstGeom prst="rect">
            <a:avLst/>
          </a:prstGeom>
        </p:spPr>
      </p:pic>
      <p:sp>
        <p:nvSpPr>
          <p:cNvPr id="5" name="Text 2"/>
          <p:cNvSpPr txBox="1"/>
          <p:nvPr/>
        </p:nvSpPr>
        <p:spPr>
          <a:xfrm>
            <a:off x="1645920" y="1417320"/>
            <a:ext cx="4206240" cy="457200"/>
          </a:xfrm>
          <a:prstGeom prst="rect">
            <a:avLst/>
          </a:prstGeom>
          <a:noFill/>
          <a:ln/>
        </p:spPr>
        <p:txBody>
          <a:bodyPr wrap="square" lIns="0" tIns="0" rIns="0" bIns="0" rtlCol="0" anchor="t"/>
          <a:lstStyle/>
          <a:p>
            <a:pPr indent="0" marL="0">
              <a:buNone/>
            </a:pPr>
            <a:r>
              <a:rPr lang="en-US" sz="2200" dirty="0">
                <a:solidFill>
                  <a:schemeClr val="accent1"/>
                </a:solidFill>
                <a:latin typeface="Rockwell Extra Bold" pitchFamily="34" charset="0"/>
                <a:ea typeface="Rockwell Extra Bold" pitchFamily="34" charset="-122"/>
                <a:cs typeface="Rockwell Extra Bold" pitchFamily="34" charset="-120"/>
              </a:rPr>
              <a:t>Le Bulldozer</a:t>
            </a:r>
            <a:endParaRPr lang="en-US" sz="2200" dirty="0"/>
          </a:p>
        </p:txBody>
      </p:sp>
      <p:sp>
        <p:nvSpPr>
          <p:cNvPr id="6" name="Text 3"/>
          <p:cNvSpPr txBox="1"/>
          <p:nvPr/>
        </p:nvSpPr>
        <p:spPr>
          <a:xfrm>
            <a:off x="1645920" y="1901952"/>
            <a:ext cx="4206240" cy="548640"/>
          </a:xfrm>
          <a:prstGeom prst="rect">
            <a:avLst/>
          </a:prstGeom>
          <a:noFill/>
          <a:ln/>
        </p:spPr>
        <p:txBody>
          <a:bodyPr wrap="square" lIns="0" tIns="0" rIns="0" bIns="0" rtlCol="0" anchor="t"/>
          <a:lstStyle/>
          <a:p>
            <a:pPr indent="0" marL="0">
              <a:buNone/>
            </a:pPr>
            <a:r>
              <a:rPr lang="en-US" sz="1400" b="1" i="1" dirty="0">
                <a:solidFill>
                  <a:schemeClr val="tx1"/>
                </a:solidFill>
                <a:latin typeface="Arial" pitchFamily="34" charset="0"/>
                <a:ea typeface="Arial" pitchFamily="34" charset="-122"/>
                <a:cs typeface="Arial" pitchFamily="34" charset="-120"/>
              </a:rPr>
              <a:t>« Laisse-moi finir! » (il parle depuis 3 minutes)</a:t>
            </a:r>
            <a:endParaRPr lang="en-US" sz="1400" dirty="0"/>
          </a:p>
        </p:txBody>
      </p:sp>
      <p:sp>
        <p:nvSpPr>
          <p:cNvPr id="7" name="Shape 4"/>
          <p:cNvSpPr/>
          <p:nvPr/>
        </p:nvSpPr>
        <p:spPr>
          <a:xfrm>
            <a:off x="685800" y="2578608"/>
            <a:ext cx="5166360" cy="0"/>
          </a:xfrm>
          <a:prstGeom prst="line">
            <a:avLst/>
          </a:prstGeom>
          <a:noFill/>
          <a:ln w="9525">
            <a:solidFill>
              <a:schemeClr val="tx1"/>
            </a:solidFill>
            <a:prstDash val="solid"/>
          </a:ln>
        </p:spPr>
      </p:sp>
      <p:sp>
        <p:nvSpPr>
          <p:cNvPr id="8" name="Text 5"/>
          <p:cNvSpPr txBox="1"/>
          <p:nvPr/>
        </p:nvSpPr>
        <p:spPr>
          <a:xfrm>
            <a:off x="685800" y="2633472"/>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Coups bas favoris</a:t>
            </a:r>
            <a:endParaRPr lang="en-US" sz="1100" dirty="0"/>
          </a:p>
        </p:txBody>
      </p:sp>
      <p:sp>
        <p:nvSpPr>
          <p:cNvPr id="9" name="Text 6"/>
          <p:cNvSpPr txBox="1"/>
          <p:nvPr/>
        </p:nvSpPr>
        <p:spPr>
          <a:xfrm>
            <a:off x="2148840" y="2633472"/>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18 Le coupe-fil · 14 Crier victoire</a:t>
            </a:r>
            <a:endParaRPr lang="en-US" sz="1400" dirty="0"/>
          </a:p>
        </p:txBody>
      </p:sp>
      <p:sp>
        <p:nvSpPr>
          <p:cNvPr id="10" name="Shape 7"/>
          <p:cNvSpPr/>
          <p:nvPr/>
        </p:nvSpPr>
        <p:spPr>
          <a:xfrm>
            <a:off x="685800" y="3300984"/>
            <a:ext cx="5166360" cy="0"/>
          </a:xfrm>
          <a:prstGeom prst="line">
            <a:avLst/>
          </a:prstGeom>
          <a:noFill/>
          <a:ln w="9525">
            <a:solidFill>
              <a:schemeClr val="tx1"/>
            </a:solidFill>
            <a:prstDash val="solid"/>
          </a:ln>
        </p:spPr>
      </p:sp>
      <p:sp>
        <p:nvSpPr>
          <p:cNvPr id="11" name="Text 8"/>
          <p:cNvSpPr txBox="1"/>
          <p:nvPr/>
        </p:nvSpPr>
        <p:spPr>
          <a:xfrm>
            <a:off x="685800" y="3355848"/>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Ce qui se cache dessous</a:t>
            </a:r>
            <a:endParaRPr lang="en-US" sz="1100" dirty="0"/>
          </a:p>
        </p:txBody>
      </p:sp>
      <p:sp>
        <p:nvSpPr>
          <p:cNvPr id="12" name="Text 9"/>
          <p:cNvSpPr txBox="1"/>
          <p:nvPr/>
        </p:nvSpPr>
        <p:spPr>
          <a:xfrm>
            <a:off x="2148840" y="3355848"/>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La peur de ne pas être entendu, de perdre le contrôle.</a:t>
            </a:r>
            <a:endParaRPr lang="en-US" sz="1400" dirty="0"/>
          </a:p>
        </p:txBody>
      </p:sp>
      <p:sp>
        <p:nvSpPr>
          <p:cNvPr id="13" name="Shape 10"/>
          <p:cNvSpPr/>
          <p:nvPr/>
        </p:nvSpPr>
        <p:spPr>
          <a:xfrm>
            <a:off x="685800" y="4023360"/>
            <a:ext cx="5166360" cy="0"/>
          </a:xfrm>
          <a:prstGeom prst="line">
            <a:avLst/>
          </a:prstGeom>
          <a:noFill/>
          <a:ln w="9525">
            <a:solidFill>
              <a:schemeClr val="tx1"/>
            </a:solidFill>
            <a:prstDash val="solid"/>
          </a:ln>
        </p:spPr>
      </p:sp>
      <p:sp>
        <p:nvSpPr>
          <p:cNvPr id="14" name="Text 11"/>
          <p:cNvSpPr txBox="1"/>
          <p:nvPr/>
        </p:nvSpPr>
        <p:spPr>
          <a:xfrm>
            <a:off x="685800" y="4078224"/>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Comment lui répondre</a:t>
            </a:r>
            <a:endParaRPr lang="en-US" sz="1100" dirty="0"/>
          </a:p>
        </p:txBody>
      </p:sp>
      <p:sp>
        <p:nvSpPr>
          <p:cNvPr id="15" name="Text 12"/>
          <p:cNvSpPr txBox="1"/>
          <p:nvPr/>
        </p:nvSpPr>
        <p:spPr>
          <a:xfrm>
            <a:off x="2148840" y="4078224"/>
            <a:ext cx="3703320" cy="64008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 Je t'ai entendu dire X. Maintenant, 1 minute pour moi. »</a:t>
            </a:r>
            <a:endParaRPr lang="en-US" sz="1400" dirty="0"/>
          </a:p>
        </p:txBody>
      </p:sp>
      <p:sp>
        <p:nvSpPr>
          <p:cNvPr id="16" name="Shape 13"/>
          <p:cNvSpPr/>
          <p:nvPr/>
        </p:nvSpPr>
        <p:spPr>
          <a:xfrm>
            <a:off x="685800" y="4745736"/>
            <a:ext cx="5166360" cy="0"/>
          </a:xfrm>
          <a:prstGeom prst="line">
            <a:avLst/>
          </a:prstGeom>
          <a:noFill/>
          <a:ln w="9525">
            <a:solidFill>
              <a:schemeClr val="tx1"/>
            </a:solidFill>
            <a:prstDash val="solid"/>
          </a:ln>
        </p:spPr>
      </p:sp>
      <p:sp>
        <p:nvSpPr>
          <p:cNvPr id="17" name="Text 14"/>
          <p:cNvSpPr txBox="1"/>
          <p:nvPr/>
        </p:nvSpPr>
        <p:spPr>
          <a:xfrm>
            <a:off x="685800" y="4800600"/>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Sa force cachée</a:t>
            </a:r>
            <a:endParaRPr lang="en-US" sz="1100" dirty="0"/>
          </a:p>
        </p:txBody>
      </p:sp>
      <p:sp>
        <p:nvSpPr>
          <p:cNvPr id="18" name="Text 15"/>
          <p:cNvSpPr txBox="1"/>
          <p:nvPr/>
        </p:nvSpPr>
        <p:spPr>
          <a:xfrm>
            <a:off x="2148840" y="4800600"/>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Conviction et énergie.</a:t>
            </a:r>
            <a:endParaRPr lang="en-US" sz="1400" dirty="0"/>
          </a:p>
        </p:txBody>
      </p:sp>
      <p:sp>
        <p:nvSpPr>
          <p:cNvPr id="19" name="Shape 16"/>
          <p:cNvSpPr/>
          <p:nvPr/>
        </p:nvSpPr>
        <p:spPr>
          <a:xfrm>
            <a:off x="685800" y="5468112"/>
            <a:ext cx="5166360" cy="0"/>
          </a:xfrm>
          <a:prstGeom prst="line">
            <a:avLst/>
          </a:prstGeom>
          <a:noFill/>
          <a:ln w="9525">
            <a:solidFill>
              <a:schemeClr val="tx1"/>
            </a:solidFill>
            <a:prstDash val="solid"/>
          </a:ln>
        </p:spPr>
      </p:sp>
      <p:sp>
        <p:nvSpPr>
          <p:cNvPr id="20" name="Text 17"/>
          <p:cNvSpPr txBox="1"/>
          <p:nvPr/>
        </p:nvSpPr>
        <p:spPr>
          <a:xfrm>
            <a:off x="685800" y="5522976"/>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Pour le jouer au bal masqué</a:t>
            </a:r>
            <a:endParaRPr lang="en-US" sz="1100" dirty="0"/>
          </a:p>
        </p:txBody>
      </p:sp>
      <p:sp>
        <p:nvSpPr>
          <p:cNvPr id="21" name="Text 18"/>
          <p:cNvSpPr txBox="1"/>
          <p:nvPr/>
        </p:nvSpPr>
        <p:spPr>
          <a:xfrm>
            <a:off x="2148840" y="5522976"/>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Ne laisse jamais un silence. Reprends ta phrase plus fort.</a:t>
            </a:r>
            <a:endParaRPr lang="en-US" sz="1400" dirty="0"/>
          </a:p>
        </p:txBody>
      </p:sp>
      <p:sp>
        <p:nvSpPr>
          <p:cNvPr id="22" name="Shape 19"/>
          <p:cNvSpPr/>
          <p:nvPr/>
        </p:nvSpPr>
        <p:spPr>
          <a:xfrm>
            <a:off x="6172200" y="1280160"/>
            <a:ext cx="5440680" cy="4937760"/>
          </a:xfrm>
          <a:prstGeom prst="rect">
            <a:avLst/>
          </a:prstGeom>
          <a:solidFill>
            <a:schemeClr val="bg1"/>
          </a:solidFill>
          <a:ln w="25400">
            <a:solidFill>
              <a:schemeClr val="tx1"/>
            </a:solidFill>
            <a:prstDash val="solid"/>
          </a:ln>
        </p:spPr>
      </p:sp>
      <p:pic>
        <p:nvPicPr>
          <p:cNvPr id="23" name="Image 1" descr="preencoded.png">    </p:cNvPr>
          <p:cNvPicPr>
            <a:picLocks noChangeAspect="1"/>
          </p:cNvPicPr>
          <p:nvPr/>
        </p:nvPicPr>
        <p:blipFill>
          <a:blip r:embed="rId2"/>
          <a:stretch>
            <a:fillRect/>
          </a:stretch>
        </p:blipFill>
        <p:spPr>
          <a:xfrm>
            <a:off x="6309360" y="1389888"/>
            <a:ext cx="868680" cy="1051560"/>
          </a:xfrm>
          <a:prstGeom prst="rect">
            <a:avLst/>
          </a:prstGeom>
        </p:spPr>
      </p:pic>
      <p:sp>
        <p:nvSpPr>
          <p:cNvPr id="24" name="Text 20"/>
          <p:cNvSpPr txBox="1"/>
          <p:nvPr/>
        </p:nvSpPr>
        <p:spPr>
          <a:xfrm>
            <a:off x="7269480" y="1417320"/>
            <a:ext cx="4206240" cy="457200"/>
          </a:xfrm>
          <a:prstGeom prst="rect">
            <a:avLst/>
          </a:prstGeom>
          <a:noFill/>
          <a:ln/>
        </p:spPr>
        <p:txBody>
          <a:bodyPr wrap="square" lIns="0" tIns="0" rIns="0" bIns="0" rtlCol="0" anchor="t"/>
          <a:lstStyle/>
          <a:p>
            <a:pPr indent="0" marL="0">
              <a:buNone/>
            </a:pPr>
            <a:r>
              <a:rPr lang="en-US" sz="2200" dirty="0">
                <a:solidFill>
                  <a:schemeClr val="accent1"/>
                </a:solidFill>
                <a:latin typeface="Rockwell Extra Bold" pitchFamily="34" charset="0"/>
                <a:ea typeface="Rockwell Extra Bold" pitchFamily="34" charset="-122"/>
                <a:cs typeface="Rockwell Extra Bold" pitchFamily="34" charset="-120"/>
              </a:rPr>
              <a:t>Le Brouillard</a:t>
            </a:r>
            <a:endParaRPr lang="en-US" sz="2200" dirty="0"/>
          </a:p>
        </p:txBody>
      </p:sp>
      <p:sp>
        <p:nvSpPr>
          <p:cNvPr id="25" name="Text 21"/>
          <p:cNvSpPr txBox="1"/>
          <p:nvPr/>
        </p:nvSpPr>
        <p:spPr>
          <a:xfrm>
            <a:off x="7269480" y="1901952"/>
            <a:ext cx="4206240" cy="548640"/>
          </a:xfrm>
          <a:prstGeom prst="rect">
            <a:avLst/>
          </a:prstGeom>
          <a:noFill/>
          <a:ln/>
        </p:spPr>
        <p:txBody>
          <a:bodyPr wrap="square" lIns="0" tIns="0" rIns="0" bIns="0" rtlCol="0" anchor="t"/>
          <a:lstStyle/>
          <a:p>
            <a:pPr indent="0" marL="0">
              <a:buNone/>
            </a:pPr>
            <a:r>
              <a:rPr lang="en-US" sz="1400" b="1" i="1" dirty="0">
                <a:solidFill>
                  <a:schemeClr val="tx1"/>
                </a:solidFill>
                <a:latin typeface="Arial" pitchFamily="34" charset="0"/>
                <a:ea typeface="Arial" pitchFamily="34" charset="-122"/>
                <a:cs typeface="Arial" pitchFamily="34" charset="-120"/>
              </a:rPr>
              <a:t>« Oui, mais le vrai problème, c'est… »</a:t>
            </a:r>
            <a:endParaRPr lang="en-US" sz="1400" dirty="0"/>
          </a:p>
        </p:txBody>
      </p:sp>
      <p:sp>
        <p:nvSpPr>
          <p:cNvPr id="26" name="Shape 22"/>
          <p:cNvSpPr/>
          <p:nvPr/>
        </p:nvSpPr>
        <p:spPr>
          <a:xfrm>
            <a:off x="6309360" y="2578608"/>
            <a:ext cx="5166360" cy="0"/>
          </a:xfrm>
          <a:prstGeom prst="line">
            <a:avLst/>
          </a:prstGeom>
          <a:noFill/>
          <a:ln w="9525">
            <a:solidFill>
              <a:schemeClr val="tx1"/>
            </a:solidFill>
            <a:prstDash val="solid"/>
          </a:ln>
        </p:spPr>
      </p:sp>
      <p:sp>
        <p:nvSpPr>
          <p:cNvPr id="27" name="Text 23"/>
          <p:cNvSpPr txBox="1"/>
          <p:nvPr/>
        </p:nvSpPr>
        <p:spPr>
          <a:xfrm>
            <a:off x="6309360" y="2633472"/>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Coups bas favoris</a:t>
            </a:r>
            <a:endParaRPr lang="en-US" sz="1100" dirty="0"/>
          </a:p>
        </p:txBody>
      </p:sp>
      <p:sp>
        <p:nvSpPr>
          <p:cNvPr id="28" name="Text 24"/>
          <p:cNvSpPr txBox="1"/>
          <p:nvPr/>
        </p:nvSpPr>
        <p:spPr>
          <a:xfrm>
            <a:off x="7772400" y="2633472"/>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29 La diversion · 36 Le brouillard</a:t>
            </a:r>
            <a:endParaRPr lang="en-US" sz="1400" dirty="0"/>
          </a:p>
        </p:txBody>
      </p:sp>
      <p:sp>
        <p:nvSpPr>
          <p:cNvPr id="29" name="Shape 25"/>
          <p:cNvSpPr/>
          <p:nvPr/>
        </p:nvSpPr>
        <p:spPr>
          <a:xfrm>
            <a:off x="6309360" y="3300984"/>
            <a:ext cx="5166360" cy="0"/>
          </a:xfrm>
          <a:prstGeom prst="line">
            <a:avLst/>
          </a:prstGeom>
          <a:noFill/>
          <a:ln w="9525">
            <a:solidFill>
              <a:schemeClr val="tx1"/>
            </a:solidFill>
            <a:prstDash val="solid"/>
          </a:ln>
        </p:spPr>
      </p:sp>
      <p:sp>
        <p:nvSpPr>
          <p:cNvPr id="30" name="Text 26"/>
          <p:cNvSpPr txBox="1"/>
          <p:nvPr/>
        </p:nvSpPr>
        <p:spPr>
          <a:xfrm>
            <a:off x="6309360" y="3355848"/>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Ce qui se cache dessous</a:t>
            </a:r>
            <a:endParaRPr lang="en-US" sz="1100" dirty="0"/>
          </a:p>
        </p:txBody>
      </p:sp>
      <p:sp>
        <p:nvSpPr>
          <p:cNvPr id="31" name="Text 27"/>
          <p:cNvSpPr txBox="1"/>
          <p:nvPr/>
        </p:nvSpPr>
        <p:spPr>
          <a:xfrm>
            <a:off x="7772400" y="3355848"/>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Éviter de perdre la face sur une question précise.</a:t>
            </a:r>
            <a:endParaRPr lang="en-US" sz="1400" dirty="0"/>
          </a:p>
        </p:txBody>
      </p:sp>
      <p:sp>
        <p:nvSpPr>
          <p:cNvPr id="32" name="Shape 28"/>
          <p:cNvSpPr/>
          <p:nvPr/>
        </p:nvSpPr>
        <p:spPr>
          <a:xfrm>
            <a:off x="6309360" y="4023360"/>
            <a:ext cx="5166360" cy="0"/>
          </a:xfrm>
          <a:prstGeom prst="line">
            <a:avLst/>
          </a:prstGeom>
          <a:noFill/>
          <a:ln w="9525">
            <a:solidFill>
              <a:schemeClr val="tx1"/>
            </a:solidFill>
            <a:prstDash val="solid"/>
          </a:ln>
        </p:spPr>
      </p:sp>
      <p:sp>
        <p:nvSpPr>
          <p:cNvPr id="33" name="Text 29"/>
          <p:cNvSpPr txBox="1"/>
          <p:nvPr/>
        </p:nvSpPr>
        <p:spPr>
          <a:xfrm>
            <a:off x="6309360" y="4078224"/>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Comment lui répondre</a:t>
            </a:r>
            <a:endParaRPr lang="en-US" sz="1100" dirty="0"/>
          </a:p>
        </p:txBody>
      </p:sp>
      <p:sp>
        <p:nvSpPr>
          <p:cNvPr id="34" name="Text 30"/>
          <p:cNvSpPr txBox="1"/>
          <p:nvPr/>
        </p:nvSpPr>
        <p:spPr>
          <a:xfrm>
            <a:off x="7772400" y="4078224"/>
            <a:ext cx="3703320" cy="64008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 Bonne question, on la garde. Mais sur X, ta réponse? »</a:t>
            </a:r>
            <a:endParaRPr lang="en-US" sz="1400" dirty="0"/>
          </a:p>
        </p:txBody>
      </p:sp>
      <p:sp>
        <p:nvSpPr>
          <p:cNvPr id="35" name="Shape 31"/>
          <p:cNvSpPr/>
          <p:nvPr/>
        </p:nvSpPr>
        <p:spPr>
          <a:xfrm>
            <a:off x="6309360" y="4745736"/>
            <a:ext cx="5166360" cy="0"/>
          </a:xfrm>
          <a:prstGeom prst="line">
            <a:avLst/>
          </a:prstGeom>
          <a:noFill/>
          <a:ln w="9525">
            <a:solidFill>
              <a:schemeClr val="tx1"/>
            </a:solidFill>
            <a:prstDash val="solid"/>
          </a:ln>
        </p:spPr>
      </p:sp>
      <p:sp>
        <p:nvSpPr>
          <p:cNvPr id="36" name="Text 32"/>
          <p:cNvSpPr txBox="1"/>
          <p:nvPr/>
        </p:nvSpPr>
        <p:spPr>
          <a:xfrm>
            <a:off x="6309360" y="4800600"/>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Sa force cachée</a:t>
            </a:r>
            <a:endParaRPr lang="en-US" sz="1100" dirty="0"/>
          </a:p>
        </p:txBody>
      </p:sp>
      <p:sp>
        <p:nvSpPr>
          <p:cNvPr id="37" name="Text 33"/>
          <p:cNvSpPr txBox="1"/>
          <p:nvPr/>
        </p:nvSpPr>
        <p:spPr>
          <a:xfrm>
            <a:off x="7772400" y="4800600"/>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Voit les liens et le portrait d'ensemble.</a:t>
            </a:r>
            <a:endParaRPr lang="en-US" sz="1400" dirty="0"/>
          </a:p>
        </p:txBody>
      </p:sp>
      <p:sp>
        <p:nvSpPr>
          <p:cNvPr id="38" name="Shape 34"/>
          <p:cNvSpPr/>
          <p:nvPr/>
        </p:nvSpPr>
        <p:spPr>
          <a:xfrm>
            <a:off x="6309360" y="5468112"/>
            <a:ext cx="5166360" cy="0"/>
          </a:xfrm>
          <a:prstGeom prst="line">
            <a:avLst/>
          </a:prstGeom>
          <a:noFill/>
          <a:ln w="9525">
            <a:solidFill>
              <a:schemeClr val="tx1"/>
            </a:solidFill>
            <a:prstDash val="solid"/>
          </a:ln>
        </p:spPr>
      </p:sp>
      <p:sp>
        <p:nvSpPr>
          <p:cNvPr id="39" name="Text 35"/>
          <p:cNvSpPr txBox="1"/>
          <p:nvPr/>
        </p:nvSpPr>
        <p:spPr>
          <a:xfrm>
            <a:off x="6309360" y="5522976"/>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Pour le jouer au bal masqué</a:t>
            </a:r>
            <a:endParaRPr lang="en-US" sz="1100" dirty="0"/>
          </a:p>
        </p:txBody>
      </p:sp>
      <p:sp>
        <p:nvSpPr>
          <p:cNvPr id="40" name="Text 36"/>
          <p:cNvSpPr txBox="1"/>
          <p:nvPr/>
        </p:nvSpPr>
        <p:spPr>
          <a:xfrm>
            <a:off x="7772400" y="5522976"/>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Chaque fois qu'on te coince, élargis le sujet.</a:t>
            </a:r>
            <a:endParaRPr lang="en-US" sz="14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1"/>
                </a:solidFill>
                <a:latin typeface="Arial"/>
                <a:ea typeface="Arial"/>
                <a:cs typeface="Aria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lIns="0" tIns="0" rIns="0" bIns="0" rtlCol="0" anchor="t"/>
          <a:lstStyle/>
          <a:p>
            <a:pPr algn="l" indent="0" marL="0">
              <a:buNone/>
            </a:pPr>
            <a:r>
              <a:rPr lang="en-US" sz="3600" dirty="0">
                <a:solidFill>
                  <a:schemeClr val="accent1"/>
                </a:solidFill>
              </a:rPr>
              <a:t>Fiches d'identité · 2/4</a:t>
            </a:r>
            <a:endParaRPr lang="en-US" sz="3600" dirty="0"/>
          </a:p>
        </p:txBody>
      </p:sp>
      <p:sp>
        <p:nvSpPr>
          <p:cNvPr id="3" name="Shape 1"/>
          <p:cNvSpPr/>
          <p:nvPr/>
        </p:nvSpPr>
        <p:spPr>
          <a:xfrm>
            <a:off x="548640" y="1280160"/>
            <a:ext cx="5440680" cy="4937760"/>
          </a:xfrm>
          <a:prstGeom prst="rect">
            <a:avLst/>
          </a:prstGeom>
          <a:solidFill>
            <a:schemeClr val="bg1"/>
          </a:solidFill>
          <a:ln w="25400">
            <a:solidFill>
              <a:schemeClr val="tx1"/>
            </a:solidFill>
            <a:prstDash val="solid"/>
          </a:ln>
        </p:spPr>
      </p:sp>
      <p:pic>
        <p:nvPicPr>
          <p:cNvPr id="4" name="Image 0" descr="preencoded.png">    </p:cNvPr>
          <p:cNvPicPr>
            <a:picLocks noChangeAspect="1"/>
          </p:cNvPicPr>
          <p:nvPr/>
        </p:nvPicPr>
        <p:blipFill>
          <a:blip r:embed="rId1"/>
          <a:stretch>
            <a:fillRect/>
          </a:stretch>
        </p:blipFill>
        <p:spPr>
          <a:xfrm>
            <a:off x="685800" y="1389888"/>
            <a:ext cx="868680" cy="1051560"/>
          </a:xfrm>
          <a:prstGeom prst="rect">
            <a:avLst/>
          </a:prstGeom>
        </p:spPr>
      </p:pic>
      <p:sp>
        <p:nvSpPr>
          <p:cNvPr id="5" name="Text 2"/>
          <p:cNvSpPr txBox="1"/>
          <p:nvPr/>
        </p:nvSpPr>
        <p:spPr>
          <a:xfrm>
            <a:off x="1645920" y="1417320"/>
            <a:ext cx="4206240" cy="457200"/>
          </a:xfrm>
          <a:prstGeom prst="rect">
            <a:avLst/>
          </a:prstGeom>
          <a:noFill/>
          <a:ln/>
        </p:spPr>
        <p:txBody>
          <a:bodyPr wrap="square" lIns="0" tIns="0" rIns="0" bIns="0" rtlCol="0" anchor="t"/>
          <a:lstStyle/>
          <a:p>
            <a:pPr indent="0" marL="0">
              <a:buNone/>
            </a:pPr>
            <a:r>
              <a:rPr lang="en-US" sz="2200" dirty="0">
                <a:solidFill>
                  <a:schemeClr val="accent1"/>
                </a:solidFill>
                <a:latin typeface="Rockwell Extra Bold" pitchFamily="34" charset="0"/>
                <a:ea typeface="Rockwell Extra Bold" pitchFamily="34" charset="-122"/>
                <a:cs typeface="Rockwell Extra Bold" pitchFamily="34" charset="-120"/>
              </a:rPr>
              <a:t>Le Sniper</a:t>
            </a:r>
            <a:endParaRPr lang="en-US" sz="2200" dirty="0"/>
          </a:p>
        </p:txBody>
      </p:sp>
      <p:sp>
        <p:nvSpPr>
          <p:cNvPr id="6" name="Text 3"/>
          <p:cNvSpPr txBox="1"/>
          <p:nvPr/>
        </p:nvSpPr>
        <p:spPr>
          <a:xfrm>
            <a:off x="1645920" y="1901952"/>
            <a:ext cx="4206240" cy="548640"/>
          </a:xfrm>
          <a:prstGeom prst="rect">
            <a:avLst/>
          </a:prstGeom>
          <a:noFill/>
          <a:ln/>
        </p:spPr>
        <p:txBody>
          <a:bodyPr wrap="square" lIns="0" tIns="0" rIns="0" bIns="0" rtlCol="0" anchor="t"/>
          <a:lstStyle/>
          <a:p>
            <a:pPr indent="0" marL="0">
              <a:buNone/>
            </a:pPr>
            <a:r>
              <a:rPr lang="en-US" sz="1400" b="1" i="1" dirty="0">
                <a:solidFill>
                  <a:schemeClr val="tx1"/>
                </a:solidFill>
                <a:latin typeface="Arial" pitchFamily="34" charset="0"/>
                <a:ea typeface="Arial" pitchFamily="34" charset="-122"/>
                <a:cs typeface="Arial" pitchFamily="34" charset="-120"/>
              </a:rPr>
              <a:t>« Venant de toi, franchement… »</a:t>
            </a:r>
            <a:endParaRPr lang="en-US" sz="1400" dirty="0"/>
          </a:p>
        </p:txBody>
      </p:sp>
      <p:sp>
        <p:nvSpPr>
          <p:cNvPr id="7" name="Shape 4"/>
          <p:cNvSpPr/>
          <p:nvPr/>
        </p:nvSpPr>
        <p:spPr>
          <a:xfrm>
            <a:off x="685800" y="2578608"/>
            <a:ext cx="5166360" cy="0"/>
          </a:xfrm>
          <a:prstGeom prst="line">
            <a:avLst/>
          </a:prstGeom>
          <a:noFill/>
          <a:ln w="9525">
            <a:solidFill>
              <a:schemeClr val="tx1"/>
            </a:solidFill>
            <a:prstDash val="solid"/>
          </a:ln>
        </p:spPr>
      </p:sp>
      <p:sp>
        <p:nvSpPr>
          <p:cNvPr id="8" name="Text 5"/>
          <p:cNvSpPr txBox="1"/>
          <p:nvPr/>
        </p:nvSpPr>
        <p:spPr>
          <a:xfrm>
            <a:off x="685800" y="2633472"/>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Coups bas favoris</a:t>
            </a:r>
            <a:endParaRPr lang="en-US" sz="1100" dirty="0"/>
          </a:p>
        </p:txBody>
      </p:sp>
      <p:sp>
        <p:nvSpPr>
          <p:cNvPr id="9" name="Text 6"/>
          <p:cNvSpPr txBox="1"/>
          <p:nvPr/>
        </p:nvSpPr>
        <p:spPr>
          <a:xfrm>
            <a:off x="2148840" y="2633472"/>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38 Le K.-O. · 8 L'allumette · 32 L'étiquette</a:t>
            </a:r>
            <a:endParaRPr lang="en-US" sz="1400" dirty="0"/>
          </a:p>
        </p:txBody>
      </p:sp>
      <p:sp>
        <p:nvSpPr>
          <p:cNvPr id="10" name="Shape 7"/>
          <p:cNvSpPr/>
          <p:nvPr/>
        </p:nvSpPr>
        <p:spPr>
          <a:xfrm>
            <a:off x="685800" y="3300984"/>
            <a:ext cx="5166360" cy="0"/>
          </a:xfrm>
          <a:prstGeom prst="line">
            <a:avLst/>
          </a:prstGeom>
          <a:noFill/>
          <a:ln w="9525">
            <a:solidFill>
              <a:schemeClr val="tx1"/>
            </a:solidFill>
            <a:prstDash val="solid"/>
          </a:ln>
        </p:spPr>
      </p:sp>
      <p:sp>
        <p:nvSpPr>
          <p:cNvPr id="11" name="Text 8"/>
          <p:cNvSpPr txBox="1"/>
          <p:nvPr/>
        </p:nvSpPr>
        <p:spPr>
          <a:xfrm>
            <a:off x="685800" y="3355848"/>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Ce qui se cache dessous</a:t>
            </a:r>
            <a:endParaRPr lang="en-US" sz="1100" dirty="0"/>
          </a:p>
        </p:txBody>
      </p:sp>
      <p:sp>
        <p:nvSpPr>
          <p:cNvPr id="12" name="Text 9"/>
          <p:cNvSpPr txBox="1"/>
          <p:nvPr/>
        </p:nvSpPr>
        <p:spPr>
          <a:xfrm>
            <a:off x="2148840" y="3355848"/>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Se sentir menacé, ou déjà blessé.</a:t>
            </a:r>
            <a:endParaRPr lang="en-US" sz="1400" dirty="0"/>
          </a:p>
        </p:txBody>
      </p:sp>
      <p:sp>
        <p:nvSpPr>
          <p:cNvPr id="13" name="Shape 10"/>
          <p:cNvSpPr/>
          <p:nvPr/>
        </p:nvSpPr>
        <p:spPr>
          <a:xfrm>
            <a:off x="685800" y="4023360"/>
            <a:ext cx="5166360" cy="0"/>
          </a:xfrm>
          <a:prstGeom prst="line">
            <a:avLst/>
          </a:prstGeom>
          <a:noFill/>
          <a:ln w="9525">
            <a:solidFill>
              <a:schemeClr val="tx1"/>
            </a:solidFill>
            <a:prstDash val="solid"/>
          </a:ln>
        </p:spPr>
      </p:sp>
      <p:sp>
        <p:nvSpPr>
          <p:cNvPr id="14" name="Text 11"/>
          <p:cNvSpPr txBox="1"/>
          <p:nvPr/>
        </p:nvSpPr>
        <p:spPr>
          <a:xfrm>
            <a:off x="685800" y="4078224"/>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Comment lui répondre</a:t>
            </a:r>
            <a:endParaRPr lang="en-US" sz="1100" dirty="0"/>
          </a:p>
        </p:txBody>
      </p:sp>
      <p:sp>
        <p:nvSpPr>
          <p:cNvPr id="15" name="Text 12"/>
          <p:cNvSpPr txBox="1"/>
          <p:nvPr/>
        </p:nvSpPr>
        <p:spPr>
          <a:xfrm>
            <a:off x="2148840" y="4078224"/>
            <a:ext cx="3703320" cy="64008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Le calme. « Admettons. Et l'argument lui-même? »</a:t>
            </a:r>
            <a:endParaRPr lang="en-US" sz="1400" dirty="0"/>
          </a:p>
        </p:txBody>
      </p:sp>
      <p:sp>
        <p:nvSpPr>
          <p:cNvPr id="16" name="Shape 13"/>
          <p:cNvSpPr/>
          <p:nvPr/>
        </p:nvSpPr>
        <p:spPr>
          <a:xfrm>
            <a:off x="685800" y="4745736"/>
            <a:ext cx="5166360" cy="0"/>
          </a:xfrm>
          <a:prstGeom prst="line">
            <a:avLst/>
          </a:prstGeom>
          <a:noFill/>
          <a:ln w="9525">
            <a:solidFill>
              <a:schemeClr val="tx1"/>
            </a:solidFill>
            <a:prstDash val="solid"/>
          </a:ln>
        </p:spPr>
      </p:sp>
      <p:sp>
        <p:nvSpPr>
          <p:cNvPr id="17" name="Text 14"/>
          <p:cNvSpPr txBox="1"/>
          <p:nvPr/>
        </p:nvSpPr>
        <p:spPr>
          <a:xfrm>
            <a:off x="685800" y="4800600"/>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Sa force cachée</a:t>
            </a:r>
            <a:endParaRPr lang="en-US" sz="1100" dirty="0"/>
          </a:p>
        </p:txBody>
      </p:sp>
      <p:sp>
        <p:nvSpPr>
          <p:cNvPr id="18" name="Text 15"/>
          <p:cNvSpPr txBox="1"/>
          <p:nvPr/>
        </p:nvSpPr>
        <p:spPr>
          <a:xfrm>
            <a:off x="2148840" y="4800600"/>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Un sens critique aiguisé… mal visé.</a:t>
            </a:r>
            <a:endParaRPr lang="en-US" sz="1400" dirty="0"/>
          </a:p>
        </p:txBody>
      </p:sp>
      <p:sp>
        <p:nvSpPr>
          <p:cNvPr id="19" name="Shape 16"/>
          <p:cNvSpPr/>
          <p:nvPr/>
        </p:nvSpPr>
        <p:spPr>
          <a:xfrm>
            <a:off x="685800" y="5468112"/>
            <a:ext cx="5166360" cy="0"/>
          </a:xfrm>
          <a:prstGeom prst="line">
            <a:avLst/>
          </a:prstGeom>
          <a:noFill/>
          <a:ln w="9525">
            <a:solidFill>
              <a:schemeClr val="tx1"/>
            </a:solidFill>
            <a:prstDash val="solid"/>
          </a:ln>
        </p:spPr>
      </p:sp>
      <p:sp>
        <p:nvSpPr>
          <p:cNvPr id="20" name="Text 17"/>
          <p:cNvSpPr txBox="1"/>
          <p:nvPr/>
        </p:nvSpPr>
        <p:spPr>
          <a:xfrm>
            <a:off x="685800" y="5522976"/>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Pour le jouer au bal masqué</a:t>
            </a:r>
            <a:endParaRPr lang="en-US" sz="1100" dirty="0"/>
          </a:p>
        </p:txBody>
      </p:sp>
      <p:sp>
        <p:nvSpPr>
          <p:cNvPr id="21" name="Text 18"/>
          <p:cNvSpPr txBox="1"/>
          <p:nvPr/>
        </p:nvSpPr>
        <p:spPr>
          <a:xfrm>
            <a:off x="2148840" y="5522976"/>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Commente la personne, jamais l'idée. Attaques fictives et légères seulement.</a:t>
            </a:r>
            <a:endParaRPr lang="en-US" sz="1400" dirty="0"/>
          </a:p>
        </p:txBody>
      </p:sp>
      <p:sp>
        <p:nvSpPr>
          <p:cNvPr id="22" name="Shape 19"/>
          <p:cNvSpPr/>
          <p:nvPr/>
        </p:nvSpPr>
        <p:spPr>
          <a:xfrm>
            <a:off x="6172200" y="1280160"/>
            <a:ext cx="5440680" cy="4937760"/>
          </a:xfrm>
          <a:prstGeom prst="rect">
            <a:avLst/>
          </a:prstGeom>
          <a:solidFill>
            <a:schemeClr val="bg1"/>
          </a:solidFill>
          <a:ln w="25400">
            <a:solidFill>
              <a:schemeClr val="tx1"/>
            </a:solidFill>
            <a:prstDash val="solid"/>
          </a:ln>
        </p:spPr>
      </p:sp>
      <p:pic>
        <p:nvPicPr>
          <p:cNvPr id="23" name="Image 1" descr="preencoded.png">    </p:cNvPr>
          <p:cNvPicPr>
            <a:picLocks noChangeAspect="1"/>
          </p:cNvPicPr>
          <p:nvPr/>
        </p:nvPicPr>
        <p:blipFill>
          <a:blip r:embed="rId2"/>
          <a:stretch>
            <a:fillRect/>
          </a:stretch>
        </p:blipFill>
        <p:spPr>
          <a:xfrm>
            <a:off x="6309360" y="1389888"/>
            <a:ext cx="868680" cy="1051560"/>
          </a:xfrm>
          <a:prstGeom prst="rect">
            <a:avLst/>
          </a:prstGeom>
        </p:spPr>
      </p:pic>
      <p:sp>
        <p:nvSpPr>
          <p:cNvPr id="24" name="Text 20"/>
          <p:cNvSpPr txBox="1"/>
          <p:nvPr/>
        </p:nvSpPr>
        <p:spPr>
          <a:xfrm>
            <a:off x="7269480" y="1417320"/>
            <a:ext cx="4206240" cy="457200"/>
          </a:xfrm>
          <a:prstGeom prst="rect">
            <a:avLst/>
          </a:prstGeom>
          <a:noFill/>
          <a:ln/>
        </p:spPr>
        <p:txBody>
          <a:bodyPr wrap="square" lIns="0" tIns="0" rIns="0" bIns="0" rtlCol="0" anchor="t"/>
          <a:lstStyle/>
          <a:p>
            <a:pPr indent="0" marL="0">
              <a:buNone/>
            </a:pPr>
            <a:r>
              <a:rPr lang="en-US" sz="2200" dirty="0">
                <a:solidFill>
                  <a:schemeClr val="accent1"/>
                </a:solidFill>
                <a:latin typeface="Rockwell Extra Bold" pitchFamily="34" charset="0"/>
                <a:ea typeface="Rockwell Extra Bold" pitchFamily="34" charset="-122"/>
                <a:cs typeface="Rockwell Extra Bold" pitchFamily="34" charset="-120"/>
              </a:rPr>
              <a:t>Le Professeur</a:t>
            </a:r>
            <a:endParaRPr lang="en-US" sz="2200" dirty="0"/>
          </a:p>
        </p:txBody>
      </p:sp>
      <p:sp>
        <p:nvSpPr>
          <p:cNvPr id="25" name="Text 21"/>
          <p:cNvSpPr txBox="1"/>
          <p:nvPr/>
        </p:nvSpPr>
        <p:spPr>
          <a:xfrm>
            <a:off x="7269480" y="1901952"/>
            <a:ext cx="4206240" cy="548640"/>
          </a:xfrm>
          <a:prstGeom prst="rect">
            <a:avLst/>
          </a:prstGeom>
          <a:noFill/>
          <a:ln/>
        </p:spPr>
        <p:txBody>
          <a:bodyPr wrap="square" lIns="0" tIns="0" rIns="0" bIns="0" rtlCol="0" anchor="t"/>
          <a:lstStyle/>
          <a:p>
            <a:pPr indent="0" marL="0">
              <a:buNone/>
            </a:pPr>
            <a:r>
              <a:rPr lang="en-US" sz="1400" b="1" i="1" dirty="0">
                <a:solidFill>
                  <a:schemeClr val="tx1"/>
                </a:solidFill>
                <a:latin typeface="Arial" pitchFamily="34" charset="0"/>
                <a:ea typeface="Arial" pitchFamily="34" charset="-122"/>
                <a:cs typeface="Arial" pitchFamily="34" charset="-120"/>
              </a:rPr>
              <a:t>« Les études montrent que… »</a:t>
            </a:r>
            <a:endParaRPr lang="en-US" sz="1400" dirty="0"/>
          </a:p>
        </p:txBody>
      </p:sp>
      <p:sp>
        <p:nvSpPr>
          <p:cNvPr id="26" name="Shape 22"/>
          <p:cNvSpPr/>
          <p:nvPr/>
        </p:nvSpPr>
        <p:spPr>
          <a:xfrm>
            <a:off x="6309360" y="2578608"/>
            <a:ext cx="5166360" cy="0"/>
          </a:xfrm>
          <a:prstGeom prst="line">
            <a:avLst/>
          </a:prstGeom>
          <a:noFill/>
          <a:ln w="9525">
            <a:solidFill>
              <a:schemeClr val="tx1"/>
            </a:solidFill>
            <a:prstDash val="solid"/>
          </a:ln>
        </p:spPr>
      </p:sp>
      <p:sp>
        <p:nvSpPr>
          <p:cNvPr id="27" name="Text 23"/>
          <p:cNvSpPr txBox="1"/>
          <p:nvPr/>
        </p:nvSpPr>
        <p:spPr>
          <a:xfrm>
            <a:off x="6309360" y="2633472"/>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Coups bas favoris</a:t>
            </a:r>
            <a:endParaRPr lang="en-US" sz="1100" dirty="0"/>
          </a:p>
        </p:txBody>
      </p:sp>
      <p:sp>
        <p:nvSpPr>
          <p:cNvPr id="28" name="Text 24"/>
          <p:cNvSpPr txBox="1"/>
          <p:nvPr/>
        </p:nvSpPr>
        <p:spPr>
          <a:xfrm>
            <a:off x="7772400" y="2633472"/>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30 Le galon · 36 Le brouillard</a:t>
            </a:r>
            <a:endParaRPr lang="en-US" sz="1400" dirty="0"/>
          </a:p>
        </p:txBody>
      </p:sp>
      <p:sp>
        <p:nvSpPr>
          <p:cNvPr id="29" name="Shape 25"/>
          <p:cNvSpPr/>
          <p:nvPr/>
        </p:nvSpPr>
        <p:spPr>
          <a:xfrm>
            <a:off x="6309360" y="3300984"/>
            <a:ext cx="5166360" cy="0"/>
          </a:xfrm>
          <a:prstGeom prst="line">
            <a:avLst/>
          </a:prstGeom>
          <a:noFill/>
          <a:ln w="9525">
            <a:solidFill>
              <a:schemeClr val="tx1"/>
            </a:solidFill>
            <a:prstDash val="solid"/>
          </a:ln>
        </p:spPr>
      </p:sp>
      <p:sp>
        <p:nvSpPr>
          <p:cNvPr id="30" name="Text 26"/>
          <p:cNvSpPr txBox="1"/>
          <p:nvPr/>
        </p:nvSpPr>
        <p:spPr>
          <a:xfrm>
            <a:off x="6309360" y="3355848"/>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Ce qui se cache dessous</a:t>
            </a:r>
            <a:endParaRPr lang="en-US" sz="1100" dirty="0"/>
          </a:p>
        </p:txBody>
      </p:sp>
      <p:sp>
        <p:nvSpPr>
          <p:cNvPr id="31" name="Text 27"/>
          <p:cNvSpPr txBox="1"/>
          <p:nvPr/>
        </p:nvSpPr>
        <p:spPr>
          <a:xfrm>
            <a:off x="7772400" y="3355848"/>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Le besoin de crédibilité, de statut.</a:t>
            </a:r>
            <a:endParaRPr lang="en-US" sz="1400" dirty="0"/>
          </a:p>
        </p:txBody>
      </p:sp>
      <p:sp>
        <p:nvSpPr>
          <p:cNvPr id="32" name="Shape 28"/>
          <p:cNvSpPr/>
          <p:nvPr/>
        </p:nvSpPr>
        <p:spPr>
          <a:xfrm>
            <a:off x="6309360" y="4023360"/>
            <a:ext cx="5166360" cy="0"/>
          </a:xfrm>
          <a:prstGeom prst="line">
            <a:avLst/>
          </a:prstGeom>
          <a:noFill/>
          <a:ln w="9525">
            <a:solidFill>
              <a:schemeClr val="tx1"/>
            </a:solidFill>
            <a:prstDash val="solid"/>
          </a:ln>
        </p:spPr>
      </p:sp>
      <p:sp>
        <p:nvSpPr>
          <p:cNvPr id="33" name="Text 29"/>
          <p:cNvSpPr txBox="1"/>
          <p:nvPr/>
        </p:nvSpPr>
        <p:spPr>
          <a:xfrm>
            <a:off x="6309360" y="4078224"/>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Comment lui répondre</a:t>
            </a:r>
            <a:endParaRPr lang="en-US" sz="1100" dirty="0"/>
          </a:p>
        </p:txBody>
      </p:sp>
      <p:sp>
        <p:nvSpPr>
          <p:cNvPr id="34" name="Text 30"/>
          <p:cNvSpPr txBox="1"/>
          <p:nvPr/>
        </p:nvSpPr>
        <p:spPr>
          <a:xfrm>
            <a:off x="7772400" y="4078224"/>
            <a:ext cx="3703320" cy="64008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 Lesquelles? Qu'est-ce qu'elles disent exactement? »</a:t>
            </a:r>
            <a:endParaRPr lang="en-US" sz="1400" dirty="0"/>
          </a:p>
        </p:txBody>
      </p:sp>
      <p:sp>
        <p:nvSpPr>
          <p:cNvPr id="35" name="Shape 31"/>
          <p:cNvSpPr/>
          <p:nvPr/>
        </p:nvSpPr>
        <p:spPr>
          <a:xfrm>
            <a:off x="6309360" y="4745736"/>
            <a:ext cx="5166360" cy="0"/>
          </a:xfrm>
          <a:prstGeom prst="line">
            <a:avLst/>
          </a:prstGeom>
          <a:noFill/>
          <a:ln w="9525">
            <a:solidFill>
              <a:schemeClr val="tx1"/>
            </a:solidFill>
            <a:prstDash val="solid"/>
          </a:ln>
        </p:spPr>
      </p:sp>
      <p:sp>
        <p:nvSpPr>
          <p:cNvPr id="36" name="Text 32"/>
          <p:cNvSpPr txBox="1"/>
          <p:nvPr/>
        </p:nvSpPr>
        <p:spPr>
          <a:xfrm>
            <a:off x="6309360" y="4800600"/>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Sa force cachée</a:t>
            </a:r>
            <a:endParaRPr lang="en-US" sz="1100" dirty="0"/>
          </a:p>
        </p:txBody>
      </p:sp>
      <p:sp>
        <p:nvSpPr>
          <p:cNvPr id="37" name="Text 33"/>
          <p:cNvSpPr txBox="1"/>
          <p:nvPr/>
        </p:nvSpPr>
        <p:spPr>
          <a:xfrm>
            <a:off x="7772400" y="4800600"/>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Il s'appuie sur des sources.</a:t>
            </a:r>
            <a:endParaRPr lang="en-US" sz="1400" dirty="0"/>
          </a:p>
        </p:txBody>
      </p:sp>
      <p:sp>
        <p:nvSpPr>
          <p:cNvPr id="38" name="Shape 34"/>
          <p:cNvSpPr/>
          <p:nvPr/>
        </p:nvSpPr>
        <p:spPr>
          <a:xfrm>
            <a:off x="6309360" y="5468112"/>
            <a:ext cx="5166360" cy="0"/>
          </a:xfrm>
          <a:prstGeom prst="line">
            <a:avLst/>
          </a:prstGeom>
          <a:noFill/>
          <a:ln w="9525">
            <a:solidFill>
              <a:schemeClr val="tx1"/>
            </a:solidFill>
            <a:prstDash val="solid"/>
          </a:ln>
        </p:spPr>
      </p:sp>
      <p:sp>
        <p:nvSpPr>
          <p:cNvPr id="39" name="Text 35"/>
          <p:cNvSpPr txBox="1"/>
          <p:nvPr/>
        </p:nvSpPr>
        <p:spPr>
          <a:xfrm>
            <a:off x="6309360" y="5522976"/>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Pour le jouer au bal masqué</a:t>
            </a:r>
            <a:endParaRPr lang="en-US" sz="1100" dirty="0"/>
          </a:p>
        </p:txBody>
      </p:sp>
      <p:sp>
        <p:nvSpPr>
          <p:cNvPr id="40" name="Text 36"/>
          <p:cNvSpPr txBox="1"/>
          <p:nvPr/>
        </p:nvSpPr>
        <p:spPr>
          <a:xfrm>
            <a:off x="7772400" y="5522976"/>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Cite des experts vagues. Utilise des mots compliqués.</a:t>
            </a:r>
            <a:endParaRPr lang="en-US" sz="14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1"/>
                </a:solidFill>
                <a:latin typeface="Arial"/>
                <a:ea typeface="Arial"/>
                <a:cs typeface="Aria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lIns="0" tIns="0" rIns="0" bIns="0" rtlCol="0" anchor="t"/>
          <a:lstStyle/>
          <a:p>
            <a:pPr algn="l" indent="0" marL="0">
              <a:buNone/>
            </a:pPr>
            <a:r>
              <a:rPr lang="en-US" sz="3600" dirty="0">
                <a:solidFill>
                  <a:schemeClr val="accent1"/>
                </a:solidFill>
              </a:rPr>
              <a:t>Fiches d'identité · 3/4</a:t>
            </a:r>
            <a:endParaRPr lang="en-US" sz="3600" dirty="0"/>
          </a:p>
        </p:txBody>
      </p:sp>
      <p:sp>
        <p:nvSpPr>
          <p:cNvPr id="3" name="Shape 1"/>
          <p:cNvSpPr/>
          <p:nvPr/>
        </p:nvSpPr>
        <p:spPr>
          <a:xfrm>
            <a:off x="548640" y="1280160"/>
            <a:ext cx="5440680" cy="4937760"/>
          </a:xfrm>
          <a:prstGeom prst="rect">
            <a:avLst/>
          </a:prstGeom>
          <a:solidFill>
            <a:schemeClr val="bg1"/>
          </a:solidFill>
          <a:ln w="25400">
            <a:solidFill>
              <a:schemeClr val="tx1"/>
            </a:solidFill>
            <a:prstDash val="solid"/>
          </a:ln>
        </p:spPr>
      </p:sp>
      <p:pic>
        <p:nvPicPr>
          <p:cNvPr id="4" name="Image 0" descr="preencoded.png">    </p:cNvPr>
          <p:cNvPicPr>
            <a:picLocks noChangeAspect="1"/>
          </p:cNvPicPr>
          <p:nvPr/>
        </p:nvPicPr>
        <p:blipFill>
          <a:blip r:embed="rId1"/>
          <a:stretch>
            <a:fillRect/>
          </a:stretch>
        </p:blipFill>
        <p:spPr>
          <a:xfrm>
            <a:off x="685800" y="1389888"/>
            <a:ext cx="868680" cy="1051560"/>
          </a:xfrm>
          <a:prstGeom prst="rect">
            <a:avLst/>
          </a:prstGeom>
        </p:spPr>
      </p:pic>
      <p:sp>
        <p:nvSpPr>
          <p:cNvPr id="5" name="Text 2"/>
          <p:cNvSpPr txBox="1"/>
          <p:nvPr/>
        </p:nvSpPr>
        <p:spPr>
          <a:xfrm>
            <a:off x="1645920" y="1417320"/>
            <a:ext cx="4206240" cy="457200"/>
          </a:xfrm>
          <a:prstGeom prst="rect">
            <a:avLst/>
          </a:prstGeom>
          <a:noFill/>
          <a:ln/>
        </p:spPr>
        <p:txBody>
          <a:bodyPr wrap="square" lIns="0" tIns="0" rIns="0" bIns="0" rtlCol="0" anchor="t"/>
          <a:lstStyle/>
          <a:p>
            <a:pPr indent="0" marL="0">
              <a:buNone/>
            </a:pPr>
            <a:r>
              <a:rPr lang="en-US" sz="2200" dirty="0">
                <a:solidFill>
                  <a:schemeClr val="accent1"/>
                </a:solidFill>
                <a:latin typeface="Rockwell Extra Bold" pitchFamily="34" charset="0"/>
                <a:ea typeface="Rockwell Extra Bold" pitchFamily="34" charset="-122"/>
                <a:cs typeface="Rockwell Extra Bold" pitchFamily="34" charset="-120"/>
              </a:rPr>
              <a:t>La Girouette</a:t>
            </a:r>
            <a:endParaRPr lang="en-US" sz="2200" dirty="0"/>
          </a:p>
        </p:txBody>
      </p:sp>
      <p:sp>
        <p:nvSpPr>
          <p:cNvPr id="6" name="Text 3"/>
          <p:cNvSpPr txBox="1"/>
          <p:nvPr/>
        </p:nvSpPr>
        <p:spPr>
          <a:xfrm>
            <a:off x="1645920" y="1901952"/>
            <a:ext cx="4206240" cy="548640"/>
          </a:xfrm>
          <a:prstGeom prst="rect">
            <a:avLst/>
          </a:prstGeom>
          <a:noFill/>
          <a:ln/>
        </p:spPr>
        <p:txBody>
          <a:bodyPr wrap="square" lIns="0" tIns="0" rIns="0" bIns="0" rtlCol="0" anchor="t"/>
          <a:lstStyle/>
          <a:p>
            <a:pPr indent="0" marL="0">
              <a:buNone/>
            </a:pPr>
            <a:r>
              <a:rPr lang="en-US" sz="1400" b="1" i="1" dirty="0">
                <a:solidFill>
                  <a:schemeClr val="tx1"/>
                </a:solidFill>
                <a:latin typeface="Arial" pitchFamily="34" charset="0"/>
                <a:ea typeface="Arial" pitchFamily="34" charset="-122"/>
                <a:cs typeface="Arial" pitchFamily="34" charset="-120"/>
              </a:rPr>
              <a:t>« T'as raison… Toi aussi, t'as raison. »</a:t>
            </a:r>
            <a:endParaRPr lang="en-US" sz="1400" dirty="0"/>
          </a:p>
        </p:txBody>
      </p:sp>
      <p:sp>
        <p:nvSpPr>
          <p:cNvPr id="7" name="Shape 4"/>
          <p:cNvSpPr/>
          <p:nvPr/>
        </p:nvSpPr>
        <p:spPr>
          <a:xfrm>
            <a:off x="685800" y="2578608"/>
            <a:ext cx="5166360" cy="0"/>
          </a:xfrm>
          <a:prstGeom prst="line">
            <a:avLst/>
          </a:prstGeom>
          <a:noFill/>
          <a:ln w="9525">
            <a:solidFill>
              <a:schemeClr val="tx1"/>
            </a:solidFill>
            <a:prstDash val="solid"/>
          </a:ln>
        </p:spPr>
      </p:sp>
      <p:sp>
        <p:nvSpPr>
          <p:cNvPr id="8" name="Text 5"/>
          <p:cNvSpPr txBox="1"/>
          <p:nvPr/>
        </p:nvSpPr>
        <p:spPr>
          <a:xfrm>
            <a:off x="685800" y="2633472"/>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Coups bas favoris</a:t>
            </a:r>
            <a:endParaRPr lang="en-US" sz="1100" dirty="0"/>
          </a:p>
        </p:txBody>
      </p:sp>
      <p:sp>
        <p:nvSpPr>
          <p:cNvPr id="9" name="Text 6"/>
          <p:cNvSpPr txBox="1"/>
          <p:nvPr/>
        </p:nvSpPr>
        <p:spPr>
          <a:xfrm>
            <a:off x="2148840" y="2633472"/>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Aucun : elle les subit (28, rire de la salle)</a:t>
            </a:r>
            <a:endParaRPr lang="en-US" sz="1400" dirty="0"/>
          </a:p>
        </p:txBody>
      </p:sp>
      <p:sp>
        <p:nvSpPr>
          <p:cNvPr id="10" name="Shape 7"/>
          <p:cNvSpPr/>
          <p:nvPr/>
        </p:nvSpPr>
        <p:spPr>
          <a:xfrm>
            <a:off x="685800" y="3300984"/>
            <a:ext cx="5166360" cy="0"/>
          </a:xfrm>
          <a:prstGeom prst="line">
            <a:avLst/>
          </a:prstGeom>
          <a:noFill/>
          <a:ln w="9525">
            <a:solidFill>
              <a:schemeClr val="tx1"/>
            </a:solidFill>
            <a:prstDash val="solid"/>
          </a:ln>
        </p:spPr>
      </p:sp>
      <p:sp>
        <p:nvSpPr>
          <p:cNvPr id="11" name="Text 8"/>
          <p:cNvSpPr txBox="1"/>
          <p:nvPr/>
        </p:nvSpPr>
        <p:spPr>
          <a:xfrm>
            <a:off x="685800" y="3355848"/>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Ce qui se cache dessous</a:t>
            </a:r>
            <a:endParaRPr lang="en-US" sz="1100" dirty="0"/>
          </a:p>
        </p:txBody>
      </p:sp>
      <p:sp>
        <p:nvSpPr>
          <p:cNvPr id="12" name="Text 9"/>
          <p:cNvSpPr txBox="1"/>
          <p:nvPr/>
        </p:nvSpPr>
        <p:spPr>
          <a:xfrm>
            <a:off x="2148840" y="3355848"/>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Le besoin d'harmonie, la peur du conflit.</a:t>
            </a:r>
            <a:endParaRPr lang="en-US" sz="1400" dirty="0"/>
          </a:p>
        </p:txBody>
      </p:sp>
      <p:sp>
        <p:nvSpPr>
          <p:cNvPr id="13" name="Shape 10"/>
          <p:cNvSpPr/>
          <p:nvPr/>
        </p:nvSpPr>
        <p:spPr>
          <a:xfrm>
            <a:off x="685800" y="4023360"/>
            <a:ext cx="5166360" cy="0"/>
          </a:xfrm>
          <a:prstGeom prst="line">
            <a:avLst/>
          </a:prstGeom>
          <a:noFill/>
          <a:ln w="9525">
            <a:solidFill>
              <a:schemeClr val="tx1"/>
            </a:solidFill>
            <a:prstDash val="solid"/>
          </a:ln>
        </p:spPr>
      </p:sp>
      <p:sp>
        <p:nvSpPr>
          <p:cNvPr id="14" name="Text 11"/>
          <p:cNvSpPr txBox="1"/>
          <p:nvPr/>
        </p:nvSpPr>
        <p:spPr>
          <a:xfrm>
            <a:off x="685800" y="4078224"/>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Comment lui répondre</a:t>
            </a:r>
            <a:endParaRPr lang="en-US" sz="1100" dirty="0"/>
          </a:p>
        </p:txBody>
      </p:sp>
      <p:sp>
        <p:nvSpPr>
          <p:cNvPr id="15" name="Text 12"/>
          <p:cNvSpPr txBox="1"/>
          <p:nvPr/>
        </p:nvSpPr>
        <p:spPr>
          <a:xfrm>
            <a:off x="2148840" y="4078224"/>
            <a:ext cx="3703320" cy="64008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 Si tu devais choisir une seule position? »</a:t>
            </a:r>
            <a:endParaRPr lang="en-US" sz="1400" dirty="0"/>
          </a:p>
        </p:txBody>
      </p:sp>
      <p:sp>
        <p:nvSpPr>
          <p:cNvPr id="16" name="Shape 13"/>
          <p:cNvSpPr/>
          <p:nvPr/>
        </p:nvSpPr>
        <p:spPr>
          <a:xfrm>
            <a:off x="685800" y="4745736"/>
            <a:ext cx="5166360" cy="0"/>
          </a:xfrm>
          <a:prstGeom prst="line">
            <a:avLst/>
          </a:prstGeom>
          <a:noFill/>
          <a:ln w="9525">
            <a:solidFill>
              <a:schemeClr val="tx1"/>
            </a:solidFill>
            <a:prstDash val="solid"/>
          </a:ln>
        </p:spPr>
      </p:sp>
      <p:sp>
        <p:nvSpPr>
          <p:cNvPr id="17" name="Text 14"/>
          <p:cNvSpPr txBox="1"/>
          <p:nvPr/>
        </p:nvSpPr>
        <p:spPr>
          <a:xfrm>
            <a:off x="685800" y="4800600"/>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Sa force cachée</a:t>
            </a:r>
            <a:endParaRPr lang="en-US" sz="1100" dirty="0"/>
          </a:p>
        </p:txBody>
      </p:sp>
      <p:sp>
        <p:nvSpPr>
          <p:cNvPr id="18" name="Text 15"/>
          <p:cNvSpPr txBox="1"/>
          <p:nvPr/>
        </p:nvSpPr>
        <p:spPr>
          <a:xfrm>
            <a:off x="2148840" y="4800600"/>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Écoute et ouverture.</a:t>
            </a:r>
            <a:endParaRPr lang="en-US" sz="1400" dirty="0"/>
          </a:p>
        </p:txBody>
      </p:sp>
      <p:sp>
        <p:nvSpPr>
          <p:cNvPr id="19" name="Shape 16"/>
          <p:cNvSpPr/>
          <p:nvPr/>
        </p:nvSpPr>
        <p:spPr>
          <a:xfrm>
            <a:off x="685800" y="5468112"/>
            <a:ext cx="5166360" cy="0"/>
          </a:xfrm>
          <a:prstGeom prst="line">
            <a:avLst/>
          </a:prstGeom>
          <a:noFill/>
          <a:ln w="9525">
            <a:solidFill>
              <a:schemeClr val="tx1"/>
            </a:solidFill>
            <a:prstDash val="solid"/>
          </a:ln>
        </p:spPr>
      </p:sp>
      <p:sp>
        <p:nvSpPr>
          <p:cNvPr id="20" name="Text 17"/>
          <p:cNvSpPr txBox="1"/>
          <p:nvPr/>
        </p:nvSpPr>
        <p:spPr>
          <a:xfrm>
            <a:off x="685800" y="5522976"/>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Pour le jouer au bal masqué</a:t>
            </a:r>
            <a:endParaRPr lang="en-US" sz="1100" dirty="0"/>
          </a:p>
        </p:txBody>
      </p:sp>
      <p:sp>
        <p:nvSpPr>
          <p:cNvPr id="21" name="Text 18"/>
          <p:cNvSpPr txBox="1"/>
          <p:nvPr/>
        </p:nvSpPr>
        <p:spPr>
          <a:xfrm>
            <a:off x="2148840" y="5522976"/>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Donne raison à la dernière personne qui a parlé.</a:t>
            </a:r>
            <a:endParaRPr lang="en-US" sz="1400" dirty="0"/>
          </a:p>
        </p:txBody>
      </p:sp>
      <p:sp>
        <p:nvSpPr>
          <p:cNvPr id="22" name="Shape 19"/>
          <p:cNvSpPr/>
          <p:nvPr/>
        </p:nvSpPr>
        <p:spPr>
          <a:xfrm>
            <a:off x="6172200" y="1280160"/>
            <a:ext cx="5440680" cy="4937760"/>
          </a:xfrm>
          <a:prstGeom prst="rect">
            <a:avLst/>
          </a:prstGeom>
          <a:solidFill>
            <a:schemeClr val="bg1"/>
          </a:solidFill>
          <a:ln w="25400">
            <a:solidFill>
              <a:schemeClr val="tx1"/>
            </a:solidFill>
            <a:prstDash val="solid"/>
          </a:ln>
        </p:spPr>
      </p:sp>
      <p:pic>
        <p:nvPicPr>
          <p:cNvPr id="23" name="Image 1" descr="preencoded.png">    </p:cNvPr>
          <p:cNvPicPr>
            <a:picLocks noChangeAspect="1"/>
          </p:cNvPicPr>
          <p:nvPr/>
        </p:nvPicPr>
        <p:blipFill>
          <a:blip r:embed="rId2"/>
          <a:stretch>
            <a:fillRect/>
          </a:stretch>
        </p:blipFill>
        <p:spPr>
          <a:xfrm>
            <a:off x="6309360" y="1389888"/>
            <a:ext cx="868680" cy="1051560"/>
          </a:xfrm>
          <a:prstGeom prst="rect">
            <a:avLst/>
          </a:prstGeom>
        </p:spPr>
      </p:pic>
      <p:sp>
        <p:nvSpPr>
          <p:cNvPr id="24" name="Text 20"/>
          <p:cNvSpPr txBox="1"/>
          <p:nvPr/>
        </p:nvSpPr>
        <p:spPr>
          <a:xfrm>
            <a:off x="7269480" y="1417320"/>
            <a:ext cx="4206240" cy="457200"/>
          </a:xfrm>
          <a:prstGeom prst="rect">
            <a:avLst/>
          </a:prstGeom>
          <a:noFill/>
          <a:ln/>
        </p:spPr>
        <p:txBody>
          <a:bodyPr wrap="square" lIns="0" tIns="0" rIns="0" bIns="0" rtlCol="0" anchor="t"/>
          <a:lstStyle/>
          <a:p>
            <a:pPr indent="0" marL="0">
              <a:buNone/>
            </a:pPr>
            <a:r>
              <a:rPr lang="en-US" sz="2200" dirty="0">
                <a:solidFill>
                  <a:schemeClr val="accent1"/>
                </a:solidFill>
                <a:latin typeface="Rockwell Extra Bold" pitchFamily="34" charset="0"/>
                <a:ea typeface="Rockwell Extra Bold" pitchFamily="34" charset="-122"/>
                <a:cs typeface="Rockwell Extra Bold" pitchFamily="34" charset="-120"/>
              </a:rPr>
              <a:t>La Tortue</a:t>
            </a:r>
            <a:endParaRPr lang="en-US" sz="2200" dirty="0"/>
          </a:p>
        </p:txBody>
      </p:sp>
      <p:sp>
        <p:nvSpPr>
          <p:cNvPr id="25" name="Text 21"/>
          <p:cNvSpPr txBox="1"/>
          <p:nvPr/>
        </p:nvSpPr>
        <p:spPr>
          <a:xfrm>
            <a:off x="7269480" y="1901952"/>
            <a:ext cx="4206240" cy="548640"/>
          </a:xfrm>
          <a:prstGeom prst="rect">
            <a:avLst/>
          </a:prstGeom>
          <a:noFill/>
          <a:ln/>
        </p:spPr>
        <p:txBody>
          <a:bodyPr wrap="square" lIns="0" tIns="0" rIns="0" bIns="0" rtlCol="0" anchor="t"/>
          <a:lstStyle/>
          <a:p>
            <a:pPr indent="0" marL="0">
              <a:buNone/>
            </a:pPr>
            <a:r>
              <a:rPr lang="en-US" sz="1400" b="1" i="1" dirty="0">
                <a:solidFill>
                  <a:schemeClr val="tx1"/>
                </a:solidFill>
                <a:latin typeface="Arial" pitchFamily="34" charset="0"/>
                <a:ea typeface="Arial" pitchFamily="34" charset="-122"/>
                <a:cs typeface="Arial" pitchFamily="34" charset="-120"/>
              </a:rPr>
              <a:t>« … » ou « Je sais pas » (alors qu'elle sait)</a:t>
            </a:r>
            <a:endParaRPr lang="en-US" sz="1400" dirty="0"/>
          </a:p>
        </p:txBody>
      </p:sp>
      <p:sp>
        <p:nvSpPr>
          <p:cNvPr id="26" name="Shape 22"/>
          <p:cNvSpPr/>
          <p:nvPr/>
        </p:nvSpPr>
        <p:spPr>
          <a:xfrm>
            <a:off x="6309360" y="2578608"/>
            <a:ext cx="5166360" cy="0"/>
          </a:xfrm>
          <a:prstGeom prst="line">
            <a:avLst/>
          </a:prstGeom>
          <a:noFill/>
          <a:ln w="9525">
            <a:solidFill>
              <a:schemeClr val="tx1"/>
            </a:solidFill>
            <a:prstDash val="solid"/>
          </a:ln>
        </p:spPr>
      </p:sp>
      <p:sp>
        <p:nvSpPr>
          <p:cNvPr id="27" name="Text 23"/>
          <p:cNvSpPr txBox="1"/>
          <p:nvPr/>
        </p:nvSpPr>
        <p:spPr>
          <a:xfrm>
            <a:off x="6309360" y="2633472"/>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Coups bas favoris</a:t>
            </a:r>
            <a:endParaRPr lang="en-US" sz="1100" dirty="0"/>
          </a:p>
        </p:txBody>
      </p:sp>
      <p:sp>
        <p:nvSpPr>
          <p:cNvPr id="28" name="Text 24"/>
          <p:cNvSpPr txBox="1"/>
          <p:nvPr/>
        </p:nvSpPr>
        <p:spPr>
          <a:xfrm>
            <a:off x="7772400" y="2633472"/>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Aucun : elle se retire</a:t>
            </a:r>
            <a:endParaRPr lang="en-US" sz="1400" dirty="0"/>
          </a:p>
        </p:txBody>
      </p:sp>
      <p:sp>
        <p:nvSpPr>
          <p:cNvPr id="29" name="Shape 25"/>
          <p:cNvSpPr/>
          <p:nvPr/>
        </p:nvSpPr>
        <p:spPr>
          <a:xfrm>
            <a:off x="6309360" y="3300984"/>
            <a:ext cx="5166360" cy="0"/>
          </a:xfrm>
          <a:prstGeom prst="line">
            <a:avLst/>
          </a:prstGeom>
          <a:noFill/>
          <a:ln w="9525">
            <a:solidFill>
              <a:schemeClr val="tx1"/>
            </a:solidFill>
            <a:prstDash val="solid"/>
          </a:ln>
        </p:spPr>
      </p:sp>
      <p:sp>
        <p:nvSpPr>
          <p:cNvPr id="30" name="Text 26"/>
          <p:cNvSpPr txBox="1"/>
          <p:nvPr/>
        </p:nvSpPr>
        <p:spPr>
          <a:xfrm>
            <a:off x="6309360" y="3355848"/>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Ce qui se cache dessous</a:t>
            </a:r>
            <a:endParaRPr lang="en-US" sz="1100" dirty="0"/>
          </a:p>
        </p:txBody>
      </p:sp>
      <p:sp>
        <p:nvSpPr>
          <p:cNvPr id="31" name="Text 27"/>
          <p:cNvSpPr txBox="1"/>
          <p:nvPr/>
        </p:nvSpPr>
        <p:spPr>
          <a:xfrm>
            <a:off x="7772400" y="3355848"/>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La peur du jugement, le besoin de sécurité.</a:t>
            </a:r>
            <a:endParaRPr lang="en-US" sz="1400" dirty="0"/>
          </a:p>
        </p:txBody>
      </p:sp>
      <p:sp>
        <p:nvSpPr>
          <p:cNvPr id="32" name="Shape 28"/>
          <p:cNvSpPr/>
          <p:nvPr/>
        </p:nvSpPr>
        <p:spPr>
          <a:xfrm>
            <a:off x="6309360" y="4023360"/>
            <a:ext cx="5166360" cy="0"/>
          </a:xfrm>
          <a:prstGeom prst="line">
            <a:avLst/>
          </a:prstGeom>
          <a:noFill/>
          <a:ln w="9525">
            <a:solidFill>
              <a:schemeClr val="tx1"/>
            </a:solidFill>
            <a:prstDash val="solid"/>
          </a:ln>
        </p:spPr>
      </p:sp>
      <p:sp>
        <p:nvSpPr>
          <p:cNvPr id="33" name="Text 29"/>
          <p:cNvSpPr txBox="1"/>
          <p:nvPr/>
        </p:nvSpPr>
        <p:spPr>
          <a:xfrm>
            <a:off x="6309360" y="4078224"/>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Comment lui répondre</a:t>
            </a:r>
            <a:endParaRPr lang="en-US" sz="1100" dirty="0"/>
          </a:p>
        </p:txBody>
      </p:sp>
      <p:sp>
        <p:nvSpPr>
          <p:cNvPr id="34" name="Text 30"/>
          <p:cNvSpPr txBox="1"/>
          <p:nvPr/>
        </p:nvSpPr>
        <p:spPr>
          <a:xfrm>
            <a:off x="7772400" y="4078224"/>
            <a:ext cx="3703320" cy="64008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Temps d'écriture d'abord, puis une question précise.</a:t>
            </a:r>
            <a:endParaRPr lang="en-US" sz="1400" dirty="0"/>
          </a:p>
        </p:txBody>
      </p:sp>
      <p:sp>
        <p:nvSpPr>
          <p:cNvPr id="35" name="Shape 31"/>
          <p:cNvSpPr/>
          <p:nvPr/>
        </p:nvSpPr>
        <p:spPr>
          <a:xfrm>
            <a:off x="6309360" y="4745736"/>
            <a:ext cx="5166360" cy="0"/>
          </a:xfrm>
          <a:prstGeom prst="line">
            <a:avLst/>
          </a:prstGeom>
          <a:noFill/>
          <a:ln w="9525">
            <a:solidFill>
              <a:schemeClr val="tx1"/>
            </a:solidFill>
            <a:prstDash val="solid"/>
          </a:ln>
        </p:spPr>
      </p:sp>
      <p:sp>
        <p:nvSpPr>
          <p:cNvPr id="36" name="Text 32"/>
          <p:cNvSpPr txBox="1"/>
          <p:nvPr/>
        </p:nvSpPr>
        <p:spPr>
          <a:xfrm>
            <a:off x="6309360" y="4800600"/>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Sa force cachée</a:t>
            </a:r>
            <a:endParaRPr lang="en-US" sz="1100" dirty="0"/>
          </a:p>
        </p:txBody>
      </p:sp>
      <p:sp>
        <p:nvSpPr>
          <p:cNvPr id="37" name="Text 33"/>
          <p:cNvSpPr txBox="1"/>
          <p:nvPr/>
        </p:nvSpPr>
        <p:spPr>
          <a:xfrm>
            <a:off x="7772400" y="4800600"/>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Observe et réfléchit : détient souvent la meilleure idée.</a:t>
            </a:r>
            <a:endParaRPr lang="en-US" sz="1400" dirty="0"/>
          </a:p>
        </p:txBody>
      </p:sp>
      <p:sp>
        <p:nvSpPr>
          <p:cNvPr id="38" name="Shape 34"/>
          <p:cNvSpPr/>
          <p:nvPr/>
        </p:nvSpPr>
        <p:spPr>
          <a:xfrm>
            <a:off x="6309360" y="5468112"/>
            <a:ext cx="5166360" cy="0"/>
          </a:xfrm>
          <a:prstGeom prst="line">
            <a:avLst/>
          </a:prstGeom>
          <a:noFill/>
          <a:ln w="9525">
            <a:solidFill>
              <a:schemeClr val="tx1"/>
            </a:solidFill>
            <a:prstDash val="solid"/>
          </a:ln>
        </p:spPr>
      </p:sp>
      <p:sp>
        <p:nvSpPr>
          <p:cNvPr id="39" name="Text 35"/>
          <p:cNvSpPr txBox="1"/>
          <p:nvPr/>
        </p:nvSpPr>
        <p:spPr>
          <a:xfrm>
            <a:off x="6309360" y="5522976"/>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Pour le jouer au bal masqué</a:t>
            </a:r>
            <a:endParaRPr lang="en-US" sz="1100" dirty="0"/>
          </a:p>
        </p:txBody>
      </p:sp>
      <p:sp>
        <p:nvSpPr>
          <p:cNvPr id="40" name="Text 36"/>
          <p:cNvSpPr txBox="1"/>
          <p:nvPr/>
        </p:nvSpPr>
        <p:spPr>
          <a:xfrm>
            <a:off x="7772400" y="5522976"/>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Reste muet·te, sauf si on t'invite très clairement.</a:t>
            </a:r>
            <a:endParaRPr lang="en-US" sz="14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1"/>
                </a:solidFill>
                <a:latin typeface="Arial"/>
                <a:ea typeface="Arial"/>
                <a:cs typeface="Aria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lIns="0" tIns="0" rIns="0" bIns="0" rtlCol="0" anchor="t"/>
          <a:lstStyle/>
          <a:p>
            <a:pPr algn="l" indent="0" marL="0">
              <a:buNone/>
            </a:pPr>
            <a:r>
              <a:rPr lang="en-US" sz="3600" dirty="0">
                <a:solidFill>
                  <a:schemeClr val="accent1"/>
                </a:solidFill>
              </a:rPr>
              <a:t>Fiches d'identité · 4/4</a:t>
            </a:r>
            <a:endParaRPr lang="en-US" sz="3600" dirty="0"/>
          </a:p>
        </p:txBody>
      </p:sp>
      <p:sp>
        <p:nvSpPr>
          <p:cNvPr id="3" name="Shape 1"/>
          <p:cNvSpPr/>
          <p:nvPr/>
        </p:nvSpPr>
        <p:spPr>
          <a:xfrm>
            <a:off x="548640" y="1280160"/>
            <a:ext cx="5440680" cy="4937760"/>
          </a:xfrm>
          <a:prstGeom prst="rect">
            <a:avLst/>
          </a:prstGeom>
          <a:solidFill>
            <a:schemeClr val="bg1"/>
          </a:solidFill>
          <a:ln w="25400">
            <a:solidFill>
              <a:schemeClr val="tx1"/>
            </a:solidFill>
            <a:prstDash val="solid"/>
          </a:ln>
        </p:spPr>
      </p:sp>
      <p:pic>
        <p:nvPicPr>
          <p:cNvPr id="4" name="Image 0" descr="preencoded.png">    </p:cNvPr>
          <p:cNvPicPr>
            <a:picLocks noChangeAspect="1"/>
          </p:cNvPicPr>
          <p:nvPr/>
        </p:nvPicPr>
        <p:blipFill>
          <a:blip r:embed="rId1"/>
          <a:stretch>
            <a:fillRect/>
          </a:stretch>
        </p:blipFill>
        <p:spPr>
          <a:xfrm>
            <a:off x="685800" y="1389888"/>
            <a:ext cx="868680" cy="1051560"/>
          </a:xfrm>
          <a:prstGeom prst="rect">
            <a:avLst/>
          </a:prstGeom>
        </p:spPr>
      </p:pic>
      <p:sp>
        <p:nvSpPr>
          <p:cNvPr id="5" name="Text 2"/>
          <p:cNvSpPr txBox="1"/>
          <p:nvPr/>
        </p:nvSpPr>
        <p:spPr>
          <a:xfrm>
            <a:off x="1645920" y="1417320"/>
            <a:ext cx="4206240" cy="457200"/>
          </a:xfrm>
          <a:prstGeom prst="rect">
            <a:avLst/>
          </a:prstGeom>
          <a:noFill/>
          <a:ln/>
        </p:spPr>
        <p:txBody>
          <a:bodyPr wrap="square" lIns="0" tIns="0" rIns="0" bIns="0" rtlCol="0" anchor="t"/>
          <a:lstStyle/>
          <a:p>
            <a:pPr indent="0" marL="0">
              <a:buNone/>
            </a:pPr>
            <a:r>
              <a:rPr lang="en-US" sz="2200" dirty="0">
                <a:solidFill>
                  <a:schemeClr val="accent1"/>
                </a:solidFill>
                <a:latin typeface="Rockwell Extra Bold" pitchFamily="34" charset="0"/>
                <a:ea typeface="Rockwell Extra Bold" pitchFamily="34" charset="-122"/>
                <a:cs typeface="Rockwell Extra Bold" pitchFamily="34" charset="-120"/>
              </a:rPr>
              <a:t>L'Avocat du diable</a:t>
            </a:r>
            <a:endParaRPr lang="en-US" sz="2200" dirty="0"/>
          </a:p>
        </p:txBody>
      </p:sp>
      <p:sp>
        <p:nvSpPr>
          <p:cNvPr id="6" name="Text 3"/>
          <p:cNvSpPr txBox="1"/>
          <p:nvPr/>
        </p:nvSpPr>
        <p:spPr>
          <a:xfrm>
            <a:off x="1645920" y="1901952"/>
            <a:ext cx="4206240" cy="548640"/>
          </a:xfrm>
          <a:prstGeom prst="rect">
            <a:avLst/>
          </a:prstGeom>
          <a:noFill/>
          <a:ln/>
        </p:spPr>
        <p:txBody>
          <a:bodyPr wrap="square" lIns="0" tIns="0" rIns="0" bIns="0" rtlCol="0" anchor="t"/>
          <a:lstStyle/>
          <a:p>
            <a:pPr indent="0" marL="0">
              <a:buNone/>
            </a:pPr>
            <a:r>
              <a:rPr lang="en-US" sz="1400" b="1" i="1" dirty="0">
                <a:solidFill>
                  <a:schemeClr val="tx1"/>
                </a:solidFill>
                <a:latin typeface="Arial" pitchFamily="34" charset="0"/>
                <a:ea typeface="Arial" pitchFamily="34" charset="-122"/>
                <a:cs typeface="Arial" pitchFamily="34" charset="-120"/>
              </a:rPr>
              <a:t>« Juste pour jouer l'avocat du diable… »</a:t>
            </a:r>
            <a:endParaRPr lang="en-US" sz="1400" dirty="0"/>
          </a:p>
        </p:txBody>
      </p:sp>
      <p:sp>
        <p:nvSpPr>
          <p:cNvPr id="7" name="Shape 4"/>
          <p:cNvSpPr/>
          <p:nvPr/>
        </p:nvSpPr>
        <p:spPr>
          <a:xfrm>
            <a:off x="685800" y="2578608"/>
            <a:ext cx="5166360" cy="0"/>
          </a:xfrm>
          <a:prstGeom prst="line">
            <a:avLst/>
          </a:prstGeom>
          <a:noFill/>
          <a:ln w="9525">
            <a:solidFill>
              <a:schemeClr val="tx1"/>
            </a:solidFill>
            <a:prstDash val="solid"/>
          </a:ln>
        </p:spPr>
      </p:sp>
      <p:sp>
        <p:nvSpPr>
          <p:cNvPr id="8" name="Text 5"/>
          <p:cNvSpPr txBox="1"/>
          <p:nvPr/>
        </p:nvSpPr>
        <p:spPr>
          <a:xfrm>
            <a:off x="685800" y="2633472"/>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Coups bas favoris</a:t>
            </a:r>
            <a:endParaRPr lang="en-US" sz="1100" dirty="0"/>
          </a:p>
        </p:txBody>
      </p:sp>
      <p:sp>
        <p:nvSpPr>
          <p:cNvPr id="9" name="Text 6"/>
          <p:cNvSpPr txBox="1"/>
          <p:nvPr/>
        </p:nvSpPr>
        <p:spPr>
          <a:xfrm>
            <a:off x="2148840" y="2633472"/>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1 L'élastique · 13 Le faux choix</a:t>
            </a:r>
            <a:endParaRPr lang="en-US" sz="1400" dirty="0"/>
          </a:p>
        </p:txBody>
      </p:sp>
      <p:sp>
        <p:nvSpPr>
          <p:cNvPr id="10" name="Shape 7"/>
          <p:cNvSpPr/>
          <p:nvPr/>
        </p:nvSpPr>
        <p:spPr>
          <a:xfrm>
            <a:off x="685800" y="3300984"/>
            <a:ext cx="5166360" cy="0"/>
          </a:xfrm>
          <a:prstGeom prst="line">
            <a:avLst/>
          </a:prstGeom>
          <a:noFill/>
          <a:ln w="9525">
            <a:solidFill>
              <a:schemeClr val="tx1"/>
            </a:solidFill>
            <a:prstDash val="solid"/>
          </a:ln>
        </p:spPr>
      </p:sp>
      <p:sp>
        <p:nvSpPr>
          <p:cNvPr id="11" name="Text 8"/>
          <p:cNvSpPr txBox="1"/>
          <p:nvPr/>
        </p:nvSpPr>
        <p:spPr>
          <a:xfrm>
            <a:off x="685800" y="3355848"/>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Ce qui se cache dessous</a:t>
            </a:r>
            <a:endParaRPr lang="en-US" sz="1100" dirty="0"/>
          </a:p>
        </p:txBody>
      </p:sp>
      <p:sp>
        <p:nvSpPr>
          <p:cNvPr id="12" name="Text 9"/>
          <p:cNvSpPr txBox="1"/>
          <p:nvPr/>
        </p:nvSpPr>
        <p:spPr>
          <a:xfrm>
            <a:off x="2148840" y="3355848"/>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Le plaisir du jeu, le besoin de stimulation.</a:t>
            </a:r>
            <a:endParaRPr lang="en-US" sz="1400" dirty="0"/>
          </a:p>
        </p:txBody>
      </p:sp>
      <p:sp>
        <p:nvSpPr>
          <p:cNvPr id="13" name="Shape 10"/>
          <p:cNvSpPr/>
          <p:nvPr/>
        </p:nvSpPr>
        <p:spPr>
          <a:xfrm>
            <a:off x="685800" y="4023360"/>
            <a:ext cx="5166360" cy="0"/>
          </a:xfrm>
          <a:prstGeom prst="line">
            <a:avLst/>
          </a:prstGeom>
          <a:noFill/>
          <a:ln w="9525">
            <a:solidFill>
              <a:schemeClr val="tx1"/>
            </a:solidFill>
            <a:prstDash val="solid"/>
          </a:ln>
        </p:spPr>
      </p:sp>
      <p:sp>
        <p:nvSpPr>
          <p:cNvPr id="14" name="Text 11"/>
          <p:cNvSpPr txBox="1"/>
          <p:nvPr/>
        </p:nvSpPr>
        <p:spPr>
          <a:xfrm>
            <a:off x="685800" y="4078224"/>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Comment lui répondre</a:t>
            </a:r>
            <a:endParaRPr lang="en-US" sz="1100" dirty="0"/>
          </a:p>
        </p:txBody>
      </p:sp>
      <p:sp>
        <p:nvSpPr>
          <p:cNvPr id="15" name="Text 12"/>
          <p:cNvSpPr txBox="1"/>
          <p:nvPr/>
        </p:nvSpPr>
        <p:spPr>
          <a:xfrm>
            <a:off x="2148840" y="4078224"/>
            <a:ext cx="3703320" cy="64008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 Et toi, tu penses vraiment quoi? »</a:t>
            </a:r>
            <a:endParaRPr lang="en-US" sz="1400" dirty="0"/>
          </a:p>
        </p:txBody>
      </p:sp>
      <p:sp>
        <p:nvSpPr>
          <p:cNvPr id="16" name="Shape 13"/>
          <p:cNvSpPr/>
          <p:nvPr/>
        </p:nvSpPr>
        <p:spPr>
          <a:xfrm>
            <a:off x="685800" y="4745736"/>
            <a:ext cx="5166360" cy="0"/>
          </a:xfrm>
          <a:prstGeom prst="line">
            <a:avLst/>
          </a:prstGeom>
          <a:noFill/>
          <a:ln w="9525">
            <a:solidFill>
              <a:schemeClr val="tx1"/>
            </a:solidFill>
            <a:prstDash val="solid"/>
          </a:ln>
        </p:spPr>
      </p:sp>
      <p:sp>
        <p:nvSpPr>
          <p:cNvPr id="17" name="Text 14"/>
          <p:cNvSpPr txBox="1"/>
          <p:nvPr/>
        </p:nvSpPr>
        <p:spPr>
          <a:xfrm>
            <a:off x="685800" y="4800600"/>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Sa force cachée</a:t>
            </a:r>
            <a:endParaRPr lang="en-US" sz="1100" dirty="0"/>
          </a:p>
        </p:txBody>
      </p:sp>
      <p:sp>
        <p:nvSpPr>
          <p:cNvPr id="18" name="Text 15"/>
          <p:cNvSpPr txBox="1"/>
          <p:nvPr/>
        </p:nvSpPr>
        <p:spPr>
          <a:xfrm>
            <a:off x="2148840" y="4800600"/>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Teste la solidité des idées. Précieux s'il l'annonce.</a:t>
            </a:r>
            <a:endParaRPr lang="en-US" sz="1400" dirty="0"/>
          </a:p>
        </p:txBody>
      </p:sp>
      <p:sp>
        <p:nvSpPr>
          <p:cNvPr id="19" name="Shape 16"/>
          <p:cNvSpPr/>
          <p:nvPr/>
        </p:nvSpPr>
        <p:spPr>
          <a:xfrm>
            <a:off x="685800" y="5468112"/>
            <a:ext cx="5166360" cy="0"/>
          </a:xfrm>
          <a:prstGeom prst="line">
            <a:avLst/>
          </a:prstGeom>
          <a:noFill/>
          <a:ln w="9525">
            <a:solidFill>
              <a:schemeClr val="tx1"/>
            </a:solidFill>
            <a:prstDash val="solid"/>
          </a:ln>
        </p:spPr>
      </p:sp>
      <p:sp>
        <p:nvSpPr>
          <p:cNvPr id="20" name="Text 17"/>
          <p:cNvSpPr txBox="1"/>
          <p:nvPr/>
        </p:nvSpPr>
        <p:spPr>
          <a:xfrm>
            <a:off x="685800" y="5522976"/>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Pour le jouer au bal masqué</a:t>
            </a:r>
            <a:endParaRPr lang="en-US" sz="1100" dirty="0"/>
          </a:p>
        </p:txBody>
      </p:sp>
      <p:sp>
        <p:nvSpPr>
          <p:cNvPr id="21" name="Text 18"/>
          <p:cNvSpPr txBox="1"/>
          <p:nvPr/>
        </p:nvSpPr>
        <p:spPr>
          <a:xfrm>
            <a:off x="2148840" y="5522976"/>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Contredis chaque affirmation, même celles que tu approuves.</a:t>
            </a:r>
            <a:endParaRPr lang="en-US" sz="1400" dirty="0"/>
          </a:p>
        </p:txBody>
      </p:sp>
      <p:sp>
        <p:nvSpPr>
          <p:cNvPr id="22" name="Shape 19"/>
          <p:cNvSpPr/>
          <p:nvPr/>
        </p:nvSpPr>
        <p:spPr>
          <a:xfrm>
            <a:off x="6172200" y="1280160"/>
            <a:ext cx="5440680" cy="4937760"/>
          </a:xfrm>
          <a:prstGeom prst="rect">
            <a:avLst/>
          </a:prstGeom>
          <a:solidFill>
            <a:schemeClr val="accent2"/>
          </a:solidFill>
          <a:ln w="25400">
            <a:solidFill>
              <a:schemeClr val="tx1"/>
            </a:solidFill>
            <a:prstDash val="solid"/>
          </a:ln>
        </p:spPr>
      </p:sp>
      <p:pic>
        <p:nvPicPr>
          <p:cNvPr id="23" name="Image 1" descr="preencoded.png">    </p:cNvPr>
          <p:cNvPicPr>
            <a:picLocks noChangeAspect="1"/>
          </p:cNvPicPr>
          <p:nvPr/>
        </p:nvPicPr>
        <p:blipFill>
          <a:blip r:embed="rId2"/>
          <a:stretch>
            <a:fillRect/>
          </a:stretch>
        </p:blipFill>
        <p:spPr>
          <a:xfrm>
            <a:off x="6309360" y="1389888"/>
            <a:ext cx="868680" cy="1051560"/>
          </a:xfrm>
          <a:prstGeom prst="rect">
            <a:avLst/>
          </a:prstGeom>
        </p:spPr>
      </p:pic>
      <p:sp>
        <p:nvSpPr>
          <p:cNvPr id="24" name="Text 20"/>
          <p:cNvSpPr txBox="1"/>
          <p:nvPr/>
        </p:nvSpPr>
        <p:spPr>
          <a:xfrm>
            <a:off x="7269480" y="1417320"/>
            <a:ext cx="4206240" cy="457200"/>
          </a:xfrm>
          <a:prstGeom prst="rect">
            <a:avLst/>
          </a:prstGeom>
          <a:noFill/>
          <a:ln/>
        </p:spPr>
        <p:txBody>
          <a:bodyPr wrap="square" lIns="0" tIns="0" rIns="0" bIns="0" rtlCol="0" anchor="t"/>
          <a:lstStyle/>
          <a:p>
            <a:pPr indent="0" marL="0">
              <a:buNone/>
            </a:pPr>
            <a:r>
              <a:rPr lang="en-US" sz="2200" dirty="0">
                <a:solidFill>
                  <a:schemeClr val="accent1"/>
                </a:solidFill>
                <a:latin typeface="Rockwell Extra Bold" pitchFamily="34" charset="0"/>
                <a:ea typeface="Rockwell Extra Bold" pitchFamily="34" charset="-122"/>
                <a:cs typeface="Rockwell Extra Bold" pitchFamily="34" charset="-120"/>
              </a:rPr>
              <a:t>Le Bâtisseur</a:t>
            </a:r>
            <a:endParaRPr lang="en-US" sz="2200" dirty="0"/>
          </a:p>
        </p:txBody>
      </p:sp>
      <p:sp>
        <p:nvSpPr>
          <p:cNvPr id="25" name="Text 21"/>
          <p:cNvSpPr txBox="1"/>
          <p:nvPr/>
        </p:nvSpPr>
        <p:spPr>
          <a:xfrm>
            <a:off x="7269480" y="1901952"/>
            <a:ext cx="4206240" cy="548640"/>
          </a:xfrm>
          <a:prstGeom prst="rect">
            <a:avLst/>
          </a:prstGeom>
          <a:noFill/>
          <a:ln/>
        </p:spPr>
        <p:txBody>
          <a:bodyPr wrap="square" lIns="0" tIns="0" rIns="0" bIns="0" rtlCol="0" anchor="t"/>
          <a:lstStyle/>
          <a:p>
            <a:pPr indent="0" marL="0">
              <a:buNone/>
            </a:pPr>
            <a:r>
              <a:rPr lang="en-US" sz="1400" b="1" i="1" dirty="0">
                <a:solidFill>
                  <a:schemeClr val="tx1"/>
                </a:solidFill>
                <a:latin typeface="Arial" pitchFamily="34" charset="0"/>
                <a:ea typeface="Arial" pitchFamily="34" charset="-122"/>
                <a:cs typeface="Arial" pitchFamily="34" charset="-120"/>
              </a:rPr>
              <a:t>« Si je te comprends bien, tu dis que… »</a:t>
            </a:r>
            <a:endParaRPr lang="en-US" sz="1400" dirty="0"/>
          </a:p>
        </p:txBody>
      </p:sp>
      <p:sp>
        <p:nvSpPr>
          <p:cNvPr id="26" name="Shape 22"/>
          <p:cNvSpPr/>
          <p:nvPr/>
        </p:nvSpPr>
        <p:spPr>
          <a:xfrm>
            <a:off x="6309360" y="2578608"/>
            <a:ext cx="5166360" cy="0"/>
          </a:xfrm>
          <a:prstGeom prst="line">
            <a:avLst/>
          </a:prstGeom>
          <a:noFill/>
          <a:ln w="9525">
            <a:solidFill>
              <a:schemeClr val="tx1"/>
            </a:solidFill>
            <a:prstDash val="solid"/>
          </a:ln>
        </p:spPr>
      </p:sp>
      <p:sp>
        <p:nvSpPr>
          <p:cNvPr id="27" name="Text 23"/>
          <p:cNvSpPr txBox="1"/>
          <p:nvPr/>
        </p:nvSpPr>
        <p:spPr>
          <a:xfrm>
            <a:off x="6309360" y="2633472"/>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Coups bas favoris</a:t>
            </a:r>
            <a:endParaRPr lang="en-US" sz="1100" dirty="0"/>
          </a:p>
        </p:txBody>
      </p:sp>
      <p:sp>
        <p:nvSpPr>
          <p:cNvPr id="28" name="Text 24"/>
          <p:cNvSpPr txBox="1"/>
          <p:nvPr/>
        </p:nvSpPr>
        <p:spPr>
          <a:xfrm>
            <a:off x="7772400" y="2633472"/>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Aucun : il applique Rapoport</a:t>
            </a:r>
            <a:endParaRPr lang="en-US" sz="1400" dirty="0"/>
          </a:p>
        </p:txBody>
      </p:sp>
      <p:sp>
        <p:nvSpPr>
          <p:cNvPr id="29" name="Shape 25"/>
          <p:cNvSpPr/>
          <p:nvPr/>
        </p:nvSpPr>
        <p:spPr>
          <a:xfrm>
            <a:off x="6309360" y="3300984"/>
            <a:ext cx="5166360" cy="0"/>
          </a:xfrm>
          <a:prstGeom prst="line">
            <a:avLst/>
          </a:prstGeom>
          <a:noFill/>
          <a:ln w="9525">
            <a:solidFill>
              <a:schemeClr val="tx1"/>
            </a:solidFill>
            <a:prstDash val="solid"/>
          </a:ln>
        </p:spPr>
      </p:sp>
      <p:sp>
        <p:nvSpPr>
          <p:cNvPr id="30" name="Text 26"/>
          <p:cNvSpPr txBox="1"/>
          <p:nvPr/>
        </p:nvSpPr>
        <p:spPr>
          <a:xfrm>
            <a:off x="6309360" y="3355848"/>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Ce qui se cache dessous</a:t>
            </a:r>
            <a:endParaRPr lang="en-US" sz="1100" dirty="0"/>
          </a:p>
        </p:txBody>
      </p:sp>
      <p:sp>
        <p:nvSpPr>
          <p:cNvPr id="31" name="Text 27"/>
          <p:cNvSpPr txBox="1"/>
          <p:nvPr/>
        </p:nvSpPr>
        <p:spPr>
          <a:xfrm>
            <a:off x="7772400" y="3355848"/>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L'envie de comprendre, pas de gagner.</a:t>
            </a:r>
            <a:endParaRPr lang="en-US" sz="1400" dirty="0"/>
          </a:p>
        </p:txBody>
      </p:sp>
      <p:sp>
        <p:nvSpPr>
          <p:cNvPr id="32" name="Shape 28"/>
          <p:cNvSpPr/>
          <p:nvPr/>
        </p:nvSpPr>
        <p:spPr>
          <a:xfrm>
            <a:off x="6309360" y="4023360"/>
            <a:ext cx="5166360" cy="0"/>
          </a:xfrm>
          <a:prstGeom prst="line">
            <a:avLst/>
          </a:prstGeom>
          <a:noFill/>
          <a:ln w="9525">
            <a:solidFill>
              <a:schemeClr val="tx1"/>
            </a:solidFill>
            <a:prstDash val="solid"/>
          </a:ln>
        </p:spPr>
      </p:sp>
      <p:sp>
        <p:nvSpPr>
          <p:cNvPr id="33" name="Text 29"/>
          <p:cNvSpPr txBox="1"/>
          <p:nvPr/>
        </p:nvSpPr>
        <p:spPr>
          <a:xfrm>
            <a:off x="6309360" y="4078224"/>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Son piège</a:t>
            </a:r>
            <a:endParaRPr lang="en-US" sz="1100" dirty="0"/>
          </a:p>
        </p:txBody>
      </p:sp>
      <p:sp>
        <p:nvSpPr>
          <p:cNvPr id="34" name="Text 30"/>
          <p:cNvSpPr txBox="1"/>
          <p:nvPr/>
        </p:nvSpPr>
        <p:spPr>
          <a:xfrm>
            <a:off x="7772400" y="4078224"/>
            <a:ext cx="3703320" cy="64008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Devenir paillasson à force de douceur.</a:t>
            </a:r>
            <a:endParaRPr lang="en-US" sz="1400" dirty="0"/>
          </a:p>
        </p:txBody>
      </p:sp>
      <p:sp>
        <p:nvSpPr>
          <p:cNvPr id="35" name="Shape 31"/>
          <p:cNvSpPr/>
          <p:nvPr/>
        </p:nvSpPr>
        <p:spPr>
          <a:xfrm>
            <a:off x="6309360" y="4745736"/>
            <a:ext cx="5166360" cy="0"/>
          </a:xfrm>
          <a:prstGeom prst="line">
            <a:avLst/>
          </a:prstGeom>
          <a:noFill/>
          <a:ln w="9525">
            <a:solidFill>
              <a:schemeClr val="tx1"/>
            </a:solidFill>
            <a:prstDash val="solid"/>
          </a:ln>
        </p:spPr>
      </p:sp>
      <p:sp>
        <p:nvSpPr>
          <p:cNvPr id="36" name="Text 32"/>
          <p:cNvSpPr txBox="1"/>
          <p:nvPr/>
        </p:nvSpPr>
        <p:spPr>
          <a:xfrm>
            <a:off x="6309360" y="4800600"/>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Sa force cachée</a:t>
            </a:r>
            <a:endParaRPr lang="en-US" sz="1100" dirty="0"/>
          </a:p>
        </p:txBody>
      </p:sp>
      <p:sp>
        <p:nvSpPr>
          <p:cNvPr id="37" name="Text 33"/>
          <p:cNvSpPr txBox="1"/>
          <p:nvPr/>
        </p:nvSpPr>
        <p:spPr>
          <a:xfrm>
            <a:off x="7772400" y="4800600"/>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Il fait progresser tout le groupe.</a:t>
            </a:r>
            <a:endParaRPr lang="en-US" sz="1400" dirty="0"/>
          </a:p>
        </p:txBody>
      </p:sp>
      <p:sp>
        <p:nvSpPr>
          <p:cNvPr id="38" name="Shape 34"/>
          <p:cNvSpPr/>
          <p:nvPr/>
        </p:nvSpPr>
        <p:spPr>
          <a:xfrm>
            <a:off x="6309360" y="5468112"/>
            <a:ext cx="5166360" cy="0"/>
          </a:xfrm>
          <a:prstGeom prst="line">
            <a:avLst/>
          </a:prstGeom>
          <a:noFill/>
          <a:ln w="9525">
            <a:solidFill>
              <a:schemeClr val="tx1"/>
            </a:solidFill>
            <a:prstDash val="solid"/>
          </a:ln>
        </p:spPr>
      </p:sp>
      <p:sp>
        <p:nvSpPr>
          <p:cNvPr id="39" name="Text 35"/>
          <p:cNvSpPr txBox="1"/>
          <p:nvPr/>
        </p:nvSpPr>
        <p:spPr>
          <a:xfrm>
            <a:off x="6309360" y="5522976"/>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Pour le jouer au bal masqué</a:t>
            </a:r>
            <a:endParaRPr lang="en-US" sz="1100" dirty="0"/>
          </a:p>
        </p:txBody>
      </p:sp>
      <p:sp>
        <p:nvSpPr>
          <p:cNvPr id="40" name="Text 36"/>
          <p:cNvSpPr txBox="1"/>
          <p:nvPr/>
        </p:nvSpPr>
        <p:spPr>
          <a:xfrm>
            <a:off x="7772400" y="5522976"/>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Reformule avant chaque prise de parole. Nomme un accord.</a:t>
            </a:r>
            <a:endParaRPr lang="en-US" sz="14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1"/>
                </a:solidFill>
                <a:latin typeface="Arial"/>
                <a:ea typeface="Arial"/>
                <a:cs typeface="Arial"/>
              </a:defRPr>
            </a:lvl1pPr>
          </a:lstStyle>
          <a:p>
            <a:pPr algn="r"/>
            <a:fld id="{F7021451-1387-4CA6-816F-3879F97B5CBC}" type="slidenum">
              <a:rPr b="0" lang="en-US"/>
              <a:t>35</a:t>
            </a:fld>
            <a:endParaRPr lang="en-US"/>
          </a:p>
        </p:txBody>
      </p:sp>
    </p:spTree>
  </p:cSld>
  <p:clrMapOvr>
    <a:masterClrMapping/>
  </p:clrMapOvr>
</p:sld>
</file>

<file path=ppt/theme/theme1.xml><?xml version="1.0" encoding="utf-8"?>
<a:theme xmlns:a="http://schemas.openxmlformats.org/drawingml/2006/main" name="Confrontation agreable">
  <a:themeElements>
    <a:clrScheme name="Confrontation agreable">
      <a:dk1>
        <a:srgbClr val="1B1714"/>
      </a:dk1>
      <a:lt1>
        <a:srgbClr val="FFFFFF"/>
      </a:lt1>
      <a:dk2>
        <a:srgbClr val="6B4B10"/>
      </a:dk2>
      <a:lt2>
        <a:srgbClr val="EFE6D1"/>
      </a:lt2>
      <a:accent1>
        <a:srgbClr val="D2232A"/>
      </a:accent1>
      <a:accent2>
        <a:srgbClr val="F0A12E"/>
      </a:accent2>
      <a:accent3>
        <a:srgbClr val="1B1714"/>
      </a:accent3>
      <a:accent4>
        <a:srgbClr val="8C1A1F"/>
      </a:accent4>
      <a:accent5>
        <a:srgbClr val="C9B994"/>
      </a:accent5>
      <a:accent6>
        <a:srgbClr val="3E6E5A"/>
      </a:accent6>
      <a:hlink>
        <a:srgbClr val="D2232A"/>
      </a:hlink>
      <a:folHlink>
        <a:srgbClr val="6B4B10"/>
      </a:folHlink>
    </a:clrScheme>
    <a:fontScheme name="Confrontation agreable">
      <a:majorFont>
        <a:latin typeface="Rockwell Extra 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 confrontation agréable</dc:title>
  <dc:subject>PptxGenJS Presentation</dc:subject>
  <dc:creator>Séminaire pédagonumérique</dc:creator>
  <cp:lastModifiedBy>Séminaire pédagonumérique</cp:lastModifiedBy>
  <cp:revision>1</cp:revision>
  <dcterms:created xsi:type="dcterms:W3CDTF">2026-10-12T01:41:10Z</dcterms:created>
  <dcterms:modified xsi:type="dcterms:W3CDTF">2026-10-12T01:41:10Z</dcterms:modified>
</cp:coreProperties>
</file>