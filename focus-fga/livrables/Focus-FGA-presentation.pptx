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e9accfd-8cdf-d3a6-bd2f-e8b5bdfbfe31}">
          <p14:sldIdLst>
            <p14:sldId id="256"/>
          </p14:sldIdLst>
        </p14:section>
        <p14:section name="Qui suis-je" id="{76790ab5-c487-e305-3856-8b829ac4a349}">
          <p14:sldIdLst>
            <p14:sldId id="257"/>
          </p14:sldIdLst>
        </p14:section>
        <p14:section name="Nos élèves" id="{0238fd88-f8e6-1325-a042-036e6752b420}">
          <p14:sldIdLst>
            <p14:sldId id="258"/>
          </p14:sldIdLst>
        </p14:section>
        <p14:section name="Exemple concret" id="{d4987ac6-f3a1-84cf-24ca-5c96afa52436}">
          <p14:sldIdLst>
            <p14:sldId id="259"/>
          </p14:sldIdLst>
        </p14:section>
        <p14:section name="Labo techno-IA" id="{22bb4932-6546-f519-f067-200801e0ad0b}">
          <p14:sldIdLst>
            <p14:sldId id="260"/>
          </p14:sldIdLst>
        </p14:section>
        <p14:section name="Mon Parcours" id="{9c0379b4-ac21-306d-8200-ae7d7ac53379}">
          <p14:sldIdLst>
            <p14:sldId id="261"/>
          </p14:sldIdLst>
        </p14:section>
        <p14:section name="Inscription" id="{b2e0cfd9-a811-1767-bdfa-4b8f02d4d1cb}">
          <p14:sldIdLst>
            <p14:sldId id="262"/>
          </p14:sldIdLst>
        </p14:section>
        <p14:section name="Clôture" id="{ba2b2ede-38c5-5d4d-8774-47b787fd6878}">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2:00 · BANDE-ANNONCE. Lance la vidéo dès l'ouverture, sans dire un mot avant : l'effet de surprise fait le travail. Rappel Teams : si tu partages ton écran plutôt qu'en PowerPoint Live, coche « Inclure le son de l'ordinateur » (utile si tu as ajouté de la musique).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3:30 · QUI SUIS-JE (90 s). Trois chiffres, une promesse. Ajoute UNE anecdote personnelle (pourquoi la FGA te tient à cœur, ou un moment de classe marquant) : c'est elle qu'on retiendra. Phrase de transition : « Avant de parler d'outils, j'ai voulu savoir qui on accueille vraiment.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 6:00 · QUI ACCUEILLONS-NOUS VRAIMENT? Vidéo de 80 s. Ensuite, une seule question dans le clavardage : « En un mot, qu'est-ce qui vous surprend? » Lis 2 ou 3 réponses à voix haute. Message clé : 70 % valorisent déjà plus l'école qu'avant, et ça se joue dans les premières semaines.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 8:00 · UN EXEMPLE CONCRET. Vidéo de 54 s. Lien avec le sondage : la formation à distance revient parmi vos défis. L'astuce à répéter de vive voix : ouvrir Whiteboard dans sa propre fenêtre et partager cette fenêtre, sinon l'enregistrement ne capte pas le tableau.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 10:30 · LE LABO TECHNO-IA. Raconte la CoP IA en une phrase : 35 profs, ½ journée par mois, un défi personnel chaque mois, zéro expert au départ. Montre UNE réalisation qui te parle. Puis la bascule : « Vous l'avez dit dans le sondage : techno et IA, en petit groupe, mardi ou jeudi après-midi. On le fait.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12:00 · MON PARCOURS. Je cherche quelques profs pour l'essayer avec un ou deux élèves cet automne. Rien à installer, rien ne sort de l'appareil. Montre le code QR : ils peuvent l'ouvrir pendant que tu parles.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 14:30 · INSCRIPTION EN DIRECT. AVANT la rencontre : dans le clavardage de la rencontre Teams, insère un composant Loop « Tableau » avec ces 5 colonnes, puis épingle le message. Pendant : laisse 90 secondes de silence pendant qu'ils écrivent, et lis les noms qui apparaissent (« Bienvenue Sophie! ») pour créer l'effet d'entraînement. Le tableau reste dans le clavardage après la rencontre : les retardataires peuvent s'ajouter.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15:00 · CLÔTURE. Une phrase, un merci, et tu laisses le tableau Loop ouvert. Prochaine étape à annoncer si tu l'as : la première rencontre du Labo (novembre, mardi ou jeudi après-midi selon le sondage).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IDEO">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MAGE">
    <p:bg>
      <p:bgPr>
        <a:solidFill>
          <a:srgbClr val="050816"/>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MBRE">
    <p:bg>
      <p:bgPr>
        <a:solidFill>
          <a:srgbClr val="0B1530"/>
        </a:solidFill>
      </p:bgPr>
    </p:bg>
    <p:spTree>
      <p:nvGrpSpPr>
        <p:cNvPr id="1" name=""/>
        <p:cNvGrpSpPr/>
        <p:nvPr/>
      </p:nvGrpSpPr>
      <p:grpSpPr>
        <a:xfrm>
          <a:off x="0" y="0"/>
          <a:ext cx="0" cy="0"/>
          <a:chOff x="0" y="0"/>
          <a:chExt cx="0" cy="0"/>
        </a:xfrm>
      </p:grpSpPr>
      <p:sp>
        <p:nvSpPr>
          <p:cNvPr id="2" name="Text 0"/>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000" spc="300" kern="0" dirty="0">
                <a:solidFill>
                  <a:schemeClr val="accent6"/>
                </a:solidFill>
              </a:rPr>
              <a:t>FOCUS FGA · CFGA DE LA JONQUIÈRE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Vidéo Focus FGA">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stille initiales"/>
          <p:cNvSpPr/>
          <p:nvPr/>
        </p:nvSpPr>
        <p:spPr>
          <a:xfrm>
            <a:off x="731520" y="1325880"/>
            <a:ext cx="2377440" cy="2377440"/>
          </a:xfrm>
          <a:prstGeom prst="ellipse">
            <a:avLst/>
          </a:prstGeom>
          <a:solidFill>
            <a:schemeClr val="accent1"/>
          </a:solidFill>
          <a:ln/>
        </p:spPr>
      </p:sp>
      <p:sp>
        <p:nvSpPr>
          <p:cNvPr id="3" name="Text 1"/>
          <p:cNvSpPr txBox="1"/>
          <p:nvPr/>
        </p:nvSpPr>
        <p:spPr>
          <a:xfrm>
            <a:off x="731520" y="1325880"/>
            <a:ext cx="2377440" cy="2377440"/>
          </a:xfrm>
          <a:prstGeom prst="rect">
            <a:avLst/>
          </a:prstGeom>
          <a:noFill/>
          <a:ln/>
        </p:spPr>
        <p:txBody>
          <a:bodyPr wrap="square" lIns="0" tIns="0" rIns="0" bIns="0" rtlCol="0" anchor="ctr"/>
          <a:lstStyle/>
          <a:p>
            <a:pPr algn="ctr" indent="0" marL="0">
              <a:buNone/>
            </a:pPr>
            <a:r>
              <a:rPr lang="en-US" sz="7200" b="1" dirty="0">
                <a:solidFill>
                  <a:schemeClr val="tx1"/>
                </a:solidFill>
                <a:latin typeface="Arial" pitchFamily="34" charset="0"/>
                <a:ea typeface="Arial" pitchFamily="34" charset="-122"/>
                <a:cs typeface="Arial" pitchFamily="34" charset="-120"/>
              </a:rPr>
              <a:t>IP</a:t>
            </a:r>
            <a:endParaRPr lang="en-US" sz="7200" dirty="0"/>
          </a:p>
        </p:txBody>
      </p:sp>
      <p:sp>
        <p:nvSpPr>
          <p:cNvPr id="4" name="Text 2"/>
          <p:cNvSpPr txBox="1"/>
          <p:nvPr/>
        </p:nvSpPr>
        <p:spPr>
          <a:xfrm>
            <a:off x="731520" y="3977640"/>
            <a:ext cx="4480560" cy="1005840"/>
          </a:xfrm>
          <a:prstGeom prst="rect">
            <a:avLst/>
          </a:prstGeom>
          <a:noFill/>
          <a:ln/>
        </p:spPr>
        <p:txBody>
          <a:bodyPr wrap="square" lIns="0" tIns="0" rIns="0" bIns="0" rtlCol="0" anchor="t"/>
          <a:lstStyle/>
          <a:p>
            <a:pPr indent="0" marL="0">
              <a:buNone/>
            </a:pPr>
            <a:r>
              <a:rPr lang="en-US" sz="3000" b="1" dirty="0">
                <a:solidFill>
                  <a:schemeClr val="bg1"/>
                </a:solidFill>
                <a:latin typeface="Arial" pitchFamily="34" charset="0"/>
                <a:ea typeface="Arial" pitchFamily="34" charset="-122"/>
                <a:cs typeface="Arial" pitchFamily="34" charset="-120"/>
              </a:rPr>
              <a:t>Allô! Moi, c'est Isabelle</a:t>
            </a:r>
            <a:endParaRPr lang="en-US" sz="3000" dirty="0"/>
          </a:p>
        </p:txBody>
      </p:sp>
      <p:sp>
        <p:nvSpPr>
          <p:cNvPr id="5" name="Text 3"/>
          <p:cNvSpPr txBox="1"/>
          <p:nvPr/>
        </p:nvSpPr>
        <p:spPr>
          <a:xfrm>
            <a:off x="731520" y="4983480"/>
            <a:ext cx="4023360" cy="548640"/>
          </a:xfrm>
          <a:prstGeom prst="rect">
            <a:avLst/>
          </a:prstGeom>
          <a:noFill/>
          <a:ln/>
        </p:spPr>
        <p:txBody>
          <a:bodyPr wrap="square" lIns="0" tIns="0" rIns="0" bIns="0" rtlCol="0" anchor="ctr"/>
          <a:lstStyle/>
          <a:p>
            <a:pPr indent="0" marL="0">
              <a:buNone/>
            </a:pPr>
            <a:r>
              <a:rPr lang="en-US" sz="1500" dirty="0">
                <a:solidFill>
                  <a:schemeClr val="accent5"/>
                </a:solidFill>
              </a:rPr>
              <a:t>Conseillère pédagonumérique · CFGA de la Jonquière</a:t>
            </a:r>
            <a:endParaRPr lang="en-US" sz="1500" dirty="0"/>
          </a:p>
        </p:txBody>
      </p:sp>
      <p:sp>
        <p:nvSpPr>
          <p:cNvPr id="6" name="Carte 1"/>
          <p:cNvSpPr/>
          <p:nvPr/>
        </p:nvSpPr>
        <p:spPr>
          <a:xfrm>
            <a:off x="5394960" y="914400"/>
            <a:ext cx="6126480" cy="1371600"/>
          </a:xfrm>
          <a:prstGeom prst="roundRect">
            <a:avLst>
              <a:gd name="adj" fmla="val 10000"/>
            </a:avLst>
          </a:prstGeom>
          <a:solidFill>
            <a:srgbClr val="16234A"/>
          </a:solidFill>
          <a:ln w="12700">
            <a:solidFill>
              <a:srgbClr val="2A3A66"/>
            </a:solidFill>
            <a:prstDash val="solid"/>
          </a:ln>
        </p:spPr>
      </p:sp>
      <p:sp>
        <p:nvSpPr>
          <p:cNvPr id="7" name="Text 5"/>
          <p:cNvSpPr txBox="1"/>
          <p:nvPr/>
        </p:nvSpPr>
        <p:spPr>
          <a:xfrm>
            <a:off x="5623560" y="9144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35</a:t>
            </a:r>
            <a:endParaRPr lang="en-US" sz="5400" dirty="0"/>
          </a:p>
        </p:txBody>
      </p:sp>
      <p:sp>
        <p:nvSpPr>
          <p:cNvPr id="8" name="Text 6"/>
          <p:cNvSpPr txBox="1"/>
          <p:nvPr/>
        </p:nvSpPr>
        <p:spPr>
          <a:xfrm>
            <a:off x="6995160" y="9144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profs accompagnés dans la CoP IA 2025-2026, avec l'UQAC</a:t>
            </a:r>
            <a:endParaRPr lang="en-US" sz="1800" dirty="0"/>
          </a:p>
        </p:txBody>
      </p:sp>
      <p:sp>
        <p:nvSpPr>
          <p:cNvPr id="9" name="Carte 2"/>
          <p:cNvSpPr/>
          <p:nvPr/>
        </p:nvSpPr>
        <p:spPr>
          <a:xfrm>
            <a:off x="5394960" y="2514600"/>
            <a:ext cx="6126480" cy="1371600"/>
          </a:xfrm>
          <a:prstGeom prst="roundRect">
            <a:avLst>
              <a:gd name="adj" fmla="val 10000"/>
            </a:avLst>
          </a:prstGeom>
          <a:solidFill>
            <a:srgbClr val="16234A"/>
          </a:solidFill>
          <a:ln w="12700">
            <a:solidFill>
              <a:srgbClr val="2A3A66"/>
            </a:solidFill>
            <a:prstDash val="solid"/>
          </a:ln>
        </p:spPr>
      </p:sp>
      <p:sp>
        <p:nvSpPr>
          <p:cNvPr id="10" name="Text 8"/>
          <p:cNvSpPr txBox="1"/>
          <p:nvPr/>
        </p:nvSpPr>
        <p:spPr>
          <a:xfrm>
            <a:off x="5623560" y="25146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1</a:t>
            </a:r>
            <a:endParaRPr lang="en-US" sz="5400" dirty="0"/>
          </a:p>
        </p:txBody>
      </p:sp>
      <p:sp>
        <p:nvSpPr>
          <p:cNvPr id="11" name="Text 9"/>
          <p:cNvSpPr txBox="1"/>
          <p:nvPr/>
        </p:nvSpPr>
        <p:spPr>
          <a:xfrm>
            <a:off x="6995160" y="25146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appli créée pour l'accompagnement des élèves : Mon Parcours</a:t>
            </a:r>
            <a:endParaRPr lang="en-US" sz="1800" dirty="0"/>
          </a:p>
        </p:txBody>
      </p:sp>
      <p:sp>
        <p:nvSpPr>
          <p:cNvPr id="12" name="Carte 3"/>
          <p:cNvSpPr/>
          <p:nvPr/>
        </p:nvSpPr>
        <p:spPr>
          <a:xfrm>
            <a:off x="5394960" y="4114800"/>
            <a:ext cx="6126480" cy="1371600"/>
          </a:xfrm>
          <a:prstGeom prst="roundRect">
            <a:avLst>
              <a:gd name="adj" fmla="val 10000"/>
            </a:avLst>
          </a:prstGeom>
          <a:solidFill>
            <a:srgbClr val="16234A"/>
          </a:solidFill>
          <a:ln w="12700">
            <a:solidFill>
              <a:srgbClr val="2A3A66"/>
            </a:solidFill>
            <a:prstDash val="solid"/>
          </a:ln>
        </p:spPr>
      </p:sp>
      <p:sp>
        <p:nvSpPr>
          <p:cNvPr id="13" name="Text 11"/>
          <p:cNvSpPr txBox="1"/>
          <p:nvPr/>
        </p:nvSpPr>
        <p:spPr>
          <a:xfrm>
            <a:off x="5623560" y="41148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0</a:t>
            </a:r>
            <a:endParaRPr lang="en-US" sz="5400" dirty="0"/>
          </a:p>
        </p:txBody>
      </p:sp>
      <p:sp>
        <p:nvSpPr>
          <p:cNvPr id="14" name="Text 12"/>
          <p:cNvSpPr txBox="1"/>
          <p:nvPr/>
        </p:nvSpPr>
        <p:spPr>
          <a:xfrm>
            <a:off x="6995160" y="41148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jugement sur ta pratique : mon rôle, c'est le coup de main</a:t>
            </a:r>
            <a:endParaRPr lang="en-US" sz="1800" dirty="0"/>
          </a:p>
        </p:txBody>
      </p:sp>
      <p:sp>
        <p:nvSpPr>
          <p:cNvPr id="15" name="Text 13"/>
          <p:cNvSpPr txBox="1"/>
          <p:nvPr/>
        </p:nvSpPr>
        <p:spPr>
          <a:xfrm>
            <a:off x="5394960" y="5715000"/>
            <a:ext cx="6126480" cy="457200"/>
          </a:xfrm>
          <a:prstGeom prst="rect">
            <a:avLst/>
          </a:prstGeom>
          <a:noFill/>
          <a:ln/>
        </p:spPr>
        <p:txBody>
          <a:bodyPr wrap="square" lIns="0" tIns="0" rIns="0" bIns="0" rtlCol="0" anchor="ctr"/>
          <a:lstStyle/>
          <a:p>
            <a:pPr indent="0" marL="0">
              <a:buNone/>
            </a:pPr>
            <a:r>
              <a:rPr lang="en-US" sz="1500" i="1" dirty="0">
                <a:solidFill>
                  <a:schemeClr val="accent2"/>
                </a:solidFill>
              </a:rPr>
              <a:t>Un coup de main ciblé : dans ta matière, avec ton groupe, sur tes outils.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Vidéo stats clientè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Vidéo tableau blanc">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Visuel Labo techno-IA" descr="Labo techno-IA : 35 profs, ½ journée par mois, zéro expert au départ. Réalisations de la CoP IA et proposition pour la FG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Visuel Mon Parcours" descr="Appel aux volontaires pour tester l'application Mon Parcours avec un ou deux élèves cet automn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1064240" cy="822960"/>
          </a:xfrm>
          <a:prstGeom prst="rect">
            <a:avLst/>
          </a:prstGeom>
          <a:noFill/>
          <a:ln/>
        </p:spPr>
        <p:txBody>
          <a:bodyPr wrap="square" lIns="0" tIns="0" rIns="0" bIns="0" rtlCol="0" anchor="ctr"/>
          <a:lstStyle/>
          <a:p>
            <a:pPr indent="0" marL="0">
              <a:buNone/>
            </a:pPr>
            <a:r>
              <a:rPr lang="en-US" sz="4000" b="1" dirty="0">
                <a:solidFill>
                  <a:schemeClr val="bg1"/>
                </a:solidFill>
                <a:latin typeface="Arial" pitchFamily="34" charset="0"/>
                <a:ea typeface="Arial" pitchFamily="34" charset="-122"/>
                <a:cs typeface="Arial" pitchFamily="34" charset="-120"/>
              </a:rPr>
              <a:t>On s'inscrit, là, maintenant</a:t>
            </a:r>
            <a:endParaRPr lang="en-US" sz="4000" dirty="0"/>
          </a:p>
        </p:txBody>
      </p:sp>
      <p:sp>
        <p:nvSpPr>
          <p:cNvPr id="3" name="Text 1"/>
          <p:cNvSpPr txBox="1"/>
          <p:nvPr/>
        </p:nvSpPr>
        <p:spPr>
          <a:xfrm>
            <a:off x="548640" y="1234440"/>
            <a:ext cx="11064240" cy="457200"/>
          </a:xfrm>
          <a:prstGeom prst="rect">
            <a:avLst/>
          </a:prstGeom>
          <a:noFill/>
          <a:ln/>
        </p:spPr>
        <p:txBody>
          <a:bodyPr wrap="square" lIns="0" tIns="0" rIns="0" bIns="0" rtlCol="0" anchor="ctr"/>
          <a:lstStyle/>
          <a:p>
            <a:pPr indent="0" marL="0">
              <a:buNone/>
            </a:pPr>
            <a:r>
              <a:rPr lang="en-US" sz="1800" dirty="0">
                <a:solidFill>
                  <a:schemeClr val="accent5"/>
                </a:solidFill>
              </a:rPr>
              <a:t>Dans le clavardage de la rencontre, ajoute ton nom au tableau Loop</a:t>
            </a:r>
            <a:endParaRPr lang="en-US" sz="1800" dirty="0"/>
          </a:p>
        </p:txBody>
      </p:sp>
      <p:graphicFrame>
        <p:nvGraphicFramePr>
          <p:cNvPr id="8" name="Tableau Loop exemp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194560"/>
                <a:gridCol w="1828800"/>
                <a:gridCol w="1828800"/>
                <a:gridCol w="1463040"/>
                <a:gridCol w="3749040"/>
              </a:tblGrid>
              <a:tr h="548640">
                <a:tc>
                  <a:txBody>
                    <a:bodyPr/>
                    <a:lstStyle/>
                    <a:p>
                      <a:pPr indent="0" marL="0">
                        <a:buNone/>
                      </a:pPr>
                      <a:r>
                        <a:rPr lang="en-US" sz="1600" b="1" dirty="0">
                          <a:solidFill>
                            <a:srgbClr val="0B1530"/>
                          </a:solidFill>
                        </a:rPr>
                        <a:t>Nom</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Labo techno-IA</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Mon Parcours</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Café 1:1</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Mon défi en une ligne</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r>
              <a:tr h="548640">
                <a:tc>
                  <a:txBody>
                    <a:bodyPr/>
                    <a:lstStyle/>
                    <a:p>
                      <a:pPr indent="0" marL="0">
                        <a:buNone/>
                      </a:pPr>
                      <a:r>
                        <a:rPr lang="en-US" sz="1600" dirty="0">
                          <a:solidFill>
                            <a:srgbClr val="FFFFFF"/>
                          </a:solidFill>
                        </a:rPr>
                        <a:t>Ton nom ici</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Mes élèves en FAD décrochent après 20 min</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r h="548640">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r h="548640">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bl>
          </a:graphicData>
        </a:graphic>
      </p:graphicFrame>
      <p:sp>
        <p:nvSpPr>
          <p:cNvPr id="5" name="Étape 1"/>
          <p:cNvSpPr/>
          <p:nvPr/>
        </p:nvSpPr>
        <p:spPr>
          <a:xfrm>
            <a:off x="548640" y="4572000"/>
            <a:ext cx="731520" cy="731520"/>
          </a:xfrm>
          <a:prstGeom prst="ellipse">
            <a:avLst/>
          </a:prstGeom>
          <a:solidFill>
            <a:schemeClr val="accent2"/>
          </a:solidFill>
          <a:ln/>
        </p:spPr>
      </p:sp>
      <p:sp>
        <p:nvSpPr>
          <p:cNvPr id="6" name="Text 3"/>
          <p:cNvSpPr txBox="1"/>
          <p:nvPr/>
        </p:nvSpPr>
        <p:spPr>
          <a:xfrm>
            <a:off x="54864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7" name="Text 4"/>
          <p:cNvSpPr txBox="1"/>
          <p:nvPr/>
        </p:nvSpPr>
        <p:spPr>
          <a:xfrm>
            <a:off x="141732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Ouvre le clavardage</a:t>
            </a:r>
            <a:endParaRPr lang="en-US" sz="1700" dirty="0"/>
          </a:p>
        </p:txBody>
      </p:sp>
      <p:sp>
        <p:nvSpPr>
          <p:cNvPr id="8" name="Étape 2"/>
          <p:cNvSpPr/>
          <p:nvPr/>
        </p:nvSpPr>
        <p:spPr>
          <a:xfrm>
            <a:off x="4297680" y="4572000"/>
            <a:ext cx="731520" cy="731520"/>
          </a:xfrm>
          <a:prstGeom prst="ellipse">
            <a:avLst/>
          </a:prstGeom>
          <a:solidFill>
            <a:schemeClr val="accent2"/>
          </a:solidFill>
          <a:ln/>
        </p:spPr>
      </p:sp>
      <p:sp>
        <p:nvSpPr>
          <p:cNvPr id="9" name="Text 6"/>
          <p:cNvSpPr txBox="1"/>
          <p:nvPr/>
        </p:nvSpPr>
        <p:spPr>
          <a:xfrm>
            <a:off x="429768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0" name="Text 7"/>
          <p:cNvSpPr txBox="1"/>
          <p:nvPr/>
        </p:nvSpPr>
        <p:spPr>
          <a:xfrm>
            <a:off x="516636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Coche ce qui t'intéresse</a:t>
            </a:r>
            <a:endParaRPr lang="en-US" sz="1700" dirty="0"/>
          </a:p>
        </p:txBody>
      </p:sp>
      <p:sp>
        <p:nvSpPr>
          <p:cNvPr id="11" name="Étape 3"/>
          <p:cNvSpPr/>
          <p:nvPr/>
        </p:nvSpPr>
        <p:spPr>
          <a:xfrm>
            <a:off x="8046720" y="4572000"/>
            <a:ext cx="731520" cy="731520"/>
          </a:xfrm>
          <a:prstGeom prst="ellipse">
            <a:avLst/>
          </a:prstGeom>
          <a:solidFill>
            <a:schemeClr val="accent2"/>
          </a:solidFill>
          <a:ln/>
        </p:spPr>
      </p:sp>
      <p:sp>
        <p:nvSpPr>
          <p:cNvPr id="12" name="Text 9"/>
          <p:cNvSpPr txBox="1"/>
          <p:nvPr/>
        </p:nvSpPr>
        <p:spPr>
          <a:xfrm>
            <a:off x="804672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3" name="Text 10"/>
          <p:cNvSpPr txBox="1"/>
          <p:nvPr/>
        </p:nvSpPr>
        <p:spPr>
          <a:xfrm>
            <a:off x="891540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Écris ton défi : on part de là</a:t>
            </a:r>
            <a:endParaRPr lang="en-US" sz="1700" dirty="0"/>
          </a:p>
        </p:txBody>
      </p:sp>
      <p:sp>
        <p:nvSpPr>
          <p:cNvPr id="14" name="Text 11"/>
          <p:cNvSpPr txBox="1"/>
          <p:nvPr/>
        </p:nvSpPr>
        <p:spPr>
          <a:xfrm>
            <a:off x="548640" y="5577840"/>
            <a:ext cx="11064240" cy="457200"/>
          </a:xfrm>
          <a:prstGeom prst="rect">
            <a:avLst/>
          </a:prstGeom>
          <a:noFill/>
          <a:ln/>
        </p:spPr>
        <p:txBody>
          <a:bodyPr wrap="square" lIns="0" tIns="0" rIns="0" bIns="0" rtlCol="0" anchor="ctr"/>
          <a:lstStyle/>
          <a:p>
            <a:pPr indent="0" marL="0">
              <a:buNone/>
            </a:pPr>
            <a:r>
              <a:rPr lang="en-US" sz="1500" i="1" dirty="0">
                <a:solidFill>
                  <a:schemeClr val="accent1"/>
                </a:solidFill>
              </a:rPr>
              <a:t>Pas prêt·e à écrire ton nom devant tout le monde? Écris-moi en privé sur Teams, c'est parfait aussi.</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Fond de clôture" descr="Carte finale Labo techno-I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Focus FGA">
  <a:themeElements>
    <a:clrScheme name="Focus FGA">
      <a:dk1>
        <a:srgbClr val="0B1530"/>
      </a:dk1>
      <a:lt1>
        <a:srgbClr val="FFFFFF"/>
      </a:lt1>
      <a:dk2>
        <a:srgbClr val="050816"/>
      </a:dk2>
      <a:lt2>
        <a:srgbClr val="EEF2F8"/>
      </a:lt2>
      <a:accent1>
        <a:srgbClr val="F5C542"/>
      </a:accent1>
      <a:accent2>
        <a:srgbClr val="6CB33F"/>
      </a:accent2>
      <a:accent3>
        <a:srgbClr val="2456B0"/>
      </a:accent3>
      <a:accent4>
        <a:srgbClr val="E8590C"/>
      </a:accent4>
      <a:accent5>
        <a:srgbClr val="4FB3E8"/>
      </a:accent5>
      <a:accent6>
        <a:srgbClr val="8A93B0"/>
      </a:accent6>
      <a:hlink>
        <a:srgbClr val="2456B0"/>
      </a:hlink>
      <a:folHlink>
        <a:srgbClr val="6A1B9A"/>
      </a:folHlink>
    </a:clrScheme>
    <a:fontScheme name="Focus FG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Focus FGA · Labo techno-IA</dc:title>
  <dc:subject>PptxGenJS Presentation</dc:subject>
  <dc:creator>Isabelle Pedneault</dc:creator>
  <cp:lastModifiedBy>Isabelle Pedneault</cp:lastModifiedBy>
  <cp:revision>1</cp:revision>
  <dcterms:created xsi:type="dcterms:W3CDTF">2026-10-03T20:19:04Z</dcterms:created>
  <dcterms:modified xsi:type="dcterms:W3CDTF">2026-10-03T20:19:04Z</dcterms:modified>
</cp:coreProperties>
</file>