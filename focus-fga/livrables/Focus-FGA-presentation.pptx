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ccueil" id="{a68baa37-3ff7-73ee-977c-73928b817f5c}">
          <p14:sldIdLst>
            <p14:sldId id="256"/>
          </p14:sldIdLst>
        </p14:section>
        <p14:section name="Qui suis-je" id="{720e61d6-725d-554d-fccf-9746404777bb}">
          <p14:sldIdLst>
            <p14:sldId id="257"/>
          </p14:sldIdLst>
        </p14:section>
        <p14:section name="Nos élèves" id="{457aa93e-8d17-5b57-9bbd-c50d0c14ec15}">
          <p14:sldIdLst>
            <p14:sldId id="258"/>
          </p14:sldIdLst>
        </p14:section>
        <p14:section name="Labo techno-IA" id="{72954dee-3a99-abdf-923c-a9b58719b7ca}">
          <p14:sldIdLst>
            <p14:sldId id="259"/>
          </p14:sldIdLst>
        </p14:section>
        <p14:section name="Mon Parcours" id="{99e58bc3-ca8e-1c15-d952-6885150ed8c0}">
          <p14:sldIdLst>
            <p14:sldId id="260"/>
          </p14:sldIdLst>
        </p14:section>
        <p14:section name="Bande-annonce" id="{327ff8c9-3ee4-9345-573d-7e6a9b84bd92}">
          <p14:sldIdLst>
            <p14:sldId id="261"/>
          </p14:sldIdLst>
        </p14:section>
        <p14:section name="Inscription" id="{0c7d90e4-2c98-8128-5e32-427fee776896}">
          <p14:sldIdLst>
            <p14:sldId id="262"/>
          </p14:sldIdLst>
        </p14:section>
        <p14:section name="Bonus" id="{e016462b-53fb-7062-5cdb-8f7a4c2dbb31}">
          <p14:sldIdLst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INTERACTION 1 (pendant l'arrivée) : lis quelques réponses à voix haute en accueillant les gens (« Bienvenue Julie, maths, énergie : café! »). Ça réchauffe la salle. AVANT LE DÉBUT · Affiche cette diapo pendant que les gens se connectent. Dès que tu commences, lis les trois intentions en 20 secondes : « Aujourd'hui, trois choses : connaître, découvrir, choisir. » Rappel : mode « Mis en avant » dans Teams pour qu'on voie ta caméra par-dessus les diapos.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 · QUI SUIS-JE. Des mots-clés à l'écran, l'histoire dans ta bouche. Parcours : 15 ans en classe au CSS de la Capitale, en milieu très défavorisé (indice 10/10). Co-chercheuse : texte d'opinion et texte d'information avec l'Université Laval (direction : Érick Falardeau); cyberintimidation avec l'UQAM. Contribution au plan d'action numérique 2018. Conseillance au CFP de Lévis (électromécanique), mentore des classes multiâges. Retour au Saguenay en 2018 : CP maths-sciences, pédagonumérique, maintenant le CFGA. L'an dernier : toute l'année avec Patrick Giroux, directeur du département de recherche en éducation à l'UQAC. Mandat du comité de gouvernance pédagonumérique : produire le cadre réflexif sur l'utilisation de l'IA pour le CSS, et animer plusieurs CoP IA (35 profs au total). Pont vers la suite : « Et c'est ce qu'on va faire ensemble ici, avec le Labo techno-IA. » La phrase qui compte : « Je reconnais mes élèves dans les vôtres. » Transition : « Justement, qui accueille-t-on vraiment? »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 · QUI ACCUEILLONS-NOUS VRAIMENT? Vidéo de 80 s. Ensuite, une seule question dans le clavardage : « En un mot, qu'est-ce qui vous surprend? » Lis 2 ou 3 réponses. INTERACTION 2 : « En un mot, qu'est-ce qui vous surprend? » Laisse 30 secondes, lis 3 mots. Message clé : 70 % valorisent déjà plus l'école qu'avant, et ça se joue dans les premières semaines.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 · LE LABO TECHNO-IA. Rappel du pont : le cadre réflexif IA produit avec l'UQAC sert de base au Labo (pédagogique · éthique · légal, avant, pendant, après). La CoP IA en une phrase : 35 profs, ½ journée par mois, un défi chaque mois, zéro expert au départ. Montre UNE réalisation. INTERACTION 3 : « Si l'IA pouvait t'enlever UNE tâche cette semaine, ce serait laquelle? Écris-la dans le clavardage. » Lis-en 2 ou 3 : ce seront les premiers défis du Labo! Puis : « Vous l'avez dit dans le sondage : techno et IA, en petit groupe, mardi ou jeudi après-midi. On le fait. »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 · MON PARCOURS. Je cherche quelques profs pour l'essayer avec un ou deux élèves cet automne. Rien à installer, rien ne sort de l'appareil. Montre le code QR.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 · LA BANDE-ANNONCE (2 min 36). Phrase d'intro : « Et pour vous donner le goût, voici 10 pépites Teams. » Puis tu lances, sans parler. INTERACTION 4, juste après la vidéo : « Votre pépite préférée? Écrivez son numéro dans le clavardage! » Lis le numéro le plus populaire : ce sera le sujet de la première rencontre du Labo. Puis enchaîne sur la diapo suivante.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 · INSCRIPTION EN DIRECT. Avant la rencontre : insère un composant Loop « Tableau » avec ces 5 colonnes dans le clavardage de la rencontre, puis épingle-le. Pendant : 90 secondes de silence, et lis les noms qui apparaissent. Le tableau reste dans le clavardage après la rencontre. Merci et fin.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BONUS, seulement si on te pose la question sur la formation à distance : la vidéo complète du tableau blanc (54 s). Astuce à répéter : ouvrir Whiteboard dans sa propre fenêtre et partager cette fenêtre, sinon l'enregistrement ne capte pas le tableau.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ID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">
    <p:bg>
      <p:bgPr>
        <a:solidFill>
          <a:srgbClr val="0508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OMBRE">
    <p:bg>
      <p:bgPr>
        <a:solidFill>
          <a:srgbClr val="0B1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chemeClr val="accent6"/>
                </a:solidFill>
              </a:rPr>
              <a:t>FOCUS FGA · CFGA DE LA JONQUIÈRE</a:t>
            </a:r>
            <a:endParaRPr lang="en-US" sz="1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video" Target="../media/media-3-1.mp4"/><Relationship Id="rId2" Type="http://schemas.microsoft.com/office/2007/relationships/media" Target="../media/media-3-1.mp4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video" Target="../media/media-6-1.mp4"/><Relationship Id="rId2" Type="http://schemas.microsoft.com/office/2007/relationships/media" Target="../media/media-6-1.mp4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video" Target="../media/media-8-1.mp4"/><Relationship Id="rId2" Type="http://schemas.microsoft.com/office/2007/relationships/media" Target="../media/media-8-1.mp4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Focus FGA · 15 minutes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accent5"/>
                </a:solidFill>
              </a:rPr>
              <a:t>Pendant que tout le monde arrive : voici où on s'en va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288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chemeClr val="accent2"/>
                </a:solidFill>
              </a:rPr>
              <a:t>NOS INTENTIONS</a:t>
            </a:r>
            <a:endParaRPr lang="en-US" sz="1400" dirty="0"/>
          </a:p>
        </p:txBody>
      </p:sp>
      <p:sp>
        <p:nvSpPr>
          <p:cNvPr id="5" name="Intention 1"/>
          <p:cNvSpPr/>
          <p:nvPr/>
        </p:nvSpPr>
        <p:spPr>
          <a:xfrm>
            <a:off x="548640" y="2331720"/>
            <a:ext cx="5120640" cy="960120"/>
          </a:xfrm>
          <a:prstGeom prst="roundRect">
            <a:avLst>
              <a:gd name="adj" fmla="val 11429"/>
            </a:avLst>
          </a:prstGeom>
          <a:solidFill>
            <a:srgbClr val="16234A"/>
          </a:solidFill>
          <a:ln w="12700">
            <a:solidFill>
              <a:srgbClr val="2A3A6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2331720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C542"/>
                </a:solidFill>
              </a:rPr>
              <a:t>Connaître  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qui on accueille vraiment… et ce qui fonctionne déjà</a:t>
            </a:r>
            <a:endParaRPr lang="en-US" sz="2200" dirty="0"/>
          </a:p>
        </p:txBody>
      </p:sp>
      <p:sp>
        <p:nvSpPr>
          <p:cNvPr id="7" name="Intention 2"/>
          <p:cNvSpPr/>
          <p:nvPr/>
        </p:nvSpPr>
        <p:spPr>
          <a:xfrm>
            <a:off x="548640" y="3474720"/>
            <a:ext cx="5120640" cy="960120"/>
          </a:xfrm>
          <a:prstGeom prst="roundRect">
            <a:avLst>
              <a:gd name="adj" fmla="val 11429"/>
            </a:avLst>
          </a:prstGeom>
          <a:solidFill>
            <a:srgbClr val="16234A"/>
          </a:solidFill>
          <a:ln w="12700">
            <a:solidFill>
              <a:srgbClr val="2A3A6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3474720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C542"/>
                </a:solidFill>
              </a:rPr>
              <a:t>Découvrir  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des outils Teams et IA concrets pour la FGA</a:t>
            </a:r>
            <a:endParaRPr lang="en-US" sz="2200" dirty="0"/>
          </a:p>
        </p:txBody>
      </p:sp>
      <p:sp>
        <p:nvSpPr>
          <p:cNvPr id="9" name="Intention 3"/>
          <p:cNvSpPr/>
          <p:nvPr/>
        </p:nvSpPr>
        <p:spPr>
          <a:xfrm>
            <a:off x="548640" y="4617720"/>
            <a:ext cx="5120640" cy="960120"/>
          </a:xfrm>
          <a:prstGeom prst="roundRect">
            <a:avLst>
              <a:gd name="adj" fmla="val 11429"/>
            </a:avLst>
          </a:prstGeom>
          <a:solidFill>
            <a:srgbClr val="16234A"/>
          </a:solidFill>
          <a:ln w="12700">
            <a:solidFill>
              <a:srgbClr val="2A3A6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4617720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C542"/>
                </a:solidFill>
              </a:rPr>
              <a:t>Choisir  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comment je veux être accompagné·e cette année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182880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chemeClr val="accent2"/>
                </a:solidFill>
              </a:rPr>
              <a:t>L'ORDRE DU JOUR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233172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2 min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7452360" y="233172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Qui suis-je?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309360" y="289864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3 min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2898648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Qui accueillons-nous vraiment?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309360" y="3465576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3 min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7452360" y="3465576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Le Labo techno-IA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309360" y="4032504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2 min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7452360" y="4032504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Mon Parcours : volontaires recherchés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6309360" y="4599432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3 min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7452360" y="4599432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La bande-annonce : 10 pépites Teams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6309360" y="516636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2 min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7452360" y="516636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Je m'inscris, en direct</a:t>
            </a:r>
            <a:endParaRPr lang="en-US" sz="1600" dirty="0"/>
          </a:p>
        </p:txBody>
      </p:sp>
      <p:sp>
        <p:nvSpPr>
          <p:cNvPr id="24" name="Bandeau clavardage"/>
          <p:cNvSpPr/>
          <p:nvPr/>
        </p:nvSpPr>
        <p:spPr>
          <a:xfrm>
            <a:off x="548640" y="5806440"/>
            <a:ext cx="11064240" cy="457200"/>
          </a:xfrm>
          <a:prstGeom prst="roundRect">
            <a:avLst>
              <a:gd name="adj" fmla="val 24000"/>
            </a:avLst>
          </a:prstGeom>
          <a:solidFill>
            <a:srgbClr val="F5C54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77240" y="58064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530"/>
                </a:solidFill>
              </a:rPr>
              <a:t>💬 Dans le clavardage : ta matière + ton énergie ce matin, en un mot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Allô! Moi, c'est Isabelle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accent5"/>
                </a:solidFill>
              </a:rPr>
              <a:t>Conseillère pédagonumérique · CFGA de la Jonquière</a:t>
            </a:r>
            <a:endParaRPr lang="en-US" sz="1700" dirty="0"/>
          </a:p>
        </p:txBody>
      </p:sp>
      <p:sp>
        <p:nvSpPr>
          <p:cNvPr id="4" name="Jalon 1"/>
          <p:cNvSpPr/>
          <p:nvPr/>
        </p:nvSpPr>
        <p:spPr>
          <a:xfrm>
            <a:off x="548640" y="1892808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89280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1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2880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C542"/>
                </a:solidFill>
              </a:rPr>
              <a:t>15 ans  </a:t>
            </a:r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en classe · CSS de la Capitale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2258568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Milieu très défavorisé · indice 10/10</a:t>
            </a:r>
            <a:endParaRPr lang="en-US" sz="1500" dirty="0"/>
          </a:p>
        </p:txBody>
      </p:sp>
      <p:sp>
        <p:nvSpPr>
          <p:cNvPr id="8" name="Jalon 2"/>
          <p:cNvSpPr/>
          <p:nvPr/>
        </p:nvSpPr>
        <p:spPr>
          <a:xfrm>
            <a:off x="548640" y="274320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2743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2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1371600" y="2679192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C542"/>
                </a:solidFill>
              </a:rPr>
              <a:t>Recherche  </a:t>
            </a:r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Univ. Laval · UQAM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10896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Écriture · cyberintimidation · Plan numérique 2018</a:t>
            </a:r>
            <a:endParaRPr lang="en-US" sz="1500" dirty="0"/>
          </a:p>
        </p:txBody>
      </p:sp>
      <p:sp>
        <p:nvSpPr>
          <p:cNvPr id="12" name="Jalon 3"/>
          <p:cNvSpPr/>
          <p:nvPr/>
        </p:nvSpPr>
        <p:spPr>
          <a:xfrm>
            <a:off x="548640" y="3593592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359359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3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3529584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C542"/>
                </a:solidFill>
              </a:rPr>
              <a:t>Lévis  </a:t>
            </a:r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Conseillance au CFP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3959352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Électromécanique · mentore classes multiâges</a:t>
            </a:r>
            <a:endParaRPr lang="en-US" sz="1500" dirty="0"/>
          </a:p>
        </p:txBody>
      </p:sp>
      <p:sp>
        <p:nvSpPr>
          <p:cNvPr id="16" name="Jalon 4"/>
          <p:cNvSpPr/>
          <p:nvPr/>
        </p:nvSpPr>
        <p:spPr>
          <a:xfrm>
            <a:off x="548640" y="4443984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4443984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4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4379976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C542"/>
                </a:solidFill>
              </a:rPr>
              <a:t>2018  </a:t>
            </a:r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Retour au Saguenay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1371600" y="4809744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CP maths-sciences · pédagonumérique · CFGA</a:t>
            </a:r>
            <a:endParaRPr lang="en-US" sz="1500" dirty="0"/>
          </a:p>
        </p:txBody>
      </p:sp>
      <p:sp>
        <p:nvSpPr>
          <p:cNvPr id="20" name="Jalon 5"/>
          <p:cNvSpPr/>
          <p:nvPr/>
        </p:nvSpPr>
        <p:spPr>
          <a:xfrm>
            <a:off x="548640" y="5294376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48640" y="5294376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5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1371600" y="5230368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C542"/>
                </a:solidFill>
              </a:rPr>
              <a:t>2025-26  </a:t>
            </a:r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UQAC · Patrick Giroux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1371600" y="5660136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Plusieurs CoP IA · cadre réflexif IA du CSS</a:t>
            </a:r>
            <a:endParaRPr lang="en-US" sz="1500" dirty="0"/>
          </a:p>
        </p:txBody>
      </p:sp>
      <p:sp>
        <p:nvSpPr>
          <p:cNvPr id="24" name="Mes classes"/>
          <p:cNvSpPr/>
          <p:nvPr/>
        </p:nvSpPr>
        <p:spPr>
          <a:xfrm>
            <a:off x="6766560" y="1783080"/>
            <a:ext cx="4846320" cy="1783080"/>
          </a:xfrm>
          <a:prstGeom prst="roundRect">
            <a:avLst>
              <a:gd name="adj" fmla="val 7692"/>
            </a:avLst>
          </a:prstGeom>
          <a:solidFill>
            <a:srgbClr val="16234A"/>
          </a:solidFill>
          <a:ln w="12700">
            <a:solidFill>
              <a:srgbClr val="2A3A6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040880" y="187452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chemeClr val="accent2"/>
                </a:solidFill>
              </a:rPr>
              <a:t>MES CLASSES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7040880" y="2194560"/>
            <a:ext cx="43891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⅓ issus de l'immigration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Jusqu'à 5 ans d'écart dans les apprentissages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Attachement · comportement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Élèves HDAA intégrés</a:t>
            </a:r>
            <a:endParaRPr lang="en-US" sz="1400" dirty="0"/>
          </a:p>
        </p:txBody>
      </p:sp>
      <p:sp>
        <p:nvSpPr>
          <p:cNvPr id="27" name="Mes approches"/>
          <p:cNvSpPr/>
          <p:nvPr/>
        </p:nvSpPr>
        <p:spPr>
          <a:xfrm>
            <a:off x="6766560" y="3703320"/>
            <a:ext cx="4846320" cy="2057400"/>
          </a:xfrm>
          <a:prstGeom prst="roundRect">
            <a:avLst>
              <a:gd name="adj" fmla="val 6667"/>
            </a:avLst>
          </a:prstGeom>
          <a:solidFill>
            <a:srgbClr val="16234A"/>
          </a:solidFill>
          <a:ln w="12700">
            <a:solidFill>
              <a:srgbClr val="2A3A6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040880" y="379476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chemeClr val="accent2"/>
                </a:solidFill>
              </a:rPr>
              <a:t>MES APPROCHES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7040880" y="4114800"/>
            <a:ext cx="22402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</a:rPr>
              <a:t>Potentiel ouvert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</a:rPr>
              <a:t>Classe collaborative et réflexive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</a:rPr>
              <a:t>Classes multiâges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</a:rPr>
              <a:t>Décloisonnement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</a:rPr>
              <a:t>Co-enseignement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</a:rPr>
              <a:t>Plan de travail différencié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9281160" y="4114800"/>
            <a:ext cx="21488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</a:rPr>
              <a:t>Tableau de programmation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</a:rPr>
              <a:t>Technologie éducative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</a:rPr>
              <a:t>Projets entrepreneuriaux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</a:rPr>
              <a:t>Projet Flex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</a:rPr>
              <a:t>1er middle school au Québec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766560" y="585216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Je reconnais mes élèves dans les vôtres.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Vidéo stats clientèle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Visuel Labo techno-IA" descr="Labo techno-IA : 35 profs, ½ journée par mois, zéro expert au départ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Visuel Mon Parcours" descr="Appel aux volontaires pour tester l'application Mon Parcour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Vidéo Focus FGA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s'inscrit, là, maintenant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accent5"/>
                </a:solidFill>
              </a:rPr>
              <a:t>Dans le clavardage de la rencontre, ajoute ton nom au tableau Loop</a:t>
            </a:r>
            <a:endParaRPr lang="en-US" sz="1700" dirty="0"/>
          </a:p>
        </p:txBody>
      </p:sp>
      <p:graphicFrame>
        <p:nvGraphicFramePr>
          <p:cNvPr id="8" name="Tableau Loop exemp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11064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828800"/>
                <a:gridCol w="1828800"/>
                <a:gridCol w="1463040"/>
                <a:gridCol w="37490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530"/>
                          </a:solidFill>
                        </a:rPr>
                        <a:t>Nom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C54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530"/>
                          </a:solidFill>
                        </a:rPr>
                        <a:t>Labo techno-IA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C54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530"/>
                          </a:solidFill>
                        </a:rPr>
                        <a:t>Mon Parcours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C54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530"/>
                          </a:solidFill>
                        </a:rPr>
                        <a:t>Café 1:1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C54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530"/>
                          </a:solidFill>
                        </a:rPr>
                        <a:t>Mon défi en une ligne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C54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FFFFFF"/>
                          </a:solidFill>
                        </a:rPr>
                        <a:t>Ton nom ici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FFFFFF"/>
                          </a:solidFill>
                        </a:rPr>
                        <a:t>✔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FFFFFF"/>
                          </a:solidFill>
                        </a:rPr>
                        <a:t>✔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FFFFFF"/>
                          </a:solidFill>
                        </a:rPr>
                        <a:t>Mes élèves en FAD décrochent après 20 min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FFFFFF"/>
                          </a:solidFill>
                        </a:rPr>
                        <a:t>✔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</a:tr>
            </a:tbl>
          </a:graphicData>
        </a:graphic>
      </p:graphicFrame>
      <p:sp>
        <p:nvSpPr>
          <p:cNvPr id="5" name="Étape 1"/>
          <p:cNvSpPr/>
          <p:nvPr/>
        </p:nvSpPr>
        <p:spPr>
          <a:xfrm>
            <a:off x="548640" y="457200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548640" y="45720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1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1417320" y="457200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Ouvre le clavardage</a:t>
            </a:r>
            <a:endParaRPr lang="en-US" sz="1700" dirty="0"/>
          </a:p>
        </p:txBody>
      </p:sp>
      <p:sp>
        <p:nvSpPr>
          <p:cNvPr id="8" name="Étape 2"/>
          <p:cNvSpPr/>
          <p:nvPr/>
        </p:nvSpPr>
        <p:spPr>
          <a:xfrm>
            <a:off x="4297680" y="457200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297680" y="45720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2</a:t>
            </a:r>
            <a:endParaRPr lang="en-US" sz="2400" dirty="0"/>
          </a:p>
        </p:txBody>
      </p:sp>
      <p:sp>
        <p:nvSpPr>
          <p:cNvPr id="10" name="Text 7"/>
          <p:cNvSpPr txBox="1"/>
          <p:nvPr/>
        </p:nvSpPr>
        <p:spPr>
          <a:xfrm>
            <a:off x="5166360" y="457200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Coche ce qui t'intéresse</a:t>
            </a:r>
            <a:endParaRPr lang="en-US" sz="1700" dirty="0"/>
          </a:p>
        </p:txBody>
      </p:sp>
      <p:sp>
        <p:nvSpPr>
          <p:cNvPr id="11" name="Étape 3"/>
          <p:cNvSpPr/>
          <p:nvPr/>
        </p:nvSpPr>
        <p:spPr>
          <a:xfrm>
            <a:off x="8046720" y="457200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046720" y="45720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3</a:t>
            </a:r>
            <a:endParaRPr lang="en-US" sz="2400" dirty="0"/>
          </a:p>
        </p:txBody>
      </p:sp>
      <p:sp>
        <p:nvSpPr>
          <p:cNvPr id="13" name="Text 10"/>
          <p:cNvSpPr txBox="1"/>
          <p:nvPr/>
        </p:nvSpPr>
        <p:spPr>
          <a:xfrm>
            <a:off x="8915400" y="457200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Écris ton défi : on part de là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55778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1"/>
                </a:solidFill>
              </a:rPr>
              <a:t>Pas prêt·e à écrire ton nom devant tout le monde? Écris-moi en privé sur Teams, c'est parfait aussi.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Vidéo tableau blanc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Focus FGA">
  <a:themeElements>
    <a:clrScheme name="Focus FGA">
      <a:dk1>
        <a:srgbClr val="0B1530"/>
      </a:dk1>
      <a:lt1>
        <a:srgbClr val="FFFFFF"/>
      </a:lt1>
      <a:dk2>
        <a:srgbClr val="050816"/>
      </a:dk2>
      <a:lt2>
        <a:srgbClr val="EEF2F8"/>
      </a:lt2>
      <a:accent1>
        <a:srgbClr val="F5C542"/>
      </a:accent1>
      <a:accent2>
        <a:srgbClr val="6CB33F"/>
      </a:accent2>
      <a:accent3>
        <a:srgbClr val="2456B0"/>
      </a:accent3>
      <a:accent4>
        <a:srgbClr val="E8590C"/>
      </a:accent4>
      <a:accent5>
        <a:srgbClr val="4FB3E8"/>
      </a:accent5>
      <a:accent6>
        <a:srgbClr val="8A93B0"/>
      </a:accent6>
      <a:hlink>
        <a:srgbClr val="2456B0"/>
      </a:hlink>
      <a:folHlink>
        <a:srgbClr val="6A1B9A"/>
      </a:folHlink>
    </a:clrScheme>
    <a:fontScheme name="Focus FGA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Focus FGA · Labo techno-IA</dc:title>
  <dc:subject>PptxGenJS Presentation</dc:subject>
  <dc:creator>Isabelle Pedneault</dc:creator>
  <cp:lastModifiedBy>Isabelle Pedneault</cp:lastModifiedBy>
  <cp:revision>1</cp:revision>
  <dcterms:created xsi:type="dcterms:W3CDTF">2026-10-05T01:41:36Z</dcterms:created>
  <dcterms:modified xsi:type="dcterms:W3CDTF">2026-10-05T01:41:36Z</dcterms:modified>
</cp:coreProperties>
</file>